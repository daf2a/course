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a370ec1acd40a8" /><Relationship Type="http://schemas.openxmlformats.org/officeDocument/2006/relationships/extended-properties" Target="/docProps/app.xml" Id="R7025fe9f2a0745c3" /><Relationship Type="http://schemas.openxmlformats.org/officeDocument/2006/relationships/officeDocument" Target="/ppt/presentation.xml" Id="R999e161e261542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a7567aad804991"/>
  </p:sldMasterIdLst>
  <p:notesMasterIdLst>
    <p:notesMasterId xmlns:r="http://schemas.openxmlformats.org/officeDocument/2006/relationships" r:id="Ra622701cf23d44af"/>
  </p:notesMasterIdLst>
  <p:sldIdLst>
    <p:sldId xmlns:r="http://schemas.openxmlformats.org/officeDocument/2006/relationships" id="256" r:id="R2dede463eb7047e1"/>
    <p:sldId xmlns:r="http://schemas.openxmlformats.org/officeDocument/2006/relationships" id="257" r:id="R555e15a484d44490"/>
    <p:sldId xmlns:r="http://schemas.openxmlformats.org/officeDocument/2006/relationships" id="258" r:id="R6ec0cae317dc44ce"/>
    <p:sldId xmlns:r="http://schemas.openxmlformats.org/officeDocument/2006/relationships" id="259" r:id="R2db5fa1747f64e78"/>
    <p:sldId xmlns:r="http://schemas.openxmlformats.org/officeDocument/2006/relationships" id="260" r:id="R08a2d08b9daa43b5"/>
    <p:sldId xmlns:r="http://schemas.openxmlformats.org/officeDocument/2006/relationships" id="261" r:id="Rdecbf3727a2a4746"/>
    <p:sldId xmlns:r="http://schemas.openxmlformats.org/officeDocument/2006/relationships" id="262" r:id="R4319b8bd078f436c"/>
    <p:sldId xmlns:r="http://schemas.openxmlformats.org/officeDocument/2006/relationships" id="263" r:id="Rd5f17dbdf5d24a85"/>
    <p:sldId xmlns:r="http://schemas.openxmlformats.org/officeDocument/2006/relationships" id="264" r:id="Rc5f8f50b4bb74e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22ddf31684c27" /><Relationship Type="http://schemas.openxmlformats.org/officeDocument/2006/relationships/slideMaster" Target="/ppt/slideMasters/slideMaster1.xml" Id="R34a7567aad804991" /><Relationship Type="http://schemas.openxmlformats.org/officeDocument/2006/relationships/notesMaster" Target="/ppt/notesMasters/notesMaster1.xml" Id="Ra622701cf23d44af" /><Relationship Type="http://schemas.openxmlformats.org/officeDocument/2006/relationships/presProps" Target="/ppt/presProps.xml" Id="R64d0f03cacb74d8b" /><Relationship Type="http://schemas.openxmlformats.org/officeDocument/2006/relationships/tableStyles" Target="/ppt/tableStyles.xml" Id="Rea2b078fcd3c41ae" /><Relationship Type="http://schemas.openxmlformats.org/officeDocument/2006/relationships/slide" Target="/ppt/slides/slide1.xml" Id="R2dede463eb7047e1" /><Relationship Type="http://schemas.openxmlformats.org/officeDocument/2006/relationships/slide" Target="/ppt/slides/slide2.xml" Id="R555e15a484d44490" /><Relationship Type="http://schemas.openxmlformats.org/officeDocument/2006/relationships/slide" Target="/ppt/slides/slide3.xml" Id="R6ec0cae317dc44ce" /><Relationship Type="http://schemas.openxmlformats.org/officeDocument/2006/relationships/slide" Target="/ppt/slides/slide4.xml" Id="R2db5fa1747f64e78" /><Relationship Type="http://schemas.openxmlformats.org/officeDocument/2006/relationships/slide" Target="/ppt/slides/slide5.xml" Id="R08a2d08b9daa43b5" /><Relationship Type="http://schemas.openxmlformats.org/officeDocument/2006/relationships/slide" Target="/ppt/slides/slide6.xml" Id="Rdecbf3727a2a4746" /><Relationship Type="http://schemas.openxmlformats.org/officeDocument/2006/relationships/slide" Target="/ppt/slides/slide7.xml" Id="R4319b8bd078f436c" /><Relationship Type="http://schemas.openxmlformats.org/officeDocument/2006/relationships/slide" Target="/ppt/slides/slide8.xml" Id="Rd5f17dbdf5d24a85" /><Relationship Type="http://schemas.openxmlformats.org/officeDocument/2006/relationships/slide" Target="/ppt/slides/slide9.xml" Id="Rc5f8f50b4bb74e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f9d5525c57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4b0e90c516453d" /><Relationship Type="http://schemas.openxmlformats.org/officeDocument/2006/relationships/notesMaster" Target="/ppt/notesMasters/notesMaster1.xml" Id="R52a69c1013c349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15cf0a335943c7" /><Relationship Type="http://schemas.openxmlformats.org/officeDocument/2006/relationships/notesMaster" Target="/ppt/notesMasters/notesMaster1.xml" Id="R547b8d6180d34f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45267221054a31" /><Relationship Type="http://schemas.openxmlformats.org/officeDocument/2006/relationships/notesMaster" Target="/ppt/notesMasters/notesMaster1.xml" Id="R04c17fd7839842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96752718764b61" /><Relationship Type="http://schemas.openxmlformats.org/officeDocument/2006/relationships/notesMaster" Target="/ppt/notesMasters/notesMaster1.xml" Id="Rd395066f02ec4f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1cbe07adca4662" /><Relationship Type="http://schemas.openxmlformats.org/officeDocument/2006/relationships/notesMaster" Target="/ppt/notesMasters/notesMaster1.xml" Id="R3becdd1ab0fd4e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2ce0096ebe4680" /><Relationship Type="http://schemas.openxmlformats.org/officeDocument/2006/relationships/notesMaster" Target="/ppt/notesMasters/notesMaster1.xml" Id="Rbdd512c6b6a049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22a7d3f98c46b7" /><Relationship Type="http://schemas.openxmlformats.org/officeDocument/2006/relationships/notesMaster" Target="/ppt/notesMasters/notesMaster1.xml" Id="R68d6ed9ea16448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df4551e6e64923" /><Relationship Type="http://schemas.openxmlformats.org/officeDocument/2006/relationships/notesMaster" Target="/ppt/notesMasters/notesMaster1.xml" Id="R088c2ae48efc48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40d756a5fd34e59" /><Relationship Type="http://schemas.openxmlformats.org/officeDocument/2006/relationships/notesMaster" Target="/ppt/notesMasters/notesMaster1.xml" Id="R2fab1f8d40f14b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Slide pembuka berdasarkan cakupan tutorial Python W3Schools.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https://www.w3schools.com/python/python_datatypes.asp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https://www.w3schools.com/python/python_variables.asp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https://www.w3schools.com/python/python_casting.asp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https://www.w3schools.com/python/python_conditions.asp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https://www.w3schools.com/python/python_conditions.asp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https://www.w3schools.com/python/python_conditions.asp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https://www.w3schools.com/python/python_match.asp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https://www.w3schools.com/python/python_variables.asp</a:t>
            </a:r>
          </a:p>
          <a:p xmlns:a="http://schemas.openxmlformats.org/drawingml/2006/main">
            <a:r>
              <a:t>- https://www.w3schools.com/python/python_datatypes.asp</a:t>
            </a:r>
          </a:p>
          <a:p xmlns:a="http://schemas.openxmlformats.org/drawingml/2006/main">
            <a:r>
              <a:t>- https://www.w3schools.com/python/python_casting.asp</a:t>
            </a:r>
          </a:p>
          <a:p xmlns:a="http://schemas.openxmlformats.org/drawingml/2006/main">
            <a:r>
              <a:t>- https://www.w3schools.com/python/python_conditions.asp</a:t>
            </a:r>
          </a:p>
          <a:p xmlns:a="http://schemas.openxmlformats.org/drawingml/2006/main">
            <a:r>
              <a:t>- https://www.w3schools.com/python/python_match.asp</a:t>
            </a:r>
          </a:p>
          <a:p xmlns:a="http://schemas.openxmlformats.org/drawingml/2006/main">
            <a:r>
              <a:t>- Ringkasan konsep yang dirujuk dari tutorial Python W3Schools.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d13ec3d1b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3ee51a9c042cd" /><Relationship Type="http://schemas.openxmlformats.org/officeDocument/2006/relationships/slideLayout" Target="/ppt/slideLayouts/slideLayout1.xml" Id="R7349eafb6009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9eafb6009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0215b5e02417c" /><Relationship Type="http://schemas.openxmlformats.org/officeDocument/2006/relationships/notesSlide" Target="/ppt/notesSlides/notesSlide1.xml" Id="Rda150fc6b6b44c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8cce419434779" /><Relationship Type="http://schemas.openxmlformats.org/officeDocument/2006/relationships/notesSlide" Target="/ppt/notesSlides/notesSlide2.xml" Id="Re90dd8ef12a144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49664ecd84ea2" /><Relationship Type="http://schemas.openxmlformats.org/officeDocument/2006/relationships/notesSlide" Target="/ppt/notesSlides/notesSlide3.xml" Id="R3373882cbe2545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6069892bc43c1" /><Relationship Type="http://schemas.openxmlformats.org/officeDocument/2006/relationships/notesSlide" Target="/ppt/notesSlides/notesSlide4.xml" Id="Rcc8e8f72887f46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92b228ca84eed" /><Relationship Type="http://schemas.openxmlformats.org/officeDocument/2006/relationships/notesSlide" Target="/ppt/notesSlides/notesSlide5.xml" Id="R5c57b836667f4d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a4258fe7e44f3" /><Relationship Type="http://schemas.openxmlformats.org/officeDocument/2006/relationships/notesSlide" Target="/ppt/notesSlides/notesSlide6.xml" Id="Rb7a2a7bf53bc4f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96ffae56c4edd" /><Relationship Type="http://schemas.openxmlformats.org/officeDocument/2006/relationships/notesSlide" Target="/ppt/notesSlides/notesSlide7.xml" Id="R3f4cc40527db43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1cbc9489644bd" /><Relationship Type="http://schemas.openxmlformats.org/officeDocument/2006/relationships/notesSlide" Target="/ppt/notesSlides/notesSlide8.xml" Id="R1f0469bdead742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a408bc6514490" /><Relationship Type="http://schemas.openxmlformats.org/officeDocument/2006/relationships/notesSlide" Target="/ppt/notesSlides/notesSlide9.xml" Id="R8a1fa7c759164f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1CE4A-34BE-4986-BDA1-90F045D4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python dasar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95805-D510-4A0A-95D6-CB47185D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nilai, keputusan, dan pilihan dalam Python.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FFBCC-20C8-4E9E-88B3-3039C412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45309"/>
                </a:solidFill>
              </a:defRPr>
            </a:pPr>
            <a:r>
              <a:rPr sz="1950" b="0">
                <a:solidFill>
                  <a:srgbClr val="B45309"/>
                </a:solidFill>
              </a:rPr>
              <a:t>data types  ·  variable  ·  casting  ·  kondisi</a:t>
            </a:r>
          </a:p>
        </p:txBody>
      </p:sp>
    </p:spTree>
    <p:extLst>
      <p:ext uri="{BB962C8B-B14F-4D97-AF65-F5344CB8AC3E}">
        <p14:creationId xmlns:p14="http://schemas.microsoft.com/office/powerpoint/2010/main" val="709567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33B1B-5EC3-49AA-BF30-D9A601A5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data types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6EDB9-7313-4759-BFAC-3AEC9ED9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setiap nilai memiliki tipe data.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1066800" y="3009900"/>
          <a:ext xmlns:a="http://schemas.openxmlformats.org/drawingml/2006/main" cx="76200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2937"/>
                          </a:solidFill>
                        </a:rPr>
                        <a:t>tipe</a:t>
                      </a:r>
                    </a:p>
                  </a:txBody>
                  <a:tcPr marL="91440" marR="91440" marT="45720" marB="45720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2937"/>
                          </a:solidFill>
                        </a:rPr>
                        <a:t>contoh</a:t>
                      </a:r>
                    </a:p>
                  </a:txBody>
                  <a:tcPr marL="91440" marR="91440" marT="45720" marB="45720">
                    <a:solidFill>
                      <a:srgbClr val="F2EFE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str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"Alya"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17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float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12.5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bool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True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list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["biru"]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360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FA538-7673-4CBB-AAF7-C130B351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variable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511EB-9162-47B3-82FB-9F2263F5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variable menyimpan nilai agar bisa digunakan lagi.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3E826-C091-4CA4-94C8-7F77F37B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45309"/>
                </a:solidFill>
              </a:defRPr>
            </a:pPr>
            <a:r>
              <a:rPr sz="2400" b="0">
                <a:solidFill>
                  <a:srgbClr val="B45309"/>
                </a:solidFill>
              </a:rPr>
              <a:t>nama = "Alya"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62A77-C8C2-4115-82D4-2F641CAD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45309"/>
                </a:solidFill>
              </a:defRPr>
            </a:pPr>
            <a:r>
              <a:rPr sz="2400" b="0">
                <a:solidFill>
                  <a:srgbClr val="B45309"/>
                </a:solidFill>
              </a:rPr>
              <a:t>usia = 17</a:t>
            </a:r>
          </a:p>
        </p:txBody>
      </p:sp>
    </p:spTree>
    <p:extLst>
      <p:ext uri="{BB962C8B-B14F-4D97-AF65-F5344CB8AC3E}">
        <p14:creationId xmlns:p14="http://schemas.microsoft.com/office/powerpoint/2010/main" val="13861555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050ED-64C5-4C20-A73D-7C40F7FA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casting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BDB42-73C7-46B9-9F0D-6840F539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casting mengubah tipe nilai.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1066800" y="3162300"/>
          <a:ext xmlns:a="http://schemas.openxmlformats.org/drawingml/2006/main" cx="76200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2937"/>
                          </a:solidFill>
                        </a:rPr>
                        <a:t>bentuk</a:t>
                      </a:r>
                    </a:p>
                  </a:txBody>
                  <a:tcPr marL="91440" marR="91440" marT="45720" marB="45720"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F2937"/>
                          </a:solidFill>
                        </a:rPr>
                        <a:t>hasil</a:t>
                      </a:r>
                    </a:p>
                  </a:txBody>
                  <a:tcPr marL="91440" marR="91440" marT="45720" marB="45720">
                    <a:solidFill>
                      <a:srgbClr val="F2EFE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int("25")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float("3.5")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3.5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str(8)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F2937"/>
                          </a:solidFill>
                        </a:rPr>
                        <a:t>"8"</a:t>
                      </a:r>
                    </a:p>
                  </a:txBody>
                  <a:tcPr marL="91440" marR="91440" marT="45720" marB="45720">
                    <a:solidFill>
                      <a:srgbClr val="FAF9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746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FA6FA-B8F1-467D-8F12-58EB3B23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A976B-4A21-4107-B6EE-73862844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blok dijalankan jika kondisi bernilai True.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D12D9-8988-408B-A5F7-79628E0F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45309"/>
                </a:solidFill>
              </a:defRPr>
            </a:pPr>
            <a:r>
              <a:rPr sz="2325" b="0">
                <a:solidFill>
                  <a:srgbClr val="B45309"/>
                </a:solidFill>
              </a:rPr>
              <a:t>nilai = 80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7077F-0FE8-48EC-8D5A-A4016B63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F2937"/>
                </a:solidFill>
              </a:defRPr>
            </a:pPr>
            <a:r>
              <a:rPr sz="2325" b="0">
                <a:solidFill>
                  <a:srgbClr val="1F2937"/>
                </a:solidFill>
              </a:rPr>
              <a:t>if nilai &gt;= 75:  print("Lulus")</a:t>
            </a:r>
          </a:p>
        </p:txBody>
      </p:sp>
    </p:spTree>
    <p:extLst>
      <p:ext uri="{BB962C8B-B14F-4D97-AF65-F5344CB8AC3E}">
        <p14:creationId xmlns:p14="http://schemas.microsoft.com/office/powerpoint/2010/main" val="1565442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23A84-7C7E-4445-A02C-C13754D5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else dan elif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F6100-DE76-49F0-AF90-8CD2935A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else untuk kondisi lain; elif untuk pilihan tambahan.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B101C-CAEB-457D-BE16-88330B63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45309"/>
                </a:solidFill>
              </a:defRPr>
            </a:pPr>
            <a:r>
              <a:rPr sz="2250" b="0">
                <a:solidFill>
                  <a:srgbClr val="B45309"/>
                </a:solidFill>
              </a:rPr>
              <a:t>if nilai &gt;= 90:  "A"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5E5D3-6225-4681-B878-B39FB634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2937"/>
                </a:solidFill>
              </a:defRPr>
            </a:pPr>
            <a:r>
              <a:rPr sz="2250" b="0">
                <a:solidFill>
                  <a:srgbClr val="1F2937"/>
                </a:solidFill>
              </a:rPr>
              <a:t>elif nilai &gt;= 75:  "B"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E0A46-A873-41A5-BC5E-80CFF4CF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2937"/>
                </a:solidFill>
              </a:defRPr>
            </a:pPr>
            <a:r>
              <a:rPr sz="2250" b="0">
                <a:solidFill>
                  <a:srgbClr val="1F2937"/>
                </a:solidFill>
              </a:rPr>
              <a:t>else:  "C"</a:t>
            </a:r>
          </a:p>
        </p:txBody>
      </p:sp>
    </p:spTree>
    <p:extLst>
      <p:ext uri="{BB962C8B-B14F-4D97-AF65-F5344CB8AC3E}">
        <p14:creationId xmlns:p14="http://schemas.microsoft.com/office/powerpoint/2010/main" val="2087123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F05ED-7DFB-460F-A956-9609798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639B4-CFED-4F77-AAAA-8CA2B5F4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pass membuat blok kosong tetap valid.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CFF32-9965-4C4A-A940-94101014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45309"/>
                </a:solidFill>
              </a:defRPr>
            </a:pPr>
            <a:r>
              <a:rPr sz="2400" b="0">
                <a:solidFill>
                  <a:srgbClr val="B45309"/>
                </a:solidFill>
              </a:rPr>
              <a:t>if fitur_baru:  pass</a:t>
            </a:r>
          </a:p>
        </p:txBody>
      </p:sp>
    </p:spTree>
    <p:extLst>
      <p:ext uri="{BB962C8B-B14F-4D97-AF65-F5344CB8AC3E}">
        <p14:creationId xmlns:p14="http://schemas.microsoft.com/office/powerpoint/2010/main" val="700217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65457-4273-47BC-B872-772442C2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match/case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193FD-BED2-4BE7-AD7E-E7CC2D5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match membandingkan satu nilai dengan beberapa case.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79B68-B987-457A-9101-C6F0DF28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876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45309"/>
                </a:solidFill>
              </a:defRPr>
            </a:pPr>
            <a:r>
              <a:rPr sz="2250" b="0">
                <a:solidFill>
                  <a:srgbClr val="B45309"/>
                </a:solidFill>
              </a:rPr>
              <a:t>menu = "makan"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0655F-4E5A-44B7-8E8E-BC49C628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933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2937"/>
                </a:solidFill>
              </a:defRPr>
            </a:pPr>
            <a:r>
              <a:rPr sz="2250" b="0">
                <a:solidFill>
                  <a:srgbClr val="1F2937"/>
                </a:solidFill>
              </a:rPr>
              <a:t>case "makan":  "Nasi goreng"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F760D-038E-42F1-9366-947B9C9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876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F2937"/>
                </a:solidFill>
              </a:defRPr>
            </a:pPr>
            <a:r>
              <a:rPr sz="2250" b="0">
                <a:solidFill>
                  <a:srgbClr val="1F2937"/>
                </a:solidFill>
              </a:rPr>
              <a:t>case _:  "Menu lain"</a:t>
            </a:r>
          </a:p>
        </p:txBody>
      </p:sp>
    </p:spTree>
    <p:extLst>
      <p:ext uri="{BB962C8B-B14F-4D97-AF65-F5344CB8AC3E}">
        <p14:creationId xmlns:p14="http://schemas.microsoft.com/office/powerpoint/2010/main" val="14407104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B3923-57E8-44C7-B372-5C89BF08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66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F2937"/>
                </a:solidFill>
              </a:defRPr>
            </a:pPr>
            <a:r>
              <a:rPr sz="3600" b="1">
                <a:solidFill>
                  <a:srgbClr val="1F2937"/>
                </a:solidFill>
              </a:rPr>
              <a:t>inti materi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6CADF-729D-48BE-81EF-1A20068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B7280"/>
                </a:solidFill>
              </a:defRPr>
            </a:pPr>
            <a:r>
              <a:rPr sz="2025" b="0">
                <a:solidFill>
                  <a:srgbClr val="6B7280"/>
                </a:solidFill>
              </a:rPr>
              <a:t>nilai punya tipe. casting mengubah tipe. kondisi memilih tindakan.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9004B-FA18-424D-B9C7-2E132291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718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B45309"/>
                </a:solidFill>
              </a:defRPr>
            </a:pPr>
            <a:r>
              <a:rPr sz="2475" b="0">
                <a:solidFill>
                  <a:srgbClr val="B45309"/>
                </a:solidFill>
              </a:rPr>
              <a:t>data  →  bentuk  →  keputusan</a:t>
            </a:r>
          </a:p>
        </p:txBody>
      </p:sp>
    </p:spTree>
    <p:extLst>
      <p:ext uri="{BB962C8B-B14F-4D97-AF65-F5344CB8AC3E}">
        <p14:creationId xmlns:p14="http://schemas.microsoft.com/office/powerpoint/2010/main" val="16109996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2026-08-21T12:05:50.1160000Z</dcterms:created>
  <dcterms:modified xsi:type="dcterms:W3CDTF">2026-08-21T12:05:50.1160000Z</dcterms:modified>
</coreProperties>
</file>