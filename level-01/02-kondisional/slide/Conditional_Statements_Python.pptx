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e9ce7f9334b75" /><Relationship Type="http://schemas.openxmlformats.org/officeDocument/2006/relationships/extended-properties" Target="/docProps/app.xml" Id="R805f6aa160484348" /><Relationship Type="http://schemas.openxmlformats.org/officeDocument/2006/relationships/officeDocument" Target="/ppt/presentation.xml" Id="R1de480548b39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c6f64612714edc"/>
  </p:sldMasterIdLst>
  <p:notesMasterIdLst>
    <p:notesMasterId xmlns:r="http://schemas.openxmlformats.org/officeDocument/2006/relationships" r:id="R0e644412e9f74938"/>
  </p:notesMasterIdLst>
  <p:sldIdLst>
    <p:sldId xmlns:r="http://schemas.openxmlformats.org/officeDocument/2006/relationships" id="256" r:id="Raaa08d25b8a34ad4"/>
    <p:sldId xmlns:r="http://schemas.openxmlformats.org/officeDocument/2006/relationships" id="257" r:id="R471c8798c4cc48f3"/>
    <p:sldId xmlns:r="http://schemas.openxmlformats.org/officeDocument/2006/relationships" id="258" r:id="Ra75f68f2b8e04ff3"/>
    <p:sldId xmlns:r="http://schemas.openxmlformats.org/officeDocument/2006/relationships" id="259" r:id="Rcda49ba511104965"/>
    <p:sldId xmlns:r="http://schemas.openxmlformats.org/officeDocument/2006/relationships" id="260" r:id="R773b6256e6a243ad"/>
    <p:sldId xmlns:r="http://schemas.openxmlformats.org/officeDocument/2006/relationships" id="261" r:id="Rd9d93100c52d434e"/>
    <p:sldId xmlns:r="http://schemas.openxmlformats.org/officeDocument/2006/relationships" id="262" r:id="Rd71d70c3a6ed4df3"/>
    <p:sldId xmlns:r="http://schemas.openxmlformats.org/officeDocument/2006/relationships" id="263" r:id="Rb17455ab6878405f"/>
    <p:sldId xmlns:r="http://schemas.openxmlformats.org/officeDocument/2006/relationships" id="264" r:id="R7e8416f791f1408e"/>
    <p:sldId xmlns:r="http://schemas.openxmlformats.org/officeDocument/2006/relationships" id="265" r:id="Rbab43c9b49484f6e"/>
    <p:sldId xmlns:r="http://schemas.openxmlformats.org/officeDocument/2006/relationships" id="266" r:id="Rd36f9f6ea6cc4147"/>
    <p:sldId xmlns:r="http://schemas.openxmlformats.org/officeDocument/2006/relationships" id="267" r:id="R8e03778fdf8b491b"/>
    <p:sldId xmlns:r="http://schemas.openxmlformats.org/officeDocument/2006/relationships" id="268" r:id="R84c6f72438be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e9568e9a34a3f" /><Relationship Type="http://schemas.openxmlformats.org/officeDocument/2006/relationships/slideMaster" Target="/ppt/slideMasters/slideMaster1.xml" Id="Rfec6f64612714edc" /><Relationship Type="http://schemas.openxmlformats.org/officeDocument/2006/relationships/notesMaster" Target="/ppt/notesMasters/notesMaster1.xml" Id="R0e644412e9f74938" /><Relationship Type="http://schemas.openxmlformats.org/officeDocument/2006/relationships/presProps" Target="/ppt/presProps.xml" Id="R473cae014ab1407b" /><Relationship Type="http://schemas.openxmlformats.org/officeDocument/2006/relationships/tableStyles" Target="/ppt/tableStyles.xml" Id="R159e454a9f754af5" /><Relationship Type="http://schemas.openxmlformats.org/officeDocument/2006/relationships/slide" Target="/ppt/slides/slide1.xml" Id="Raaa08d25b8a34ad4" /><Relationship Type="http://schemas.openxmlformats.org/officeDocument/2006/relationships/slide" Target="/ppt/slides/slide2.xml" Id="R471c8798c4cc48f3" /><Relationship Type="http://schemas.openxmlformats.org/officeDocument/2006/relationships/slide" Target="/ppt/slides/slide3.xml" Id="Ra75f68f2b8e04ff3" /><Relationship Type="http://schemas.openxmlformats.org/officeDocument/2006/relationships/slide" Target="/ppt/slides/slide4.xml" Id="Rcda49ba511104965" /><Relationship Type="http://schemas.openxmlformats.org/officeDocument/2006/relationships/slide" Target="/ppt/slides/slide5.xml" Id="R773b6256e6a243ad" /><Relationship Type="http://schemas.openxmlformats.org/officeDocument/2006/relationships/slide" Target="/ppt/slides/slide6.xml" Id="Rd9d93100c52d434e" /><Relationship Type="http://schemas.openxmlformats.org/officeDocument/2006/relationships/slide" Target="/ppt/slides/slide7.xml" Id="Rd71d70c3a6ed4df3" /><Relationship Type="http://schemas.openxmlformats.org/officeDocument/2006/relationships/slide" Target="/ppt/slides/slide8.xml" Id="Rb17455ab6878405f" /><Relationship Type="http://schemas.openxmlformats.org/officeDocument/2006/relationships/slide" Target="/ppt/slides/slide9.xml" Id="R7e8416f791f1408e" /><Relationship Type="http://schemas.openxmlformats.org/officeDocument/2006/relationships/slide" Target="/ppt/slides/slide10.xml" Id="Rbab43c9b49484f6e" /><Relationship Type="http://schemas.openxmlformats.org/officeDocument/2006/relationships/slide" Target="/ppt/slides/slide11.xml" Id="Rd36f9f6ea6cc4147" /><Relationship Type="http://schemas.openxmlformats.org/officeDocument/2006/relationships/slide" Target="/ppt/slides/slide12.xml" Id="R8e03778fdf8b491b" /><Relationship Type="http://schemas.openxmlformats.org/officeDocument/2006/relationships/slide" Target="/ppt/slides/slide13.xml" Id="R84c6f72438be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b8560a24ae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0218094037443d" /><Relationship Type="http://schemas.openxmlformats.org/officeDocument/2006/relationships/notesMaster" Target="/ppt/notesMasters/notesMaster1.xml" Id="R85a0a6f3722e44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67e7bb88644203" /><Relationship Type="http://schemas.openxmlformats.org/officeDocument/2006/relationships/notesMaster" Target="/ppt/notesMasters/notesMaster1.xml" Id="Rc38d476d1f0c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72c9d7eef48d2" /><Relationship Type="http://schemas.openxmlformats.org/officeDocument/2006/relationships/notesMaster" Target="/ppt/notesMasters/notesMaster1.xml" Id="R7949b09d32c1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34e9db8e2a4ef0" /><Relationship Type="http://schemas.openxmlformats.org/officeDocument/2006/relationships/notesMaster" Target="/ppt/notesMasters/notesMaster1.xml" Id="R2d4bde7f7e764f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c192822cf4f0f" /><Relationship Type="http://schemas.openxmlformats.org/officeDocument/2006/relationships/notesMaster" Target="/ppt/notesMasters/notesMaster1.xml" Id="R7965510475d843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3985f877934fd9" /><Relationship Type="http://schemas.openxmlformats.org/officeDocument/2006/relationships/notesMaster" Target="/ppt/notesMasters/notesMaster1.xml" Id="Rb2d0c2045c8e45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bbfb908f645ed" /><Relationship Type="http://schemas.openxmlformats.org/officeDocument/2006/relationships/notesMaster" Target="/ppt/notesMasters/notesMaster1.xml" Id="Rd4d90b0aa5a640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e47785a26f4e1c" /><Relationship Type="http://schemas.openxmlformats.org/officeDocument/2006/relationships/notesMaster" Target="/ppt/notesMasters/notesMaster1.xml" Id="Ra10150148bce46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1981670589434a" /><Relationship Type="http://schemas.openxmlformats.org/officeDocument/2006/relationships/notesMaster" Target="/ppt/notesMasters/notesMaster1.xml" Id="R472657c239eb40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96651d1faf4982" /><Relationship Type="http://schemas.openxmlformats.org/officeDocument/2006/relationships/notesMaster" Target="/ppt/notesMasters/notesMaster1.xml" Id="Rd18a3d23387b46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d48f0fce53442d" /><Relationship Type="http://schemas.openxmlformats.org/officeDocument/2006/relationships/notesMaster" Target="/ppt/notesMasters/notesMaster1.xml" Id="R6bc9ea15ec12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b0e7913b514342" /><Relationship Type="http://schemas.openxmlformats.org/officeDocument/2006/relationships/notesMaster" Target="/ppt/notesMasters/notesMaster1.xml" Id="R9c8d81d0ce204d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09dc696afc4138" /><Relationship Type="http://schemas.openxmlformats.org/officeDocument/2006/relationships/notesMaster" Target="/ppt/notesMasters/notesMaster1.xml" Id="R9613b1fabf2c43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gagasan sederhana: program bisa menghadapi sebuah pilihan, sama seperti kita memilih jalan di persimpangan.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Jelaskan bahwa pelajaran ini berfokus pada cara Python mengubah hasil kondisi True atau False menjadi aksi yang berbeda.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- https://unsplash.com/photos/u0vgcIOQG08 (photo by Jens Lelie, Unsplash)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hujan untuk menunjukkan pola universal: evaluasi kondisi, pilih satu cabang, lalu jalankan aksinya.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Hubungkan decision tree ini dengan sintaks Python: pertanyaan menjadi kondisi setelah if; cabang Ya menjadi blok if; cabang Tidak menjadi blok else.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Tekankan bahwa kondisi tidak selalu ditulis sebagai kata True atau False; sering kali kondisi berupa perbandingan seperti age &gt;=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Ajak peserta menebak hasil dua ekspresi sebelum memperlihatkan jawabannya. Ini melatih pembacaan kondisi sebelum masuk ke sintaks 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https://docs.python.org/3/reference/expressions.html#comparisons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Baca simbol sebagai pertanyaan: apakah dua nilai sama, berbeda, lebih besar, atau lebih kecil.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Berikan perhatian khusus pada = dan ==. Kesalahan satu tanda sama dengan sangat umum pada pemula: = adalah assignment, sedangkan == adalah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https://docs.python.org/3/reference/expressions.html#comparisons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bahwa hasil beberapa comparison dapat digabungkan menjadi satu kondisi. Python menggunakan keyword and, or, dan not—bukan simbol &amp;&amp;, ||, atau ! seperti pada beberapa bahasa 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 memerlukan semua kondisi bernilai True. or cukup memiliki minimal satu kondisi True. not membalik nilai Boolean.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Demonstrasikan contoh umur &gt;= 18 and punya_tiket, lalu ubah punya_tiket menjadi False agar peserta melihat hasil gabungan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https://docs.python.org/3/reference/expressions.html#boolean-operations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Jelaskan struktur baris if: keyword if, kondisi, lalu titik dua. Baris yang menjorok adalah bagian dari blok yang dikontrol oleh kondisi.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Ubah score menjadi 60 saat demonstrasi. Program tidak mencetak apa pun karena kondisi False dan belum ada cabang else.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else tidak memerlukan kondisi tambahan. Ia menjadi jalur cadangan ketika kondisi if menghasilkan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Uji dua nilai: 31 memilih blok if, sedangkan 28 memilih blok else. Tegaskan bahwa hanya satu cabang yang dijalankan.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mengecek kondisi dari atas ke bawah. Saat score 84, kondisi &gt;= 90 gagal, kondisi &gt;= 80 benar, lalu pemeriksaan berhenti.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Urutan kondisi penting. Mulailah dari batas paling tinggi agar nilai 95 tidak berhenti pada kondisi &gt;= 70.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pass adalah pernyataan yang tidak melakukan apa pun, tetapi tetap memenuhi kebutuhan sintaks Python untuk memiliki isi blok.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Gunakan saat menyusun kerangka program atau menunda implementasi. Ingatkan peserta untuk menggantinya dengan logika nyata sebelum fitur dianggap selesai.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Kondisi has_ticket hanya diperiksa jika age &gt;= 18 sudah benar. Ini adalah alasan logis untuk menempatkan if kedua di dalam blok pertama.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Peringatkan bahwa nesting terlalu dalam sulit dibaca. Jika sudah banyak tingkat, pertimbangkan memecah logika menjadi fungsi atau menggabungkan kondisi dengan operator logika.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 mengevaluasi satu ekspresi, lalu membandingkannya dengan pola case secara berurutan. Case pertama yang cocok akan dijalankan.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case _ adalah wildcard atau fallback untuk nilai yang tidak cocok dengan pola sebelumnya. Tekankan bahwa match lebih kuat daripada switch sederhana karena mendukung pattern matching.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https://docs.python.org/3.10/tutorial/controlflow.html#match-statements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| di dalam pola berarti salah satu alternatif boleh cocok. Sat atau Sun menghasilkan kategori Weekend.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Letakkan wildcard _ terakhir. Jika wildcard ditempatkan lebih awal, pola setelahnya tidak akan mendapat kesempatan untuk diperiksa.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daftar ini sebagai aturan praktis, bukan hukum mutlak. Pilih struktur yang paling jelas menjelaskan niat program.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Berikan waktu peserta menyusun latihan suhu. Jawaban yang diharapkan menggunakan if untuk &lt; 20, elif untuk &lt; 30, lalu else untuk semua nilai 30 ke 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Tutup dengan meminta peserta menjelaskan alur kodenya sebagai decision tree sebelum mengetik sintaks.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https://docs.python.org/3/tutorial/controlflow.html</a:t>
            </a:r>
          </a:p>
          <a:p xmlns:a="http://schemas.openxmlformats.org/drawingml/2006/main">
            <a:r>
              <a:t>- https://docs.python.org/3/reference/expressions.html#comparisons</a:t>
            </a:r>
          </a:p>
          <a:p xmlns:a="http://schemas.openxmlformats.org/drawingml/2006/main">
            <a:r>
              <a:t>- https://docs.python.org/3/reference/compound_stmts.html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f43489330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8156c714e643b2" /><Relationship Type="http://schemas.openxmlformats.org/officeDocument/2006/relationships/slideLayout" Target="/ppt/slideLayouts/slideLayout1.xml" Id="Ra61d36271c0c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d36271c0c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c79d0f576450f" /><Relationship Type="http://schemas.openxmlformats.org/officeDocument/2006/relationships/image" Target="/ppt/media/image.jpeg" Id="Rd1fbd4feb2a240a5" /><Relationship Type="http://schemas.openxmlformats.org/officeDocument/2006/relationships/notesSlide" Target="/ppt/notesSlides/notesSlide1.xml" Id="Ra17f7b519378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83a7807b143ee" /><Relationship Type="http://schemas.openxmlformats.org/officeDocument/2006/relationships/notesSlide" Target="/ppt/notesSlides/notesSlide2.xml" Id="R16549d84f331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0684c667e43b5" /><Relationship Type="http://schemas.openxmlformats.org/officeDocument/2006/relationships/notesSlide" Target="/ppt/notesSlides/notesSlide3.xml" Id="Rf0bbe14f433148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9646d61d04efb" /><Relationship Type="http://schemas.openxmlformats.org/officeDocument/2006/relationships/notesSlide" Target="/ppt/notesSlides/notesSlide4.xml" Id="R343e83a07abd45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2758dea204b96" /><Relationship Type="http://schemas.openxmlformats.org/officeDocument/2006/relationships/notesSlide" Target="/ppt/notesSlides/notesSlide5.xml" Id="R91bbfa98217547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1cae7f25c46b8" /><Relationship Type="http://schemas.openxmlformats.org/officeDocument/2006/relationships/notesSlide" Target="/ppt/notesSlides/notesSlide6.xml" Id="R74fbeba1f18144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8ba674d0e40ac" /><Relationship Type="http://schemas.openxmlformats.org/officeDocument/2006/relationships/notesSlide" Target="/ppt/notesSlides/notesSlide7.xml" Id="R288cb9d6906a4b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b06eb0da24351" /><Relationship Type="http://schemas.openxmlformats.org/officeDocument/2006/relationships/notesSlide" Target="/ppt/notesSlides/notesSlide8.xml" Id="R8e613092f9e4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4d3988af546c9" /><Relationship Type="http://schemas.openxmlformats.org/officeDocument/2006/relationships/notesSlide" Target="/ppt/notesSlides/notesSlide9.xml" Id="R2e5fa96240fd4f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d45c00f3b4f83" /><Relationship Type="http://schemas.openxmlformats.org/officeDocument/2006/relationships/notesSlide" Target="/ppt/notesSlides/notesSlide10.xml" Id="R39fbfa30fcc44b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9b35c67b64b6b" /><Relationship Type="http://schemas.openxmlformats.org/officeDocument/2006/relationships/notesSlide" Target="/ppt/notesSlides/notesSlide11.xml" Id="Rec7edbb6331e46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3e47baa924c0b" /><Relationship Type="http://schemas.openxmlformats.org/officeDocument/2006/relationships/notesSlide" Target="/ppt/notesSlides/notesSlide12.xml" Id="Re90c6dfb996740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2bcdccadd4396" /><Relationship Type="http://schemas.openxmlformats.org/officeDocument/2006/relationships/notesSlide" Target="/ppt/notesSlides/notesSlide13.xml" Id="R1d76b3c91fbd4a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bd4feb2a240a5"/>
          <a:srcRect xmlns:a="http://schemas.openxmlformats.org/drawingml/2006/main" l="1852" t="0" r="1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hoto-blue-rail">
            <a:extLst xmlns:a="http://schemas.openxmlformats.org/drawingml/2006/main">
              <a:ext uri="{FF2B5EF4-FFF2-40B4-BE49-F238E27FC236}">
                <a16:creationId xmlns:a16="http://schemas.microsoft.com/office/drawing/2014/main" id="{A7167D6F-F8A0-4B55-A82D-7AB26ED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ck-kicker">
            <a:extLst xmlns:a="http://schemas.openxmlformats.org/drawingml/2006/main">
              <a:ext uri="{FF2B5EF4-FFF2-40B4-BE49-F238E27FC236}">
                <a16:creationId xmlns:a16="http://schemas.microsoft.com/office/drawing/2014/main" id="{83B58034-7DDF-4CC2-AF06-BB2B601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15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PYTHON FUNDAMENTALS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00EFBAAD-D21D-4EA4-A9F9-217F34E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4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54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Conditional</a:t>
            </a:r>
          </a:p>
          <a:p xmlns:a="http://schemas.openxmlformats.org/drawingml/2006/main">
            <a:pPr algn="l">
              <a:buNone/>
              <a:defRPr sz="54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54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Statements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EE9AA86-D4BB-4DA8-B6EE-520B2773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22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Membuat program memilih aksi berdasarkan kondisi</a:t>
            </a:r>
          </a:p>
        </p:txBody>
      </p:sp>
      <p:sp>
        <p:nvSpPr>
          <p:cNvPr id="6" name="topic-chip">
            <a:extLst xmlns:a="http://schemas.openxmlformats.org/drawingml/2006/main">
              <a:ext uri="{FF2B5EF4-FFF2-40B4-BE49-F238E27FC236}">
                <a16:creationId xmlns:a16="http://schemas.microsoft.com/office/drawing/2014/main" id="{13ED64BC-9C6C-4995-92F7-4A125C86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4288">
            <a:solidFill>
              <a:srgbClr val="FFD43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725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if · elif · else · pass · match–case</a:t>
            </a:r>
          </a:p>
        </p:txBody>
      </p:sp>
    </p:spTree>
    <p:extLst>
      <p:ext uri="{BB962C8B-B14F-4D97-AF65-F5344CB8AC3E}">
        <p14:creationId xmlns:p14="http://schemas.microsoft.com/office/powerpoint/2010/main" val="1806212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15613-0BCE-4929-BE80-8DCA766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if–else adalah decision tree dalam kode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FC61007-8816-4954-9B33-89A20712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7176F9-FE4A-4F23-8C79-21E3068C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Kondisi menentukan cabang yang dijalankan</a:t>
            </a:r>
          </a:p>
        </p:txBody>
      </p:sp>
      <p:sp>
        <p:nvSpPr>
          <p:cNvPr id="4" name="rain-condition">
            <a:extLst xmlns:a="http://schemas.openxmlformats.org/drawingml/2006/main">
              <a:ext uri="{FF2B5EF4-FFF2-40B4-BE49-F238E27FC236}">
                <a16:creationId xmlns:a16="http://schemas.microsoft.com/office/drawing/2014/main" id="{D8502DF5-0251-4EE4-98A2-7C5D5295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1428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FFD43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Apakah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hujan?</a:t>
            </a:r>
          </a:p>
        </p:txBody>
      </p:sp>
      <p:sp>
        <p:nvSpPr>
          <p:cNvPr id="5" name="rain-yes">
            <a:extLst xmlns:a="http://schemas.openxmlformats.org/drawingml/2006/main">
              <a:ext uri="{FF2B5EF4-FFF2-40B4-BE49-F238E27FC236}">
                <a16:creationId xmlns:a16="http://schemas.microsoft.com/office/drawing/2014/main" id="{C48D22BA-5844-4F73-A35F-8CF979E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76750"/>
            <a:ext cx="2857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1950" b="1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Bawa payung</a:t>
            </a:r>
          </a:p>
        </p:txBody>
      </p:sp>
      <p:sp>
        <p:nvSpPr>
          <p:cNvPr id="6" name="rain-no">
            <a:extLst xmlns:a="http://schemas.openxmlformats.org/drawingml/2006/main">
              <a:ext uri="{FF2B5EF4-FFF2-40B4-BE49-F238E27FC236}">
                <a16:creationId xmlns:a16="http://schemas.microsoft.com/office/drawing/2014/main" id="{D9232F87-4822-4DED-B860-B354BDE1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2857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950" b="1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Tidak perlu payung</a:t>
            </a:r>
          </a:p>
        </p:txBody>
      </p:sp>
      <p:cxnSp>
        <p:nvCxnSpPr>
          <p:cNvPr id="34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3190875" y="3219450"/>
            <a:ext cx="2905125" cy="1257300"/>
          </a:xfrm>
          <a:prstGeom xmlns:a="http://schemas.openxmlformats.org/drawingml/2006/main" prst="bentConnector4">
            <a:avLst>
              <a:gd name="adj1" fmla="val 0"/>
              <a:gd name="adj2" fmla="val 81818"/>
            </a:avLst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3219450"/>
            <a:ext cx="2905125" cy="1257300"/>
          </a:xfrm>
          <a:prstGeom xmlns:a="http://schemas.openxmlformats.org/drawingml/2006/main" prst="bentConnector4">
            <a:avLst>
              <a:gd name="adj1" fmla="val 0"/>
              <a:gd name="adj2" fmla="val 81818"/>
            </a:avLst>
          </a:prstGeom>
          <a:ln xmlns:a="http://schemas.openxmlformats.org/drawingml/2006/main" w="23813">
            <a:solidFill>
              <a:srgbClr val="B91C1C"/>
            </a:solidFill>
            <a:prstDash val="solid"/>
            <a:tailEnd type="arrow" w="med" len="med"/>
          </a:ln>
        </p:spPr>
      </p:cxnSp>
      <p:sp>
        <p:nvSpPr>
          <p:cNvPr id="9" name="yes-label">
            <a:extLst xmlns:a="http://schemas.openxmlformats.org/drawingml/2006/main">
              <a:ext uri="{FF2B5EF4-FFF2-40B4-BE49-F238E27FC236}">
                <a16:creationId xmlns:a16="http://schemas.microsoft.com/office/drawing/2014/main" id="{2D26A3FD-320E-47D6-B8DE-62DC054C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95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 / Ya</a:t>
            </a:r>
          </a:p>
        </p:txBody>
      </p:sp>
      <p:sp>
        <p:nvSpPr>
          <p:cNvPr id="10" name="no-label">
            <a:extLst xmlns:a="http://schemas.openxmlformats.org/drawingml/2006/main">
              <a:ext uri="{FF2B5EF4-FFF2-40B4-BE49-F238E27FC236}">
                <a16:creationId xmlns:a16="http://schemas.microsoft.com/office/drawing/2014/main" id="{02ED5EB0-A258-4AEF-A62E-7384690B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95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 / Tidak</a:t>
            </a:r>
          </a:p>
        </p:txBody>
      </p:sp>
      <p:sp>
        <p:nvSpPr>
          <p:cNvPr id="11" name="decision-summary">
            <a:extLst xmlns:a="http://schemas.openxmlformats.org/drawingml/2006/main">
              <a:ext uri="{FF2B5EF4-FFF2-40B4-BE49-F238E27FC236}">
                <a16:creationId xmlns:a16="http://schemas.microsoft.com/office/drawing/2014/main" id="{E0A2678D-6683-448E-97E7-A8334352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86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2100" b="0" i="0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kondisi  →  keputusan  →  aksi</a:t>
            </a:r>
          </a:p>
        </p:txBody>
      </p:sp>
    </p:spTree>
    <p:extLst>
      <p:ext uri="{BB962C8B-B14F-4D97-AF65-F5344CB8AC3E}">
        <p14:creationId xmlns:p14="http://schemas.microsoft.com/office/powerpoint/2010/main" val="1728974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E0F0D1-D3AF-4149-9660-425D593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Setiap kondisi menghasilkan True atau False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93351D7-E033-484F-83EE-17F13EDA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5912F4-4332-47FA-939A-3BBCACD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Boolean adalah sinyal untuk memilih cabang</a:t>
            </a:r>
          </a:p>
        </p:txBody>
      </p:sp>
      <p:sp>
        <p:nvSpPr>
          <p:cNvPr id="4" name="boolean-intro">
            <a:extLst xmlns:a="http://schemas.openxmlformats.org/drawingml/2006/main">
              <a:ext uri="{FF2B5EF4-FFF2-40B4-BE49-F238E27FC236}">
                <a16:creationId xmlns:a16="http://schemas.microsoft.com/office/drawing/2014/main" id="{0BEEABCA-4E04-4A9E-A864-0389943F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17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217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Python mengevaluasi ekspresi perbandingan menjadi nilai Boolean.</a:t>
            </a:r>
          </a:p>
        </p:txBody>
      </p:sp>
      <p:sp>
        <p:nvSpPr>
          <p:cNvPr id="5" name="true-card">
            <a:extLst xmlns:a="http://schemas.openxmlformats.org/drawingml/2006/main">
              <a:ext uri="{FF2B5EF4-FFF2-40B4-BE49-F238E27FC236}">
                <a16:creationId xmlns:a16="http://schemas.microsoft.com/office/drawing/2014/main" id="{1A331472-A8B9-4097-9AE1-E5537F8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2850" b="1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6" name="false-card">
            <a:extLst xmlns:a="http://schemas.openxmlformats.org/drawingml/2006/main">
              <a:ext uri="{FF2B5EF4-FFF2-40B4-BE49-F238E27FC236}">
                <a16:creationId xmlns:a16="http://schemas.microsoft.com/office/drawing/2014/main" id="{705BAE63-A684-4AD0-AD29-D8CC169F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2850" b="1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7" name="boolean-code-frame">
            <a:extLst xmlns:a="http://schemas.openxmlformats.org/drawingml/2006/main">
              <a:ext uri="{FF2B5EF4-FFF2-40B4-BE49-F238E27FC236}">
                <a16:creationId xmlns:a16="http://schemas.microsoft.com/office/drawing/2014/main" id="{66E09FCA-8D1A-4426-ABCB-A0AB759A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810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8" name="boolean-code-dot-1">
            <a:extLst xmlns:a="http://schemas.openxmlformats.org/drawingml/2006/main">
              <a:ext uri="{FF2B5EF4-FFF2-40B4-BE49-F238E27FC236}">
                <a16:creationId xmlns:a16="http://schemas.microsoft.com/office/drawing/2014/main" id="{171B548B-EBFA-4443-B367-DB1CD07B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olean-code-dot-2">
            <a:extLst xmlns:a="http://schemas.openxmlformats.org/drawingml/2006/main">
              <a:ext uri="{FF2B5EF4-FFF2-40B4-BE49-F238E27FC236}">
                <a16:creationId xmlns:a16="http://schemas.microsoft.com/office/drawing/2014/main" id="{9D6E1664-3845-4133-B7A3-023B33A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olean-code-dot-3">
            <a:extLst xmlns:a="http://schemas.openxmlformats.org/drawingml/2006/main">
              <a:ext uri="{FF2B5EF4-FFF2-40B4-BE49-F238E27FC236}">
                <a16:creationId xmlns:a16="http://schemas.microsoft.com/office/drawing/2014/main" id="{DEEA53E8-AB92-4599-B381-8DCA8EC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olean-code-code">
            <a:extLst xmlns:a="http://schemas.openxmlformats.org/drawingml/2006/main">
              <a:ext uri="{FF2B5EF4-FFF2-40B4-BE49-F238E27FC236}">
                <a16:creationId xmlns:a16="http://schemas.microsoft.com/office/drawing/2014/main" id="{58F1BAFE-7815-48E4-BE68-5162E217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53530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age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age &gt;= 17     # True</a:t>
            </a:r>
          </a:p>
          <a:p xmlns:a="http://schemas.openxmlformats.org/drawingml/2006/main">
            <a:pPr algn="l">
              <a:buNone/>
              <a:def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9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age &lt; 17      # False</a:t>
            </a:r>
          </a:p>
        </p:txBody>
      </p:sp>
      <p:sp>
        <p:nvSpPr>
          <p:cNvPr id="12" name="boolean-flow">
            <a:extLst xmlns:a="http://schemas.openxmlformats.org/drawingml/2006/main">
              <a:ext uri="{FF2B5EF4-FFF2-40B4-BE49-F238E27FC236}">
                <a16:creationId xmlns:a16="http://schemas.microsoft.com/office/drawing/2014/main" id="{B12EF4E3-2AF9-4913-86BF-2847EA16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550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age &gt;= 17</a:t>
            </a:r>
          </a:p>
        </p:txBody>
      </p:sp>
      <p:sp>
        <p:nvSpPr>
          <p:cNvPr id="13" name="boolean-arrow">
            <a:extLst xmlns:a="http://schemas.openxmlformats.org/drawingml/2006/main">
              <a:ext uri="{FF2B5EF4-FFF2-40B4-BE49-F238E27FC236}">
                <a16:creationId xmlns:a16="http://schemas.microsoft.com/office/drawing/2014/main" id="{7AC6FECB-D318-46B9-9A9E-418440C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67150"/>
            <a:ext cx="666750" cy="762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6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olean-result">
            <a:extLst xmlns:a="http://schemas.openxmlformats.org/drawingml/2006/main">
              <a:ext uri="{FF2B5EF4-FFF2-40B4-BE49-F238E27FC236}">
                <a16:creationId xmlns:a16="http://schemas.microsoft.com/office/drawing/2014/main" id="{78D6FC80-7C9B-4D9B-9764-C3C1F0FE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2250" b="1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5" name="boolean-takeaway">
            <a:extLst xmlns:a="http://schemas.openxmlformats.org/drawingml/2006/main">
              <a:ext uri="{FF2B5EF4-FFF2-40B4-BE49-F238E27FC236}">
                <a16:creationId xmlns:a16="http://schemas.microsoft.com/office/drawing/2014/main" id="{FD2A87F1-2E2D-4997-AC80-CDE586B7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905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Jika hasilnya True, blok kode dijalankan.</a:t>
            </a:r>
          </a:p>
        </p:txBody>
      </p:sp>
    </p:spTree>
    <p:extLst>
      <p:ext uri="{BB962C8B-B14F-4D97-AF65-F5344CB8AC3E}">
        <p14:creationId xmlns:p14="http://schemas.microsoft.com/office/powerpoint/2010/main" val="512518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DFD55-FAF6-4132-A10A-6D9F73BF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Comparison operators membentuk pertanyaan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DA66DCD-862E-4615-9812-07F59A6B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2FD5DE-D945-4142-990B-2A842BC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Enam simbol dasar yang paling sering dipakai</a:t>
            </a:r>
          </a:p>
        </p:txBody>
      </p:sp>
      <p:sp>
        <p:nvSpPr>
          <p:cNvPr id="4" name="op-0">
            <a:extLst xmlns:a="http://schemas.openxmlformats.org/drawingml/2006/main">
              <a:ext uri="{FF2B5EF4-FFF2-40B4-BE49-F238E27FC236}">
                <a16:creationId xmlns:a16="http://schemas.microsoft.com/office/drawing/2014/main" id="{28E7941D-1648-472D-A33C-688184D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==</a:t>
            </a:r>
          </a:p>
        </p:txBody>
      </p:sp>
      <p:sp>
        <p:nvSpPr>
          <p:cNvPr id="5" name="op-label-0">
            <a:extLst xmlns:a="http://schemas.openxmlformats.org/drawingml/2006/main">
              <a:ext uri="{FF2B5EF4-FFF2-40B4-BE49-F238E27FC236}">
                <a16:creationId xmlns:a16="http://schemas.microsoft.com/office/drawing/2014/main" id="{1CD183D8-88FF-40F4-8387-C6CF1270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85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sama dengan</a:t>
            </a:r>
          </a:p>
        </p:txBody>
      </p:sp>
      <p:sp>
        <p:nvSpPr>
          <p:cNvPr id="6" name="op-1">
            <a:extLst xmlns:a="http://schemas.openxmlformats.org/drawingml/2006/main">
              <a:ext uri="{FF2B5EF4-FFF2-40B4-BE49-F238E27FC236}">
                <a16:creationId xmlns:a16="http://schemas.microsoft.com/office/drawing/2014/main" id="{5C028721-D36F-4B4D-B00E-123B33C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764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!=</a:t>
            </a:r>
          </a:p>
        </p:txBody>
      </p:sp>
      <p:sp>
        <p:nvSpPr>
          <p:cNvPr id="7" name="op-label-1">
            <a:extLst xmlns:a="http://schemas.openxmlformats.org/drawingml/2006/main">
              <a:ext uri="{FF2B5EF4-FFF2-40B4-BE49-F238E27FC236}">
                <a16:creationId xmlns:a16="http://schemas.microsoft.com/office/drawing/2014/main" id="{6735307E-EE76-424B-98AE-57235E4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tidak sama dengan</a:t>
            </a:r>
          </a:p>
        </p:txBody>
      </p:sp>
      <p:sp>
        <p:nvSpPr>
          <p:cNvPr id="8" name="op-2">
            <a:extLst xmlns:a="http://schemas.openxmlformats.org/drawingml/2006/main">
              <a:ext uri="{FF2B5EF4-FFF2-40B4-BE49-F238E27FC236}">
                <a16:creationId xmlns:a16="http://schemas.microsoft.com/office/drawing/2014/main" id="{7DB830F1-8FA1-4650-8358-B9BBED2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&gt;</a:t>
            </a:r>
          </a:p>
        </p:txBody>
      </p:sp>
      <p:sp>
        <p:nvSpPr>
          <p:cNvPr id="9" name="op-label-2">
            <a:extLst xmlns:a="http://schemas.openxmlformats.org/drawingml/2006/main">
              <a:ext uri="{FF2B5EF4-FFF2-40B4-BE49-F238E27FC236}">
                <a16:creationId xmlns:a16="http://schemas.microsoft.com/office/drawing/2014/main" id="{78E6AB1D-D0C7-41EB-AC27-33808D6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lebih besar</a:t>
            </a:r>
          </a:p>
        </p:txBody>
      </p:sp>
      <p:sp>
        <p:nvSpPr>
          <p:cNvPr id="10" name="op-3">
            <a:extLst xmlns:a="http://schemas.openxmlformats.org/drawingml/2006/main">
              <a:ext uri="{FF2B5EF4-FFF2-40B4-BE49-F238E27FC236}">
                <a16:creationId xmlns:a16="http://schemas.microsoft.com/office/drawing/2014/main" id="{F01F7E65-56BB-4228-B03D-69F45DC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&lt;</a:t>
            </a:r>
          </a:p>
        </p:txBody>
      </p:sp>
      <p:sp>
        <p:nvSpPr>
          <p:cNvPr id="11" name="op-label-3">
            <a:extLst xmlns:a="http://schemas.openxmlformats.org/drawingml/2006/main">
              <a:ext uri="{FF2B5EF4-FFF2-40B4-BE49-F238E27FC236}">
                <a16:creationId xmlns:a16="http://schemas.microsoft.com/office/drawing/2014/main" id="{9FB018A9-9DFA-474A-84A6-6D2A1D7E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lebih kecil</a:t>
            </a:r>
          </a:p>
        </p:txBody>
      </p:sp>
      <p:sp>
        <p:nvSpPr>
          <p:cNvPr id="12" name="op-4">
            <a:extLst xmlns:a="http://schemas.openxmlformats.org/drawingml/2006/main">
              <a:ext uri="{FF2B5EF4-FFF2-40B4-BE49-F238E27FC236}">
                <a16:creationId xmlns:a16="http://schemas.microsoft.com/office/drawing/2014/main" id="{EDDDB9EE-1AE8-42A5-8C37-3920A9A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&gt;=</a:t>
            </a:r>
          </a:p>
        </p:txBody>
      </p:sp>
      <p:sp>
        <p:nvSpPr>
          <p:cNvPr id="13" name="op-label-4">
            <a:extLst xmlns:a="http://schemas.openxmlformats.org/drawingml/2006/main">
              <a:ext uri="{FF2B5EF4-FFF2-40B4-BE49-F238E27FC236}">
                <a16:creationId xmlns:a16="http://schemas.microsoft.com/office/drawing/2014/main" id="{7F0901BF-0AF6-4EFD-A93D-A1184EF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lebih besar atau sama</a:t>
            </a:r>
          </a:p>
        </p:txBody>
      </p:sp>
      <p:sp>
        <p:nvSpPr>
          <p:cNvPr id="14" name="op-5">
            <a:extLst xmlns:a="http://schemas.openxmlformats.org/drawingml/2006/main">
              <a:ext uri="{FF2B5EF4-FFF2-40B4-BE49-F238E27FC236}">
                <a16:creationId xmlns:a16="http://schemas.microsoft.com/office/drawing/2014/main" id="{56366F83-5C1C-4224-8531-956AC3A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&lt;=</a:t>
            </a:r>
          </a:p>
        </p:txBody>
      </p:sp>
      <p:sp>
        <p:nvSpPr>
          <p:cNvPr id="15" name="op-label-5">
            <a:extLst xmlns:a="http://schemas.openxmlformats.org/drawingml/2006/main">
              <a:ext uri="{FF2B5EF4-FFF2-40B4-BE49-F238E27FC236}">
                <a16:creationId xmlns:a16="http://schemas.microsoft.com/office/drawing/2014/main" id="{661A0792-7CCC-470F-8A31-23489DF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lebih kecil atau sama</a:t>
            </a:r>
          </a:p>
        </p:txBody>
      </p:sp>
      <p:sp>
        <p:nvSpPr>
          <p:cNvPr id="16" name="comparison-example">
            <a:extLst xmlns:a="http://schemas.openxmlformats.org/drawingml/2006/main">
              <a:ext uri="{FF2B5EF4-FFF2-40B4-BE49-F238E27FC236}">
                <a16:creationId xmlns:a16="http://schemas.microsoft.com/office/drawing/2014/main" id="{E9AECFC2-DC88-4A78-A71C-ABE4B634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76400"/>
            <a:ext cx="2438400" cy="3200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17" name="comparison-example-title">
            <a:extLst xmlns:a="http://schemas.openxmlformats.org/drawingml/2006/main">
              <a:ext uri="{FF2B5EF4-FFF2-40B4-BE49-F238E27FC236}">
                <a16:creationId xmlns:a16="http://schemas.microsoft.com/office/drawing/2014/main" id="{C38EEF41-8767-4CDA-A41E-34B9492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81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Contoh</a:t>
            </a:r>
          </a:p>
        </p:txBody>
      </p:sp>
      <p:sp>
        <p:nvSpPr>
          <p:cNvPr id="18" name="comparison-example-code">
            <a:extLst xmlns:a="http://schemas.openxmlformats.org/drawingml/2006/main">
              <a:ext uri="{FF2B5EF4-FFF2-40B4-BE49-F238E27FC236}">
                <a16:creationId xmlns:a16="http://schemas.microsoft.com/office/drawing/2014/main" id="{28244C44-FFC7-4BE7-82EA-FD1C669B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90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score =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score &gt;= 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→ True</a:t>
            </a:r>
          </a:p>
        </p:txBody>
      </p:sp>
      <p:sp>
        <p:nvSpPr>
          <p:cNvPr id="19" name="equal-warning">
            <a:extLst xmlns:a="http://schemas.openxmlformats.org/drawingml/2006/main">
              <a:ext uri="{FF2B5EF4-FFF2-40B4-BE49-F238E27FC236}">
                <a16:creationId xmlns:a16="http://schemas.microsoft.com/office/drawing/2014/main" id="{5981202C-E208-4D02-8373-1773BBF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4288">
            <a:solidFill>
              <a:srgbClr val="FFD43B"/>
            </a:solidFill>
            <a:prstDash val="solid"/>
          </a:ln>
        </p:spPr>
      </p:sp>
      <p:sp>
        <p:nvSpPr>
          <p:cNvPr id="20" name="equal-warning-text">
            <a:extLst xmlns:a="http://schemas.openxmlformats.org/drawingml/2006/main">
              <a:ext uri="{FF2B5EF4-FFF2-40B4-BE49-F238E27FC236}">
                <a16:creationId xmlns:a16="http://schemas.microsoft.com/office/drawing/2014/main" id="{A8F9BD64-FA1F-4107-A86B-EB9604F0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67375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Ingat:  =  memberi nilai, sedangkan  ==  membandingkan nilai.</a:t>
            </a:r>
          </a:p>
        </p:txBody>
      </p:sp>
    </p:spTree>
    <p:extLst>
      <p:ext uri="{BB962C8B-B14F-4D97-AF65-F5344CB8AC3E}">
        <p14:creationId xmlns:p14="http://schemas.microsoft.com/office/powerpoint/2010/main" val="956593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BDFD55-FAF6-4132-A10A-6D9F73BF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Gabungkan kondisi dengan and, or, dan not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DA66DCD-862E-4615-9812-07F59A6B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2FD5DE-D945-4142-990B-2A842BCB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Python memakai keyword, bukan &amp;&amp;, ||, atau !</a:t>
            </a:r>
          </a:p>
        </p:txBody>
      </p:sp>
      <p:sp>
        <p:nvSpPr>
          <p:cNvPr id="4" name="op-0">
            <a:extLst xmlns:a="http://schemas.openxmlformats.org/drawingml/2006/main">
              <a:ext uri="{FF2B5EF4-FFF2-40B4-BE49-F238E27FC236}">
                <a16:creationId xmlns:a16="http://schemas.microsoft.com/office/drawing/2014/main" id="{28E7941D-1648-472D-A33C-688184D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&amp;&amp;</a:t>
            </a:r>
          </a:p>
        </p:txBody>
      </p:sp>
      <p:sp>
        <p:nvSpPr>
          <p:cNvPr id="5" name="op-label-0">
            <a:extLst xmlns:a="http://schemas.openxmlformats.org/drawingml/2006/main">
              <a:ext uri="{FF2B5EF4-FFF2-40B4-BE49-F238E27FC236}">
                <a16:creationId xmlns:a16="http://schemas.microsoft.com/office/drawing/2014/main" id="{1CD183D8-88FF-40F4-8387-C6CF1270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85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Python: and</a:t>
            </a:r>
          </a:p>
        </p:txBody>
      </p:sp>
      <p:sp>
        <p:nvSpPr>
          <p:cNvPr id="6" name="op-1">
            <a:extLst xmlns:a="http://schemas.openxmlformats.org/drawingml/2006/main">
              <a:ext uri="{FF2B5EF4-FFF2-40B4-BE49-F238E27FC236}">
                <a16:creationId xmlns:a16="http://schemas.microsoft.com/office/drawing/2014/main" id="{5C028721-D36F-4B4D-B00E-123B33C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764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||</a:t>
            </a:r>
          </a:p>
        </p:txBody>
      </p:sp>
      <p:sp>
        <p:nvSpPr>
          <p:cNvPr id="7" name="op-label-1">
            <a:extLst xmlns:a="http://schemas.openxmlformats.org/drawingml/2006/main">
              <a:ext uri="{FF2B5EF4-FFF2-40B4-BE49-F238E27FC236}">
                <a16:creationId xmlns:a16="http://schemas.microsoft.com/office/drawing/2014/main" id="{6735307E-EE76-424B-98AE-57235E4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Python: or</a:t>
            </a:r>
          </a:p>
        </p:txBody>
      </p:sp>
      <p:sp>
        <p:nvSpPr>
          <p:cNvPr id="8" name="op-2">
            <a:extLst xmlns:a="http://schemas.openxmlformats.org/drawingml/2006/main">
              <a:ext uri="{FF2B5EF4-FFF2-40B4-BE49-F238E27FC236}">
                <a16:creationId xmlns:a16="http://schemas.microsoft.com/office/drawing/2014/main" id="{7DB830F1-8FA1-4650-8358-B9BBED2E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!</a:t>
            </a:r>
          </a:p>
        </p:txBody>
      </p:sp>
      <p:sp>
        <p:nvSpPr>
          <p:cNvPr id="9" name="op-label-2">
            <a:extLst xmlns:a="http://schemas.openxmlformats.org/drawingml/2006/main">
              <a:ext uri="{FF2B5EF4-FFF2-40B4-BE49-F238E27FC236}">
                <a16:creationId xmlns:a16="http://schemas.microsoft.com/office/drawing/2014/main" id="{78E6AB1D-D0C7-41EB-AC27-33808D6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86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Python: not</a:t>
            </a:r>
          </a:p>
        </p:txBody>
      </p:sp>
      <p:sp>
        <p:nvSpPr>
          <p:cNvPr id="10" name="op-3">
            <a:extLst xmlns:a="http://schemas.openxmlformats.org/drawingml/2006/main">
              <a:ext uri="{FF2B5EF4-FFF2-40B4-BE49-F238E27FC236}">
                <a16:creationId xmlns:a16="http://schemas.microsoft.com/office/drawing/2014/main" id="{F01F7E65-56BB-4228-B03D-69F45DCB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7655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and</a:t>
            </a:r>
          </a:p>
        </p:txBody>
      </p:sp>
      <p:sp>
        <p:nvSpPr>
          <p:cNvPr id="11" name="op-label-3">
            <a:extLst xmlns:a="http://schemas.openxmlformats.org/drawingml/2006/main">
              <a:ext uri="{FF2B5EF4-FFF2-40B4-BE49-F238E27FC236}">
                <a16:creationId xmlns:a16="http://schemas.microsoft.com/office/drawing/2014/main" id="{9FB018A9-9DFA-474A-84A6-6D2A1D7E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semua kondisi harus True</a:t>
            </a:r>
          </a:p>
        </p:txBody>
      </p:sp>
      <p:sp>
        <p:nvSpPr>
          <p:cNvPr id="12" name="op-4">
            <a:extLst xmlns:a="http://schemas.openxmlformats.org/drawingml/2006/main">
              <a:ext uri="{FF2B5EF4-FFF2-40B4-BE49-F238E27FC236}">
                <a16:creationId xmlns:a16="http://schemas.microsoft.com/office/drawing/2014/main" id="{EDDDB9EE-1AE8-42A5-8C37-3920A9A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or</a:t>
            </a:r>
          </a:p>
        </p:txBody>
      </p:sp>
      <p:sp>
        <p:nvSpPr>
          <p:cNvPr id="13" name="op-label-4">
            <a:extLst xmlns:a="http://schemas.openxmlformats.org/drawingml/2006/main">
              <a:ext uri="{FF2B5EF4-FFF2-40B4-BE49-F238E27FC236}">
                <a16:creationId xmlns:a16="http://schemas.microsoft.com/office/drawing/2014/main" id="{7F0901BF-0AF6-4EFD-A93D-A1184EF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minimal satu kondisi True</a:t>
            </a:r>
          </a:p>
        </p:txBody>
      </p:sp>
      <p:sp>
        <p:nvSpPr>
          <p:cNvPr id="14" name="op-5">
            <a:extLst xmlns:a="http://schemas.openxmlformats.org/drawingml/2006/main">
              <a:ext uri="{FF2B5EF4-FFF2-40B4-BE49-F238E27FC236}">
                <a16:creationId xmlns:a16="http://schemas.microsoft.com/office/drawing/2014/main" id="{56366F83-5C1C-4224-8531-956AC3A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1123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2550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not</a:t>
            </a:r>
          </a:p>
        </p:txBody>
      </p:sp>
      <p:sp>
        <p:nvSpPr>
          <p:cNvPr id="15" name="op-label-5">
            <a:extLst xmlns:a="http://schemas.openxmlformats.org/drawingml/2006/main">
              <a:ext uri="{FF2B5EF4-FFF2-40B4-BE49-F238E27FC236}">
                <a16:creationId xmlns:a16="http://schemas.microsoft.com/office/drawing/2014/main" id="{661A0792-7CCC-470F-8A31-23489DF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membalik nilai Boolean</a:t>
            </a:r>
          </a:p>
        </p:txBody>
      </p:sp>
      <p:sp>
        <p:nvSpPr>
          <p:cNvPr id="16" name="comparison-example">
            <a:extLst xmlns:a="http://schemas.openxmlformats.org/drawingml/2006/main">
              <a:ext uri="{FF2B5EF4-FFF2-40B4-BE49-F238E27FC236}">
                <a16:creationId xmlns:a16="http://schemas.microsoft.com/office/drawing/2014/main" id="{E9AECFC2-DC88-4A78-A71C-ABE4B634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76400"/>
            <a:ext cx="2438400" cy="3200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17" name="comparison-example-title">
            <a:extLst xmlns:a="http://schemas.openxmlformats.org/drawingml/2006/main">
              <a:ext uri="{FF2B5EF4-FFF2-40B4-BE49-F238E27FC236}">
                <a16:creationId xmlns:a16="http://schemas.microsoft.com/office/drawing/2014/main" id="{C38EEF41-8767-4CDA-A41E-34B9492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812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Kondisi gabungan</a:t>
            </a:r>
          </a:p>
        </p:txBody>
      </p:sp>
      <p:sp>
        <p:nvSpPr>
          <p:cNvPr id="18" name="comparison-example-code">
            <a:extLst xmlns:a="http://schemas.openxmlformats.org/drawingml/2006/main">
              <a:ext uri="{FF2B5EF4-FFF2-40B4-BE49-F238E27FC236}">
                <a16:creationId xmlns:a16="http://schemas.microsoft.com/office/drawing/2014/main" id="{28244C44-FFC7-4BE7-82EA-FD1C669B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90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age = 20</a:t>
            </a:r>
          </a:p>
          <a:p xmlns:a="http://schemas.openxmlformats.org/drawingml/2006/main">
            <a:pPr algn="ctr">
              <a:defRPr sz="2025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ticket = True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age &gt;= 18</a:t>
            </a:r>
          </a:p>
          <a:p xmlns:a="http://schemas.openxmlformats.org/drawingml/2006/main">
            <a:pPr algn="ctr">
              <a:defRPr sz="2025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and ticket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→ True</a:t>
            </a:r>
          </a:p>
        </p:txBody>
      </p:sp>
      <p:sp>
        <p:nvSpPr>
          <p:cNvPr id="19" name="equal-warning">
            <a:extLst xmlns:a="http://schemas.openxmlformats.org/drawingml/2006/main">
              <a:ext uri="{FF2B5EF4-FFF2-40B4-BE49-F238E27FC236}">
                <a16:creationId xmlns:a16="http://schemas.microsoft.com/office/drawing/2014/main" id="{5981202C-E208-4D02-8373-1773BBF7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4288">
            <a:solidFill>
              <a:srgbClr val="FFD43B"/>
            </a:solidFill>
            <a:prstDash val="solid"/>
          </a:ln>
        </p:spPr>
      </p:sp>
      <p:sp>
        <p:nvSpPr>
          <p:cNvPr id="20" name="equal-warning-text">
            <a:extLst xmlns:a="http://schemas.openxmlformats.org/drawingml/2006/main">
              <a:ext uri="{FF2B5EF4-FFF2-40B4-BE49-F238E27FC236}">
                <a16:creationId xmlns:a16="http://schemas.microsoft.com/office/drawing/2014/main" id="{A8F9BD64-FA1F-4107-A86B-EB9604F0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67375"/>
            <a:ext cx="1021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202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Di Python gunakan  and, or, not — bukan  &amp;&amp;, ||, !</a:t>
            </a:r>
          </a:p>
        </p:txBody>
      </p:sp>
    </p:spTree>
    <p:extLst>
      <p:ext uri="{BB962C8B-B14F-4D97-AF65-F5344CB8AC3E}">
        <p14:creationId xmlns:p14="http://schemas.microsoft.com/office/powerpoint/2010/main" val="956593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C3BBD-6FF5-47B1-9B05-1DDAB42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if menjalankan blok hanya saat kondisi benar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F3027EC-A369-458E-89F9-F7A8845F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A025C74-6790-4BF1-A9A7-071288ED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Indentasi menunjukkan kode yang termasuk di dalam if</a:t>
            </a:r>
          </a:p>
        </p:txBody>
      </p:sp>
      <p:sp>
        <p:nvSpPr>
          <p:cNvPr id="4" name="if-code-frame">
            <a:extLst xmlns:a="http://schemas.openxmlformats.org/drawingml/2006/main">
              <a:ext uri="{FF2B5EF4-FFF2-40B4-BE49-F238E27FC236}">
                <a16:creationId xmlns:a16="http://schemas.microsoft.com/office/drawing/2014/main" id="{67A4724A-94B9-44D4-A451-1C970151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715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if-code-dot-1">
            <a:extLst xmlns:a="http://schemas.openxmlformats.org/drawingml/2006/main">
              <a:ext uri="{FF2B5EF4-FFF2-40B4-BE49-F238E27FC236}">
                <a16:creationId xmlns:a16="http://schemas.microsoft.com/office/drawing/2014/main" id="{62140783-594E-43E8-ADF4-E7ACFE90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f-code-dot-2">
            <a:extLst xmlns:a="http://schemas.openxmlformats.org/drawingml/2006/main">
              <a:ext uri="{FF2B5EF4-FFF2-40B4-BE49-F238E27FC236}">
                <a16:creationId xmlns:a16="http://schemas.microsoft.com/office/drawing/2014/main" id="{3B325F54-7AA9-4017-99F6-9DE6BB95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f-code-dot-3">
            <a:extLst xmlns:a="http://schemas.openxmlformats.org/drawingml/2006/main">
              <a:ext uri="{FF2B5EF4-FFF2-40B4-BE49-F238E27FC236}">
                <a16:creationId xmlns:a16="http://schemas.microsoft.com/office/drawing/2014/main" id="{846B2667-8E9D-47B2-A9AC-41EDEF6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f-code-code">
            <a:extLst xmlns:a="http://schemas.openxmlformats.org/drawingml/2006/main">
              <a:ext uri="{FF2B5EF4-FFF2-40B4-BE49-F238E27FC236}">
                <a16:creationId xmlns:a16="http://schemas.microsoft.com/office/drawing/2014/main" id="{D2A90172-7BAE-4791-B268-324D406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2578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score = 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if score &gt;= 75: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20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print("Lulus")</a:t>
            </a:r>
          </a:p>
        </p:txBody>
      </p:sp>
      <p:sp>
        <p:nvSpPr>
          <p:cNvPr id="9" name="if-condition">
            <a:extLst xmlns:a="http://schemas.openxmlformats.org/drawingml/2006/main">
              <a:ext uri="{FF2B5EF4-FFF2-40B4-BE49-F238E27FC236}">
                <a16:creationId xmlns:a16="http://schemas.microsoft.com/office/drawing/2014/main" id="{CC04986F-3C2B-4CC9-8DBA-6634E56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2857500" cy="11239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FFD43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950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score &gt;= 75?</a:t>
            </a:r>
          </a:p>
        </p:txBody>
      </p:sp>
      <p:sp>
        <p:nvSpPr>
          <p:cNvPr id="10" name="if-action">
            <a:extLst xmlns:a="http://schemas.openxmlformats.org/drawingml/2006/main">
              <a:ext uri="{FF2B5EF4-FFF2-40B4-BE49-F238E27FC236}">
                <a16:creationId xmlns:a16="http://schemas.microsoft.com/office/drawing/2014/main" id="{FF92C9F1-B0D2-4611-B2F2-5C7B73F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14800"/>
            <a:ext cx="2476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725" b="1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print("Lulus")</a:t>
            </a:r>
          </a:p>
        </p:txBody>
      </p:sp>
      <p:cxnSp>
        <p:nvCxnSpPr>
          <p:cNvPr id="4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144000" y="2933700"/>
            <a:ext cx="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sp>
        <p:nvSpPr>
          <p:cNvPr id="12" name="if-true-label">
            <a:extLst xmlns:a="http://schemas.openxmlformats.org/drawingml/2006/main">
              <a:ext uri="{FF2B5EF4-FFF2-40B4-BE49-F238E27FC236}">
                <a16:creationId xmlns:a16="http://schemas.microsoft.com/office/drawing/2014/main" id="{4C2E680E-236B-4194-A90C-9FBD5CD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3" name="if-false-label">
            <a:extLst xmlns:a="http://schemas.openxmlformats.org/drawingml/2006/main">
              <a:ext uri="{FF2B5EF4-FFF2-40B4-BE49-F238E27FC236}">
                <a16:creationId xmlns:a16="http://schemas.microsoft.com/office/drawing/2014/main" id="{227D5CD9-4234-4F3F-B8C9-F75E268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3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False → lewati blok</a:t>
            </a:r>
          </a:p>
        </p:txBody>
      </p:sp>
      <p:sp>
        <p:nvSpPr>
          <p:cNvPr id="14" name="if-check-0">
            <a:extLst xmlns:a="http://schemas.openxmlformats.org/drawingml/2006/main">
              <a:ext uri="{FF2B5EF4-FFF2-40B4-BE49-F238E27FC236}">
                <a16:creationId xmlns:a16="http://schemas.microsoft.com/office/drawing/2014/main" id="{935396BF-D134-4DB9-BBCC-481B2283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✓ kondisi</a:t>
            </a:r>
          </a:p>
        </p:txBody>
      </p:sp>
      <p:sp>
        <p:nvSpPr>
          <p:cNvPr id="15" name="if-check-1">
            <a:extLst xmlns:a="http://schemas.openxmlformats.org/drawingml/2006/main">
              <a:ext uri="{FF2B5EF4-FFF2-40B4-BE49-F238E27FC236}">
                <a16:creationId xmlns:a16="http://schemas.microsoft.com/office/drawing/2014/main" id="{31375432-D6B7-4370-ACC4-EBE9216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56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✓ titik dua :</a:t>
            </a:r>
          </a:p>
        </p:txBody>
      </p:sp>
      <p:sp>
        <p:nvSpPr>
          <p:cNvPr id="16" name="if-check-2">
            <a:extLst xmlns:a="http://schemas.openxmlformats.org/drawingml/2006/main">
              <a:ext uri="{FF2B5EF4-FFF2-40B4-BE49-F238E27FC236}">
                <a16:creationId xmlns:a16="http://schemas.microsoft.com/office/drawing/2014/main" id="{7CCF5A93-EFDA-4562-BF33-A997988E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6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18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✓ indentasi 4 spasi</a:t>
            </a:r>
          </a:p>
        </p:txBody>
      </p:sp>
    </p:spTree>
    <p:extLst>
      <p:ext uri="{BB962C8B-B14F-4D97-AF65-F5344CB8AC3E}">
        <p14:creationId xmlns:p14="http://schemas.microsoft.com/office/powerpoint/2010/main" val="15823864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31DDB4-2498-4315-8157-EF326A0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if–else menjamin satu dari dua cabang berjalan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E43C026-C5BC-4E71-A291-0862ED8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FEFF1F-8BE7-44F7-9C11-2ACE2C2F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else menangani semua kondisi yang tidak lolos if</a:t>
            </a:r>
          </a:p>
        </p:txBody>
      </p:sp>
      <p:sp>
        <p:nvSpPr>
          <p:cNvPr id="4" name="if-else-code-frame">
            <a:extLst xmlns:a="http://schemas.openxmlformats.org/drawingml/2006/main">
              <a:ext uri="{FF2B5EF4-FFF2-40B4-BE49-F238E27FC236}">
                <a16:creationId xmlns:a16="http://schemas.microsoft.com/office/drawing/2014/main" id="{42E8BB46-9DB7-4BDD-81F8-1D3C3AF8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905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if-else-code-dot-1">
            <a:extLst xmlns:a="http://schemas.openxmlformats.org/drawingml/2006/main">
              <a:ext uri="{FF2B5EF4-FFF2-40B4-BE49-F238E27FC236}">
                <a16:creationId xmlns:a16="http://schemas.microsoft.com/office/drawing/2014/main" id="{C97424AB-1737-450B-8091-6413FA67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f-else-code-dot-2">
            <a:extLst xmlns:a="http://schemas.openxmlformats.org/drawingml/2006/main">
              <a:ext uri="{FF2B5EF4-FFF2-40B4-BE49-F238E27FC236}">
                <a16:creationId xmlns:a16="http://schemas.microsoft.com/office/drawing/2014/main" id="{2FEBEA00-43C7-4FA0-9F53-13122EE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f-else-code-dot-3">
            <a:extLst xmlns:a="http://schemas.openxmlformats.org/drawingml/2006/main">
              <a:ext uri="{FF2B5EF4-FFF2-40B4-BE49-F238E27FC236}">
                <a16:creationId xmlns:a16="http://schemas.microsoft.com/office/drawing/2014/main" id="{51D4CCAB-DD23-4B93-B0B2-893A12E8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f-else-code-code">
            <a:extLst xmlns:a="http://schemas.openxmlformats.org/drawingml/2006/main">
              <a:ext uri="{FF2B5EF4-FFF2-40B4-BE49-F238E27FC236}">
                <a16:creationId xmlns:a16="http://schemas.microsoft.com/office/drawing/2014/main" id="{70E28289-2119-4C11-8EBF-7F9DCA7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4483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temperature =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if temperature &gt; 30: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print("Nyalakan kipas")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buNone/>
              <a:def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7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print("Kipas tidak diperlukan")</a:t>
            </a:r>
          </a:p>
        </p:txBody>
      </p:sp>
      <p:sp>
        <p:nvSpPr>
          <p:cNvPr id="9" name="temp-condition">
            <a:extLst xmlns:a="http://schemas.openxmlformats.org/drawingml/2006/main">
              <a:ext uri="{FF2B5EF4-FFF2-40B4-BE49-F238E27FC236}">
                <a16:creationId xmlns:a16="http://schemas.microsoft.com/office/drawing/2014/main" id="{613CBC85-AA20-4D57-8052-2DFBE3A9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333750" cy="1238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FFD43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temperature &gt; 30?</a:t>
            </a:r>
          </a:p>
        </p:txBody>
      </p:sp>
      <p:sp>
        <p:nvSpPr>
          <p:cNvPr id="10" name="fan-on">
            <a:extLst xmlns:a="http://schemas.openxmlformats.org/drawingml/2006/main">
              <a:ext uri="{FF2B5EF4-FFF2-40B4-BE49-F238E27FC236}">
                <a16:creationId xmlns:a16="http://schemas.microsoft.com/office/drawing/2014/main" id="{2AD1D902-6CBE-4970-926A-7C18DE2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Nyalakan kipas</a:t>
            </a:r>
          </a:p>
        </p:txBody>
      </p:sp>
      <p:sp>
        <p:nvSpPr>
          <p:cNvPr id="11" name="fan-off">
            <a:extLst xmlns:a="http://schemas.openxmlformats.org/drawingml/2006/main">
              <a:ext uri="{FF2B5EF4-FFF2-40B4-BE49-F238E27FC236}">
                <a16:creationId xmlns:a16="http://schemas.microsoft.com/office/drawing/2014/main" id="{20525F23-9146-4557-BD48-6E1F2E66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43400"/>
            <a:ext cx="209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Tidak diperlukan</a:t>
            </a:r>
          </a:p>
        </p:txBody>
      </p: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3375" y="2895600"/>
            <a:ext cx="1447800" cy="1447800"/>
          </a:xfrm>
          <a:prstGeom xmlns:a="http://schemas.openxmlformats.org/drawingml/2006/main" prst="bentConnector4">
            <a:avLst>
              <a:gd name="adj1" fmla="val 0"/>
              <a:gd name="adj2" fmla="val 84211"/>
            </a:avLst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401175" y="2895600"/>
            <a:ext cx="1362075" cy="1447800"/>
          </a:xfrm>
          <a:prstGeom xmlns:a="http://schemas.openxmlformats.org/drawingml/2006/main" prst="bentConnector4">
            <a:avLst>
              <a:gd name="adj1" fmla="val 0"/>
              <a:gd name="adj2" fmla="val 84211"/>
            </a:avLst>
          </a:prstGeom>
          <a:ln xmlns:a="http://schemas.openxmlformats.org/drawingml/2006/main" w="23813">
            <a:solidFill>
              <a:srgbClr val="B91C1C"/>
            </a:solidFill>
            <a:prstDash val="solid"/>
            <a:tailEnd type="arrow" w="med" len="med"/>
          </a:ln>
        </p:spPr>
      </p:cxnSp>
      <p:sp>
        <p:nvSpPr>
          <p:cNvPr id="14" name="fan-true">
            <a:extLst xmlns:a="http://schemas.openxmlformats.org/drawingml/2006/main">
              <a:ext uri="{FF2B5EF4-FFF2-40B4-BE49-F238E27FC236}">
                <a16:creationId xmlns:a16="http://schemas.microsoft.com/office/drawing/2014/main" id="{2DC34643-3A4A-4EC3-A740-73F4F077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5" name="fan-false">
            <a:extLst xmlns:a="http://schemas.openxmlformats.org/drawingml/2006/main">
              <a:ext uri="{FF2B5EF4-FFF2-40B4-BE49-F238E27FC236}">
                <a16:creationId xmlns:a16="http://schemas.microsoft.com/office/drawing/2014/main" id="{9B226D10-E9FF-48E7-A058-4910D95E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16" name="if-else-rule">
            <a:extLst xmlns:a="http://schemas.openxmlformats.org/drawingml/2006/main">
              <a:ext uri="{FF2B5EF4-FFF2-40B4-BE49-F238E27FC236}">
                <a16:creationId xmlns:a16="http://schemas.microsoft.com/office/drawing/2014/main" id="{F8B4C4D0-2001-48C3-BD76-64FECEA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34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80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Satu kondisi · Dua kemungkinan · Satu cabang dipilih</a:t>
            </a:r>
          </a:p>
        </p:txBody>
      </p:sp>
    </p:spTree>
    <p:extLst>
      <p:ext uri="{BB962C8B-B14F-4D97-AF65-F5344CB8AC3E}">
        <p14:creationId xmlns:p14="http://schemas.microsoft.com/office/powerpoint/2010/main" val="1319386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EA656D-3A2E-4875-9101-B9103041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elif memeriksa kondisi dari atas ke bawah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3F0E154-2F3A-4ACC-B52B-B856C454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F5B2ED-3FBA-472E-9320-894FEEC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Pemeriksaan berhenti pada kondisi pertama yang benar</a:t>
            </a:r>
          </a:p>
        </p:txBody>
      </p:sp>
      <p:sp>
        <p:nvSpPr>
          <p:cNvPr id="4" name="elif-code-frame">
            <a:extLst xmlns:a="http://schemas.openxmlformats.org/drawingml/2006/main">
              <a:ext uri="{FF2B5EF4-FFF2-40B4-BE49-F238E27FC236}">
                <a16:creationId xmlns:a16="http://schemas.microsoft.com/office/drawing/2014/main" id="{F0126EB3-5367-493B-8F94-90D9CC0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429250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elif-code-dot-1">
            <a:extLst xmlns:a="http://schemas.openxmlformats.org/drawingml/2006/main">
              <a:ext uri="{FF2B5EF4-FFF2-40B4-BE49-F238E27FC236}">
                <a16:creationId xmlns:a16="http://schemas.microsoft.com/office/drawing/2014/main" id="{1A362E41-1498-4901-A765-B34E78A9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if-code-dot-2">
            <a:extLst xmlns:a="http://schemas.openxmlformats.org/drawingml/2006/main">
              <a:ext uri="{FF2B5EF4-FFF2-40B4-BE49-F238E27FC236}">
                <a16:creationId xmlns:a16="http://schemas.microsoft.com/office/drawing/2014/main" id="{18982B44-71EC-448D-8F62-F2324D94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if-code-dot-3">
            <a:extLst xmlns:a="http://schemas.openxmlformats.org/drawingml/2006/main">
              <a:ext uri="{FF2B5EF4-FFF2-40B4-BE49-F238E27FC236}">
                <a16:creationId xmlns:a16="http://schemas.microsoft.com/office/drawing/2014/main" id="{21D0F8B9-49FB-402B-A657-D31717B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if-code-code">
            <a:extLst xmlns:a="http://schemas.openxmlformats.org/drawingml/2006/main">
              <a:ext uri="{FF2B5EF4-FFF2-40B4-BE49-F238E27FC236}">
                <a16:creationId xmlns:a16="http://schemas.microsoft.com/office/drawing/2014/main" id="{BAD4F420-00D8-41CA-9456-0FBA0CFF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972050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score = 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if score &gt;= 90: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grade = "A"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elif score &gt;= 80: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grade = "B"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elif score &gt;= 70: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grade = "C"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buNone/>
              <a:def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7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grade = "D"</a:t>
            </a:r>
          </a:p>
        </p:txBody>
      </p:sp>
      <p:sp>
        <p:nvSpPr>
          <p:cNvPr id="9" name="elif-condition-0">
            <a:extLst xmlns:a="http://schemas.openxmlformats.org/drawingml/2006/main">
              <a:ext uri="{FF2B5EF4-FFF2-40B4-BE49-F238E27FC236}">
                <a16:creationId xmlns:a16="http://schemas.microsoft.com/office/drawing/2014/main" id="{0812C6B2-F548-4399-A793-09CD110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716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&gt;= 90?</a:t>
            </a:r>
          </a:p>
        </p:txBody>
      </p:sp>
      <p:sp>
        <p:nvSpPr>
          <p:cNvPr id="10" name="elif-grade-0">
            <a:extLst xmlns:a="http://schemas.openxmlformats.org/drawingml/2006/main">
              <a:ext uri="{FF2B5EF4-FFF2-40B4-BE49-F238E27FC236}">
                <a16:creationId xmlns:a16="http://schemas.microsoft.com/office/drawing/2014/main" id="{9745C10F-5482-4497-80B1-58BCE64D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876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2250" b="1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A</a:t>
            </a:r>
          </a:p>
        </p:txBody>
      </p:sp>
      <p:sp>
        <p:nvSpPr>
          <p:cNvPr id="11" name="elif-yes-0">
            <a:extLst xmlns:a="http://schemas.openxmlformats.org/drawingml/2006/main">
              <a:ext uri="{FF2B5EF4-FFF2-40B4-BE49-F238E27FC236}">
                <a16:creationId xmlns:a16="http://schemas.microsoft.com/office/drawing/2014/main" id="{259D078C-E487-41DD-863F-5E58AFD9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81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cxnSp>
        <p:nvCxnSpPr>
          <p:cNvPr id="9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21145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06998"/>
            </a:solidFill>
            <a:prstDash val="solid"/>
            <a:tailEnd type="arrow" w="med" len="med"/>
          </a:ln>
        </p:spPr>
      </p:cxnSp>
      <p:sp>
        <p:nvSpPr>
          <p:cNvPr id="13" name="elif-false-0">
            <a:extLst xmlns:a="http://schemas.openxmlformats.org/drawingml/2006/main">
              <a:ext uri="{FF2B5EF4-FFF2-40B4-BE49-F238E27FC236}">
                <a16:creationId xmlns:a16="http://schemas.microsoft.com/office/drawing/2014/main" id="{407C4172-26A8-4617-9F4E-57DEE1E6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 ↓</a:t>
            </a:r>
          </a:p>
        </p:txBody>
      </p:sp>
      <p:sp>
        <p:nvSpPr>
          <p:cNvPr id="14" name="elif-condition-1">
            <a:extLst xmlns:a="http://schemas.openxmlformats.org/drawingml/2006/main">
              <a:ext uri="{FF2B5EF4-FFF2-40B4-BE49-F238E27FC236}">
                <a16:creationId xmlns:a16="http://schemas.microsoft.com/office/drawing/2014/main" id="{76C482F3-3F7A-4A47-9A79-EEC3A27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&gt;= 80?</a:t>
            </a:r>
          </a:p>
        </p:txBody>
      </p:sp>
      <p:sp>
        <p:nvSpPr>
          <p:cNvPr id="15" name="elif-grade-1">
            <a:extLst xmlns:a="http://schemas.openxmlformats.org/drawingml/2006/main">
              <a:ext uri="{FF2B5EF4-FFF2-40B4-BE49-F238E27FC236}">
                <a16:creationId xmlns:a16="http://schemas.microsoft.com/office/drawing/2014/main" id="{E867C363-0488-46A8-9C56-38E6C23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19400"/>
            <a:ext cx="876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2250" b="1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B</a:t>
            </a:r>
          </a:p>
        </p:txBody>
      </p:sp>
      <p:sp>
        <p:nvSpPr>
          <p:cNvPr id="16" name="elif-yes-1">
            <a:extLst xmlns:a="http://schemas.openxmlformats.org/drawingml/2006/main">
              <a:ext uri="{FF2B5EF4-FFF2-40B4-BE49-F238E27FC236}">
                <a16:creationId xmlns:a16="http://schemas.microsoft.com/office/drawing/2014/main" id="{1C55C149-3CCA-4AD9-83E6-DD2B0F1C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cxnSp>
        <p:nvCxnSpPr>
          <p:cNvPr id="9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315450" y="31623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sp>
        <p:nvSpPr>
          <p:cNvPr id="18" name="elif-false-1">
            <a:extLst xmlns:a="http://schemas.openxmlformats.org/drawingml/2006/main">
              <a:ext uri="{FF2B5EF4-FFF2-40B4-BE49-F238E27FC236}">
                <a16:creationId xmlns:a16="http://schemas.microsoft.com/office/drawing/2014/main" id="{12CE1640-E16C-48D6-9EF4-6A8D81AB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43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 ↓</a:t>
            </a:r>
          </a:p>
        </p:txBody>
      </p:sp>
      <p:sp>
        <p:nvSpPr>
          <p:cNvPr id="19" name="elif-condition-2">
            <a:extLst xmlns:a="http://schemas.openxmlformats.org/drawingml/2006/main">
              <a:ext uri="{FF2B5EF4-FFF2-40B4-BE49-F238E27FC236}">
                <a16:creationId xmlns:a16="http://schemas.microsoft.com/office/drawing/2014/main" id="{5C4B9B9A-20E3-4A15-B051-F8F5AAA3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791F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B7791F"/>
                </a:solidFill>
                <a:latin typeface="SF Mono"/>
                <a:ea typeface="SF Mono"/>
                <a:cs typeface="SF Mono"/>
              </a:rPr>
              <a:t>&gt;= 70?</a:t>
            </a:r>
          </a:p>
        </p:txBody>
      </p:sp>
      <p:sp>
        <p:nvSpPr>
          <p:cNvPr id="20" name="elif-grade-2">
            <a:extLst xmlns:a="http://schemas.openxmlformats.org/drawingml/2006/main">
              <a:ext uri="{FF2B5EF4-FFF2-40B4-BE49-F238E27FC236}">
                <a16:creationId xmlns:a16="http://schemas.microsoft.com/office/drawing/2014/main" id="{A811CFA3-0A4F-4374-AB98-51C1FD5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876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7791F"/>
                </a:solidFill>
                <a:latin typeface="SF Mono"/>
                <a:ea typeface="SF Mono"/>
                <a:cs typeface="SF Mono"/>
              </a:defRPr>
            </a:pPr>
            <a:r>
              <a:rPr sz="2250" b="1">
                <a:solidFill>
                  <a:srgbClr val="B7791F"/>
                </a:solidFill>
                <a:latin typeface="SF Mono"/>
                <a:ea typeface="SF Mono"/>
                <a:cs typeface="SF Mono"/>
              </a:rPr>
              <a:t>C</a:t>
            </a:r>
          </a:p>
        </p:txBody>
      </p:sp>
      <p:sp>
        <p:nvSpPr>
          <p:cNvPr id="21" name="elif-yes-2">
            <a:extLst xmlns:a="http://schemas.openxmlformats.org/drawingml/2006/main">
              <a:ext uri="{FF2B5EF4-FFF2-40B4-BE49-F238E27FC236}">
                <a16:creationId xmlns:a16="http://schemas.microsoft.com/office/drawing/2014/main" id="{D2564535-9C4F-4E44-ABC6-62D0876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76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425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cxnSp>
        <p:nvCxnSpPr>
          <p:cNvPr id="102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15450" y="421005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7791F"/>
            </a:solidFill>
            <a:prstDash val="solid"/>
            <a:tailEnd type="arrow" w="med" len="med"/>
          </a:ln>
        </p:spPr>
      </p:cxnSp>
      <p:sp>
        <p:nvSpPr>
          <p:cNvPr id="23" name="elif-false-2">
            <a:extLst xmlns:a="http://schemas.openxmlformats.org/drawingml/2006/main">
              <a:ext uri="{FF2B5EF4-FFF2-40B4-BE49-F238E27FC236}">
                <a16:creationId xmlns:a16="http://schemas.microsoft.com/office/drawing/2014/main" id="{4CF49594-8456-4348-9565-D55679E3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1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350" b="0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 ↓</a:t>
            </a:r>
          </a:p>
        </p:txBody>
      </p:sp>
      <p:sp>
        <p:nvSpPr>
          <p:cNvPr id="24" name="elif-condition-3">
            <a:extLst xmlns:a="http://schemas.openxmlformats.org/drawingml/2006/main">
              <a:ext uri="{FF2B5EF4-FFF2-40B4-BE49-F238E27FC236}">
                <a16:creationId xmlns:a16="http://schemas.microsoft.com/office/drawing/2014/main" id="{F4290641-C389-43C5-88B4-67330E7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75569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lainnya</a:t>
            </a:r>
          </a:p>
        </p:txBody>
      </p:sp>
      <p:sp>
        <p:nvSpPr>
          <p:cNvPr id="25" name="elif-grade-3">
            <a:extLst xmlns:a="http://schemas.openxmlformats.org/drawingml/2006/main">
              <a:ext uri="{FF2B5EF4-FFF2-40B4-BE49-F238E27FC236}">
                <a16:creationId xmlns:a16="http://schemas.microsoft.com/office/drawing/2014/main" id="{C15B390A-4D8A-427F-80C7-5ED329D1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14900"/>
            <a:ext cx="876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75569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2250" b="1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D</a:t>
            </a:r>
          </a:p>
        </p:txBody>
      </p:sp>
      <p:cxnSp>
        <p:nvCxnSpPr>
          <p:cNvPr id="10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315450" y="52578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75569"/>
            </a:solidFill>
            <a:prstDash val="solid"/>
            <a:tailEnd type="arrow" w="med" len="med"/>
          </a:ln>
        </p:spPr>
      </p:cxnSp>
      <p:sp>
        <p:nvSpPr>
          <p:cNvPr id="27" name="elif-result">
            <a:extLst xmlns:a="http://schemas.openxmlformats.org/drawingml/2006/main">
              <a:ext uri="{FF2B5EF4-FFF2-40B4-BE49-F238E27FC236}">
                <a16:creationId xmlns:a16="http://schemas.microsoft.com/office/drawing/2014/main" id="{A7937C52-34D0-4CDD-B928-382EF5B5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905500"/>
            <a:ext cx="43243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28" name="elif-result-text">
            <a:extLst xmlns:a="http://schemas.openxmlformats.org/drawingml/2006/main">
              <a:ext uri="{FF2B5EF4-FFF2-40B4-BE49-F238E27FC236}">
                <a16:creationId xmlns:a16="http://schemas.microsoft.com/office/drawing/2014/main" id="{49FC2B30-9E06-4966-90D9-937A9CD5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010275"/>
            <a:ext cx="394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725" b="1" i="0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score = 84  →  grade = "B"</a:t>
            </a:r>
          </a:p>
        </p:txBody>
      </p:sp>
    </p:spTree>
    <p:extLst>
      <p:ext uri="{BB962C8B-B14F-4D97-AF65-F5344CB8AC3E}">
        <p14:creationId xmlns:p14="http://schemas.microsoft.com/office/powerpoint/2010/main" val="430553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18D654-E90D-4ACF-83FC-71BD5827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pass menjaga blok kosong tetap valid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50D5E5C-3D03-4198-923A-1BC55CC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626C56-7680-4388-A253-AA2A1494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Placeholder sementara—bukan logika akhir</a:t>
            </a:r>
          </a:p>
        </p:txBody>
      </p:sp>
      <p:sp>
        <p:nvSpPr>
          <p:cNvPr id="4" name="pass-code-frame">
            <a:extLst xmlns:a="http://schemas.openxmlformats.org/drawingml/2006/main">
              <a:ext uri="{FF2B5EF4-FFF2-40B4-BE49-F238E27FC236}">
                <a16:creationId xmlns:a16="http://schemas.microsoft.com/office/drawing/2014/main" id="{C4EAA999-20AD-4FBB-8740-88E30FF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28650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pass-code-dot-1">
            <a:extLst xmlns:a="http://schemas.openxmlformats.org/drawingml/2006/main">
              <a:ext uri="{FF2B5EF4-FFF2-40B4-BE49-F238E27FC236}">
                <a16:creationId xmlns:a16="http://schemas.microsoft.com/office/drawing/2014/main" id="{001DAD3F-E33D-4846-9280-9E3F1F5F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ss-code-dot-2">
            <a:extLst xmlns:a="http://schemas.openxmlformats.org/drawingml/2006/main">
              <a:ext uri="{FF2B5EF4-FFF2-40B4-BE49-F238E27FC236}">
                <a16:creationId xmlns:a16="http://schemas.microsoft.com/office/drawing/2014/main" id="{D1DFD378-40BC-48D0-9DA6-31D4A0AD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ss-code-dot-3">
            <a:extLst xmlns:a="http://schemas.openxmlformats.org/drawingml/2006/main">
              <a:ext uri="{FF2B5EF4-FFF2-40B4-BE49-F238E27FC236}">
                <a16:creationId xmlns:a16="http://schemas.microsoft.com/office/drawing/2014/main" id="{C125EDDB-BD28-4FA5-9957-636CDA28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ss-code-code">
            <a:extLst xmlns:a="http://schemas.openxmlformats.org/drawingml/2006/main">
              <a:ext uri="{FF2B5EF4-FFF2-40B4-BE49-F238E27FC236}">
                <a16:creationId xmlns:a16="http://schemas.microsoft.com/office/drawing/2014/main" id="{4A3DEB7D-8DCE-4798-8B07-1D87F857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829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is_admin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if is_admin: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pass  # implementasi menyusul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8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print("Akses terbatas")</a:t>
            </a:r>
          </a:p>
        </p:txBody>
      </p:sp>
      <p:sp>
        <p:nvSpPr>
          <p:cNvPr id="9" name="pass-placeholder">
            <a:extLst xmlns:a="http://schemas.openxmlformats.org/drawingml/2006/main">
              <a:ext uri="{FF2B5EF4-FFF2-40B4-BE49-F238E27FC236}">
                <a16:creationId xmlns:a16="http://schemas.microsoft.com/office/drawing/2014/main" id="{6EA8288F-924B-4266-9BD1-831F405C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90700"/>
            <a:ext cx="3333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10" name="pass-braces">
            <a:extLst xmlns:a="http://schemas.openxmlformats.org/drawingml/2006/main">
              <a:ext uri="{FF2B5EF4-FFF2-40B4-BE49-F238E27FC236}">
                <a16:creationId xmlns:a16="http://schemas.microsoft.com/office/drawing/2014/main" id="{D374814A-BEAD-40C2-A4FA-AE50E90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5100" b="1" i="0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5100" b="1" i="0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{  }</a:t>
            </a:r>
          </a:p>
        </p:txBody>
      </p:sp>
      <p:sp>
        <p:nvSpPr>
          <p:cNvPr id="11" name="pass-placeholder-text">
            <a:extLst xmlns:a="http://schemas.openxmlformats.org/drawingml/2006/main">
              <a:ext uri="{FF2B5EF4-FFF2-40B4-BE49-F238E27FC236}">
                <a16:creationId xmlns:a16="http://schemas.microsoft.com/office/drawing/2014/main" id="{E39BB589-1C1F-464F-BB4E-7452D80F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71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Blok dicadangkan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untuk nanti</a:t>
            </a:r>
          </a:p>
        </p:txBody>
      </p:sp>
      <p:sp>
        <p:nvSpPr>
          <p:cNvPr id="12" name="pass-symbol-0">
            <a:extLst xmlns:a="http://schemas.openxmlformats.org/drawingml/2006/main">
              <a:ext uri="{FF2B5EF4-FFF2-40B4-BE49-F238E27FC236}">
                <a16:creationId xmlns:a16="http://schemas.microsoft.com/office/drawing/2014/main" id="{D49262CE-3BBD-4F11-A6A9-E9F8DC4F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✓</a:t>
            </a:r>
          </a:p>
        </p:txBody>
      </p:sp>
      <p:sp>
        <p:nvSpPr>
          <p:cNvPr id="13" name="pass-label-0">
            <a:extLst xmlns:a="http://schemas.openxmlformats.org/drawingml/2006/main">
              <a:ext uri="{FF2B5EF4-FFF2-40B4-BE49-F238E27FC236}">
                <a16:creationId xmlns:a16="http://schemas.microsoft.com/office/drawing/2014/main" id="{58B1B4E8-69E8-410B-9275-75C0AF1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Tidak melakukan aksi</a:t>
            </a:r>
          </a:p>
        </p:txBody>
      </p:sp>
      <p:sp>
        <p:nvSpPr>
          <p:cNvPr id="14" name="pass-symbol-1">
            <a:extLst xmlns:a="http://schemas.openxmlformats.org/drawingml/2006/main">
              <a:ext uri="{FF2B5EF4-FFF2-40B4-BE49-F238E27FC236}">
                <a16:creationId xmlns:a16="http://schemas.microsoft.com/office/drawing/2014/main" id="{A5372391-3334-4976-9A1C-BB45EBC3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67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✓</a:t>
            </a:r>
          </a:p>
        </p:txBody>
      </p:sp>
      <p:sp>
        <p:nvSpPr>
          <p:cNvPr id="15" name="pass-label-1">
            <a:extLst xmlns:a="http://schemas.openxmlformats.org/drawingml/2006/main">
              <a:ext uri="{FF2B5EF4-FFF2-40B4-BE49-F238E27FC236}">
                <a16:creationId xmlns:a16="http://schemas.microsoft.com/office/drawing/2014/main" id="{18B665DB-92C4-4451-853F-85387BE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863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Mencegah SyntaxError</a:t>
            </a:r>
          </a:p>
        </p:txBody>
      </p:sp>
      <p:sp>
        <p:nvSpPr>
          <p:cNvPr id="16" name="pass-symbol-2">
            <a:extLst xmlns:a="http://schemas.openxmlformats.org/drawingml/2006/main">
              <a:ext uri="{FF2B5EF4-FFF2-40B4-BE49-F238E27FC236}">
                <a16:creationId xmlns:a16="http://schemas.microsoft.com/office/drawing/2014/main" id="{EE054EE2-3E6E-4F13-A06E-362DE7D5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8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7791F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B7791F"/>
                </a:solidFill>
                <a:latin typeface="SF Pro Text"/>
                <a:ea typeface="SF Pro Text"/>
                <a:cs typeface="SF Pro Text"/>
              </a:rPr>
              <a:t>!</a:t>
            </a:r>
          </a:p>
        </p:txBody>
      </p:sp>
      <p:sp>
        <p:nvSpPr>
          <p:cNvPr id="17" name="pass-label-2">
            <a:extLst xmlns:a="http://schemas.openxmlformats.org/drawingml/2006/main">
              <a:ext uri="{FF2B5EF4-FFF2-40B4-BE49-F238E27FC236}">
                <a16:creationId xmlns:a16="http://schemas.microsoft.com/office/drawing/2014/main" id="{B33E442B-E866-42AE-9508-0DF7C716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00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725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Jangan dibiarkan permanen</a:t>
            </a:r>
          </a:p>
        </p:txBody>
      </p:sp>
    </p:spTree>
    <p:extLst>
      <p:ext uri="{BB962C8B-B14F-4D97-AF65-F5344CB8AC3E}">
        <p14:creationId xmlns:p14="http://schemas.microsoft.com/office/powerpoint/2010/main" val="1657811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FA0B0C-38EE-4F25-8A00-B4902616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Nested if memeriksa syarat secara bertingkat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D19751D-4B3D-4570-9144-743E7F9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61927E3-FB80-494A-B652-5B3E776D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Kondisi kedua baru relevan setelah kondisi awal terpenuhi</a:t>
            </a:r>
          </a:p>
        </p:txBody>
      </p:sp>
      <p:sp>
        <p:nvSpPr>
          <p:cNvPr id="4" name="nested-code-frame">
            <a:extLst xmlns:a="http://schemas.openxmlformats.org/drawingml/2006/main">
              <a:ext uri="{FF2B5EF4-FFF2-40B4-BE49-F238E27FC236}">
                <a16:creationId xmlns:a16="http://schemas.microsoft.com/office/drawing/2014/main" id="{7263A30A-ECB4-4BD0-8436-65841C36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3340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nested-code-dot-1">
            <a:extLst xmlns:a="http://schemas.openxmlformats.org/drawingml/2006/main">
              <a:ext uri="{FF2B5EF4-FFF2-40B4-BE49-F238E27FC236}">
                <a16:creationId xmlns:a16="http://schemas.microsoft.com/office/drawing/2014/main" id="{F5446508-164F-473C-8A73-2649F10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ested-code-dot-2">
            <a:extLst xmlns:a="http://schemas.openxmlformats.org/drawingml/2006/main">
              <a:ext uri="{FF2B5EF4-FFF2-40B4-BE49-F238E27FC236}">
                <a16:creationId xmlns:a16="http://schemas.microsoft.com/office/drawing/2014/main" id="{D882FD08-B9A4-4567-948B-520CE5E1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ested-code-dot-3">
            <a:extLst xmlns:a="http://schemas.openxmlformats.org/drawingml/2006/main">
              <a:ext uri="{FF2B5EF4-FFF2-40B4-BE49-F238E27FC236}">
                <a16:creationId xmlns:a16="http://schemas.microsoft.com/office/drawing/2014/main" id="{71C48F90-C0E5-4B24-8B91-A7F92053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ested-code-code">
            <a:extLst xmlns:a="http://schemas.openxmlformats.org/drawingml/2006/main">
              <a:ext uri="{FF2B5EF4-FFF2-40B4-BE49-F238E27FC236}">
                <a16:creationId xmlns:a16="http://schemas.microsoft.com/office/drawing/2014/main" id="{FCE29BF1-EAC8-42BF-869C-4168D25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87680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age = 20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has_ticket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if age &gt;= 18: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if has_ticket: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print("Boleh masuk")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else: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print("Tiket diperlukan")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else: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425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print("Usia belum cukup")</a:t>
            </a:r>
          </a:p>
        </p:txBody>
      </p:sp>
      <p:sp>
        <p:nvSpPr>
          <p:cNvPr id="9" name="age-condition">
            <a:extLst xmlns:a="http://schemas.openxmlformats.org/drawingml/2006/main">
              <a:ext uri="{FF2B5EF4-FFF2-40B4-BE49-F238E27FC236}">
                <a16:creationId xmlns:a16="http://schemas.microsoft.com/office/drawing/2014/main" id="{0AB46534-99D4-422A-8573-8F00B11B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2286000" cy="9715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FFD43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725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age &gt;= 18?</a:t>
            </a:r>
          </a:p>
        </p:txBody>
      </p:sp>
      <p:sp>
        <p:nvSpPr>
          <p:cNvPr id="10" name="ticket-condition">
            <a:extLst xmlns:a="http://schemas.openxmlformats.org/drawingml/2006/main">
              <a:ext uri="{FF2B5EF4-FFF2-40B4-BE49-F238E27FC236}">
                <a16:creationId xmlns:a16="http://schemas.microsoft.com/office/drawing/2014/main" id="{34F92089-ADC6-4E87-A4FE-71652CC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2552700" cy="914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500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has_ticket?</a:t>
            </a:r>
          </a:p>
        </p:txBody>
      </p:sp>
      <p:sp>
        <p:nvSpPr>
          <p:cNvPr id="11" name="too-young">
            <a:extLst xmlns:a="http://schemas.openxmlformats.org/drawingml/2006/main">
              <a:ext uri="{FF2B5EF4-FFF2-40B4-BE49-F238E27FC236}">
                <a16:creationId xmlns:a16="http://schemas.microsoft.com/office/drawing/2014/main" id="{F6AA95F0-F561-4A0B-8585-885796D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2095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Usia belum cukup</a:t>
            </a:r>
          </a:p>
        </p:txBody>
      </p:sp>
      <p:sp>
        <p:nvSpPr>
          <p:cNvPr id="12" name="enter">
            <a:extLst xmlns:a="http://schemas.openxmlformats.org/drawingml/2006/main">
              <a:ext uri="{FF2B5EF4-FFF2-40B4-BE49-F238E27FC236}">
                <a16:creationId xmlns:a16="http://schemas.microsoft.com/office/drawing/2014/main" id="{2621E663-8D3C-4876-92A2-30152F8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911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Boleh masuk</a:t>
            </a:r>
          </a:p>
        </p:txBody>
      </p:sp>
      <p:sp>
        <p:nvSpPr>
          <p:cNvPr id="13" name="need-ticket">
            <a:extLst xmlns:a="http://schemas.openxmlformats.org/drawingml/2006/main">
              <a:ext uri="{FF2B5EF4-FFF2-40B4-BE49-F238E27FC236}">
                <a16:creationId xmlns:a16="http://schemas.microsoft.com/office/drawing/2014/main" id="{B7819FE6-6485-4351-A9B6-2BDE9A5A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911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575" b="1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Tiket diperlukan</a:t>
            </a:r>
          </a:p>
        </p:txBody>
      </p:sp>
      <p:cxnSp>
        <p:nvCxnSpPr>
          <p:cNvPr id="6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848600" y="2590800"/>
            <a:ext cx="1200150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9" idx="3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191750" y="2105025"/>
            <a:ext cx="552450" cy="1438275"/>
          </a:xfrm>
          <a:prstGeom xmlns:a="http://schemas.openxmlformats.org/drawingml/2006/main" prst="bentConnector4">
            <a:avLst>
              <a:gd name="adj1" fmla="val 41379"/>
              <a:gd name="adj2" fmla="val 84106"/>
            </a:avLst>
          </a:prstGeom>
          <a:ln xmlns:a="http://schemas.openxmlformats.org/drawingml/2006/main" w="23813">
            <a:solidFill>
              <a:srgbClr val="B91C1C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7267575" y="4343400"/>
            <a:ext cx="58102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848600" y="4343400"/>
            <a:ext cx="1647825" cy="1047750"/>
          </a:xfrm>
          <a:prstGeom xmlns:a="http://schemas.openxmlformats.org/drawingml/2006/main" prst="bentConnector4">
            <a:avLst>
              <a:gd name="adj1" fmla="val 0"/>
              <a:gd name="adj2" fmla="val 78182"/>
            </a:avLst>
          </a:prstGeom>
          <a:ln xmlns:a="http://schemas.openxmlformats.org/drawingml/2006/main" w="23813">
            <a:solidFill>
              <a:srgbClr val="B91C1C"/>
            </a:solidFill>
            <a:prstDash val="solid"/>
            <a:tailEnd type="arrow" w="med" len="med"/>
          </a:ln>
        </p:spPr>
      </p:cxnSp>
      <p:sp>
        <p:nvSpPr>
          <p:cNvPr id="18" name="nested-true-1">
            <a:extLst xmlns:a="http://schemas.openxmlformats.org/drawingml/2006/main">
              <a:ext uri="{FF2B5EF4-FFF2-40B4-BE49-F238E27FC236}">
                <a16:creationId xmlns:a16="http://schemas.microsoft.com/office/drawing/2014/main" id="{E43AC9A8-F81C-4DA1-AABA-43DAE9D1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19" name="nested-false-1">
            <a:extLst xmlns:a="http://schemas.openxmlformats.org/drawingml/2006/main">
              <a:ext uri="{FF2B5EF4-FFF2-40B4-BE49-F238E27FC236}">
                <a16:creationId xmlns:a16="http://schemas.microsoft.com/office/drawing/2014/main" id="{F04E8B2B-D94C-4B4A-BB3D-891230C2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  <p:sp>
        <p:nvSpPr>
          <p:cNvPr id="20" name="nested-true-2">
            <a:extLst xmlns:a="http://schemas.openxmlformats.org/drawingml/2006/main">
              <a:ext uri="{FF2B5EF4-FFF2-40B4-BE49-F238E27FC236}">
                <a16:creationId xmlns:a16="http://schemas.microsoft.com/office/drawing/2014/main" id="{8CA5DEDB-2DB3-4239-9210-CF7EE12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15803D"/>
                </a:solidFill>
                <a:latin typeface="SF Pro Text"/>
                <a:ea typeface="SF Pro Text"/>
                <a:cs typeface="SF Pro Text"/>
              </a:rPr>
              <a:t>True</a:t>
            </a:r>
          </a:p>
        </p:txBody>
      </p:sp>
      <p:sp>
        <p:nvSpPr>
          <p:cNvPr id="21" name="nested-false-2">
            <a:extLst xmlns:a="http://schemas.openxmlformats.org/drawingml/2006/main">
              <a:ext uri="{FF2B5EF4-FFF2-40B4-BE49-F238E27FC236}">
                <a16:creationId xmlns:a16="http://schemas.microsoft.com/office/drawing/2014/main" id="{A21EA829-C2AD-4B5E-9EDD-AE20141E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244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defRPr>
            </a:pPr>
            <a:r>
              <a:rPr sz="1350" b="1" i="0">
                <a:solidFill>
                  <a:srgbClr val="B91C1C"/>
                </a:solidFill>
                <a:latin typeface="SF Pro Text"/>
                <a:ea typeface="SF Pro Text"/>
                <a:cs typeface="SF Pro Text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2926189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FC6663-DB9D-44BB-ACCB-194F9FD7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match–case memilih aksi berdasarkan pola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483A1C6-A52B-4C5E-8866-732F343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E6D8B5-77F7-498D-8126-72B5B4AB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Tersedia mulai Python 3.10</a:t>
            </a:r>
          </a:p>
        </p:txBody>
      </p:sp>
      <p:sp>
        <p:nvSpPr>
          <p:cNvPr id="4" name="match-code-frame">
            <a:extLst xmlns:a="http://schemas.openxmlformats.org/drawingml/2006/main">
              <a:ext uri="{FF2B5EF4-FFF2-40B4-BE49-F238E27FC236}">
                <a16:creationId xmlns:a16="http://schemas.microsoft.com/office/drawing/2014/main" id="{2587F563-AD0B-47B5-9FF9-7A2123FD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810250" cy="4876800"/>
          </a:xfrm>
          <a:prstGeom xmlns:a="http://schemas.openxmlformats.org/drawingml/2006/main" prst="roundRect">
            <a:avLst>
              <a:gd name="adj" fmla="val 234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match-code-dot-1">
            <a:extLst xmlns:a="http://schemas.openxmlformats.org/drawingml/2006/main">
              <a:ext uri="{FF2B5EF4-FFF2-40B4-BE49-F238E27FC236}">
                <a16:creationId xmlns:a16="http://schemas.microsoft.com/office/drawing/2014/main" id="{4BC8DFDD-BB80-43E6-A2CD-C2A2F474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tch-code-dot-2">
            <a:extLst xmlns:a="http://schemas.openxmlformats.org/drawingml/2006/main">
              <a:ext uri="{FF2B5EF4-FFF2-40B4-BE49-F238E27FC236}">
                <a16:creationId xmlns:a16="http://schemas.microsoft.com/office/drawing/2014/main" id="{5188556E-5B4A-469D-A87E-9DF6A1BE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tch-code-dot-3">
            <a:extLst xmlns:a="http://schemas.openxmlformats.org/drawingml/2006/main">
              <a:ext uri="{FF2B5EF4-FFF2-40B4-BE49-F238E27FC236}">
                <a16:creationId xmlns:a16="http://schemas.microsoft.com/office/drawing/2014/main" id="{D6BA330F-F8C6-4061-A253-D736EF61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tch-code-code">
            <a:extLst xmlns:a="http://schemas.openxmlformats.org/drawingml/2006/main">
              <a:ext uri="{FF2B5EF4-FFF2-40B4-BE49-F238E27FC236}">
                <a16:creationId xmlns:a16="http://schemas.microsoft.com/office/drawing/2014/main" id="{178B6F0F-BFDD-4161-A9BE-DF3D3DD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535305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command = "start"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match command: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"start":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print("Program dimulai")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"stop":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print("Program berhenti")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_: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50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print("Perintah tidak dikenal")</a:t>
            </a:r>
          </a:p>
        </p:txBody>
      </p:sp>
      <p:sp>
        <p:nvSpPr>
          <p:cNvPr id="9" name="match-input">
            <a:extLst xmlns:a="http://schemas.openxmlformats.org/drawingml/2006/main">
              <a:ext uri="{FF2B5EF4-FFF2-40B4-BE49-F238E27FC236}">
                <a16:creationId xmlns:a16="http://schemas.microsoft.com/office/drawing/2014/main" id="{36E471E5-B0E4-4F19-961B-92AE4790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5735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0699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875" b="1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command</a:t>
            </a:r>
          </a:p>
        </p:txBody>
      </p:sp>
      <p:sp>
        <p:nvSpPr>
          <p:cNvPr id="10" name="match-start">
            <a:extLst xmlns:a="http://schemas.openxmlformats.org/drawingml/2006/main">
              <a:ext uri="{FF2B5EF4-FFF2-40B4-BE49-F238E27FC236}">
                <a16:creationId xmlns:a16="http://schemas.microsoft.com/office/drawing/2014/main" id="{B3F7B0F1-18CD-44F1-B770-449F3A82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9050">
            <a:solidFill>
              <a:srgbClr val="15803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"start"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Program dimulai</a:t>
            </a:r>
          </a:p>
        </p:txBody>
      </p:sp>
      <p:sp>
        <p:nvSpPr>
          <p:cNvPr id="11" name="match-stop">
            <a:extLst xmlns:a="http://schemas.openxmlformats.org/drawingml/2006/main">
              <a:ext uri="{FF2B5EF4-FFF2-40B4-BE49-F238E27FC236}">
                <a16:creationId xmlns:a16="http://schemas.microsoft.com/office/drawing/2014/main" id="{CE198630-22B6-4A2E-87E3-051F94DB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B91C1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B91C1C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B91C1C"/>
                </a:solidFill>
                <a:latin typeface="SF Mono"/>
                <a:ea typeface="SF Mono"/>
                <a:cs typeface="SF Mono"/>
              </a:rPr>
              <a:t>"stop"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B91C1C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B91C1C"/>
                </a:solidFill>
                <a:latin typeface="SF Mono"/>
                <a:ea typeface="SF Mono"/>
                <a:cs typeface="SF Mono"/>
              </a:rPr>
              <a:t>Program berhenti</a:t>
            </a:r>
          </a:p>
        </p:txBody>
      </p:sp>
      <p:sp>
        <p:nvSpPr>
          <p:cNvPr id="12" name="match-fallback">
            <a:extLst xmlns:a="http://schemas.openxmlformats.org/drawingml/2006/main">
              <a:ext uri="{FF2B5EF4-FFF2-40B4-BE49-F238E27FC236}">
                <a16:creationId xmlns:a16="http://schemas.microsoft.com/office/drawing/2014/main" id="{0F9CC735-F3CD-4BF7-8B87-AB0A6189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768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_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Fallback</a:t>
            </a:r>
          </a:p>
        </p:txBody>
      </p:sp>
      <p:cxnSp>
        <p:nvCxnSpPr>
          <p:cNvPr id="58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8096250" y="2400300"/>
            <a:ext cx="952500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048750" y="2400300"/>
            <a:ext cx="1600200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91C1C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048750" y="2400300"/>
            <a:ext cx="323850" cy="2876550"/>
          </a:xfrm>
          <a:prstGeom xmlns:a="http://schemas.openxmlformats.org/drawingml/2006/main" prst="bentConnector4">
            <a:avLst>
              <a:gd name="adj1" fmla="val 0"/>
              <a:gd name="adj2" fmla="val 7947"/>
            </a:avLst>
          </a:prstGeom>
          <a:ln xmlns:a="http://schemas.openxmlformats.org/drawingml/2006/main" w="23813">
            <a:solidFill>
              <a:srgbClr val="475569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0176109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B169FC-42AC-45DA-A1AD-FA4AD1F2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Satu case dapat menerima beberapa pola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15F2EF8-8F0C-4D1A-B1AF-172A442C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475776-59FE-44F4-AC72-329C740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Gunakan | untuk menggabungkan alternatif</a:t>
            </a:r>
          </a:p>
        </p:txBody>
      </p:sp>
      <p:sp>
        <p:nvSpPr>
          <p:cNvPr id="4" name="multi-pattern-code-frame">
            <a:extLst xmlns:a="http://schemas.openxmlformats.org/drawingml/2006/main">
              <a:ext uri="{FF2B5EF4-FFF2-40B4-BE49-F238E27FC236}">
                <a16:creationId xmlns:a16="http://schemas.microsoft.com/office/drawing/2014/main" id="{D6A572C4-06C6-4DB7-AB51-09F82B58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</p:sp>
      <p:sp>
        <p:nvSpPr>
          <p:cNvPr id="5" name="multi-pattern-code-dot-1">
            <a:extLst xmlns:a="http://schemas.openxmlformats.org/drawingml/2006/main">
              <a:ext uri="{FF2B5EF4-FFF2-40B4-BE49-F238E27FC236}">
                <a16:creationId xmlns:a16="http://schemas.microsoft.com/office/drawing/2014/main" id="{EA44B244-194D-4DAD-87DA-38A8973E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ulti-pattern-code-dot-2">
            <a:extLst xmlns:a="http://schemas.openxmlformats.org/drawingml/2006/main">
              <a:ext uri="{FF2B5EF4-FFF2-40B4-BE49-F238E27FC236}">
                <a16:creationId xmlns:a16="http://schemas.microsoft.com/office/drawing/2014/main" id="{F903C864-0C30-441A-B4DC-0F6612D3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ulti-pattern-code-dot-3">
            <a:extLst xmlns:a="http://schemas.openxmlformats.org/drawingml/2006/main">
              <a:ext uri="{FF2B5EF4-FFF2-40B4-BE49-F238E27FC236}">
                <a16:creationId xmlns:a16="http://schemas.microsoft.com/office/drawing/2014/main" id="{C7FB13AA-AB15-45E0-8AF1-68F66EA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ulti-pattern-code-code">
            <a:extLst xmlns:a="http://schemas.openxmlformats.org/drawingml/2006/main">
              <a:ext uri="{FF2B5EF4-FFF2-40B4-BE49-F238E27FC236}">
                <a16:creationId xmlns:a16="http://schemas.microsoft.com/office/drawing/2014/main" id="{D00E8B51-C7DB-489E-8ADC-6EF865D9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6400800" cy="401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day = "Sat"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match day: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"Sat" | "Sun":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category = "Weekend"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"Mon" | "Tue" | "Wed" | "Thu" | "Fri":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category = "Weekday"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case _: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 i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        category = "Unknown"</a:t>
            </a:r>
          </a:p>
        </p:txBody>
      </p:sp>
      <p:sp>
        <p:nvSpPr>
          <p:cNvPr id="9" name="pattern-day">
            <a:extLst xmlns:a="http://schemas.openxmlformats.org/drawingml/2006/main">
              <a:ext uri="{FF2B5EF4-FFF2-40B4-BE49-F238E27FC236}">
                <a16:creationId xmlns:a16="http://schemas.microsoft.com/office/drawing/2014/main" id="{D5962E30-AE86-45A3-A1DB-46701547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00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2400" b="1" i="0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day</a:t>
            </a:r>
          </a:p>
        </p:txBody>
      </p:sp>
      <p:sp>
        <p:nvSpPr>
          <p:cNvPr id="10" name="weekend">
            <a:extLst xmlns:a="http://schemas.openxmlformats.org/drawingml/2006/main">
              <a:ext uri="{FF2B5EF4-FFF2-40B4-BE49-F238E27FC236}">
                <a16:creationId xmlns:a16="http://schemas.microsoft.com/office/drawing/2014/main" id="{3AADD7EF-211E-4CE9-8311-3346721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574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9050">
            <a:solidFill>
              <a:srgbClr val="FFD43B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Sat  |  Sun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800" b="1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Weekend</a:t>
            </a:r>
          </a:p>
        </p:txBody>
      </p:sp>
      <p:sp>
        <p:nvSpPr>
          <p:cNvPr id="11" name="weekday">
            <a:extLst xmlns:a="http://schemas.openxmlformats.org/drawingml/2006/main">
              <a:ext uri="{FF2B5EF4-FFF2-40B4-BE49-F238E27FC236}">
                <a16:creationId xmlns:a16="http://schemas.microsoft.com/office/drawing/2014/main" id="{15CFDE00-5F93-42D5-9B29-8E5A351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31432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19050">
            <a:solidFill>
              <a:srgbClr val="306998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Mon · Tue · Wed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Thu · Fri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1650" b="1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Weekday</a:t>
            </a:r>
          </a:p>
        </p:txBody>
      </p:sp>
      <p:sp>
        <p:nvSpPr>
          <p:cNvPr id="12" name="unknown">
            <a:extLst xmlns:a="http://schemas.openxmlformats.org/drawingml/2006/main">
              <a:ext uri="{FF2B5EF4-FFF2-40B4-BE49-F238E27FC236}">
                <a16:creationId xmlns:a16="http://schemas.microsoft.com/office/drawing/2014/main" id="{720264CE-62F3-4E9F-97AD-3C1E854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76900"/>
            <a:ext cx="2457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575" b="1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_  →  Unknown</a:t>
            </a:r>
          </a:p>
        </p:txBody>
      </p:sp>
    </p:spTree>
    <p:extLst>
      <p:ext uri="{BB962C8B-B14F-4D97-AF65-F5344CB8AC3E}">
        <p14:creationId xmlns:p14="http://schemas.microsoft.com/office/powerpoint/2010/main" val="669536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FD7690-719B-48F1-94D8-7D9E98CC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defRPr>
            </a:pPr>
            <a:r>
              <a:rPr sz="3600" b="1" i="0">
                <a:solidFill>
                  <a:srgbClr val="0F172A"/>
                </a:solidFill>
                <a:latin typeface="SF Pro Display"/>
                <a:ea typeface="SF Pro Display"/>
                <a:cs typeface="SF Pro Display"/>
              </a:rPr>
              <a:t>Pilih struktur yang paling mudah dibaca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168A830-4E48-4490-AADD-3C21E75A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BC1F6B-2CD4-4EA9-9D31-90E0330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7632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defRPr>
            </a:pPr>
            <a:r>
              <a:rPr sz="1650" b="0" i="0">
                <a:solidFill>
                  <a:srgbClr val="475569"/>
                </a:solidFill>
                <a:latin typeface="SF Pro Text"/>
                <a:ea typeface="SF Pro Text"/>
                <a:cs typeface="SF Pro Text"/>
              </a:rPr>
              <a:t>Mulai sederhana, tambah cabang hanya ketika diperlukan</a:t>
            </a:r>
          </a:p>
        </p:txBody>
      </p:sp>
      <p:sp>
        <p:nvSpPr>
          <p:cNvPr id="4" name="choice-name-0">
            <a:extLst xmlns:a="http://schemas.openxmlformats.org/drawingml/2006/main">
              <a:ext uri="{FF2B5EF4-FFF2-40B4-BE49-F238E27FC236}">
                <a16:creationId xmlns:a16="http://schemas.microsoft.com/office/drawing/2014/main" id="{75277BE0-4476-4DC8-AF4B-484B3EC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306998"/>
                </a:solidFill>
                <a:latin typeface="SF Mono"/>
                <a:ea typeface="SF Mono"/>
                <a:cs typeface="SF Mono"/>
              </a:defRPr>
            </a:pPr>
            <a:r>
              <a:rPr sz="1875" b="1" i="0">
                <a:solidFill>
                  <a:srgbClr val="306998"/>
                </a:solidFill>
                <a:latin typeface="SF Mono"/>
                <a:ea typeface="SF Mono"/>
                <a:cs typeface="SF Mono"/>
              </a:rPr>
              <a:t>if</a:t>
            </a:r>
          </a:p>
        </p:txBody>
      </p:sp>
      <p:sp>
        <p:nvSpPr>
          <p:cNvPr id="5" name="choice-line-0">
            <a:extLst xmlns:a="http://schemas.openxmlformats.org/drawingml/2006/main">
              <a:ext uri="{FF2B5EF4-FFF2-40B4-BE49-F238E27FC236}">
                <a16:creationId xmlns:a16="http://schemas.microsoft.com/office/drawing/2014/main" id="{77D4BF67-FF9C-4321-815C-7FE35AA0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383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hoice-use-0">
            <a:extLst xmlns:a="http://schemas.openxmlformats.org/drawingml/2006/main">
              <a:ext uri="{FF2B5EF4-FFF2-40B4-BE49-F238E27FC236}">
                <a16:creationId xmlns:a16="http://schemas.microsoft.com/office/drawing/2014/main" id="{A831D4E0-A988-4037-B863-09126CCD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859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Satu kondisi</a:t>
            </a:r>
          </a:p>
        </p:txBody>
      </p:sp>
      <p:sp>
        <p:nvSpPr>
          <p:cNvPr id="7" name="choice-name-1">
            <a:extLst xmlns:a="http://schemas.openxmlformats.org/drawingml/2006/main">
              <a:ext uri="{FF2B5EF4-FFF2-40B4-BE49-F238E27FC236}">
                <a16:creationId xmlns:a16="http://schemas.microsoft.com/office/drawing/2014/main" id="{EA318AAE-5932-487F-B174-8F33C5CE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5803D"/>
                </a:solidFill>
                <a:latin typeface="SF Mono"/>
                <a:ea typeface="SF Mono"/>
                <a:cs typeface="SF Mono"/>
              </a:defRPr>
            </a:pPr>
            <a:r>
              <a:rPr sz="1875" b="1" i="0">
                <a:solidFill>
                  <a:srgbClr val="15803D"/>
                </a:solidFill>
                <a:latin typeface="SF Mono"/>
                <a:ea typeface="SF Mono"/>
                <a:cs typeface="SF Mono"/>
              </a:rPr>
              <a:t>if–else</a:t>
            </a:r>
          </a:p>
        </p:txBody>
      </p:sp>
      <p:sp>
        <p:nvSpPr>
          <p:cNvPr id="8" name="choice-line-1">
            <a:extLst xmlns:a="http://schemas.openxmlformats.org/drawingml/2006/main">
              <a:ext uri="{FF2B5EF4-FFF2-40B4-BE49-F238E27FC236}">
                <a16:creationId xmlns:a16="http://schemas.microsoft.com/office/drawing/2014/main" id="{304FE184-F51F-4185-A90A-6BB1820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812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oice-use-1">
            <a:extLst xmlns:a="http://schemas.openxmlformats.org/drawingml/2006/main">
              <a:ext uri="{FF2B5EF4-FFF2-40B4-BE49-F238E27FC236}">
                <a16:creationId xmlns:a16="http://schemas.microsoft.com/office/drawing/2014/main" id="{FB8C561A-AA18-405A-A5E6-ED515D09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Dua cabang</a:t>
            </a:r>
          </a:p>
        </p:txBody>
      </p:sp>
      <p:sp>
        <p:nvSpPr>
          <p:cNvPr id="10" name="choice-name-2">
            <a:extLst xmlns:a="http://schemas.openxmlformats.org/drawingml/2006/main">
              <a:ext uri="{FF2B5EF4-FFF2-40B4-BE49-F238E27FC236}">
                <a16:creationId xmlns:a16="http://schemas.microsoft.com/office/drawing/2014/main" id="{B066A5AD-D87B-4D56-AC80-90ED33A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B7791F"/>
                </a:solidFill>
                <a:latin typeface="SF Mono"/>
                <a:ea typeface="SF Mono"/>
                <a:cs typeface="SF Mono"/>
              </a:defRPr>
            </a:pPr>
            <a:r>
              <a:rPr sz="1875" b="1" i="0">
                <a:solidFill>
                  <a:srgbClr val="B7791F"/>
                </a:solidFill>
                <a:latin typeface="SF Mono"/>
                <a:ea typeface="SF Mono"/>
                <a:cs typeface="SF Mono"/>
              </a:rPr>
              <a:t>if–elif–else</a:t>
            </a:r>
          </a:p>
        </p:txBody>
      </p:sp>
      <p:sp>
        <p:nvSpPr>
          <p:cNvPr id="11" name="choice-line-2">
            <a:extLst xmlns:a="http://schemas.openxmlformats.org/drawingml/2006/main">
              <a:ext uri="{FF2B5EF4-FFF2-40B4-BE49-F238E27FC236}">
                <a16:creationId xmlns:a16="http://schemas.microsoft.com/office/drawing/2014/main" id="{8C440BEA-8C5A-4937-ABE0-FBE11390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242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oice-use-2">
            <a:extLst xmlns:a="http://schemas.openxmlformats.org/drawingml/2006/main">
              <a:ext uri="{FF2B5EF4-FFF2-40B4-BE49-F238E27FC236}">
                <a16:creationId xmlns:a16="http://schemas.microsoft.com/office/drawing/2014/main" id="{736C18A5-CF1D-474D-9E0E-7909E1C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Banyak kondisi / rentang</a:t>
            </a:r>
          </a:p>
        </p:txBody>
      </p:sp>
      <p:sp>
        <p:nvSpPr>
          <p:cNvPr id="13" name="choice-name-3">
            <a:extLst xmlns:a="http://schemas.openxmlformats.org/drawingml/2006/main">
              <a:ext uri="{FF2B5EF4-FFF2-40B4-BE49-F238E27FC236}">
                <a16:creationId xmlns:a16="http://schemas.microsoft.com/office/drawing/2014/main" id="{9D5BEF42-3362-4D2D-BB75-1E8AF5D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B91C1C"/>
                </a:solidFill>
                <a:latin typeface="SF Mono"/>
                <a:ea typeface="SF Mono"/>
                <a:cs typeface="SF Mono"/>
              </a:defRPr>
            </a:pPr>
            <a:r>
              <a:rPr sz="1875" b="1" i="0">
                <a:solidFill>
                  <a:srgbClr val="B91C1C"/>
                </a:solidFill>
                <a:latin typeface="SF Mono"/>
                <a:ea typeface="SF Mono"/>
                <a:cs typeface="SF Mono"/>
              </a:rPr>
              <a:t>nested if</a:t>
            </a:r>
          </a:p>
        </p:txBody>
      </p:sp>
      <p:sp>
        <p:nvSpPr>
          <p:cNvPr id="14" name="choice-line-3">
            <a:extLst xmlns:a="http://schemas.openxmlformats.org/drawingml/2006/main">
              <a:ext uri="{FF2B5EF4-FFF2-40B4-BE49-F238E27FC236}">
                <a16:creationId xmlns:a16="http://schemas.microsoft.com/office/drawing/2014/main" id="{F9F4C8F2-ABE1-45C6-95F6-011DA86D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671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oice-use-3">
            <a:extLst xmlns:a="http://schemas.openxmlformats.org/drawingml/2006/main">
              <a:ext uri="{FF2B5EF4-FFF2-40B4-BE49-F238E27FC236}">
                <a16:creationId xmlns:a16="http://schemas.microsoft.com/office/drawing/2014/main" id="{32234356-BCD6-403D-9B92-AE305F06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Syarat bertingkat</a:t>
            </a:r>
          </a:p>
        </p:txBody>
      </p:sp>
      <p:sp>
        <p:nvSpPr>
          <p:cNvPr id="16" name="choice-name-4">
            <a:extLst xmlns:a="http://schemas.openxmlformats.org/drawingml/2006/main">
              <a:ext uri="{FF2B5EF4-FFF2-40B4-BE49-F238E27FC236}">
                <a16:creationId xmlns:a16="http://schemas.microsoft.com/office/drawing/2014/main" id="{D99724C0-30E9-4056-9ABB-2243B50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7C3AED"/>
                </a:solidFill>
                <a:latin typeface="SF Mono"/>
                <a:ea typeface="SF Mono"/>
                <a:cs typeface="SF Mono"/>
              </a:defRPr>
            </a:pPr>
            <a:r>
              <a:rPr sz="1875" b="1" i="0">
                <a:solidFill>
                  <a:srgbClr val="7C3AED"/>
                </a:solidFill>
                <a:latin typeface="SF Mono"/>
                <a:ea typeface="SF Mono"/>
                <a:cs typeface="SF Mono"/>
              </a:rPr>
              <a:t>match–case</a:t>
            </a:r>
          </a:p>
        </p:txBody>
      </p:sp>
      <p:sp>
        <p:nvSpPr>
          <p:cNvPr id="17" name="choice-line-4">
            <a:extLst xmlns:a="http://schemas.openxmlformats.org/drawingml/2006/main">
              <a:ext uri="{FF2B5EF4-FFF2-40B4-BE49-F238E27FC236}">
                <a16:creationId xmlns:a16="http://schemas.microsoft.com/office/drawing/2014/main" id="{9C2EE2A9-ECCC-41AA-A794-612B7B75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101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oice-use-4">
            <a:extLst xmlns:a="http://schemas.openxmlformats.org/drawingml/2006/main">
              <a:ext uri="{FF2B5EF4-FFF2-40B4-BE49-F238E27FC236}">
                <a16:creationId xmlns:a16="http://schemas.microsoft.com/office/drawing/2014/main" id="{38EBDFB9-1AFF-4707-994A-E32EB3A6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577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0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Satu nilai, banyak pola</a:t>
            </a:r>
          </a:p>
        </p:txBody>
      </p:sp>
      <p:sp>
        <p:nvSpPr>
          <p:cNvPr id="19" name="exercise-box">
            <a:extLst xmlns:a="http://schemas.openxmlformats.org/drawingml/2006/main">
              <a:ext uri="{FF2B5EF4-FFF2-40B4-BE49-F238E27FC236}">
                <a16:creationId xmlns:a16="http://schemas.microsoft.com/office/drawing/2014/main" id="{719D983C-33B7-40A1-9467-3AF9CA8E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3486150" cy="39052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8F0"/>
            </a:solidFill>
            <a:prstDash val="solid"/>
          </a:ln>
        </p:spPr>
      </p:sp>
      <p:sp>
        <p:nvSpPr>
          <p:cNvPr id="20" name="exercise-title">
            <a:extLst xmlns:a="http://schemas.openxmlformats.org/drawingml/2006/main">
              <a:ext uri="{FF2B5EF4-FFF2-40B4-BE49-F238E27FC236}">
                <a16:creationId xmlns:a16="http://schemas.microsoft.com/office/drawing/2014/main" id="{DD501ACA-4F7E-4971-86AC-428EF907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475" b="1" i="0">
                <a:solidFill>
                  <a:srgbClr val="306998"/>
                </a:solidFill>
                <a:latin typeface="SF Pro Display"/>
                <a:ea typeface="SF Pro Display"/>
                <a:cs typeface="SF Pro Display"/>
              </a:defRPr>
            </a:pPr>
            <a:r>
              <a:rPr sz="2475" b="1" i="0">
                <a:solidFill>
                  <a:srgbClr val="306998"/>
                </a:solidFill>
                <a:latin typeface="SF Pro Display"/>
                <a:ea typeface="SF Pro Display"/>
                <a:cs typeface="SF Pro Display"/>
              </a:rPr>
              <a:t>Latihan</a:t>
            </a:r>
          </a:p>
        </p:txBody>
      </p:sp>
      <p:sp>
        <p:nvSpPr>
          <p:cNvPr id="21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14A70424-7247-481D-9EA7-961B2DE5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defRPr>
            </a:pPr>
            <a:r>
              <a:rPr sz="1875" b="1" i="0">
                <a:solidFill>
                  <a:srgbClr val="0F172A"/>
                </a:solidFill>
                <a:latin typeface="SF Pro Text"/>
                <a:ea typeface="SF Pro Text"/>
                <a:cs typeface="SF Pro Text"/>
              </a:rPr>
              <a:t>Buat program status suhu:</a:t>
            </a:r>
          </a:p>
        </p:txBody>
      </p:sp>
      <p:sp>
        <p:nvSpPr>
          <p:cNvPr id="22" name="exercise-rules">
            <a:extLst xmlns:a="http://schemas.openxmlformats.org/drawingml/2006/main">
              <a:ext uri="{FF2B5EF4-FFF2-40B4-BE49-F238E27FC236}">
                <a16:creationId xmlns:a16="http://schemas.microsoft.com/office/drawing/2014/main" id="{C6925A08-A892-45E5-A21D-A652C3D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2343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&lt; 20     → Dingin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20–29  → Nyaman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defRPr>
            </a:pPr>
            <a:r>
              <a:rPr sz="1875" b="0" i="0">
                <a:solidFill>
                  <a:srgbClr val="475569"/>
                </a:solidFill>
                <a:latin typeface="SF Mono"/>
                <a:ea typeface="SF Mono"/>
                <a:cs typeface="SF Mono"/>
              </a:rPr>
              <a:t>≥ 30     → Panas</a:t>
            </a:r>
          </a:p>
        </p:txBody>
      </p:sp>
      <p:sp>
        <p:nvSpPr>
          <p:cNvPr id="23" name="exercise-hint">
            <a:extLst xmlns:a="http://schemas.openxmlformats.org/drawingml/2006/main">
              <a:ext uri="{FF2B5EF4-FFF2-40B4-BE49-F238E27FC236}">
                <a16:creationId xmlns:a16="http://schemas.microsoft.com/office/drawing/2014/main" id="{F11E97E9-BC33-4689-8521-792A8B46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8003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CC"/>
          </a:solidFill>
          <a:ln xmlns:a="http://schemas.openxmlformats.org/drawingml/2006/main" w="14288">
            <a:solidFill>
              <a:srgbClr val="FFD43B"/>
            </a:solidFill>
            <a:prstDash val="solid"/>
          </a:ln>
        </p:spPr>
      </p:sp>
      <p:sp>
        <p:nvSpPr>
          <p:cNvPr id="24" name="exercise-hint-text">
            <a:extLst xmlns:a="http://schemas.openxmlformats.org/drawingml/2006/main">
              <a:ext uri="{FF2B5EF4-FFF2-40B4-BE49-F238E27FC236}">
                <a16:creationId xmlns:a16="http://schemas.microsoft.com/office/drawing/2014/main" id="{81C8987F-F93B-4213-957B-C5C806E2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67275"/>
            <a:ext cx="249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0F172A"/>
                </a:solidFill>
                <a:latin typeface="SF Mono"/>
                <a:ea typeface="SF Mono"/>
                <a:cs typeface="SF Mono"/>
              </a:defRPr>
            </a:pPr>
            <a:r>
              <a:rPr sz="1575" b="1" i="0">
                <a:solidFill>
                  <a:srgbClr val="0F172A"/>
                </a:solidFill>
                <a:latin typeface="SF Mono"/>
                <a:ea typeface="SF Mono"/>
                <a:cs typeface="SF Mono"/>
              </a:rPr>
              <a:t>Petunjuk: if–elif–else</a:t>
            </a:r>
          </a:p>
        </p:txBody>
      </p:sp>
      <p:sp>
        <p:nvSpPr>
          <p:cNvPr id="25" name="closing">
            <a:extLst xmlns:a="http://schemas.openxmlformats.org/drawingml/2006/main">
              <a:ext uri="{FF2B5EF4-FFF2-40B4-BE49-F238E27FC236}">
                <a16:creationId xmlns:a16="http://schemas.microsoft.com/office/drawing/2014/main" id="{3A5C9F04-5356-4F72-82E5-24548C3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defRPr>
            </a:pPr>
            <a:r>
              <a:rPr sz="2100" b="1" i="0">
                <a:solidFill>
                  <a:srgbClr val="306998"/>
                </a:solidFill>
                <a:latin typeface="SF Pro Text"/>
                <a:ea typeface="SF Pro Text"/>
                <a:cs typeface="SF Pro Text"/>
              </a:rPr>
              <a:t>Tujuan akhirnya: logika benar dan kode tetap mudah dibaca.</a:t>
            </a:r>
          </a:p>
        </p:txBody>
      </p:sp>
    </p:spTree>
    <p:extLst>
      <p:ext uri="{BB962C8B-B14F-4D97-AF65-F5344CB8AC3E}">
        <p14:creationId xmlns:p14="http://schemas.microsoft.com/office/powerpoint/2010/main" val="213600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2026-08-28T11:45:11.3130000Z</dcterms:created>
  <dcterms:modified xsi:type="dcterms:W3CDTF">2026-08-28T11:45:11.3130000Z</dcterms:modified>
</coreProperties>
</file>