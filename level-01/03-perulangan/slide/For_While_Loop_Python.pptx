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895117405e4034" /><Relationship Type="http://schemas.openxmlformats.org/officeDocument/2006/relationships/extended-properties" Target="/docProps/app.xml" Id="R41e7253650484906" /><Relationship Type="http://schemas.openxmlformats.org/officeDocument/2006/relationships/officeDocument" Target="/ppt/presentation.xml" Id="R87db96b905b44b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b1fcaf9b5d401b"/>
  </p:sldMasterIdLst>
  <p:notesMasterIdLst>
    <p:notesMasterId xmlns:r="http://schemas.openxmlformats.org/officeDocument/2006/relationships" r:id="Rcb570e5182a54517"/>
  </p:notesMasterIdLst>
  <p:sldIdLst>
    <p:sldId xmlns:r="http://schemas.openxmlformats.org/officeDocument/2006/relationships" id="256" r:id="Ra7e3f538b2a84564"/>
    <p:sldId xmlns:r="http://schemas.openxmlformats.org/officeDocument/2006/relationships" id="257" r:id="Rc70a6a9d82a847ac"/>
    <p:sldId xmlns:r="http://schemas.openxmlformats.org/officeDocument/2006/relationships" id="258" r:id="R4efc81ed7a394f18"/>
    <p:sldId xmlns:r="http://schemas.openxmlformats.org/officeDocument/2006/relationships" id="259" r:id="Rec4b681cd5bf4cee"/>
    <p:sldId xmlns:r="http://schemas.openxmlformats.org/officeDocument/2006/relationships" id="260" r:id="R096abe6f43d64634"/>
    <p:sldId xmlns:r="http://schemas.openxmlformats.org/officeDocument/2006/relationships" id="261" r:id="Rc781d036eac844ca"/>
    <p:sldId xmlns:r="http://schemas.openxmlformats.org/officeDocument/2006/relationships" id="262" r:id="Rbb814586e825466e"/>
    <p:sldId xmlns:r="http://schemas.openxmlformats.org/officeDocument/2006/relationships" id="263" r:id="R2d30e52f4a7b4dfd"/>
    <p:sldId xmlns:r="http://schemas.openxmlformats.org/officeDocument/2006/relationships" id="264" r:id="R909765952cb54128"/>
    <p:sldId xmlns:r="http://schemas.openxmlformats.org/officeDocument/2006/relationships" id="265" r:id="Rb169cf10775c4184"/>
    <p:sldId xmlns:r="http://schemas.openxmlformats.org/officeDocument/2006/relationships" id="266" r:id="R47270f19e05f47eb"/>
    <p:sldId xmlns:r="http://schemas.openxmlformats.org/officeDocument/2006/relationships" id="267" r:id="Rde98f4986faa42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1ef29bda97447b" /><Relationship Type="http://schemas.openxmlformats.org/officeDocument/2006/relationships/slideMaster" Target="/ppt/slideMasters/slideMaster1.xml" Id="R68b1fcaf9b5d401b" /><Relationship Type="http://schemas.openxmlformats.org/officeDocument/2006/relationships/notesMaster" Target="/ppt/notesMasters/notesMaster1.xml" Id="Rcb570e5182a54517" /><Relationship Type="http://schemas.openxmlformats.org/officeDocument/2006/relationships/presProps" Target="/ppt/presProps.xml" Id="R9a98437a57844bb2" /><Relationship Type="http://schemas.openxmlformats.org/officeDocument/2006/relationships/tableStyles" Target="/ppt/tableStyles.xml" Id="Rd1e9a2a8899e4f2b" /><Relationship Type="http://schemas.openxmlformats.org/officeDocument/2006/relationships/slide" Target="/ppt/slides/slide1.xml" Id="Ra7e3f538b2a84564" /><Relationship Type="http://schemas.openxmlformats.org/officeDocument/2006/relationships/slide" Target="/ppt/slides/slide2.xml" Id="Rc70a6a9d82a847ac" /><Relationship Type="http://schemas.openxmlformats.org/officeDocument/2006/relationships/slide" Target="/ppt/slides/slide3.xml" Id="R4efc81ed7a394f18" /><Relationship Type="http://schemas.openxmlformats.org/officeDocument/2006/relationships/slide" Target="/ppt/slides/slide4.xml" Id="Rec4b681cd5bf4cee" /><Relationship Type="http://schemas.openxmlformats.org/officeDocument/2006/relationships/slide" Target="/ppt/slides/slide5.xml" Id="R096abe6f43d64634" /><Relationship Type="http://schemas.openxmlformats.org/officeDocument/2006/relationships/slide" Target="/ppt/slides/slide6.xml" Id="Rc781d036eac844ca" /><Relationship Type="http://schemas.openxmlformats.org/officeDocument/2006/relationships/slide" Target="/ppt/slides/slide7.xml" Id="Rbb814586e825466e" /><Relationship Type="http://schemas.openxmlformats.org/officeDocument/2006/relationships/slide" Target="/ppt/slides/slide8.xml" Id="R2d30e52f4a7b4dfd" /><Relationship Type="http://schemas.openxmlformats.org/officeDocument/2006/relationships/slide" Target="/ppt/slides/slide9.xml" Id="R909765952cb54128" /><Relationship Type="http://schemas.openxmlformats.org/officeDocument/2006/relationships/slide" Target="/ppt/slides/slide10.xml" Id="Rb169cf10775c4184" /><Relationship Type="http://schemas.openxmlformats.org/officeDocument/2006/relationships/slide" Target="/ppt/slides/slide11.xml" Id="R47270f19e05f47eb" /><Relationship Type="http://schemas.openxmlformats.org/officeDocument/2006/relationships/slide" Target="/ppt/slides/slide12.xml" Id="Rde98f4986faa42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bf7e365d3a40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2be14f2c9e4bfb" /><Relationship Type="http://schemas.openxmlformats.org/officeDocument/2006/relationships/notesMaster" Target="/ppt/notesMasters/notesMaster1.xml" Id="R32662866b20045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450f660cb74122" /><Relationship Type="http://schemas.openxmlformats.org/officeDocument/2006/relationships/notesMaster" Target="/ppt/notesMasters/notesMaster1.xml" Id="Rb807b2210db648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f78b3514514fed" /><Relationship Type="http://schemas.openxmlformats.org/officeDocument/2006/relationships/notesMaster" Target="/ppt/notesMasters/notesMaster1.xml" Id="R27176a1a24514e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84e9bf496645bb" /><Relationship Type="http://schemas.openxmlformats.org/officeDocument/2006/relationships/notesMaster" Target="/ppt/notesMasters/notesMaster1.xml" Id="Rdc89ad68e9434f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fc9bc6209d43c8" /><Relationship Type="http://schemas.openxmlformats.org/officeDocument/2006/relationships/notesMaster" Target="/ppt/notesMasters/notesMaster1.xml" Id="Rd2662a10bcd04c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98de5dbfd3444e" /><Relationship Type="http://schemas.openxmlformats.org/officeDocument/2006/relationships/notesMaster" Target="/ppt/notesMasters/notesMaster1.xml" Id="R2f98640ba7d9495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885be62e094e75" /><Relationship Type="http://schemas.openxmlformats.org/officeDocument/2006/relationships/notesMaster" Target="/ppt/notesMasters/notesMaster1.xml" Id="Reb11af95ca3246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eb972ea7414bc2" /><Relationship Type="http://schemas.openxmlformats.org/officeDocument/2006/relationships/notesMaster" Target="/ppt/notesMasters/notesMaster1.xml" Id="Rb9c860dda22c44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5ec93700dc4fe2" /><Relationship Type="http://schemas.openxmlformats.org/officeDocument/2006/relationships/notesMaster" Target="/ppt/notesMasters/notesMaster1.xml" Id="R3a5c474c77294a2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4e7ff7dacb4e76" /><Relationship Type="http://schemas.openxmlformats.org/officeDocument/2006/relationships/notesMaster" Target="/ppt/notesMasters/notesMaster1.xml" Id="R1e368bd10c2d4cb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c952e3ab808435c" /><Relationship Type="http://schemas.openxmlformats.org/officeDocument/2006/relationships/notesMaster" Target="/ppt/notesMasters/notesMaster1.xml" Id="Ra0e97b30fd9c4ed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abc76c1dacb4ab7" /><Relationship Type="http://schemas.openxmlformats.org/officeDocument/2006/relationships/notesMaster" Target="/ppt/notesMasters/notesMaster1.xml" Id="R7d00cb16515341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Wikimedia Commons, Packages on UPS conveyor belt.jpg, USDA public domain</a:t>
            </a:r>
          </a:p>
          <a:p xmlns:a="http://schemas.openxmlformats.org/drawingml/2006/main">
            <a:r>
              <a:t>- https://commons.wikimedia.org/wiki/File:Packages_on_UPS_conveyor_belt.jpg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Python documentation, More Control Flow Tools</a:t>
            </a:r>
          </a:p>
          <a:p xmlns:a="http://schemas.openxmlformats.org/drawingml/2006/main">
            <a:r>
              <a:t>- https://docs.python.org/3/tutorial/controlflow.html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Python documentation, More Control Flow Tools</a:t>
            </a:r>
          </a:p>
          <a:p xmlns:a="http://schemas.openxmlformats.org/drawingml/2006/main">
            <a:r>
              <a:t>- https://docs.python.org/3/tutorial/controlflow.html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Python documentation, for Statements</a:t>
            </a:r>
          </a:p>
          <a:p xmlns:a="http://schemas.openxmlformats.org/drawingml/2006/main">
            <a:r>
              <a:t>- https://docs.python.org/3/tutorial/controlflow.html#for-statements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Python documentation, for Statements</a:t>
            </a:r>
          </a:p>
          <a:p xmlns:a="http://schemas.openxmlformats.org/drawingml/2006/main">
            <a:r>
              <a:t>- https://docs.python.org/3/tutorial/controlflow.html#for-statements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Python documentation, The range() Function</a:t>
            </a:r>
          </a:p>
          <a:p xmlns:a="http://schemas.openxmlformats.org/drawingml/2006/main">
            <a:r>
              <a:t>- https://docs.python.org/3/tutorial/controlflow.html#the-range-function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Python documentation, for Statements</a:t>
            </a:r>
          </a:p>
          <a:p xmlns:a="http://schemas.openxmlformats.org/drawingml/2006/main">
            <a:r>
              <a:t>- https://docs.python.org/3/tutorial/controlflow.html#for-statements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Python documentation, while Statements</a:t>
            </a:r>
          </a:p>
          <a:p xmlns:a="http://schemas.openxmlformats.org/drawingml/2006/main">
            <a:r>
              <a:t>- https://docs.python.org/3/tutorial/introduction.html#first-steps-towards-programming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Python documentation, while Statements</a:t>
            </a:r>
          </a:p>
          <a:p xmlns:a="http://schemas.openxmlformats.org/drawingml/2006/main">
            <a:r>
              <a:t>- https://docs.python.org/3/tutorial/introduction.html#first-steps-towards-programming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Python documentation, break and continue Statements</a:t>
            </a:r>
          </a:p>
          <a:p xmlns:a="http://schemas.openxmlformats.org/drawingml/2006/main">
            <a:r>
              <a:t>- https://docs.python.org/3/tutorial/controlflow.html#break-and-continue-statements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Python documentation, while Statements</a:t>
            </a:r>
          </a:p>
          <a:p xmlns:a="http://schemas.openxmlformats.org/drawingml/2006/main">
            <a:r>
              <a:t>- https://docs.python.org/3/tutorial/introduction.html#first-steps-towards-programming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Python documentation, More Control Flow Tools</a:t>
            </a:r>
          </a:p>
          <a:p xmlns:a="http://schemas.openxmlformats.org/drawingml/2006/main">
            <a:r>
              <a:t>- https://docs.python.org/3/tutorial/controlflow.html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fc2a37541b43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6e45f2c3634a67" /><Relationship Type="http://schemas.openxmlformats.org/officeDocument/2006/relationships/slideLayout" Target="/ppt/slideLayouts/slideLayout1.xml" Id="R90296b9b6ae143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296b9b6ae143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bd06f822d14c48" /><Relationship Type="http://schemas.openxmlformats.org/officeDocument/2006/relationships/image" Target="/ppt/media/image.jpeg" Id="R2fedf049b4354207" /><Relationship Type="http://schemas.openxmlformats.org/officeDocument/2006/relationships/notesSlide" Target="/ppt/notesSlides/notesSlide1.xml" Id="R9bb81d32112049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6d3efdd0749e9" /><Relationship Type="http://schemas.openxmlformats.org/officeDocument/2006/relationships/notesSlide" Target="/ppt/notesSlides/notesSlide2.xml" Id="Ra27b533fcdae45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7b7454ac194325" /><Relationship Type="http://schemas.openxmlformats.org/officeDocument/2006/relationships/notesSlide" Target="/ppt/notesSlides/notesSlide3.xml" Id="R789e1416571f40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c15cbd6964302" /><Relationship Type="http://schemas.openxmlformats.org/officeDocument/2006/relationships/notesSlide" Target="/ppt/notesSlides/notesSlide4.xml" Id="R6fb19a475d4844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c1b675687747fe" /><Relationship Type="http://schemas.openxmlformats.org/officeDocument/2006/relationships/notesSlide" Target="/ppt/notesSlides/notesSlide5.xml" Id="R30dd24c9921145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7b76dfa5c448e6" /><Relationship Type="http://schemas.openxmlformats.org/officeDocument/2006/relationships/notesSlide" Target="/ppt/notesSlides/notesSlide6.xml" Id="Ra88475af06504f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d7dc6fc6b43b0" /><Relationship Type="http://schemas.openxmlformats.org/officeDocument/2006/relationships/notesSlide" Target="/ppt/notesSlides/notesSlide7.xml" Id="R1619f2d1cd6543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28644751a7469d" /><Relationship Type="http://schemas.openxmlformats.org/officeDocument/2006/relationships/notesSlide" Target="/ppt/notesSlides/notesSlide8.xml" Id="Re82edc46162a490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03c9ef3914209" /><Relationship Type="http://schemas.openxmlformats.org/officeDocument/2006/relationships/notesSlide" Target="/ppt/notesSlides/notesSlide9.xml" Id="R375b69eeab6346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7d66321964401f" /><Relationship Type="http://schemas.openxmlformats.org/officeDocument/2006/relationships/notesSlide" Target="/ppt/notesSlides/notesSlide10.xml" Id="Re98d52dcd72f4e1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99fadd0c4e4978" /><Relationship Type="http://schemas.openxmlformats.org/officeDocument/2006/relationships/notesSlide" Target="/ppt/notesSlides/notesSlide11.xml" Id="R2c9f70e4830045b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cfe44c36241a1" /><Relationship Type="http://schemas.openxmlformats.org/officeDocument/2006/relationships/notesSlide" Target="/ppt/notesSlides/notesSlide12.xml" Id="R72768c3cbcc640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AAD12C-4A44-4CB9-8FDE-4A932CE5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06B9D"/>
                </a:solidFill>
                <a:latin typeface="SF Pro Display"/>
                <a:ea typeface="SF Pro Display"/>
                <a:cs typeface="SF Pro Display"/>
              </a:defRPr>
            </a:pPr>
            <a:r>
              <a:rPr sz="1425" b="1">
                <a:solidFill>
                  <a:srgbClr val="306B9D"/>
                </a:solidFill>
                <a:latin typeface="SF Pro Display"/>
                <a:ea typeface="SF Pro Display"/>
                <a:cs typeface="SF Pro Display"/>
              </a:rPr>
              <a:t>PYTHON FUNDAMENTALS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961D82-274A-456E-94D2-F52BE2CF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90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4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For Loop</a:t>
            </a:r>
          </a:p>
          <a:p xmlns:a="http://schemas.openxmlformats.org/drawingml/2006/main">
            <a:pPr>
              <a:defRPr sz="4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4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dan While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DEFCB5-B853-4B8C-BE86-CA58CD35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561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0607A"/>
                </a:solidFill>
                <a:latin typeface="SF Pro Text"/>
                <a:ea typeface="SF Pro Text"/>
                <a:cs typeface="SF Pro Text"/>
              </a:defRPr>
            </a:pPr>
            <a:r>
              <a:rPr sz="2100">
                <a:solidFill>
                  <a:srgbClr val="50607A"/>
                </a:solidFill>
                <a:latin typeface="SF Pro Text"/>
                <a:ea typeface="SF Pro Text"/>
                <a:cs typeface="SF Pro Text"/>
              </a:rPr>
              <a:t>Membuat program menjalankan tugas berulang dengan aturan yang jelas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E06646-936C-4D3F-89D5-0D964875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495300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5C7"/>
          </a:solidFill>
          <a:ln xmlns:a="http://schemas.openxmlformats.org/drawingml/2006/main" w="14288">
            <a:solidFill>
              <a:srgbClr val="306B9D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5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for · range() · while · break · continue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41C01A-F839-4456-B936-A5CABA4C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B9D"/>
          </a:solidFill>
          <a:ln xmlns:a="http://schemas.openxmlformats.org/drawingml/2006/main" w="0">
            <a:noFill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edf049b4354207"/>
          <a:srcRect xmlns:a="http://schemas.openxmlformats.org/drawingml/2006/main" l="25926" t="0" r="259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4969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7F6B7C-30CA-4272-BCF5-3F08605D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Perulangan seperti robot memproses paket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A69AA-E34E-4E13-A5FD-D4AB42F8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3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430D40-EC91-4C3C-802E-D3011AE9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66800"/>
            <a:ext cx="923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0607A"/>
                </a:solidFill>
                <a:latin typeface="SF Pro Text"/>
                <a:ea typeface="SF Pro Text"/>
                <a:cs typeface="SF Pro Text"/>
              </a:defRPr>
            </a:pPr>
            <a:r>
              <a:rPr sz="1500">
                <a:solidFill>
                  <a:srgbClr val="50607A"/>
                </a:solidFill>
                <a:latin typeface="SF Pro Text"/>
                <a:ea typeface="SF Pro Text"/>
                <a:cs typeface="SF Pro Text"/>
              </a:rPr>
              <a:t>Satu instruksi dapat berlaku berkali-kali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4B6527-6038-4BFA-9D28-1CA00AB9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4667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009"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0607A"/>
                </a:solidFill>
                <a:latin typeface="SF Pro Text"/>
                <a:ea typeface="SF Pro Text"/>
                <a:cs typeface="SF Pro Text"/>
              </a:defRPr>
            </a:pPr>
            <a:r>
              <a:rPr sz="2100">
                <a:solidFill>
                  <a:srgbClr val="50607A"/>
                </a:solidFill>
                <a:latin typeface="SF Pro Text"/>
                <a:ea typeface="SF Pro Text"/>
                <a:cs typeface="SF Pro Text"/>
              </a:rPr>
              <a:t>Bayangkan robot di gudang. Ia membaca paket satu per satu, lalu melakukan tindakan yang sama pada setiap paket.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3D8548-6D83-4AE0-913C-B2EDB790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76450"/>
            <a:ext cx="1524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19050">
            <a:solidFill>
              <a:srgbClr val="306B9D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Paket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144B35-62CA-4D31-9BB7-0EF5A889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305050"/>
            <a:ext cx="7048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6B9D"/>
          </a:solidFill>
          <a:ln xmlns:a="http://schemas.openxmlformats.org/drawingml/2006/main" w="0">
            <a:solidFill>
              <a:srgbClr val="306B9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014CFA-2295-4467-B92E-0378CF1E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76450"/>
            <a:ext cx="1524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19050">
            <a:solidFill>
              <a:srgbClr val="306B9D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Paket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6FB52C-3676-4AA6-B1BB-E5825293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305050"/>
            <a:ext cx="7048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6B9D"/>
          </a:solidFill>
          <a:ln xmlns:a="http://schemas.openxmlformats.org/drawingml/2006/main" w="0">
            <a:solidFill>
              <a:srgbClr val="306B9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AAE600-6528-4BD3-9EF7-DBD6B9E2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076450"/>
            <a:ext cx="1047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19050">
            <a:solidFill>
              <a:srgbClr val="306B9D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Paket 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79112B-511F-454A-A126-E6B53E54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2025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Loop membantu kita menghindari penulisan instruksi yang sama berulang kali.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3EAE4E-F6AF-42F1-8CD5-D5E50BA4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82040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FF5C7"/>
          </a:solidFill>
          <a:ln xmlns:a="http://schemas.openxmlformats.org/drawingml/2006/main" w="14288">
            <a:solidFill>
              <a:srgbClr val="E6BC1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F106A0-0C09-4ABD-B052-B35EE8AF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577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80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Intinya: pilih data atau kondisi yang akan diulang, lalu tulis satu blok instruksi.</a:t>
            </a:r>
          </a:p>
        </p:txBody>
      </p:sp>
    </p:spTree>
    <p:extLst>
      <p:ext uri="{BB962C8B-B14F-4D97-AF65-F5344CB8AC3E}">
        <p14:creationId xmlns:p14="http://schemas.microsoft.com/office/powerpoint/2010/main" val="3622048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924A4C-8C2C-415D-BF99-80D7BB31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Dua cara mengulang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5ABF76-E0D7-4C07-81A8-8494730D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3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836E70-1B01-46C5-9B40-2DFE6FF3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66800"/>
            <a:ext cx="923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0607A"/>
                </a:solidFill>
                <a:latin typeface="SF Pro Text"/>
                <a:ea typeface="SF Pro Text"/>
                <a:cs typeface="SF Pro Text"/>
              </a:defRPr>
            </a:pPr>
            <a:r>
              <a:rPr sz="1500">
                <a:solidFill>
                  <a:srgbClr val="50607A"/>
                </a:solidFill>
                <a:latin typeface="SF Pro Text"/>
                <a:ea typeface="SF Pro Text"/>
                <a:cs typeface="SF Pro Text"/>
              </a:rPr>
              <a:t>Pilih berdasarkan hal yang ingin diperiksa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34299D-BCEF-45D1-BAF2-15E41723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34290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19050">
            <a:solidFill>
              <a:srgbClr val="306B9D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for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8348E9-2CB3-4574-B2E3-E9A7CD20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909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0607A"/>
                </a:solidFill>
                <a:latin typeface="SF Pro Text"/>
                <a:ea typeface="SF Pro Text"/>
                <a:cs typeface="SF Pro Text"/>
              </a:defRPr>
            </a:pPr>
            <a:r>
              <a:rPr sz="1800">
                <a:solidFill>
                  <a:srgbClr val="50607A"/>
                </a:solidFill>
                <a:latin typeface="SF Pro Text"/>
                <a:ea typeface="SF Pro Text"/>
                <a:cs typeface="SF Pro Text"/>
              </a:rPr>
              <a:t>Ulangi untuk setiap item</a:t>
            </a:r>
          </a:p>
          <a:p xmlns:a="http://schemas.openxmlformats.org/drawingml/2006/main">
            <a:pPr>
              <a:defRPr sz="1800">
                <a:solidFill>
                  <a:srgbClr val="50607A"/>
                </a:solidFill>
                <a:latin typeface="SF Pro Text"/>
                <a:ea typeface="SF Pro Text"/>
                <a:cs typeface="SF Pro Text"/>
              </a:defRPr>
            </a:pPr>
            <a:r>
              <a:rPr sz="1800">
                <a:solidFill>
                  <a:srgbClr val="50607A"/>
                </a:solidFill>
                <a:latin typeface="SF Pro Text"/>
                <a:ea typeface="SF Pro Text"/>
                <a:cs typeface="SF Pro Text"/>
              </a:rPr>
              <a:t>dalam kumpulan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C41245-9D28-4C72-950F-1E591EEB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Daftar menu, nama siswa, atau angka dalam 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1B89F0-9AA4-4DF7-BEBC-7C9BCD69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00250"/>
            <a:ext cx="34290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5C7"/>
          </a:solidFill>
          <a:ln xmlns:a="http://schemas.openxmlformats.org/drawingml/2006/main" w="19050">
            <a:solidFill>
              <a:srgbClr val="E1B400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while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4A6E3E-E3B9-48E4-8C87-AED88325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909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0607A"/>
                </a:solidFill>
                <a:latin typeface="SF Pro Text"/>
                <a:ea typeface="SF Pro Text"/>
                <a:cs typeface="SF Pro Text"/>
              </a:defRPr>
            </a:pPr>
            <a:r>
              <a:rPr sz="1800">
                <a:solidFill>
                  <a:srgbClr val="50607A"/>
                </a:solidFill>
                <a:latin typeface="SF Pro Text"/>
                <a:ea typeface="SF Pro Text"/>
                <a:cs typeface="SF Pro Text"/>
              </a:rPr>
              <a:t>Ulangi selama</a:t>
            </a:r>
          </a:p>
          <a:p xmlns:a="http://schemas.openxmlformats.org/drawingml/2006/main">
            <a:pPr>
              <a:defRPr sz="1800">
                <a:solidFill>
                  <a:srgbClr val="50607A"/>
                </a:solidFill>
                <a:latin typeface="SF Pro Text"/>
                <a:ea typeface="SF Pro Text"/>
                <a:cs typeface="SF Pro Text"/>
              </a:defRPr>
            </a:pPr>
            <a:r>
              <a:rPr sz="1800">
                <a:solidFill>
                  <a:srgbClr val="50607A"/>
                </a:solidFill>
                <a:latin typeface="SF Pro Text"/>
                <a:ea typeface="SF Pro Text"/>
                <a:cs typeface="SF Pro Text"/>
              </a:rPr>
              <a:t>kondisi masih True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D2A5B9-8596-4DF6-BBC0-56AE090F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57700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50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Sisa nyawa game, saldo, atau jumlah percobaan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841E7F-6541-4341-9E25-058FBE9B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57450"/>
            <a:ext cx="17526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B7CB"/>
          </a:solidFill>
          <a:ln xmlns:a="http://schemas.openxmlformats.org/drawingml/2006/main" w="0">
            <a:solidFill>
              <a:srgbClr val="A3B7C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6819EE-99C4-4EF4-A78D-564732AA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4292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06B9D"/>
                </a:solidFill>
                <a:latin typeface="SF Pro Text"/>
                <a:ea typeface="SF Pro Text"/>
                <a:cs typeface="SF Pro Text"/>
              </a:defRPr>
            </a:pPr>
            <a:r>
              <a:rPr sz="1650" b="1">
                <a:solidFill>
                  <a:srgbClr val="306B9D"/>
                </a:solidFill>
                <a:latin typeface="SF Pro Text"/>
                <a:ea typeface="SF Pro Text"/>
                <a:cs typeface="SF Pro Text"/>
              </a:rPr>
              <a:t>Keduanya mengulang blok kode</a:t>
            </a:r>
          </a:p>
        </p:txBody>
      </p:sp>
    </p:spTree>
    <p:extLst>
      <p:ext uri="{BB962C8B-B14F-4D97-AF65-F5344CB8AC3E}">
        <p14:creationId xmlns:p14="http://schemas.microsoft.com/office/powerpoint/2010/main" val="128114625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B6157D-F93E-466A-A015-89993E70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for membaca item satu per satu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A65EB3-284A-4AFC-9F71-F66C3DE4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3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FD7AA3-4017-4586-AC7B-B566CED8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66800"/>
            <a:ext cx="923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0607A"/>
                </a:solidFill>
                <a:latin typeface="SF Pro Text"/>
                <a:ea typeface="SF Pro Text"/>
                <a:cs typeface="SF Pro Text"/>
              </a:defRPr>
            </a:pPr>
            <a:r>
              <a:rPr sz="1500">
                <a:solidFill>
                  <a:srgbClr val="50607A"/>
                </a:solidFill>
                <a:latin typeface="SF Pro Text"/>
                <a:ea typeface="SF Pro Text"/>
                <a:cs typeface="SF Pro Text"/>
              </a:rPr>
              <a:t>Setiap putaran memberi nilai berikutnya kepada variable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D0A412-0CA1-47D7-A5BA-A2E1C282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810250" cy="3105150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111A2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DA50E6-A055-4F89-9F0A-961B8057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66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A607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C364DB-F153-489F-989C-05CEE1A8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34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13A62-C1F5-467E-8A1A-096778FA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66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D78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8E48D6-AEF0-4F8B-8B50-091B7EE6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52768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75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menu = ["Nasi goreng", "Mie ayam", "Es teh"]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75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for item in menu:</a:t>
            </a:r>
          </a:p>
          <a:p xmlns:a="http://schemas.openxmlformats.org/drawingml/2006/main">
            <a:pPr>
              <a:defRPr sz="1575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75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print(item)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644555-DCD7-44AB-9D6C-C212E8A1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581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67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0607A"/>
                </a:solidFill>
                <a:latin typeface="SF Pro Text"/>
                <a:ea typeface="SF Pro Text"/>
                <a:cs typeface="SF Pro Text"/>
              </a:defRPr>
            </a:pPr>
            <a:r>
              <a:rPr sz="1725">
                <a:solidFill>
                  <a:srgbClr val="50607A"/>
                </a:solidFill>
                <a:latin typeface="SF Pro Text"/>
                <a:ea typeface="SF Pro Text"/>
                <a:cs typeface="SF Pro Text"/>
              </a:rPr>
              <a:t>Pada setiap putaran, variable `item` berisi satu nama menu.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7193EF-D5BF-4902-898A-30116E8C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76450"/>
            <a:ext cx="27622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DDF7E7"/>
          </a:solidFill>
          <a:ln xmlns:a="http://schemas.openxmlformats.org/drawingml/2006/main" w="19050">
            <a:solidFill>
              <a:srgbClr val="168342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Nasi goreng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42CA48-3A5D-4794-A4C1-D3139A01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76550"/>
            <a:ext cx="400050" cy="685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6B9D"/>
          </a:solidFill>
          <a:ln xmlns:a="http://schemas.openxmlformats.org/drawingml/2006/main" w="0">
            <a:solidFill>
              <a:srgbClr val="306B9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F22B76-A3C2-41DC-BD17-D117FD00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27622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DDF7E7"/>
          </a:solidFill>
          <a:ln xmlns:a="http://schemas.openxmlformats.org/drawingml/2006/main" w="19050">
            <a:solidFill>
              <a:srgbClr val="168342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Mie ayam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A7C82C-F25D-438E-BD58-40FC04C0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514850"/>
            <a:ext cx="400050" cy="685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6B9D"/>
          </a:solidFill>
          <a:ln xmlns:a="http://schemas.openxmlformats.org/drawingml/2006/main" w="0">
            <a:solidFill>
              <a:srgbClr val="306B9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F90DFB-2C01-4407-9807-90AE2DD5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53050"/>
            <a:ext cx="27622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DDF7E7"/>
          </a:solidFill>
          <a:ln xmlns:a="http://schemas.openxmlformats.org/drawingml/2006/main" w="19050">
            <a:solidFill>
              <a:srgbClr val="168342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Es teh</a:t>
            </a:r>
          </a:p>
        </p:txBody>
      </p:sp>
    </p:spTree>
    <p:extLst>
      <p:ext uri="{BB962C8B-B14F-4D97-AF65-F5344CB8AC3E}">
        <p14:creationId xmlns:p14="http://schemas.microsoft.com/office/powerpoint/2010/main" val="58801685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74232E-A87A-4B26-BE44-78455FE3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for cocok untuk daftar yang sudah 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05F3FD-D85E-4332-8B32-1A0C9100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3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148376-8413-406A-AE8C-A89EE99E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66800"/>
            <a:ext cx="923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0607A"/>
                </a:solidFill>
                <a:latin typeface="SF Pro Text"/>
                <a:ea typeface="SF Pro Text"/>
                <a:cs typeface="SF Pro Text"/>
              </a:defRPr>
            </a:pPr>
            <a:r>
              <a:rPr sz="1500">
                <a:solidFill>
                  <a:srgbClr val="50607A"/>
                </a:solidFill>
                <a:latin typeface="SF Pro Text"/>
                <a:ea typeface="SF Pro Text"/>
                <a:cs typeface="SF Pro Text"/>
              </a:rPr>
              <a:t>Loop berakhir setelah item terakhir selesai diproses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5A75E3-769F-487B-B5AD-19B3741E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0607A"/>
                </a:solidFill>
                <a:latin typeface="SF Pro Text"/>
                <a:ea typeface="SF Pro Text"/>
                <a:cs typeface="SF Pro Text"/>
              </a:defRPr>
            </a:pPr>
            <a:r>
              <a:rPr sz="1875">
                <a:solidFill>
                  <a:srgbClr val="50607A"/>
                </a:solidFill>
                <a:latin typeface="SF Pro Text"/>
                <a:ea typeface="SF Pro Text"/>
                <a:cs typeface="SF Pro Text"/>
              </a:rPr>
              <a:t>Contoh: tampilkan daftar pemain yang sudah mendaftar.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736811-EC77-4E20-9A40-0791373E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619750" cy="278130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111A2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36F679-FBE7-4959-A733-19132BC3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384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A607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1C4A12-F0C4-4A9C-A74D-83F845E7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384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34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27EE21-B2C3-4A5B-9FBE-AF201AFD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384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D78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E9C960-2E91-4144-9A14-5826F3E4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38450"/>
            <a:ext cx="50863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75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pemain = ["Alya", "Bima", "Citra"]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75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for nama in pemain:</a:t>
            </a:r>
          </a:p>
          <a:p xmlns:a="http://schemas.openxmlformats.org/drawingml/2006/main">
            <a:pPr>
              <a:defRPr sz="1575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75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print("Halo,", nama)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B1F585-F442-46F6-AA6F-6B6100A8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95500"/>
            <a:ext cx="29527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19050">
            <a:solidFill>
              <a:srgbClr val="306B9D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Alya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25C2E1-FD81-4206-8203-7C26994D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105150"/>
            <a:ext cx="29527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19050">
            <a:solidFill>
              <a:srgbClr val="306B9D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Bima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79D9D6-AF67-40A4-B2DD-8B350E64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114800"/>
            <a:ext cx="29527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19050">
            <a:solidFill>
              <a:srgbClr val="306B9D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Citra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5B123E-65F3-4715-95D6-A24FD4F5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3530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82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06B9D"/>
                </a:solidFill>
                <a:latin typeface="SF Pro Text"/>
                <a:ea typeface="SF Pro Text"/>
                <a:cs typeface="SF Pro Text"/>
              </a:defRPr>
            </a:pPr>
            <a:r>
              <a:rPr sz="1650" b="1">
                <a:solidFill>
                  <a:srgbClr val="306B9D"/>
                </a:solidFill>
                <a:latin typeface="SF Pro Text"/>
                <a:ea typeface="SF Pro Text"/>
                <a:cs typeface="SF Pro Text"/>
              </a:rPr>
              <a:t>Tidak perlu membuat counter sendiri.</a:t>
            </a:r>
          </a:p>
        </p:txBody>
      </p:sp>
    </p:spTree>
    <p:extLst>
      <p:ext uri="{BB962C8B-B14F-4D97-AF65-F5344CB8AC3E}">
        <p14:creationId xmlns:p14="http://schemas.microsoft.com/office/powerpoint/2010/main" val="762876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1955E4-1660-44F8-8814-614869FB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range() membuat urutan angka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41677-A1A5-46A0-8615-1A02A8D2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3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394089-F8A3-4584-ACA9-EC4BD2CB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66800"/>
            <a:ext cx="923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0607A"/>
                </a:solidFill>
                <a:latin typeface="SF Pro Text"/>
                <a:ea typeface="SF Pro Text"/>
                <a:cs typeface="SF Pro Text"/>
              </a:defRPr>
            </a:pPr>
            <a:r>
              <a:rPr sz="1500">
                <a:solidFill>
                  <a:srgbClr val="50607A"/>
                </a:solidFill>
                <a:latin typeface="SF Pro Text"/>
                <a:ea typeface="SF Pro Text"/>
                <a:cs typeface="SF Pro Text"/>
              </a:rPr>
              <a:t>Gunakan saat jumlah putaran sudah diketahui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7D7761-1447-4FD8-9F9C-CF40970C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4905375" cy="2305050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111A2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CFF38-91EB-48FF-819F-2C7F982E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62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A607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BF08DD-B1E5-430E-8A63-073A3E04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34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D98D1F-CE73-49E3-9E2B-41C50EE0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62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D78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023DD0-25B1-4219-A259-C272A357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43719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75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for nomor in range(1, 6):</a:t>
            </a:r>
          </a:p>
          <a:p xmlns:a="http://schemas.openxmlformats.org/drawingml/2006/main">
            <a:pPr>
              <a:defRPr sz="1575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75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print("Antrean", nomor)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E97844-5F39-4BCC-AD6C-41DEFB1FE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76500"/>
            <a:ext cx="7239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5C7"/>
          </a:solidFill>
          <a:ln xmlns:a="http://schemas.openxmlformats.org/drawingml/2006/main" w="19050">
            <a:solidFill>
              <a:srgbClr val="306B9D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CDE864-8393-438E-9871-DE5D86B0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67000"/>
            <a:ext cx="2095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B7CB"/>
          </a:solidFill>
          <a:ln xmlns:a="http://schemas.openxmlformats.org/drawingml/2006/main" w="0">
            <a:solidFill>
              <a:srgbClr val="A3B7C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74E160-6B5C-479E-8DED-110222D0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76500"/>
            <a:ext cx="7239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19050">
            <a:solidFill>
              <a:srgbClr val="306B9D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FBCFC8-E5D0-45D1-9A35-E953ADD5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67000"/>
            <a:ext cx="2095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B7CB"/>
          </a:solidFill>
          <a:ln xmlns:a="http://schemas.openxmlformats.org/drawingml/2006/main" w="0">
            <a:solidFill>
              <a:srgbClr val="A3B7C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5F2A5A-E8CA-473B-A911-12AD2C06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76500"/>
            <a:ext cx="7239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19050">
            <a:solidFill>
              <a:srgbClr val="306B9D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873B28-A4F7-41A9-A68C-572D67E7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67000"/>
            <a:ext cx="2095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B7CB"/>
          </a:solidFill>
          <a:ln xmlns:a="http://schemas.openxmlformats.org/drawingml/2006/main" w="0">
            <a:solidFill>
              <a:srgbClr val="A3B7C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8A8398-D3EE-47DF-AD56-47ED68EC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76500"/>
            <a:ext cx="7239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19050">
            <a:solidFill>
              <a:srgbClr val="306B9D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0F2B91-F163-4EF3-B7CF-AE885F55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667000"/>
            <a:ext cx="2095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B7CB"/>
          </a:solidFill>
          <a:ln xmlns:a="http://schemas.openxmlformats.org/drawingml/2006/main" w="0">
            <a:solidFill>
              <a:srgbClr val="A3B7C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E7FB5E-7671-41A2-B9B6-341704C1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476500"/>
            <a:ext cx="7239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19050">
            <a:solidFill>
              <a:srgbClr val="306B9D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D381B1-4808-4E09-98B8-2C573AB4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14288">
            <a:solidFill>
              <a:srgbClr val="306B9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CBF9CE-997E-4577-A72A-9AF4DD9C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149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80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range(5) menghasilkan 0 sampai 4. range(1, 6) menghasilkan 1 sampai 5.</a:t>
            </a:r>
          </a:p>
        </p:txBody>
      </p:sp>
    </p:spTree>
    <p:extLst>
      <p:ext uri="{BB962C8B-B14F-4D97-AF65-F5344CB8AC3E}">
        <p14:creationId xmlns:p14="http://schemas.microsoft.com/office/powerpoint/2010/main" val="53031768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821A02-A878-430F-BA5B-2CE16871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for dapat menghitung total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B0CCDA-9F03-4BDE-8D5B-609DCC4C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3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C16252-A8B2-49F0-8F88-54F8DCA1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66800"/>
            <a:ext cx="923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0607A"/>
                </a:solidFill>
                <a:latin typeface="SF Pro Text"/>
                <a:ea typeface="SF Pro Text"/>
                <a:cs typeface="SF Pro Text"/>
              </a:defRPr>
            </a:pPr>
            <a:r>
              <a:rPr sz="1500">
                <a:solidFill>
                  <a:srgbClr val="50607A"/>
                </a:solidFill>
                <a:latin typeface="SF Pro Text"/>
                <a:ea typeface="SF Pro Text"/>
                <a:cs typeface="SF Pro Text"/>
              </a:rPr>
              <a:t>Simpan hasil sementara lalu perbarui pada setiap putaran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DA84D5-F3B4-44BA-A3C5-8D3AC40C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810250" cy="35814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111A2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F82E5D-6B68-4752-A7BE-3933241D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A607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49DB90-A7FA-43BC-AFDF-9819E562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34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D199BF-0BC4-4A43-B40F-F1FE9CDC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90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D78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C1524E-0B85-45DD-81E3-85AE00BA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527685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75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harga = [12000, 15000, 8000]</a:t>
            </a:r>
          </a:p>
          <a:p xmlns:a="http://schemas.openxmlformats.org/drawingml/2006/main">
            <a:pPr>
              <a:defRPr sz="1575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75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total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75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for nilai in harga:</a:t>
            </a:r>
          </a:p>
          <a:p xmlns:a="http://schemas.openxmlformats.org/drawingml/2006/main">
            <a:pPr>
              <a:defRPr sz="1575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75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total = total + nilai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75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print(total)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BBBE4B-D9DD-46E8-80AA-ABBE3B25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812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827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2025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12.000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634D9D-3FD5-40C9-993A-1440327E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457450"/>
            <a:ext cx="5905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6B9D"/>
          </a:solidFill>
          <a:ln xmlns:a="http://schemas.openxmlformats.org/drawingml/2006/main" w="0">
            <a:solidFill>
              <a:srgbClr val="306B9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A2DB13-7AD7-4E22-97DF-B9F1C73D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480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827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2025" b="1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27.000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4C2A2D-D12A-4334-8240-D9C7B639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24250"/>
            <a:ext cx="5905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6B9D"/>
          </a:solidFill>
          <a:ln xmlns:a="http://schemas.openxmlformats.org/drawingml/2006/main" w="0">
            <a:solidFill>
              <a:srgbClr val="306B9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6D0B63-1723-4D6C-84AE-B3A2B26E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148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827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8342"/>
                </a:solidFill>
                <a:latin typeface="SF Pro Text"/>
                <a:ea typeface="SF Pro Text"/>
                <a:cs typeface="SF Pro Text"/>
              </a:defRPr>
            </a:pPr>
            <a:r>
              <a:rPr sz="2025" b="1">
                <a:solidFill>
                  <a:srgbClr val="168342"/>
                </a:solidFill>
                <a:latin typeface="SF Pro Text"/>
                <a:ea typeface="SF Pro Text"/>
                <a:cs typeface="SF Pro Text"/>
              </a:rPr>
              <a:t>35.000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2B6097-A649-438D-B031-4B1EBDDA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048250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465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0607A"/>
                </a:solidFill>
                <a:latin typeface="SF Pro Text"/>
                <a:ea typeface="SF Pro Text"/>
                <a:cs typeface="SF Pro Text"/>
              </a:defRPr>
            </a:pPr>
            <a:r>
              <a:rPr sz="1575">
                <a:solidFill>
                  <a:srgbClr val="50607A"/>
                </a:solidFill>
                <a:latin typeface="SF Pro Text"/>
                <a:ea typeface="SF Pro Text"/>
                <a:cs typeface="SF Pro Text"/>
              </a:rPr>
              <a:t>Setiap harga ditambahkan ke total yang sudah ada.</a:t>
            </a:r>
          </a:p>
        </p:txBody>
      </p:sp>
    </p:spTree>
    <p:extLst>
      <p:ext uri="{BB962C8B-B14F-4D97-AF65-F5344CB8AC3E}">
        <p14:creationId xmlns:p14="http://schemas.microsoft.com/office/powerpoint/2010/main" val="138868495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675B94-16F7-466A-AAD1-8A70E982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while mengulang selama kondisi benar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17404-04AC-4071-B280-103BC54F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3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6DE583-65FA-4498-B0F6-FE95838E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66800"/>
            <a:ext cx="923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0607A"/>
                </a:solidFill>
                <a:latin typeface="SF Pro Text"/>
                <a:ea typeface="SF Pro Text"/>
                <a:cs typeface="SF Pro Text"/>
              </a:defRPr>
            </a:pPr>
            <a:r>
              <a:rPr sz="1500">
                <a:solidFill>
                  <a:srgbClr val="50607A"/>
                </a:solidFill>
                <a:latin typeface="SF Pro Text"/>
                <a:ea typeface="SF Pro Text"/>
                <a:cs typeface="SF Pro Text"/>
              </a:rPr>
              <a:t>Periksa kondisi sebelum setiap putaran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A4779A-FA8F-413C-96F3-CB723873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905500" cy="3105150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111A2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8D6F64-9A7F-40B9-A939-43C8BB68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66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A607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E168AB-410A-4761-A855-183F653F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34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CBCE68-EAF1-4EAF-9911-9EAAFF71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66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D78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8CB628-0B98-410B-9D1E-42F8F996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53721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75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energi =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75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while energi &gt; 0:</a:t>
            </a:r>
          </a:p>
          <a:p xmlns:a="http://schemas.openxmlformats.org/drawingml/2006/main">
            <a:pPr>
              <a:defRPr sz="1575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75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print("Robot bergerak")</a:t>
            </a:r>
          </a:p>
          <a:p xmlns:a="http://schemas.openxmlformats.org/drawingml/2006/main">
            <a:pPr>
              <a:defRPr sz="1575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75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energi = energi - 1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8FE1BE-6577-4564-889A-19A776C0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90700"/>
            <a:ext cx="20955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5C7"/>
          </a:solidFill>
          <a:ln xmlns:a="http://schemas.openxmlformats.org/drawingml/2006/main" w="19050">
            <a:solidFill>
              <a:srgbClr val="E1B400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energi &gt; 0?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0C9EFB-B1D2-4A8B-908A-B6EEDFD5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09850"/>
            <a:ext cx="400050" cy="552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6B9D"/>
          </a:solidFill>
          <a:ln xmlns:a="http://schemas.openxmlformats.org/drawingml/2006/main" w="0">
            <a:solidFill>
              <a:srgbClr val="306B9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6B2A80-3D1D-4439-874E-50D583E9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95650"/>
            <a:ext cx="28194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19050">
            <a:solidFill>
              <a:srgbClr val="306B9D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Jalankan aksi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E9474C-8297-4C46-BAAB-78980F4D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114800"/>
            <a:ext cx="400050" cy="552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6B9D"/>
          </a:solidFill>
          <a:ln xmlns:a="http://schemas.openxmlformats.org/drawingml/2006/main" w="0">
            <a:solidFill>
              <a:srgbClr val="306B9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535312-179F-4EEF-B707-07C70EFC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00600"/>
            <a:ext cx="28194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DF7E7"/>
          </a:solidFill>
          <a:ln xmlns:a="http://schemas.openxmlformats.org/drawingml/2006/main" w="19050">
            <a:solidFill>
              <a:srgbClr val="168342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Kurangi energi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3CDB45-00A6-43CF-95D3-14095703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0607A"/>
                </a:solidFill>
                <a:latin typeface="SF Pro Text"/>
                <a:ea typeface="SF Pro Text"/>
                <a:cs typeface="SF Pro Text"/>
              </a:defRPr>
            </a:pPr>
            <a:r>
              <a:rPr sz="1725">
                <a:solidFill>
                  <a:srgbClr val="50607A"/>
                </a:solidFill>
                <a:latin typeface="SF Pro Text"/>
                <a:ea typeface="SF Pro Text"/>
                <a:cs typeface="SF Pro Text"/>
              </a:rPr>
              <a:t>Jika kondisi False, loop selesai.</a:t>
            </a:r>
          </a:p>
        </p:txBody>
      </p:sp>
    </p:spTree>
    <p:extLst>
      <p:ext uri="{BB962C8B-B14F-4D97-AF65-F5344CB8AC3E}">
        <p14:creationId xmlns:p14="http://schemas.microsoft.com/office/powerpoint/2010/main" val="192865676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742D07-D21A-4D2D-B3F9-8EC06A06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Counter membantu while berhenti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4B95AD-8D53-453F-A34C-AC9A904B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3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E1A84A-DDB4-4BF0-95B0-5A3AEA89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66800"/>
            <a:ext cx="923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0607A"/>
                </a:solidFill>
                <a:latin typeface="SF Pro Text"/>
                <a:ea typeface="SF Pro Text"/>
                <a:cs typeface="SF Pro Text"/>
              </a:defRPr>
            </a:pPr>
            <a:r>
              <a:rPr sz="1500">
                <a:solidFill>
                  <a:srgbClr val="50607A"/>
                </a:solidFill>
                <a:latin typeface="SF Pro Text"/>
                <a:ea typeface="SF Pro Text"/>
                <a:cs typeface="SF Pro Text"/>
              </a:rPr>
              <a:t>Nilai kondisi perlu berubah dari satu putaran ke putaran berikutnya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14F3C8-234F-4222-A490-6731BCCE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59055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11A2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9F6486-679E-464E-BCCB-D58CC2F5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478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A607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084E87-C23D-4C68-B2B1-BDE28981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478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34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80AC53-1895-457A-8629-3616B748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478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D78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C7CF37-1B66-4402-80AB-2CA0BBFF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"/>
            <a:ext cx="53721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75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putaran =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75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while putaran &lt;= 3:</a:t>
            </a:r>
          </a:p>
          <a:p xmlns:a="http://schemas.openxmlformats.org/drawingml/2006/main">
            <a:pPr>
              <a:defRPr sz="1575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75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print("Putaran", putaran)</a:t>
            </a:r>
          </a:p>
          <a:p xmlns:a="http://schemas.openxmlformats.org/drawingml/2006/main">
            <a:pPr>
              <a:defRPr sz="1575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75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putaran = putaran + 1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4CD4D4-F23B-4BFF-8FF2-59AC4F5E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714500"/>
            <a:ext cx="3143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DDF7E7"/>
          </a:solidFill>
          <a:ln xmlns:a="http://schemas.openxmlformats.org/drawingml/2006/main" w="19050">
            <a:solidFill>
              <a:srgbClr val="168342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putaran =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9AC6F5-1308-4553-B9A8-FFDE8A8E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381250"/>
            <a:ext cx="3619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B7CB"/>
          </a:solidFill>
          <a:ln xmlns:a="http://schemas.openxmlformats.org/drawingml/2006/main" w="0">
            <a:solidFill>
              <a:srgbClr val="A3B7C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1A21F0-A1FB-4130-A526-B754C951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05100"/>
            <a:ext cx="3143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DDF7E7"/>
          </a:solidFill>
          <a:ln xmlns:a="http://schemas.openxmlformats.org/drawingml/2006/main" w="19050">
            <a:solidFill>
              <a:srgbClr val="168342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putaran =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6768BD-762A-497D-AFEB-F98EAEF8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371850"/>
            <a:ext cx="3619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B7CB"/>
          </a:solidFill>
          <a:ln xmlns:a="http://schemas.openxmlformats.org/drawingml/2006/main" w="0">
            <a:solidFill>
              <a:srgbClr val="A3B7C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E25B78-3497-4087-90BE-FA5CFFB8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95700"/>
            <a:ext cx="3143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DDF7E7"/>
          </a:solidFill>
          <a:ln xmlns:a="http://schemas.openxmlformats.org/drawingml/2006/main" w="19050">
            <a:solidFill>
              <a:srgbClr val="168342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putaran =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8F7047-52C5-4D88-ABA7-45A700DC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362450"/>
            <a:ext cx="3619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B7CB"/>
          </a:solidFill>
          <a:ln xmlns:a="http://schemas.openxmlformats.org/drawingml/2006/main" w="0">
            <a:solidFill>
              <a:srgbClr val="A3B7C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E10304-2E47-4A18-BC6D-7F9E8237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686300"/>
            <a:ext cx="3143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BE1E1"/>
          </a:solidFill>
          <a:ln xmlns:a="http://schemas.openxmlformats.org/drawingml/2006/main" w="19050">
            <a:solidFill>
              <a:srgbClr val="B91C1C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putaran = 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5AFE58-DA32-40FB-99DA-3EC7BF4B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0607A"/>
                </a:solidFill>
                <a:latin typeface="SF Pro Text"/>
                <a:ea typeface="SF Pro Text"/>
                <a:cs typeface="SF Pro Text"/>
              </a:defRPr>
            </a:pPr>
            <a:r>
              <a:rPr sz="1725">
                <a:solidFill>
                  <a:srgbClr val="50607A"/>
                </a:solidFill>
                <a:latin typeface="SF Pro Text"/>
                <a:ea typeface="SF Pro Text"/>
                <a:cs typeface="SF Pro Text"/>
              </a:rPr>
              <a:t>Saat nilai menjadi 4, kondisi `putaran &lt;= 3` bernilai False.</a:t>
            </a:r>
          </a:p>
        </p:txBody>
      </p:sp>
    </p:spTree>
    <p:extLst>
      <p:ext uri="{BB962C8B-B14F-4D97-AF65-F5344CB8AC3E}">
        <p14:creationId xmlns:p14="http://schemas.microsoft.com/office/powerpoint/2010/main" val="190459049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10338B-5841-4575-9952-9C6000C2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break dan continue mengatur jalannya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1A68AF-CCFC-40F1-9117-5C16E45D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3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418513-A568-4D49-9228-30971DD6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66800"/>
            <a:ext cx="923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0607A"/>
                </a:solidFill>
                <a:latin typeface="SF Pro Text"/>
                <a:ea typeface="SF Pro Text"/>
                <a:cs typeface="SF Pro Text"/>
              </a:defRPr>
            </a:pPr>
            <a:r>
              <a:rPr sz="1500">
                <a:solidFill>
                  <a:srgbClr val="50607A"/>
                </a:solidFill>
                <a:latin typeface="SF Pro Text"/>
                <a:ea typeface="SF Pro Text"/>
                <a:cs typeface="SF Pro Text"/>
              </a:rPr>
              <a:t>Keduanya bekerja di dalam blok perulangan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A48C5F-9D2B-41AF-9095-BD7A569C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24050"/>
            <a:ext cx="23812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BE1E1"/>
          </a:solidFill>
          <a:ln xmlns:a="http://schemas.openxmlformats.org/drawingml/2006/main" w="19050">
            <a:solidFill>
              <a:srgbClr val="B91C1C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break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27E6E-4F44-4C96-994A-D7856382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67050"/>
            <a:ext cx="2686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101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0607A"/>
                </a:solidFill>
                <a:latin typeface="SF Pro Text"/>
                <a:ea typeface="SF Pro Text"/>
                <a:cs typeface="SF Pro Text"/>
              </a:defRPr>
            </a:pPr>
            <a:r>
              <a:rPr sz="1725">
                <a:solidFill>
                  <a:srgbClr val="50607A"/>
                </a:solidFill>
                <a:latin typeface="SF Pro Text"/>
                <a:ea typeface="SF Pro Text"/>
                <a:cs typeface="SF Pro Text"/>
              </a:rPr>
              <a:t>Menghentikan loop sepenuhnya saat tujuan sudah tercapai.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A2FC85-250C-4D59-A99C-610428B9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24350"/>
            <a:ext cx="32385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111A2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61C0B5-2A57-4D1D-B065-90A4F128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148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A607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F987BE-5709-49B7-A06A-96C4C6C4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148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34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C6E8DF-DAFA-48E3-AB00-CDE26A3F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148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D78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0EF844-5906-414B-A8FE-0E289173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1490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254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75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if item == "stiker langka":</a:t>
            </a:r>
          </a:p>
          <a:p xmlns:a="http://schemas.openxmlformats.org/drawingml/2006/main">
            <a:pPr>
              <a:defRPr sz="1575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75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break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C5B1F0-5D46-41C5-B443-B629356E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24050"/>
            <a:ext cx="23812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DF7E7"/>
          </a:solidFill>
          <a:ln xmlns:a="http://schemas.openxmlformats.org/drawingml/2006/main" w="19050">
            <a:solidFill>
              <a:srgbClr val="168342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165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continue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C5069F-34C8-4ADA-90A8-A00A419A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67050"/>
            <a:ext cx="2686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101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0607A"/>
                </a:solidFill>
                <a:latin typeface="SF Pro Text"/>
                <a:ea typeface="SF Pro Text"/>
                <a:cs typeface="SF Pro Text"/>
              </a:defRPr>
            </a:pPr>
            <a:r>
              <a:rPr sz="1725">
                <a:solidFill>
                  <a:srgbClr val="50607A"/>
                </a:solidFill>
                <a:latin typeface="SF Pro Text"/>
                <a:ea typeface="SF Pro Text"/>
                <a:cs typeface="SF Pro Text"/>
              </a:rPr>
              <a:t>Melewati putaran saat ini, lalu lanjut ke item berikutnya.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0B5C19-A800-45A3-BA00-B663B303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24350"/>
            <a:ext cx="32385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111A2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BF7717-C5DE-4B8B-B255-006F84C4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5148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A607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ED3983-498A-4EF2-ACF9-CF8861B2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148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34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732FC5-A5E9-4ADD-9659-6F4B7958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148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D78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4300B8-B410-4C9E-B44F-B44C1AC7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91490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254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75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if item == "duplikat":</a:t>
            </a:r>
          </a:p>
          <a:p xmlns:a="http://schemas.openxmlformats.org/drawingml/2006/main">
            <a:pPr>
              <a:defRPr sz="1575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75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continue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710728-B4FC-4403-82FB-C6D5AC3D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52700"/>
            <a:ext cx="27241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B7CB"/>
          </a:solidFill>
          <a:ln xmlns:a="http://schemas.openxmlformats.org/drawingml/2006/main" w="0">
            <a:solidFill>
              <a:srgbClr val="A3B7CB"/>
            </a:solidFill>
          </a:ln>
        </p:spPr>
      </p:sp>
    </p:spTree>
    <p:extLst>
      <p:ext uri="{BB962C8B-B14F-4D97-AF65-F5344CB8AC3E}">
        <p14:creationId xmlns:p14="http://schemas.microsoft.com/office/powerpoint/2010/main" val="202284466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402298-F534-42EB-B62E-FCB3038F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Infinite loop terjadi saat kondisi tidak berubah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44CC9C-470A-4013-8DC9-A03E0591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3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C7B421-DD41-479D-9B42-607AA7B9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66800"/>
            <a:ext cx="923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0607A"/>
                </a:solidFill>
                <a:latin typeface="SF Pro Text"/>
                <a:ea typeface="SF Pro Text"/>
                <a:cs typeface="SF Pro Text"/>
              </a:defRPr>
            </a:pPr>
            <a:r>
              <a:rPr sz="1500">
                <a:solidFill>
                  <a:srgbClr val="50607A"/>
                </a:solidFill>
                <a:latin typeface="SF Pro Text"/>
                <a:ea typeface="SF Pro Text"/>
                <a:cs typeface="SF Pro Text"/>
              </a:rPr>
              <a:t>while terus berjalan karena kondisi tetap True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F105F6-F48F-4C28-95A1-37A6D47D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571500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111A2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43B05-3BB8-4F07-B6F6-9148AC36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05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A607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09D67C-6CCE-4C09-82CD-37368008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05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34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4DD97B-4CCC-4573-9710-AEB31C4F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05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8D78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79849A-89C9-4802-BD3D-F52DFB83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51816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75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nyawa =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75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while nyawa &gt; 0:</a:t>
            </a:r>
          </a:p>
          <a:p xmlns:a="http://schemas.openxmlformats.org/drawingml/2006/main">
            <a:pPr>
              <a:defRPr sz="1575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75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print("Game berjalan")</a:t>
            </a:r>
          </a:p>
          <a:p xmlns:a="http://schemas.openxmlformats.org/drawingml/2006/main">
            <a:pPr>
              <a:defRPr sz="1575">
                <a:solidFill>
                  <a:srgbClr val="FFFFFF"/>
                </a:solidFill>
                <a:latin typeface="SF Mono"/>
                <a:ea typeface="SF Mono"/>
                <a:cs typeface="SF Mono"/>
              </a:defRPr>
            </a:pPr>
            <a:r>
              <a:rPr sz="1575">
                <a:solidFill>
                  <a:srgbClr val="FFFFFF"/>
                </a:solidFill>
                <a:latin typeface="SF Mono"/>
                <a:ea typeface="SF Mono"/>
                <a:cs typeface="SF Mono"/>
              </a:rPr>
              <a:t>    # nyawa tidak pernah dikurangi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D47F3C-DE35-4B8E-BDBA-53D557E9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809750"/>
            <a:ext cx="337185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FBE1E1"/>
          </a:solidFill>
          <a:ln xmlns:a="http://schemas.openxmlformats.org/drawingml/2006/main" w="19050">
            <a:solidFill>
              <a:srgbClr val="B91C1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CF4F06-97A5-4E27-B11A-6728167E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43125"/>
            <a:ext cx="25336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6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1C1C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75" b="1">
                <a:solidFill>
                  <a:srgbClr val="B91C1C"/>
                </a:solidFill>
                <a:latin typeface="SF Pro Display"/>
                <a:ea typeface="SF Pro Display"/>
                <a:cs typeface="SF Pro Display"/>
              </a:rPr>
              <a:t>nyawa tetap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1">
                <a:solidFill>
                  <a:srgbClr val="B91C1C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75" b="1">
                <a:solidFill>
                  <a:srgbClr val="B91C1C"/>
                </a:solidFill>
                <a:latin typeface="SF Pro Display"/>
                <a:ea typeface="SF Pro Display"/>
                <a:cs typeface="SF Pro Display"/>
              </a:rPr>
              <a:t>kondisi tetap True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1">
                <a:solidFill>
                  <a:srgbClr val="B91C1C"/>
                </a:solidFill>
                <a:latin typeface="SF Pro Display"/>
                <a:ea typeface="SF Pro Display"/>
                <a:cs typeface="SF Pro Display"/>
              </a:defRPr>
            </a:pPr>
            <a:r>
              <a:rPr sz="1875" b="1">
                <a:solidFill>
                  <a:srgbClr val="B91C1C"/>
                </a:solidFill>
                <a:latin typeface="SF Pro Display"/>
                <a:ea typeface="SF Pro Display"/>
                <a:cs typeface="SF Pro Display"/>
              </a:rPr>
              <a:t>loop tidak selesai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732925-2A16-4DF9-8A3F-4860C5B7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9906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5C7"/>
          </a:solidFill>
          <a:ln xmlns:a="http://schemas.openxmlformats.org/drawingml/2006/main" w="14288">
            <a:solidFill>
              <a:srgbClr val="E6BC1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279DBE-CFEC-42B0-A35D-8F65647E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05425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11A30"/>
                </a:solidFill>
                <a:latin typeface="SF Pro Text"/>
                <a:ea typeface="SF Pro Text"/>
                <a:cs typeface="SF Pro Text"/>
              </a:defRPr>
            </a:pPr>
            <a:r>
              <a:rPr sz="1650">
                <a:solidFill>
                  <a:srgbClr val="111A30"/>
                </a:solidFill>
                <a:latin typeface="SF Pro Text"/>
                <a:ea typeface="SF Pro Text"/>
                <a:cs typeface="SF Pro Text"/>
              </a:rPr>
              <a:t>Periksa apakah nilai dalam kondisi `while` benar-benar berubah.</a:t>
            </a:r>
          </a:p>
        </p:txBody>
      </p:sp>
    </p:spTree>
    <p:extLst>
      <p:ext uri="{BB962C8B-B14F-4D97-AF65-F5344CB8AC3E}">
        <p14:creationId xmlns:p14="http://schemas.microsoft.com/office/powerpoint/2010/main" val="67442080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234988-19CD-40C2-90B1-891BDE30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defRPr>
            </a:pPr>
            <a:r>
              <a:rPr sz="3000" b="1">
                <a:solidFill>
                  <a:srgbClr val="111A30"/>
                </a:solidFill>
                <a:latin typeface="SF Pro Display"/>
                <a:ea typeface="SF Pro Display"/>
                <a:cs typeface="SF Pro Display"/>
              </a:rPr>
              <a:t>for atau while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E26229-3B97-4BAD-9DC3-8A2FFA5B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64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33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553A33-3042-4BFF-8DB5-3F4DD751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66800"/>
            <a:ext cx="923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0607A"/>
                </a:solidFill>
                <a:latin typeface="SF Pro Text"/>
                <a:ea typeface="SF Pro Text"/>
                <a:cs typeface="SF Pro Text"/>
              </a:defRPr>
            </a:pPr>
            <a:r>
              <a:rPr sz="1500">
                <a:solidFill>
                  <a:srgbClr val="50607A"/>
                </a:solidFill>
                <a:latin typeface="SF Pro Text"/>
                <a:ea typeface="SF Pro Text"/>
                <a:cs typeface="SF Pro Text"/>
              </a:rPr>
              <a:t>Pilih struktur yang paling sesuai dengan situasi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785813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F Pro Display"/>
                          <a:ea typeface="SF Pro Display"/>
                          <a:cs typeface="SF Pro Display"/>
                        </a:rPr>
                        <a:t>Situasi</a:t>
                      </a:r>
                    </a:p>
                  </a:txBody>
                  <a:tcPr marL="152400" marR="152400" marT="114300" marB="114300"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F Pro Display"/>
                          <a:ea typeface="SF Pro Display"/>
                          <a:cs typeface="SF Pro Display"/>
                        </a:rPr>
                        <a:t>Pilihan</a:t>
                      </a:r>
                    </a:p>
                  </a:txBody>
                  <a:tcPr marL="152400" marR="152400" marT="114300" marB="114300">
                    <a:solidFill>
                      <a:srgbClr val="111A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F Pro Display"/>
                          <a:ea typeface="SF Pro Display"/>
                          <a:cs typeface="SF Pro Display"/>
                        </a:rPr>
                        <a:t>Alasan</a:t>
                      </a:r>
                    </a:p>
                  </a:txBody>
                  <a:tcPr marL="152400" marR="152400" marT="114300" marB="114300">
                    <a:solidFill>
                      <a:srgbClr val="111A30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Membaca semua nama siswa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for</a:t>
                      </a:r>
                    </a:p>
                  </a:txBody>
                  <a:tcPr marL="152400" marR="152400" marT="114300" marB="114300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Daftar item sudah tersedia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Menampilkan nomor 1 sampai 10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for + range()</a:t>
                      </a:r>
                    </a:p>
                  </a:txBody>
                  <a:tcPr marL="152400" marR="152400" marT="114300" marB="114300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Jumlah putaran sudah jelas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Bermain selama nyawa masih ada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while</a:t>
                      </a:r>
                    </a:p>
                  </a:txBody>
                  <a:tcPr marL="152400" marR="152400" marT="114300" marB="114300">
                    <a:solidFill>
                      <a:srgbClr val="FFF5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A30"/>
                          </a:solidFill>
                          <a:latin typeface="SF Pro Text"/>
                          <a:ea typeface="SF Pro Text"/>
                          <a:cs typeface="SF Pro Text"/>
                        </a:rPr>
                        <a:t>Loop bergantung pada kondisi</a:t>
                      </a:r>
                    </a:p>
                  </a:txBody>
                  <a:tcPr marL="152400" marR="152400" marT="114300" marB="1143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8411A6-39F8-4556-80DE-47D5B364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6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06B9D"/>
                </a:solidFill>
                <a:latin typeface="SF Pro Text"/>
                <a:ea typeface="SF Pro Text"/>
                <a:cs typeface="SF Pro Text"/>
              </a:defRPr>
            </a:pPr>
            <a:r>
              <a:rPr sz="1725" b="1">
                <a:solidFill>
                  <a:srgbClr val="306B9D"/>
                </a:solidFill>
                <a:latin typeface="SF Pro Text"/>
                <a:ea typeface="SF Pro Text"/>
                <a:cs typeface="SF Pro Text"/>
              </a:rPr>
              <a:t>Aturan singkat: gunakan `for` untuk urutan yang diketahui, gunakan `while` untuk kondisi yang berubah.</a:t>
            </a:r>
          </a:p>
        </p:txBody>
      </p:sp>
    </p:spTree>
    <p:extLst>
      <p:ext uri="{BB962C8B-B14F-4D97-AF65-F5344CB8AC3E}">
        <p14:creationId xmlns:p14="http://schemas.microsoft.com/office/powerpoint/2010/main" val="14929720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2026-09-04T02:58:27.2990000Z</dcterms:created>
  <dcterms:modified xsi:type="dcterms:W3CDTF">2026-09-04T02:58:27.2990000Z</dcterms:modified>
</coreProperties>
</file>