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6f4a9eb80947b3" /><Relationship Type="http://schemas.openxmlformats.org/officeDocument/2006/relationships/extended-properties" Target="/docProps/app.xml" Id="Rd8bf74d4936048a6" /><Relationship Type="http://schemas.openxmlformats.org/officeDocument/2006/relationships/officeDocument" Target="/ppt/presentation.xml" Id="Rfc637e2a3e144a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3631ed972a45ef"/>
  </p:sldMasterIdLst>
  <p:notesMasterIdLst>
    <p:notesMasterId xmlns:r="http://schemas.openxmlformats.org/officeDocument/2006/relationships" r:id="R23997ae0ec394e41"/>
  </p:notesMasterIdLst>
  <p:sldIdLst>
    <p:sldId xmlns:r="http://schemas.openxmlformats.org/officeDocument/2006/relationships" id="256" r:id="Ree8b467089d9479e"/>
    <p:sldId xmlns:r="http://schemas.openxmlformats.org/officeDocument/2006/relationships" id="257" r:id="R9bd9323d773b4c97"/>
    <p:sldId xmlns:r="http://schemas.openxmlformats.org/officeDocument/2006/relationships" id="258" r:id="R7e724959c4174a76"/>
    <p:sldId xmlns:r="http://schemas.openxmlformats.org/officeDocument/2006/relationships" id="259" r:id="Rddc2590f905f4ca0"/>
    <p:sldId xmlns:r="http://schemas.openxmlformats.org/officeDocument/2006/relationships" id="260" r:id="Rc8d1e895e53d4a48"/>
    <p:sldId xmlns:r="http://schemas.openxmlformats.org/officeDocument/2006/relationships" id="261" r:id="R0328a0a3c9bc46fb"/>
    <p:sldId xmlns:r="http://schemas.openxmlformats.org/officeDocument/2006/relationships" id="262" r:id="R81cf987e04004a31"/>
    <p:sldId xmlns:r="http://schemas.openxmlformats.org/officeDocument/2006/relationships" id="263" r:id="R1209dfbc846e4e79"/>
    <p:sldId xmlns:r="http://schemas.openxmlformats.org/officeDocument/2006/relationships" id="264" r:id="Rf53b0cab370e4592"/>
    <p:sldId xmlns:r="http://schemas.openxmlformats.org/officeDocument/2006/relationships" id="265" r:id="R912e6b04645f4be4"/>
    <p:sldId xmlns:r="http://schemas.openxmlformats.org/officeDocument/2006/relationships" id="266" r:id="Rd1900cd5ebe2422f"/>
    <p:sldId xmlns:r="http://schemas.openxmlformats.org/officeDocument/2006/relationships" id="267" r:id="Rcc5be0f1009a4bde"/>
    <p:sldId xmlns:r="http://schemas.openxmlformats.org/officeDocument/2006/relationships" id="268" r:id="R6f507c84b2e34422"/>
    <p:sldId xmlns:r="http://schemas.openxmlformats.org/officeDocument/2006/relationships" id="269" r:id="R269afe12ed944833"/>
    <p:sldId xmlns:r="http://schemas.openxmlformats.org/officeDocument/2006/relationships" id="270" r:id="Rdcca83dca1e94fe4"/>
    <p:sldId xmlns:r="http://schemas.openxmlformats.org/officeDocument/2006/relationships" id="271" r:id="R7d98c6933b64436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060f55b1e642ca" /><Relationship Type="http://schemas.openxmlformats.org/officeDocument/2006/relationships/slideMaster" Target="/ppt/slideMasters/slideMaster1.xml" Id="Ra73631ed972a45ef" /><Relationship Type="http://schemas.openxmlformats.org/officeDocument/2006/relationships/notesMaster" Target="/ppt/notesMasters/notesMaster1.xml" Id="R23997ae0ec394e41" /><Relationship Type="http://schemas.openxmlformats.org/officeDocument/2006/relationships/presProps" Target="/ppt/presProps.xml" Id="R3dddc27b37f94653" /><Relationship Type="http://schemas.openxmlformats.org/officeDocument/2006/relationships/tableStyles" Target="/ppt/tableStyles.xml" Id="R79b9138256f444d3" /><Relationship Type="http://schemas.openxmlformats.org/officeDocument/2006/relationships/slide" Target="/ppt/slides/slide1.xml" Id="Ree8b467089d9479e" /><Relationship Type="http://schemas.openxmlformats.org/officeDocument/2006/relationships/slide" Target="/ppt/slides/slide2.xml" Id="R9bd9323d773b4c97" /><Relationship Type="http://schemas.openxmlformats.org/officeDocument/2006/relationships/slide" Target="/ppt/slides/slide3.xml" Id="R7e724959c4174a76" /><Relationship Type="http://schemas.openxmlformats.org/officeDocument/2006/relationships/slide" Target="/ppt/slides/slide4.xml" Id="Rddc2590f905f4ca0" /><Relationship Type="http://schemas.openxmlformats.org/officeDocument/2006/relationships/slide" Target="/ppt/slides/slide5.xml" Id="Rc8d1e895e53d4a48" /><Relationship Type="http://schemas.openxmlformats.org/officeDocument/2006/relationships/slide" Target="/ppt/slides/slide6.xml" Id="R0328a0a3c9bc46fb" /><Relationship Type="http://schemas.openxmlformats.org/officeDocument/2006/relationships/slide" Target="/ppt/slides/slide7.xml" Id="R81cf987e04004a31" /><Relationship Type="http://schemas.openxmlformats.org/officeDocument/2006/relationships/slide" Target="/ppt/slides/slide8.xml" Id="R1209dfbc846e4e79" /><Relationship Type="http://schemas.openxmlformats.org/officeDocument/2006/relationships/slide" Target="/ppt/slides/slide9.xml" Id="Rf53b0cab370e4592" /><Relationship Type="http://schemas.openxmlformats.org/officeDocument/2006/relationships/slide" Target="/ppt/slides/slide10.xml" Id="R912e6b04645f4be4" /><Relationship Type="http://schemas.openxmlformats.org/officeDocument/2006/relationships/slide" Target="/ppt/slides/slide11.xml" Id="Rd1900cd5ebe2422f" /><Relationship Type="http://schemas.openxmlformats.org/officeDocument/2006/relationships/slide" Target="/ppt/slides/slide12.xml" Id="Rcc5be0f1009a4bde" /><Relationship Type="http://schemas.openxmlformats.org/officeDocument/2006/relationships/slide" Target="/ppt/slides/slide13.xml" Id="R6f507c84b2e34422" /><Relationship Type="http://schemas.openxmlformats.org/officeDocument/2006/relationships/slide" Target="/ppt/slides/slide14.xml" Id="R269afe12ed944833" /><Relationship Type="http://schemas.openxmlformats.org/officeDocument/2006/relationships/slide" Target="/ppt/slides/slide15.xml" Id="Rdcca83dca1e94fe4" /><Relationship Type="http://schemas.openxmlformats.org/officeDocument/2006/relationships/slide" Target="/ppt/slides/slide16.xml" Id="R7d98c6933b6443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af43c836004d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eebf45acb4c9f" /><Relationship Type="http://schemas.openxmlformats.org/officeDocument/2006/relationships/notesMaster" Target="/ppt/notesMasters/notesMaster1.xml" Id="R09f72050d43749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0593cb103484893" /><Relationship Type="http://schemas.openxmlformats.org/officeDocument/2006/relationships/notesMaster" Target="/ppt/notesMasters/notesMaster1.xml" Id="Rcf50000f745f48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b2210a65d8427e" /><Relationship Type="http://schemas.openxmlformats.org/officeDocument/2006/relationships/notesMaster" Target="/ppt/notesMasters/notesMaster1.xml" Id="Ra8dbfcb0f58d4d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96b653132e143b4" /><Relationship Type="http://schemas.openxmlformats.org/officeDocument/2006/relationships/notesMaster" Target="/ppt/notesMasters/notesMaster1.xml" Id="R878ef842450d476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918f0ee2f747a4" /><Relationship Type="http://schemas.openxmlformats.org/officeDocument/2006/relationships/notesMaster" Target="/ppt/notesMasters/notesMaster1.xml" Id="Rab0b88ccf7e743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cc90d3a9804e1e" /><Relationship Type="http://schemas.openxmlformats.org/officeDocument/2006/relationships/notesMaster" Target="/ppt/notesMasters/notesMaster1.xml" Id="R8546090dc3eb47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9f50e80fed34ff6" /><Relationship Type="http://schemas.openxmlformats.org/officeDocument/2006/relationships/notesMaster" Target="/ppt/notesMasters/notesMaster1.xml" Id="Rf169f32929544cf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861c30789ae401d" /><Relationship Type="http://schemas.openxmlformats.org/officeDocument/2006/relationships/notesMaster" Target="/ppt/notesMasters/notesMaster1.xml" Id="Rbfa908f089be414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6ad2f4fc4cf4454" /><Relationship Type="http://schemas.openxmlformats.org/officeDocument/2006/relationships/notesMaster" Target="/ppt/notesMasters/notesMaster1.xml" Id="Redd2b800c6554fb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76ab023d164189" /><Relationship Type="http://schemas.openxmlformats.org/officeDocument/2006/relationships/notesMaster" Target="/ppt/notesMasters/notesMaster1.xml" Id="R80e29511eaf640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80e4dac9164590" /><Relationship Type="http://schemas.openxmlformats.org/officeDocument/2006/relationships/notesMaster" Target="/ppt/notesMasters/notesMaster1.xml" Id="R0235dda0f46445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31dae642d94113" /><Relationship Type="http://schemas.openxmlformats.org/officeDocument/2006/relationships/notesMaster" Target="/ppt/notesMasters/notesMaster1.xml" Id="Rc802fcaa0e584db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274975fcd0b4826" /><Relationship Type="http://schemas.openxmlformats.org/officeDocument/2006/relationships/notesMaster" Target="/ppt/notesMasters/notesMaster1.xml" Id="R6441a270be8746c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917245ef75d49c4" /><Relationship Type="http://schemas.openxmlformats.org/officeDocument/2006/relationships/notesMaster" Target="/ppt/notesMasters/notesMaster1.xml" Id="Rd4ec6656e94d4a3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755fc2f5e0f470d" /><Relationship Type="http://schemas.openxmlformats.org/officeDocument/2006/relationships/notesMaster" Target="/ppt/notesMasters/notesMaster1.xml" Id="R9d41d42a00084fa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61bd341bf4b4af2" /><Relationship Type="http://schemas.openxmlformats.org/officeDocument/2006/relationships/notesMaster" Target="/ppt/notesMasters/notesMaster1.xml" Id="R5159a805dbc64f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menghubungkan materi sebelumnya. Siswa sudah memakai list, loop, dan function. Sesi ini memperluas bentuk data lalu menunjukkan bagaimana NumPy membantu perhitungan numerik.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Data Structures, https://docs.python.org/3/tutorial/datastructures.html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sebagai peta sesi. Tekankan urutannya. Kita mulai dengan struktur yang sudah dikenal, kemudian memperkenalkan struktur data baru sebelum NumPy.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for_while_loop.ipynb, conditional_statement.ipynb, function_statistic.ipynb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memprediksi hasil tiga print sebelum menjalankan code. Bedakan posisi pertama yang dimulai dari 0 dengan posisi terakhir yang dapat diakses menggunakan -1.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More on Lists, https://docs.python.org/3/tutorial/datastructures.html#more-on-lists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Hubungkan kembali dengan function statistik sebelumnya. Sebelum memakai library, siswa perlu memahami bahwa mean dapat dibangun dari total dibagi jumlah 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Built-in Functions, https://docs.python.org/3/library/functions.html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Tulis dua index secara terpisah ketika menjelaskan. `nilai[0]` mengambil baris pertama. `nilai[0][1]` mengambil item kedua dari baris tersebut.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Lists, https://docs.python.org/3/tutorial/introduction.html#lists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membaca variable `siswa` pada setiap putaran. Nilainya berubah dari list pertama ke list kedua, lalu ke list ketiga. Perhitungan masih menggunakan operasi yang sudah dikenal.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Statements,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Bandingkan list dan dictionary. List menekankan posisi. Dictionary menekankan nama key. Tunjukkan bahwa value `nilai` masih dapat berupa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Dictionaries, https://docs.python.org/3/tutorial/datastructures.html#dictionaries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loop dan minta siswa melihat pasangan yang dicetak. Pada bagian berikutnya, pola ini akan dipakai untuk membaca setiap dictionary di dalam list.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Looping Techniques, https://docs.python.org/3/tutorial/datastructures.html#looping-techniques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Berikan waktu untuk menulis solusi. Periksa apakah siswa membedakan `nilai[0]` dan `nilai[0][1]`. Minta beberapa siswa menjelaskan mengapa `sum(siswa) / len(siswa)` dapat dipakai pada setiap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function_statistic.ipynb dan for_while_loop.ipynb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analogi tabel dengan hati-hati. List of dictionary belum menjadi DataFrame, tetapi bentuknya mulai menyerupai dataset dengan kolom dan baris.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Dictionaries, https://docs.python.org/3/tutorial/datastructures.html#dictionaries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kode secara perlahan. Tanyakan kapan variable `tertinggi` berubah. Tekankan bahwa yang disimpan adalah dictionary lengkap, bukan hanya nilai angkanya.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for Statements, https://docs.python.org/3/tutorial/controlflow.html#for-statements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Tunjukkan dua code block secara berurutan. Siswa perlu melihat bahwa `np.mean(data)` menggantikan proses manual yang baru saja mereka tulis.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Quickstart, https://numpy.org/doc/stable/user/quickstart.html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Sebutkan bahwa `np.std` pada contoh ini memakai standar deviasi populasi default NumPy. Untuk pengantar, fokuskan siswa pada makna hasil dan perbandingan dengan proses manual.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Minta siswa menyelesaikan proses manual terlebih dahulu, lalu mengulang dengan NumPy. Diskusi terakhir cukup satu kalimat per siswa tentang besar kecilnya standar deviasi.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slide ini untuk mengulang jalur pembelajaran. Tanyakan bentuk data apa yang dipakai pada setiap bagian dan mengapa bentuk tersebut sesuai.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Materi rujukan pengguna: function_statistic.ipynb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pertanyaan ini sebagai penutup lisan atau tulisan. Minta siswa menjawab dengan kata-kata sendiri sebelum membuka notebook untuk melihat kembali code.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Python documentation, Data Structures, https://docs.python.org/3/tutorial/datastructures.html</a:t>
            </a:r>
          </a:p>
          <a:p xmlns:a="http://schemas.openxmlformats.org/drawingml/2006/main">
            <a:r>
              <a:t>- NumPy documentation, Statistics, https://numpy.org/doc/stable/reference/routines.statistics.html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2c70fda12d4e8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5170bd54384545" /><Relationship Type="http://schemas.openxmlformats.org/officeDocument/2006/relationships/slideLayout" Target="/ppt/slideLayouts/slideLayout1.xml" Id="R4db0d14fd1624d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db0d14fd1624d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623034ee94089" /><Relationship Type="http://schemas.openxmlformats.org/officeDocument/2006/relationships/image" Target="/ppt/media/image.png" Id="R3cc1c0068cef4f7e" /><Relationship Type="http://schemas.openxmlformats.org/officeDocument/2006/relationships/notesSlide" Target="/ppt/notesSlides/notesSlide1.xml" Id="R3efdfc29c7f14e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df16d699eb4ab8" /><Relationship Type="http://schemas.openxmlformats.org/officeDocument/2006/relationships/notesSlide" Target="/ppt/notesSlides/notesSlide2.xml" Id="R0496752e538e415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ec9f6340a46a3" /><Relationship Type="http://schemas.openxmlformats.org/officeDocument/2006/relationships/notesSlide" Target="/ppt/notesSlides/notesSlide3.xml" Id="Ra6765e95afab46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136206c9b4e1d" /><Relationship Type="http://schemas.openxmlformats.org/officeDocument/2006/relationships/notesSlide" Target="/ppt/notesSlides/notesSlide4.xml" Id="R07b0ccc8070a4f8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f806eae11d442d" /><Relationship Type="http://schemas.openxmlformats.org/officeDocument/2006/relationships/notesSlide" Target="/ppt/notesSlides/notesSlide5.xml" Id="R444f6bfcdf43418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b99172580645c6" /><Relationship Type="http://schemas.openxmlformats.org/officeDocument/2006/relationships/notesSlide" Target="/ppt/notesSlides/notesSlide6.xml" Id="R3b365796eb84400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fb83f8823548bf" /><Relationship Type="http://schemas.openxmlformats.org/officeDocument/2006/relationships/notesSlide" Target="/ppt/notesSlides/notesSlide7.xml" Id="R93b3d60404634af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a8521c3ac469f" /><Relationship Type="http://schemas.openxmlformats.org/officeDocument/2006/relationships/notesSlide" Target="/ppt/notesSlides/notesSlide8.xml" Id="R5dc86c6e9650459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41881bb4ee4d9f" /><Relationship Type="http://schemas.openxmlformats.org/officeDocument/2006/relationships/notesSlide" Target="/ppt/notesSlides/notesSlide9.xml" Id="Rb9f9afdb1e8547e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0fbcdad5784bdc" /><Relationship Type="http://schemas.openxmlformats.org/officeDocument/2006/relationships/notesSlide" Target="/ppt/notesSlides/notesSlide10.xml" Id="R3361c5b6492944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018c753cd44d8b" /><Relationship Type="http://schemas.openxmlformats.org/officeDocument/2006/relationships/notesSlide" Target="/ppt/notesSlides/notesSlide11.xml" Id="Rb47582937bb74c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df9765c7fb4586" /><Relationship Type="http://schemas.openxmlformats.org/officeDocument/2006/relationships/notesSlide" Target="/ppt/notesSlides/notesSlide12.xml" Id="Rf5d43b55f5e94b5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92bd33fc454f94" /><Relationship Type="http://schemas.openxmlformats.org/officeDocument/2006/relationships/notesSlide" Target="/ppt/notesSlides/notesSlide13.xml" Id="R5861b1f0710444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91ebd6fb644209" /><Relationship Type="http://schemas.openxmlformats.org/officeDocument/2006/relationships/notesSlide" Target="/ppt/notesSlides/notesSlide14.xml" Id="R772e74f9d8a847f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bc36a689343bc" /><Relationship Type="http://schemas.openxmlformats.org/officeDocument/2006/relationships/notesSlide" Target="/ppt/notesSlides/notesSlide15.xml" Id="R90a74fd2ee4845e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d1d5322e14a44" /><Relationship Type="http://schemas.openxmlformats.org/officeDocument/2006/relationships/notesSlide" Target="/ppt/notesSlides/notesSlide16.xml" Id="R851a771f6feb47e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c1c0068cef4f7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5BF981-74D9-45FD-9218-88BC3799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LEVEL 1  •  PERTEMUAN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CE2A8-89D2-4EDD-8EB0-8D4404FE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4953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List, Dictionary,</a:t>
            </a:r>
          </a:p>
          <a:p xmlns:a="http://schemas.openxmlformats.org/drawingml/2006/main">
            <a:pPr>
              <a:defRPr sz="31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31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dan NumPy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8FD76-CB16-4737-81B3-B37C610B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476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Dari data sederhana menuju dataset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E693FD-1C2F-4A4E-AF7A-9789A32DB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162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527E88-5832-478C-AFF8-E3807F2DC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 · nested list · dictionary · NumPy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8ADAD-EF45-48B6-9490-9F25FFB9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000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3B7480-F73C-4128-97A8-B8E26B18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Membaca, menyusun, dan menghitung 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9F78A-8CAF-4DD6-BA7E-137E4685E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E3CC54-D734-47A8-B2B2-C565CDC62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</p:spTree>
    <p:extLst>
      <p:ext uri="{BB962C8B-B14F-4D97-AF65-F5344CB8AC3E}">
        <p14:creationId xmlns:p14="http://schemas.microsoft.com/office/powerpoint/2010/main" val="7679218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E50A54-AB68-410D-910D-FABDBDFE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TARGET BELAJAR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DC2D6-7235-41C3-829F-406E4876E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berubah bentuk saat kita mengolahnya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0A771C-932A-49DC-946F-BEF1422E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1EA377-4031-439F-B1DC-2CEFC9DEE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Mulai dari list, lalu susun menjadi dataset dan array numerik.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0F013-845F-49A4-9E62-132414B2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B68F4D-6E95-4999-88FB-4A8DC4FA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19A09A-F65B-421F-B56D-8830FCE8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3EEB5-1067-4822-86EB-E127898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859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EF6BB8-29C6-4337-A5AC-F4C8236D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097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50DE2-B4CA-4361-9BE6-5460B0DF7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66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Indexing, slicing, method, dan function bawaan.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87CBC-B9A2-4879-AF69-A0E01D74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193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B44979-41A7-4B8D-A175-218131B9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0859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12B9E8-26D7-4D5D-8D76-FF007189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097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F3A26-1A38-4EC4-A226-B77B497F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2669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Membaca data berbentuk baris dan kolom.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35BF53-8FC2-43B4-9E83-FA516D5E3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00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181FA1-3638-4D8A-82F9-76A246A3F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0178A9-08A1-4277-9E77-797397D4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D3E684-8EE4-4710-8E24-A124DAFA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48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Menghubungkan key dengan value.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52E0FC-E6CE-4BA5-A0D4-CCA4851B2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004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CD9A5-596C-4A21-9CFA-46CF60321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2670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7026B6-0051-45FE-A956-C91A86CDB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190875"/>
            <a:ext cx="4286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Dataset dan NumPy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143B02-BD40-4850-9EC7-3A17473D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4480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Mengolah list of dictionary dan statistik dasar.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38A47C-30B0-4FAC-8942-FADA2C5C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B26693-298C-45AC-B8D9-67D11CEAE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7205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masuk, struktur membantu, perhitungan menghasilkan informasi.</a:t>
            </a:r>
          </a:p>
        </p:txBody>
      </p:sp>
    </p:spTree>
    <p:extLst>
      <p:ext uri="{BB962C8B-B14F-4D97-AF65-F5344CB8AC3E}">
        <p14:creationId xmlns:p14="http://schemas.microsoft.com/office/powerpoint/2010/main" val="12740179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94F656-DF31-41C4-AACC-C2E4A17A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7A878A-DE68-4B10-A57D-D303616E1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menyimpan urutan nilai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0C2B4C-C781-4A9F-A783-1CF67D7F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728E6F-F6D5-42A0-8879-3FA7664B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Indexing mengambil item, slicing mengambil bagian, method mengubah isi list.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CCA4B6-91F2-4D73-AFD6-E00B62207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EAE13A-0681-4C0A-AE9A-6D3889D23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E2BD-5C03-4B49-BF24-5C39CBFB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F68CD-AD7F-4881-8263-6C4E9F94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EFCE50-6E99-4E5C-BAC6-628D44F2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1DBC24-3E65-48F0-BCF8-6F79AE22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0AC62-3492-47F1-B99A-433F3DAD6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70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 = ["biru", "kuning", "hijau", "merah"]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print(warna[0])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print(warna[-1])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print(warna[1:3])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warna.append("ungu")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warna.remove("kuning")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item = warna.pop()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424B2C-AFAE-4F5B-817A-CCDD787A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5DFE8E-6276-4884-B880-4D8B83FE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indexing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0BC2F-2FBF-4126-A8B2-2C56E9F8B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0383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item berdasarkan posisi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9AD4C7-39EE-42FA-AC46-6263DEACD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D7A942-F56D-49D3-9FBC-74CB415C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negative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98BBCB-F3EB-4B99-B165-FDC683F49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62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dari posisi belakang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D46448-5FC6-41C7-BE4C-AD586AC8A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70AAE1-B6E3-4489-BDB4-DB034131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slicing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8B04E5-203D-4E66-8272-D337AC6C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861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mengambil sebagian urutan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1FD519-FE87-4C48-AA72-5435DC86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16573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A217FE-4B7C-4413-918D-9FB184A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method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16853F-84ED-451B-9EF7-5C51C12A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100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menambah atau menghapus item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2BA481-2088-4643-AE94-55BB69C2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34EDD77-24B2-4883-BB54-07BB90C9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`append()` menambah, `remove()` mencari nilai, `pop()` mengambil item.</a:t>
            </a:r>
          </a:p>
        </p:txBody>
      </p:sp>
    </p:spTree>
    <p:extLst>
      <p:ext uri="{BB962C8B-B14F-4D97-AF65-F5344CB8AC3E}">
        <p14:creationId xmlns:p14="http://schemas.microsoft.com/office/powerpoint/2010/main" val="26922494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6658FD-DBD8-4B64-9CD8-6A3875722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REVIEW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C02D9-9964-46F0-8F83-3BF36E6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Function bawaan membantu membaca 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793849-A6CC-4CB4-B014-D11210E2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AF9E0B-615A-446A-AFA8-77C40E44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Beberapa operasi dasar sudah tersedia di Python.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C5459-8311-40E8-9E6F-1863B33C0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732EC-6EB4-4F84-858F-9BFB7723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1E8FE8-4F34-474A-8D45-097540C0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3340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BB7FA0-77B3-47B7-9A92-B3FDB3BC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8F40B7-D671-4698-8B31-2FA5C779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AA8E73-2D75-4D19-9D1E-DBBBE6A7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B655DA-5603-4367-8275-8AA8D90C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87680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[72, 85, 90, 68]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print(len(nilai))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print(min(nilai))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print(max(nilai))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print(sum(nilai))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print(sorted(nilai))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print(sum(nilai) / len(nilai))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3E6553-2CCC-4D2A-8EBB-FA8159749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84D40C-98AB-40BE-8736-0142C218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0764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len()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3FD273-25BA-4573-819B-94CC39D44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0383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menghitung banyak item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220E37-0247-4D49-B784-6BD6CCDE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A67977-48C6-4991-909B-2AD2D9DBD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003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min() / max()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7FB109-8A51-40B2-BEF3-C7130F838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622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mencari nilai ekstrem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DC1FF8-5059-4287-961C-FB130FF5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099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6EB98C-158D-4322-82FA-BBAE7313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sum()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BF26E2-714B-4FF5-A25E-1C90854A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861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menghitung total nilai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A0FB48-F9DC-4216-8CB5-35BBF4B1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133850"/>
            <a:ext cx="1524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273C6B-6A6A-425F-8762-C4F979CCD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24815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sorted()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161CA-483D-4D72-B0A2-73913502C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10050"/>
            <a:ext cx="3086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membuat urutan baru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0B2DB5-D12A-4435-8B47-449ADDD41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01BC90-D080-4FB4-80C9-3F0361105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Rata-rata manual dapat ditulis sebagai `sum(nilai) / len(nilai)`.</a:t>
            </a:r>
          </a:p>
        </p:txBody>
      </p:sp>
    </p:spTree>
    <p:extLst>
      <p:ext uri="{BB962C8B-B14F-4D97-AF65-F5344CB8AC3E}">
        <p14:creationId xmlns:p14="http://schemas.microsoft.com/office/powerpoint/2010/main" val="84374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A978F6-2AD0-4347-A1BD-DAB9C212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F578C-D85F-4BA9-89FB-9DB42F30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 menyimpan data 2 dimensi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2A9D2-A850-40A7-8E16-4951D80B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F7531-388A-4F26-828D-045B12AC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Index pertama memilih baris. Index kedua memilih item di dalam baris.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DA5D8C-C28E-4079-8250-AD6AEA80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DE218-4574-4C6B-8C8B-D52EECA7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A3230A-7889-4DA1-8438-C22E0D82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2271E4-E62B-4BF2-AE31-4E266474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DC0EBC-3089-4575-B7C3-1FB8278F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8C5F36-C43C-4291-BCD5-024C05AE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41D77-6BB6-46B4-A4ED-87CF55BF8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[80, 90, 85],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[70, 75, 80],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[90, 95, 88]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print(nilai[0])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print(nilai[0][1])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D8BDBE-FF4C-4718-804F-720FE71C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akses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758F8-A942-4435-85AB-489E92A5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252DC-2F91-42E0-820B-5BCCDE41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55270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nilai[0]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15B31C-61E1-40D0-B88D-691E3CCA2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41935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BD30E5-3C51-4B26-989E-32C29C49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55270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[80, 90, 85]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E05698-6806-4E1E-9328-C516F744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76600"/>
            <a:ext cx="1809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F5296C-37A0-4FD6-AFDC-FB1D7248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409950"/>
            <a:ext cx="1504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1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nilai[0][1]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464509-318C-4A7E-AA78-6D033BCA9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76600"/>
            <a:ext cx="2571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150397-FCA2-4A38-BA2B-6682E3CD6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09950"/>
            <a:ext cx="2266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90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461325-326D-40E0-BC3B-F8250019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1E4B4F-501A-4F58-A247-72B83786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Satu nested list dapat mewakili tabel sederhana.</a:t>
            </a:r>
          </a:p>
        </p:txBody>
      </p:sp>
    </p:spTree>
    <p:extLst>
      <p:ext uri="{BB962C8B-B14F-4D97-AF65-F5344CB8AC3E}">
        <p14:creationId xmlns:p14="http://schemas.microsoft.com/office/powerpoint/2010/main" val="4721139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718259-2E15-4833-9FC1-2A4478A3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AED9B3-758A-4975-B1DC-1F12170B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membaca setiap baris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1B9CC0-3A03-466F-9D0D-B1104C6A8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AE16BD-BDB7-44FB-9BCF-829C337AE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Setiap putaran dapat menghitung statistik untuk satu siswa.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98E07-9BAF-4E87-90DD-7EABF41C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A850CC-4A92-4859-BF35-AF1F0148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1EA56B-A12F-4DAB-BCD4-FC601EA9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1A89D9-4AEE-4E03-B180-B54D7083D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47DC6-8B40-4A93-B763-25C75C2EB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FE7B1-FBE3-4964-A447-150E5490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A3780-B9BA-48D1-A37E-CF89624CB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siswa in nilai: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rata_rata = sum(siswa) / len(siswa)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print(rata_rata)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31F46-0371-42B7-87C3-5E01D9324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hasil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A83301-B3A2-4D16-BE41-B066F244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DAB8EA-5ED3-43E7-8C6A-ACD1887A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6476DE-747F-4395-B9DD-70C19481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85.0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90B275-EE54-4535-86F4-B13D26A91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526544-0F9F-4B15-9603-39039E5D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D3BA46-BCE2-4FB2-982B-6A8425C4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75.0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BF2980-F3C7-4C54-AD48-D9FD90465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2D4F8-A949-4F4B-86DA-4DBDC7C5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siswa 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2778C6-FA37-4D70-8DE0-08265DE7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91.0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AE8E08-C953-455E-995A-5822BB23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BE00F9-7628-46BD-BC91-2D86DFE7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luar membaca baris. Function list menghitung isi baris.</a:t>
            </a:r>
          </a:p>
        </p:txBody>
      </p:sp>
    </p:spTree>
    <p:extLst>
      <p:ext uri="{BB962C8B-B14F-4D97-AF65-F5344CB8AC3E}">
        <p14:creationId xmlns:p14="http://schemas.microsoft.com/office/powerpoint/2010/main" val="187373565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A9F701-BEEC-4DB9-ABC8-6886F89B8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AA8C3-3390-4C87-A037-C0B5F626C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 menghubungkan key dan value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1722EA-C599-43FB-B820-F476C1D6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64FD30-F4DB-4F3D-8A6D-B767276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key untuk mengambil data yang memiliki arti.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562F1-E3DD-4AEA-9CF8-5AE59DF4F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B7DDB-BA58-4C99-A36B-791E1A606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4A23F4-DEF3-40A4-BF94-549106734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400ECB-1B8D-4213-8300-9700918E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C36766-6889-4710-AAC3-DDA4991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960833-D372-4C1A-81D1-831A38A8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1CC30-1044-4B63-8316-D678314F2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609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siswa = {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"nama": "Alya",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"umur": 16,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"nilai": [80, 90, 85]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}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print(siswa["nama"])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print(siswa["nilai"])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8CE9F2-CF3D-49C0-BCB4-80BA762B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Isi dictionary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F22D79-482B-4CBA-89DF-1BD18288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4193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BD1495-EE97-48A6-8ECD-AF370FC9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5336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"nama"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2CE24A-BA8A-451C-AED7-5E1A75D6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955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Alya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95583D-AC24-48B5-A56E-692E07D3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1432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999F1C-5789-4700-8399-6704CC2AD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575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"umur"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A00991-C328-4A03-A4C7-1BC5C1080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194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B5C01E-4945-4853-8FD2-3BE6811C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867150"/>
            <a:ext cx="1428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F71557-985E-45EF-8365-E220A53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1162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"nilai"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E23C63-4F74-4D8F-9E7D-0C6A7C7CE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81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[80, 90, 85]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12FFE-009F-4062-AFAD-3C2FEB5F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542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CFBE6-4896-4639-AE67-77B7B54E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512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Value dapat berupa angka, teks, atau list.</a:t>
            </a:r>
          </a:p>
        </p:txBody>
      </p:sp>
    </p:spTree>
    <p:extLst>
      <p:ext uri="{BB962C8B-B14F-4D97-AF65-F5344CB8AC3E}">
        <p14:creationId xmlns:p14="http://schemas.microsoft.com/office/powerpoint/2010/main" val="146269856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4A1002-7F8F-40B9-A2A9-E3E5DD7A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B4D1C-ADFE-4E50-AD06-093E5560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`.items()` membaca pasangan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D370E-30D2-4F47-B06F-3D9A2B4F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2D015-1943-4D88-8833-E02BE2A6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Loop dapat membaca key dan value sekaligus.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D371F-4918-4885-9A50-9BFA96E3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EE945-05CD-46CB-9237-031EDECC5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24F6C9-AA8B-4F77-A583-5F003D7D7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3D56C-1FAF-45C7-A672-70D79870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CA33AA-489E-418C-9BDF-E21D5018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C5854E-0A99-4148-9D93-69DD1B55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E88E1-0E14-4E46-98E8-A9A6075C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key, value in siswa.items():</a:t>
            </a:r>
          </a:p>
          <a:p xmlns:a="http://schemas.openxmlformats.org/drawingml/2006/main">
            <a:pPr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print(key, value)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CEE31-444B-4BE0-AF44-77A4BB76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42291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8D7238-3F05-4604-AAA9-DE4F6295F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E91DBA-4FB7-4E03-86EE-923F184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nama  Alya</a:t>
            </a:r>
          </a:p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umur  16</a:t>
            </a:r>
          </a:p>
          <a:p xmlns:a="http://schemas.openxmlformats.org/drawingml/2006/main">
            <a:pPr>
              <a:defRPr sz="1200" b="0">
                <a:solidFill>
                  <a:srgbClr val="111A30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111A30"/>
                </a:solidFill>
                <a:latin typeface="Menlo"/>
                <a:ea typeface="Menlo"/>
                <a:cs typeface="Menlo"/>
              </a:rPr>
              <a:t>nilai  [80, 90, 85]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1146B4-78C4-44C2-90A8-102ED6D3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63DEC1-3D87-4E7B-9535-3C7CDD3B7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`.items()` cocok untuk memeriksa seluruh isi dictionary.</a:t>
            </a:r>
          </a:p>
        </p:txBody>
      </p:sp>
    </p:spTree>
    <p:extLst>
      <p:ext uri="{BB962C8B-B14F-4D97-AF65-F5344CB8AC3E}">
        <p14:creationId xmlns:p14="http://schemas.microsoft.com/office/powerpoint/2010/main" val="3785042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567FD9-4034-4DDC-896F-CC412646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PRACTICE 1  •  10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929933-B0C0-40F9-A66F-C52A26D6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Rekap nested list dan dictionary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5D473B-2BC8-40E8-8433-79E95925F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851C87-5A26-43F7-8CD9-404432EA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index, loop, sum(), dan len().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16EC8-EC34-4FE9-B0F2-FF817223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2DDDFE-F7FA-434B-B6E3-80B5075B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CED52-B230-4FFD-A5A4-AD328DC3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CE1497-B099-4A5A-9FB8-13BD9465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DFA07-3867-44C1-AE0A-6B15693F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44958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3AE38C-D135-4980-9AE4-503FD805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ACEEDC-7C30-4BE1-A20A-8BD833000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E4CF86-0F42-4C34-B4CB-87EAC69C9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BF678A-5BFF-4A34-96B0-58252ED6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48000"/>
            <a:ext cx="4038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nilai = [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[80, 90, 85],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[70, 75, 80],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[90, 95, 88]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A21389-3DB9-47E6-BAB7-80E47D55F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6A31D6-6D9A-4A1B-BF7D-5BD0A6911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Tugas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4ECF1B-0F11-4C5E-AC27-926AE5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  Tampilkan nilai siswa pertama.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2  Tampilkan nilai kedua siswa pertama.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3  Hitung rata-rata setiap siswa.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4  Buat satu dictionary siswa.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67507-1062-481A-B2D4-E7B44DD5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D13B8E-66D4-4FE2-824F-D359552E7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Kerjakan di notebook. Belum perlu memakai NumPy.</a:t>
            </a:r>
          </a:p>
        </p:txBody>
      </p:sp>
    </p:spTree>
    <p:extLst>
      <p:ext uri="{BB962C8B-B14F-4D97-AF65-F5344CB8AC3E}">
        <p14:creationId xmlns:p14="http://schemas.microsoft.com/office/powerpoint/2010/main" val="3977883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151749C-12DC-4288-B0E2-99986B7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LIST OF 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4C0E7-7629-4278-B8EE-58F772C95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of dictionary mulai terasa seperti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A2BCF3-3D38-49BF-B40E-A4CD3B75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3BEEA-C8F2-453B-8316-862FD6851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Satu dictionary dapat mewakili satu baris data.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CDDAB3-4EF2-46A6-B9F2-B63512625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D19FF3-99E6-4827-977D-9766ADD4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165BA-F2AA-4A2B-9711-A60A53E9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9E9E4-E073-4F28-8770-2AB1012F3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811859-CD26-46FC-80ED-40A7638E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DC91B5-8EA2-460A-9C58-F366F4BBE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50D17A-4389-4EB8-BE1A-3C52EF01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448300" cy="19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data_siswa = [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"Alya", "nilai": 85},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"Budi", "nilai": 72},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{"nama": "Citra", "nilai": 91}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]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B06BF-E566-4971-B3B1-67BFA7A4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akses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306C4-5573-4837-8221-F92AB77A7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19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829404-31F9-4260-81E5-0E1036757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33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data_siswa[0]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15169-EFE1-4075-94CD-18BCDA58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4955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Alya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65D4A-76CB-404B-A294-43B93F71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9BB055-B8DE-4A77-BE38-FC67D2FD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2575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data_siswa[2]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3192B-8B5C-420F-97DE-0B486890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2194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Citra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D61A53-CCAE-4C46-B5F7-0C7BCE8E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67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5E47F9-B2C5-4685-B9B2-38C7E9066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81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["nilai"]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B160DB-E783-4379-A539-B21695F8C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2266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91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FA7DB-F541-4863-A504-72658FAC7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4E5F0-7AC7-4A16-8DBA-E80043C7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10515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Key dapat dibaca sebagai nama kolom dataset.</a:t>
            </a:r>
          </a:p>
        </p:txBody>
      </p:sp>
    </p:spTree>
    <p:extLst>
      <p:ext uri="{BB962C8B-B14F-4D97-AF65-F5344CB8AC3E}">
        <p14:creationId xmlns:p14="http://schemas.microsoft.com/office/powerpoint/2010/main" val="9339418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73BF28-E430-48BE-BCCC-EADE869F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LIST OF DICTIONARY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0D06C2-A885-4254-9483-01B8DE9E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Loop mengolah setiap baris dataset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8EE241-27BB-42D7-A8D4-ED031714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07B40D-DA7A-4CB5-B53E-47886686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Struktur data dan loop bekerja bersama untuk mencari informasi.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DD367-5629-4CCE-AD69-CC5AA8976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C4CFB-92D5-4392-BCE1-0FCDB35D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E53C60-3E7A-4945-912E-C458FDF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905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97D6B-1388-4D5C-AE32-B5E8E3911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3A743-1714-4671-BCC1-631763C9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E04FE6-99A8-4629-99CD-6AEA50D53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26FA91-249D-409B-81C1-80B12832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54483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total = 0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tertinggi = data_siswa[0]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siswa in data_siswa: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total += siswa["nilai"]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if siswa["nilai"] &gt; tertinggi["nilai"]: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tertinggi = siswa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print(total / len(data_siswa))</a:t>
            </a:r>
          </a:p>
          <a:p xmlns:a="http://schemas.openxmlformats.org/drawingml/2006/main">
            <a:pPr>
              <a:defRPr sz="10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0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print(tertinggi["nama"])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74596-7BAC-4866-AD49-7F69134F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05000"/>
            <a:ext cx="3714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974549-5887-414C-93E6-6E65EFCA1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336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Hasil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DEE32E-CB8E-4F50-A5E5-59231709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098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Rata-rata</a:t>
            </a:r>
          </a:p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82.67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0619C-DD8A-4993-8EBB-D9AA64B1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09850"/>
            <a:ext cx="1524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Nilai tertinggi</a:t>
            </a:r>
          </a:p>
          <a:p xmlns:a="http://schemas.openxmlformats.org/drawingml/2006/main">
            <a:pPr>
              <a:defRPr sz="150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Citra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861F8C-3A6B-4976-B55A-A5C0A866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2679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DE7EEA-18AA-43B4-8776-2B7358592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95950"/>
            <a:ext cx="9963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Kita masih memakai list, dictionary, dan loop yang sudah dipelajari.</a:t>
            </a:r>
          </a:p>
        </p:txBody>
      </p:sp>
    </p:spTree>
    <p:extLst>
      <p:ext uri="{BB962C8B-B14F-4D97-AF65-F5344CB8AC3E}">
        <p14:creationId xmlns:p14="http://schemas.microsoft.com/office/powerpoint/2010/main" val="136852288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41546-A150-4E3B-9235-0FA522608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INTRO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76B1B4-194C-4AF1-A305-A996A650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NumPy merapikan perhitungan yang berulang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6A873E-6F03-492D-B89D-451F05205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5A5EE-CD69-4027-85AE-03B6E2338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Proses manual tetap menjadi dasar untuk memahami hasil library.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4CAB00-9281-4068-9A23-DD839D1D4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62FF3-E256-4725-A654-0AD3FF7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BBE91-379A-490E-89C9-185B3961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Manual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A36AA-F148-411C-9F78-A5D6B90E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F7435-93AD-424F-916E-6F530B64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E2B5A8-EB01-428C-ABB8-0AB6B7AA4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C771A-F8F7-49E3-BE53-9F3373F2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A3F663-FE15-4DE8-83A0-507863AF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44958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[72, 85, 90, 68]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total = 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for nilai in data: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total += nilai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mean = total / len(data)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88A8D-96E2-46CB-8EC4-D59F7CAD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050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Dengan NumPy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FFD790-DCF3-4A78-B81F-7E38008E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86000"/>
            <a:ext cx="48006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A4172E-F3D6-4731-A548-46F6FE301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2380C-A899-4CE0-8604-10E65553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44A214-EAF7-4902-AC8F-F6646D74C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428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3C959-4506-48AF-8133-412C17443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86050"/>
            <a:ext cx="43434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np.array([72, 85, 90, 68])</a:t>
            </a:r>
          </a:p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mean = np.mean(data)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4EF72-6536-499D-BF59-D1AED96A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146BF41-EFFF-4CE6-A6FD-DC3EB2C0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Library membantu kita menulis proses yang sama dengan lebih ringkas.</a:t>
            </a:r>
          </a:p>
        </p:txBody>
      </p:sp>
    </p:spTree>
    <p:extLst>
      <p:ext uri="{BB962C8B-B14F-4D97-AF65-F5344CB8AC3E}">
        <p14:creationId xmlns:p14="http://schemas.microsoft.com/office/powerpoint/2010/main" val="110344298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026602-9773-4F34-A331-7D3EBA155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INTRO NUMPY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E2720-CFCB-44D5-898A-90F95B20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Array NumPy punya function statistik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C5124-C651-4C28-A86B-B7F3C77E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813086-8ED2-46B5-8048-2D469A8E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Satu array dapat dipakai untuk menghitung mean, median, dan standar deviasi.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93B21-1F1D-49F6-825F-B56E95100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FA13F-6972-4E93-B406-AFEBFBD3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04765-CEC5-4E50-AE65-269AB0C6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42925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E58DE-4F63-437E-A5A1-78322E39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F9B5F6-219C-4AAF-B8CF-9C669346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65FFE-6E94-49B9-9213-145D53377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047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31B149-2A42-4B60-952D-1C356567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497205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import numpy as np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 = np.array([72, 85, 90, 68])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print(np.mean(data))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print(np.median(data))</a:t>
            </a:r>
          </a:p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print(np.std(data))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15985F-90C8-4846-9096-721AEF8FA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Contoh hasil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43C5A8-3E39-41FD-81F6-33A9E9E2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4193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6A6FC1-3EF3-436B-A258-658F21AAA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336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np.mean(data)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B1324-7CEC-4BE5-A93A-B3782407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955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78.75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FF9391-7EF2-416C-B905-355C3721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432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4F970-8016-4442-8C9A-66E96A5F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2575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np.median(data)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A468B5-CFC4-4C11-BD98-7349C3F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194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78.5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99C9EC-75D6-42A1-9D80-0FF9EC0B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671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9F7EE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403E47-F4FD-4193-9208-3B7ADC19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981450"/>
            <a:ext cx="1543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np.std(data)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63E999-71FE-4BAD-BEDA-36B9A82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4335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≈ 9.04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0B888C-C4C8-4200-80E8-6C4921B4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CAFC1-C9EE-4994-928E-C20B1637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505450"/>
            <a:ext cx="1051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Operasi menjadi ringkas, tetapi arti statistiknya tetap perlu dipahami.</a:t>
            </a:r>
          </a:p>
        </p:txBody>
      </p:sp>
    </p:spTree>
    <p:extLst>
      <p:ext uri="{BB962C8B-B14F-4D97-AF65-F5344CB8AC3E}">
        <p14:creationId xmlns:p14="http://schemas.microsoft.com/office/powerpoint/2010/main" val="9409854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39649-4A41-419C-B0EC-4BDECC84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PRACTICE 2  •  15 MENIT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9AA553-30E3-4861-967E-7CEA2A189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Bandingkan loop manual dan NumPy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D62F54-44EA-41BA-BAE6-FD35D47E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648001-19C6-441F-A133-AC0A7D1DE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Gunakan satu dataset yang sama untuk kedua cara.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5671D-AAC8-4C56-872E-72B601E4B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EC25F2-F8ED-4029-8500-4A08E2F1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9B6798-B80C-4FE3-BF44-C5BAEA786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95300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1DF4BF-7804-4E2F-9D3B-215960B9E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 latihan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5DA1D-C1A1-4B7F-A437-F16DC0733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05100"/>
            <a:ext cx="44958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111A30"/>
          </a:solidFill>
          <a:ln xmlns:a="http://schemas.openxmlformats.org/drawingml/2006/main" w="9525">
            <a:solidFill>
              <a:srgbClr val="111A3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426AAE-3B88-41BA-9F16-DAF5F5292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6B6B"/>
          </a:solidFill>
          <a:ln xmlns:a="http://schemas.openxmlformats.org/drawingml/2006/main" w="9525">
            <a:solidFill>
              <a:srgbClr val="E96B6B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E5CE60-9A01-431F-914E-4BE2112E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231FB8-E943-4DC1-B2F7-258598EE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47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856BDB-7659-42FB-AB9A-6FA520DB4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05150"/>
            <a:ext cx="4038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12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data_nilai = [72, 85, 90, 68, 88, 76]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B3C380-27E8-4799-9929-7B4C116B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095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Bandingkan hasil mean manual dengan `np.mean()`.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50B010-ECE7-4F97-A391-A56D12EE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43100"/>
            <a:ext cx="55435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5D7323-28E3-44D6-890F-48E64683B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71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Tugas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F29E9-B8D5-4846-8D4C-A50E60BE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476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1  Hitung mean dengan loop.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2  Hitung mean, median, dan standar deviasi dengan NumPy.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3  Bandingkan hasil mean.</a:t>
            </a:r>
          </a:p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4  Jelaskan arti standar deviasi.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BCE72D-2D68-4535-AE3A-4DB20BD74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91050"/>
            <a:ext cx="47625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B4C626-6DBE-46A4-BC0D-2A8700CA8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686300"/>
            <a:ext cx="4457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Tulis solusi di notebook. Gunakan data yang sama.</a:t>
            </a:r>
          </a:p>
        </p:txBody>
      </p:sp>
    </p:spTree>
    <p:extLst>
      <p:ext uri="{BB962C8B-B14F-4D97-AF65-F5344CB8AC3E}">
        <p14:creationId xmlns:p14="http://schemas.microsoft.com/office/powerpoint/2010/main" val="154839073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165B0A-AD5D-4A20-AC21-A9AC1B92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INTI MATERI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FB5E40-7763-449C-AA3A-FE1F58C8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Bentuk data menentukan cara kita membacanya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C4EB6E-FD47-46D1-9593-9B92803C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54082-6AB9-43AF-89C1-8BB199D4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Struktur data menjadi fondasi sebelum masuk ke Pandas dan preprocessing.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159EA2-47BC-4319-99F4-E94505DF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85CBCD-C605-4962-A403-597D9E2FE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1B9667-4A1A-4491-A02F-8EF60C0C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08E9B7-4592-4281-A009-C19D4825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105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C43CF-ABBD-40B0-B495-442AAC0B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26549B-63B7-4BD0-9738-41CD8BDA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266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urutan item dan operasi dasar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17652F-1DE9-4E35-8C9F-91BC51D1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EA03BF-9F55-4977-BE8E-C95A0D9D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43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E6448-9A81-43A6-98A3-F87BC8C6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384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Nested list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9EB096-F40F-4D55-B462-17542972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051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baris dan kolom dalam list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B25A44-A960-4CC3-BE40-1F38B6121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767B80-DD88-4B23-8D9B-37904F75F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1050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F974B9-82C5-4255-A786-E52BBD5D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000250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Dictionary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1A2FDA-7706-4E98-AC3A-8B5C6BD6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66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key dan value yang bermakna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2960F9-5295-440D-A57A-C4051626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6D3FC5-879C-46C8-BB76-12479125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9432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A6818-5F98-4032-B4A7-91E716E1A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384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Dataset dan NumPy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610620-9D58-48C8-B8EE-B3AABE465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051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data terstruktur dan statistik ringkas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3DAC0D7-4019-4891-9928-37405C69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7D6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052A24-3ECA-4BBE-911B-714F7EA1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5775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Pahami proses manual sebelum memakai library.</a:t>
            </a:r>
          </a:p>
        </p:txBody>
      </p:sp>
    </p:spTree>
    <p:extLst>
      <p:ext uri="{BB962C8B-B14F-4D97-AF65-F5344CB8AC3E}">
        <p14:creationId xmlns:p14="http://schemas.microsoft.com/office/powerpoint/2010/main" val="8557323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A94DB3-52CB-4691-B575-C7C9F27D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96B9B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196B9B"/>
                </a:solidFill>
                <a:latin typeface="Calibri"/>
                <a:ea typeface="Calibri"/>
                <a:cs typeface="Calibri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D57108-21AD-46F0-95EA-F6BFE8BD9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2550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Cek pemahaman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5F8EB-3414-49C2-83A1-9885FE235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AEE"/>
          </a:solidFill>
          <a:ln xmlns:a="http://schemas.openxmlformats.org/drawingml/2006/main" w="9525">
            <a:solidFill>
              <a:srgbClr val="E7EAE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CB90A-E510-4628-8E27-D9E95C53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4B5868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4B5868"/>
                </a:solidFill>
                <a:latin typeface="Calibri"/>
                <a:ea typeface="Calibri"/>
                <a:cs typeface="Calibri"/>
              </a:rPr>
              <a:t>Jawab dengan kalimat singkat atau contoh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EB69CE-5140-4003-A740-93F119BF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532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Slide 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2C2F1C-850B-444E-BA1A-A9CCC77DF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53200"/>
            <a:ext cx="1219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7D8793"/>
                </a:solidFill>
                <a:latin typeface="Calibri"/>
                <a:ea typeface="Calibri"/>
                <a:cs typeface="Calibri"/>
              </a:defRPr>
            </a:pPr>
            <a:r>
              <a:rPr sz="750" b="0">
                <a:solidFill>
                  <a:srgbClr val="7D8793"/>
                </a:solidFill>
                <a:latin typeface="Calibri"/>
                <a:ea typeface="Calibri"/>
                <a:cs typeface="Calibri"/>
              </a:rPr>
              <a:t>EKKA / PYTHON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1BD237-4BA0-45AA-9812-9E592B702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4FB6E8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BE072C-D433-4949-86BC-88BD04F7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2193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83B88-A286-48BD-8365-8F46C89E7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2098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Apa yang diambil oleh `nilai[0][1]`?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7BCB85-118C-4B76-A305-30FB85ED5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D36A"/>
          </a:solidFill>
          <a:ln xmlns:a="http://schemas.openxmlformats.org/drawingml/2006/main" w="9525">
            <a:solidFill>
              <a:srgbClr val="F5D36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FC9352-0303-4F25-A0FD-1DEF09D8F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03847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BD99CB-7BFB-4D36-8A02-09D0297C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2895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Kapan dictionary lebih membantu daripada list biasa?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7C6A55-9E81-4B64-9B6F-EA22F36F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323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55B77A"/>
          </a:solidFill>
          <a:ln xmlns:a="http://schemas.openxmlformats.org/drawingml/2006/main" w="9525">
            <a:solidFill>
              <a:srgbClr val="55B77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4BB15-28B6-49E4-B051-89009FBA9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857625"/>
            <a:ext cx="171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BFD52-3957-4F44-9EB1-777B31A0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8481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Apa hubungan proses manual dengan `np.mean()`?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4FFEA6-9C45-42A0-B958-BB8BD7E5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C"/>
          </a:solidFill>
          <a:ln xmlns:a="http://schemas.openxmlformats.org/drawingml/2006/main" w="9525">
            <a:solidFill>
              <a:srgbClr val="4FB6E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02A2B2-ADF5-42DF-AA96-3D15858A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53000"/>
            <a:ext cx="10515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11A30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111A30"/>
                </a:solidFill>
                <a:latin typeface="Calibri"/>
                <a:ea typeface="Calibri"/>
                <a:cs typeface="Calibri"/>
              </a:rPr>
              <a:t>List memberi urutan. Dictionary memberi arti. NumPy membantu menghitung.</a:t>
            </a:r>
          </a:p>
        </p:txBody>
      </p:sp>
    </p:spTree>
    <p:extLst>
      <p:ext uri="{BB962C8B-B14F-4D97-AF65-F5344CB8AC3E}">
        <p14:creationId xmlns:p14="http://schemas.microsoft.com/office/powerpoint/2010/main" val="1414515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2026-09-18T10:55:21.2770000Z</dcterms:created>
  <dcterms:modified xsi:type="dcterms:W3CDTF">2026-09-18T10:55:21.2770000Z</dcterms:modified>
</coreProperties>
</file>