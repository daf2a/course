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2b49a1780a401a" /><Relationship Type="http://schemas.openxmlformats.org/officeDocument/2006/relationships/extended-properties" Target="/docProps/app.xml" Id="R2f826cf165474bd5" /><Relationship Type="http://schemas.openxmlformats.org/officeDocument/2006/relationships/officeDocument" Target="/ppt/presentation.xml" Id="Rb998cd7950f5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8a0a3294a545d7"/>
  </p:sldMasterIdLst>
  <p:notesMasterIdLst>
    <p:notesMasterId xmlns:r="http://schemas.openxmlformats.org/officeDocument/2006/relationships" r:id="R6bccdad504774c61"/>
  </p:notesMasterIdLst>
  <p:sldIdLst>
    <p:sldId xmlns:r="http://schemas.openxmlformats.org/officeDocument/2006/relationships" id="256" r:id="Rd70400d1616b429c"/>
    <p:sldId xmlns:r="http://schemas.openxmlformats.org/officeDocument/2006/relationships" id="257" r:id="Rf77cf71c949943a7"/>
    <p:sldId xmlns:r="http://schemas.openxmlformats.org/officeDocument/2006/relationships" id="258" r:id="Rc4c9433dd2124be7"/>
    <p:sldId xmlns:r="http://schemas.openxmlformats.org/officeDocument/2006/relationships" id="259" r:id="Re805715a246a416f"/>
    <p:sldId xmlns:r="http://schemas.openxmlformats.org/officeDocument/2006/relationships" id="260" r:id="Rf880318b72fd4045"/>
    <p:sldId xmlns:r="http://schemas.openxmlformats.org/officeDocument/2006/relationships" id="261" r:id="Re8da0f5a36fd4f99"/>
    <p:sldId xmlns:r="http://schemas.openxmlformats.org/officeDocument/2006/relationships" id="262" r:id="R9495f7fd6fff477e"/>
    <p:sldId xmlns:r="http://schemas.openxmlformats.org/officeDocument/2006/relationships" id="263" r:id="Rbd86694e191e4d94"/>
    <p:sldId xmlns:r="http://schemas.openxmlformats.org/officeDocument/2006/relationships" id="264" r:id="R546625c21bbf4492"/>
    <p:sldId xmlns:r="http://schemas.openxmlformats.org/officeDocument/2006/relationships" id="265" r:id="R12a6514b2f7b41ea"/>
    <p:sldId xmlns:r="http://schemas.openxmlformats.org/officeDocument/2006/relationships" id="266" r:id="R142f21e086c444a6"/>
    <p:sldId xmlns:r="http://schemas.openxmlformats.org/officeDocument/2006/relationships" id="267" r:id="Ra2b078c2386f40c5"/>
    <p:sldId xmlns:r="http://schemas.openxmlformats.org/officeDocument/2006/relationships" id="268" r:id="R76f45ae7399a4f17"/>
    <p:sldId xmlns:r="http://schemas.openxmlformats.org/officeDocument/2006/relationships" id="269" r:id="Rf4280421cd804aad"/>
    <p:sldId xmlns:r="http://schemas.openxmlformats.org/officeDocument/2006/relationships" id="270" r:id="R8dcc53d340404075"/>
    <p:sldId xmlns:r="http://schemas.openxmlformats.org/officeDocument/2006/relationships" id="271" r:id="Rd321bd7cd5ee4f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4b9f3f6d684bf7" /><Relationship Type="http://schemas.openxmlformats.org/officeDocument/2006/relationships/slideMaster" Target="/ppt/slideMasters/slideMaster1.xml" Id="R078a0a3294a545d7" /><Relationship Type="http://schemas.openxmlformats.org/officeDocument/2006/relationships/notesMaster" Target="/ppt/notesMasters/notesMaster1.xml" Id="R6bccdad504774c61" /><Relationship Type="http://schemas.openxmlformats.org/officeDocument/2006/relationships/presProps" Target="/ppt/presProps.xml" Id="R0daaf0386d8343d1" /><Relationship Type="http://schemas.openxmlformats.org/officeDocument/2006/relationships/tableStyles" Target="/ppt/tableStyles.xml" Id="Rc1a2bbf0fe8647b4" /><Relationship Type="http://schemas.openxmlformats.org/officeDocument/2006/relationships/slide" Target="/ppt/slides/slide1.xml" Id="Rd70400d1616b429c" /><Relationship Type="http://schemas.openxmlformats.org/officeDocument/2006/relationships/slide" Target="/ppt/slides/slide2.xml" Id="Rf77cf71c949943a7" /><Relationship Type="http://schemas.openxmlformats.org/officeDocument/2006/relationships/slide" Target="/ppt/slides/slide3.xml" Id="Rc4c9433dd2124be7" /><Relationship Type="http://schemas.openxmlformats.org/officeDocument/2006/relationships/slide" Target="/ppt/slides/slide4.xml" Id="Re805715a246a416f" /><Relationship Type="http://schemas.openxmlformats.org/officeDocument/2006/relationships/slide" Target="/ppt/slides/slide5.xml" Id="Rf880318b72fd4045" /><Relationship Type="http://schemas.openxmlformats.org/officeDocument/2006/relationships/slide" Target="/ppt/slides/slide6.xml" Id="Re8da0f5a36fd4f99" /><Relationship Type="http://schemas.openxmlformats.org/officeDocument/2006/relationships/slide" Target="/ppt/slides/slide7.xml" Id="R9495f7fd6fff477e" /><Relationship Type="http://schemas.openxmlformats.org/officeDocument/2006/relationships/slide" Target="/ppt/slides/slide8.xml" Id="Rbd86694e191e4d94" /><Relationship Type="http://schemas.openxmlformats.org/officeDocument/2006/relationships/slide" Target="/ppt/slides/slide9.xml" Id="R546625c21bbf4492" /><Relationship Type="http://schemas.openxmlformats.org/officeDocument/2006/relationships/slide" Target="/ppt/slides/slide10.xml" Id="R12a6514b2f7b41ea" /><Relationship Type="http://schemas.openxmlformats.org/officeDocument/2006/relationships/slide" Target="/ppt/slides/slide11.xml" Id="R142f21e086c444a6" /><Relationship Type="http://schemas.openxmlformats.org/officeDocument/2006/relationships/slide" Target="/ppt/slides/slide12.xml" Id="Ra2b078c2386f40c5" /><Relationship Type="http://schemas.openxmlformats.org/officeDocument/2006/relationships/slide" Target="/ppt/slides/slide13.xml" Id="R76f45ae7399a4f17" /><Relationship Type="http://schemas.openxmlformats.org/officeDocument/2006/relationships/slide" Target="/ppt/slides/slide14.xml" Id="Rf4280421cd804aad" /><Relationship Type="http://schemas.openxmlformats.org/officeDocument/2006/relationships/slide" Target="/ppt/slides/slide15.xml" Id="R8dcc53d340404075" /><Relationship Type="http://schemas.openxmlformats.org/officeDocument/2006/relationships/slide" Target="/ppt/slides/slide16.xml" Id="Rd321bd7cd5ee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87ccf626b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41be2c94648bf" /><Relationship Type="http://schemas.openxmlformats.org/officeDocument/2006/relationships/notesMaster" Target="/ppt/notesMasters/notesMaster1.xml" Id="R0407328f604f44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e0a7af3923496e" /><Relationship Type="http://schemas.openxmlformats.org/officeDocument/2006/relationships/notesMaster" Target="/ppt/notesMasters/notesMaster1.xml" Id="R86b8840e1ead4b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c24148215d4bce" /><Relationship Type="http://schemas.openxmlformats.org/officeDocument/2006/relationships/notesMaster" Target="/ppt/notesMasters/notesMaster1.xml" Id="Re3918203e6104d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d61ded94984be8" /><Relationship Type="http://schemas.openxmlformats.org/officeDocument/2006/relationships/notesMaster" Target="/ppt/notesMasters/notesMaster1.xml" Id="R3da1803db19b4c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a3a0461bcf4dcd" /><Relationship Type="http://schemas.openxmlformats.org/officeDocument/2006/relationships/notesMaster" Target="/ppt/notesMasters/notesMaster1.xml" Id="R2c65504ab015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e22bc67cc9475f" /><Relationship Type="http://schemas.openxmlformats.org/officeDocument/2006/relationships/notesMaster" Target="/ppt/notesMasters/notesMaster1.xml" Id="R7bf99a54fe2345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0d5d9cfcd46aa" /><Relationship Type="http://schemas.openxmlformats.org/officeDocument/2006/relationships/notesMaster" Target="/ppt/notesMasters/notesMaster1.xml" Id="R615e01dd5b274e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5da0cd18fd4b86" /><Relationship Type="http://schemas.openxmlformats.org/officeDocument/2006/relationships/notesMaster" Target="/ppt/notesMasters/notesMaster1.xml" Id="R5f54faaebbf640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cd015887eb4e57" /><Relationship Type="http://schemas.openxmlformats.org/officeDocument/2006/relationships/notesMaster" Target="/ppt/notesMasters/notesMaster1.xml" Id="R3d3d292bbb814d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961f67167a4d33" /><Relationship Type="http://schemas.openxmlformats.org/officeDocument/2006/relationships/notesMaster" Target="/ppt/notesMasters/notesMaster1.xml" Id="Ra6c21c3ea81040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544eb60e8d4158" /><Relationship Type="http://schemas.openxmlformats.org/officeDocument/2006/relationships/notesMaster" Target="/ppt/notesMasters/notesMaster1.xml" Id="R9cbb8c1147ef41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5ab495345b4f63" /><Relationship Type="http://schemas.openxmlformats.org/officeDocument/2006/relationships/notesMaster" Target="/ppt/notesMasters/notesMaster1.xml" Id="R0e06c43750294b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b3f5b239a041da" /><Relationship Type="http://schemas.openxmlformats.org/officeDocument/2006/relationships/notesMaster" Target="/ppt/notesMasters/notesMaster1.xml" Id="R9a463cdd2d0345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4b17d572464545" /><Relationship Type="http://schemas.openxmlformats.org/officeDocument/2006/relationships/notesMaster" Target="/ppt/notesMasters/notesMaster1.xml" Id="Raa0c2f1d772f44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0305ddc9044e03" /><Relationship Type="http://schemas.openxmlformats.org/officeDocument/2006/relationships/notesMaster" Target="/ppt/notesMasters/notesMaster1.xml" Id="R256bb7fa482940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e8a093db5e44be" /><Relationship Type="http://schemas.openxmlformats.org/officeDocument/2006/relationships/notesMaster" Target="/ppt/notesMasters/notesMaster1.xml" Id="R9c64b448e8cf4c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menghubungkan materi sebelumnya. Siswa sudah memakai list, loop, dan function. Sesi ini memperluas bentuk data lalu menunjukkan bagaimana NumPy membantu perhitungan numerik.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Data Structures, https://docs.python.org/3/tutorial/datastructures.html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sebagai peta sesi. Tekankan urutannya. Kita mulai dengan struktur yang sudah dikenal, kemudian memperkenalkan struktur data baru sebelum NumPy.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for_while_loop.ipynb, conditional_statement.ipynb, function_statistic.ipynb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memprediksi hasil tiga print sebelum menjalankan code. Bedakan posisi pertama yang dimulai dari 0 dengan posisi terakhir yang dapat diakses menggunakan -1.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More on Lists, https://docs.python.org/3/tutorial/datastructures.html#more-on-lists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kembali dengan function statistik sebelumnya. Sebelum memakai library, siswa perlu memahami bahwa mean dapat dibangun dari total dibagi jumlah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Built-in Functions, https://docs.python.org/3/library/functions.html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Tulis dua index secara terpisah ketika menjelaskan. `nilai[0]` mengambil baris pertama. `nilai[0][1]` mengambil item kedua dari baris tersebut.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Lists, https://docs.python.org/3/tutorial/introduction.html#lists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membaca variable `siswa` pada setiap putaran. Nilainya berubah dari list pertama ke list kedua, lalu ke list ketiga. Perhitungan masih menggunakan operasi yang sudah dikenal.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Statements,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Bandingkan list dan dictionary. List menekankan posisi. Dictionary menekankan nama key. Tunjukkan bahwa value `nilai` masih dapat berupa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Dictionaries, https://docs.python.org/3/tutorial/datastructures.html#dictionaries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loop dan minta siswa melihat pasangan yang dicetak. Pada bagian berikutnya, pola ini akan dipakai untuk membaca setiap dictionary di dalam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Looping Techniques, https://docs.python.org/3/tutorial/datastructures.html#looping-techniques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Berikan waktu untuk menulis solusi. Periksa apakah siswa membedakan `nilai[0]` dan `nilai[0][1]`. Minta beberapa siswa menjelaskan mengapa `sum(siswa) / len(siswa)` dapat dipakai pada setiap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function_statistic.ipynb dan for_while_loop.ipynb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analogi tabel dengan hati-hati. List of dictionary belum menjadi DataFrame, tetapi bentuknya mulai menyerupai dataset dengan kolom dan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Dictionaries, https://docs.python.org/3/tutorial/datastructures.html#dictionaries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kode secara perlahan. Tanyakan kapan variable `tertinggi` berubah. Tekankan bahwa yang disimpan adalah dictionary lengkap, bukan hanya nilai angkanya.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Statements,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dua code block secara berurutan. Siswa perlu melihat bahwa `np.mean(data)` menggantikan proses manual yang baru saja mereka tulis.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Quickstart, https://numpy.org/doc/stable/user/quickstart.html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Sebutkan bahwa `np.std` pada contoh ini memakai standar deviasi populasi default NumPy. Untuk pengantar, fokuskan siswa pada makna hasil dan perbandingan dengan proses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menyelesaikan proses manual terlebih dahulu, lalu mengulang dengan NumPy. Diskusi terakhir cukup satu kalimat per siswa tentang besar kecilnya standar deviasi.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untuk mengulang jalur pembelajaran. Tanyakan bentuk data apa yang dipakai pada setiap bagian dan mengapa bentuk tersebut sesuai.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function_statistic.ipynb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pertanyaan ini sebagai penutup lisan atau tulisan. Minta siswa menjawab dengan kata-kata sendiri sebelum membuka notebook untuk melihat kembali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Data Structures, https://docs.python.org/3/tutorial/datastructures.html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83336208d4b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dcbce9bf004f10" /><Relationship Type="http://schemas.openxmlformats.org/officeDocument/2006/relationships/slideLayout" Target="/ppt/slideLayouts/slideLayout1.xml" Id="R9bf180ffdf90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f180ffdf90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a7c7a47e04393" /><Relationship Type="http://schemas.openxmlformats.org/officeDocument/2006/relationships/image" Target="/ppt/media/image.png" Id="R202e47c078d8456f" /><Relationship Type="http://schemas.openxmlformats.org/officeDocument/2006/relationships/notesSlide" Target="/ppt/notesSlides/notesSlide1.xml" Id="R62185cb95de0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6821977034ab2" /><Relationship Type="http://schemas.openxmlformats.org/officeDocument/2006/relationships/notesSlide" Target="/ppt/notesSlides/notesSlide2.xml" Id="R1c5a3577e44347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928a0b01e4432" /><Relationship Type="http://schemas.openxmlformats.org/officeDocument/2006/relationships/notesSlide" Target="/ppt/notesSlides/notesSlide3.xml" Id="R714f936f6620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ff74fccdb4312" /><Relationship Type="http://schemas.openxmlformats.org/officeDocument/2006/relationships/notesSlide" Target="/ppt/notesSlides/notesSlide4.xml" Id="R4505ed1f87e343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fdcda1edc4832" /><Relationship Type="http://schemas.openxmlformats.org/officeDocument/2006/relationships/notesSlide" Target="/ppt/notesSlides/notesSlide5.xml" Id="R772913ff0486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ca361ea434c38" /><Relationship Type="http://schemas.openxmlformats.org/officeDocument/2006/relationships/notesSlide" Target="/ppt/notesSlides/notesSlide6.xml" Id="Re0ed37338b8647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4f069eb3b480a" /><Relationship Type="http://schemas.openxmlformats.org/officeDocument/2006/relationships/notesSlide" Target="/ppt/notesSlides/notesSlide7.xml" Id="R8a53a11225b246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63abb439744cb" /><Relationship Type="http://schemas.openxmlformats.org/officeDocument/2006/relationships/notesSlide" Target="/ppt/notesSlides/notesSlide8.xml" Id="R4460dc534acb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fc60778b8405b" /><Relationship Type="http://schemas.openxmlformats.org/officeDocument/2006/relationships/notesSlide" Target="/ppt/notesSlides/notesSlide9.xml" Id="Ra045cb5bed9e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c068409ca4ada" /><Relationship Type="http://schemas.openxmlformats.org/officeDocument/2006/relationships/notesSlide" Target="/ppt/notesSlides/notesSlide10.xml" Id="Rf42081def94f46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6d78baa7745e0" /><Relationship Type="http://schemas.openxmlformats.org/officeDocument/2006/relationships/notesSlide" Target="/ppt/notesSlides/notesSlide11.xml" Id="R9298b978e7b54e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fd43488a448b4" /><Relationship Type="http://schemas.openxmlformats.org/officeDocument/2006/relationships/notesSlide" Target="/ppt/notesSlides/notesSlide12.xml" Id="R91203593baa940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54d10ba90477c" /><Relationship Type="http://schemas.openxmlformats.org/officeDocument/2006/relationships/notesSlide" Target="/ppt/notesSlides/notesSlide13.xml" Id="R040ab6dc8f6c45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d68baebb14872" /><Relationship Type="http://schemas.openxmlformats.org/officeDocument/2006/relationships/notesSlide" Target="/ppt/notesSlides/notesSlide14.xml" Id="Re5515c208d924e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da4fea9314462" /><Relationship Type="http://schemas.openxmlformats.org/officeDocument/2006/relationships/notesSlide" Target="/ppt/notesSlides/notesSlide15.xml" Id="R3aa3f54352194f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1ecfabd274041" /><Relationship Type="http://schemas.openxmlformats.org/officeDocument/2006/relationships/notesSlide" Target="/ppt/notesSlides/notesSlide16.xml" Id="Rc059886329894c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e47c078d845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1149C-C524-4472-828B-4D8D6B68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LEVEL 1  •  PERTEMUAN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04192-4681-407E-BF33-E49336C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List, Dictionary,</a:t>
            </a:r>
          </a:p>
          <a:p xmlns:a="http://schemas.openxmlformats.org/drawingml/2006/main">
            <a:pPr>
              <a:defRPr sz="31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dan NumPy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7FAF0-3895-4778-8F4E-CE32B399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Dari data sederhana menuju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BF20-4853-478A-9D97-E32004FF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88C53-9B3E-467A-9546-51713BC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 · nested list · dictionary · NumPy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A4F46-ABBA-448B-B30B-2E7D0B22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049E2-FCF3-43A6-B3C9-AC2CBC67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Membaca, menyusun, dan menghitung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19D17-913A-400D-806E-CAD73A2B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E32F8-5CD9-4B3E-BEA9-1D89A9E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</p:spTree>
    <p:extLst>
      <p:ext uri="{BB962C8B-B14F-4D97-AF65-F5344CB8AC3E}">
        <p14:creationId xmlns:p14="http://schemas.microsoft.com/office/powerpoint/2010/main" val="1266571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670AC-5F87-4443-B875-3DF76BD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TARGET BELAJAR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68CA8-77E0-45EF-A02F-65095F53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berubah bentuk saat kita mengolahnya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96AC9-461B-4258-9D39-E0E7830D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CBE78-622C-49A0-A37B-CFDE3CB1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Mulai dari list, lalu susun menjadi dataset dan array numerik.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12618-78A5-4700-9973-52133175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22EE8-7D8B-4C1A-B361-AFF16F98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B05EC-559E-411B-B885-6E4E388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FA871-00CB-4C78-82EA-54A375B0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859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4D8AE-5D2D-473B-AC8B-F7EB3759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F0EA9-AA54-4BA2-AA79-8E95B9B8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Indexing, slicing, method, dan function bawaan.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2AA24-90EB-4238-9CDF-D99DDE67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AA8D1-635C-4B0E-A868-D74344AD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859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F6329-47AE-4EC1-BCC1-82CF865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F3921-AC3E-48FA-9725-16D36AFC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Membaca data berbentuk baris dan kolom.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8892F-3208-4FA1-BE67-E8B8F25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52AE8-928B-489F-86E7-D43203DF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5FC3B-184B-447C-A9A8-5C0F4EB5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251A3-F183-43AF-9491-98760546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Menghubungkan key dengan value.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71B4D-E0C6-4D6D-A4D8-0F92B62D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BF379-EFA7-42A8-8385-54942365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87E76-449B-49D7-8C46-43CB17E6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Dataset dan NumPy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6061B-0881-4509-B7E2-070759D1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Mengolah list of dictionary dan statistik dasar.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8475C-24A9-4CBC-A274-ABD2F1DA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07E79-8036-4AED-8173-9E13EE52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masuk, struktur membantu, perhitungan menghasilkan informasi.</a:t>
            </a:r>
          </a:p>
        </p:txBody>
      </p:sp>
    </p:spTree>
    <p:extLst>
      <p:ext uri="{BB962C8B-B14F-4D97-AF65-F5344CB8AC3E}">
        <p14:creationId xmlns:p14="http://schemas.microsoft.com/office/powerpoint/2010/main" val="517338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59D19-44A5-49DF-BA81-FA6AF87C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C0753-71CE-4995-976C-8F3E48B7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menyimpan urutan nilai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2FB91-FF73-42DD-8F29-D76A0E73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6CA49-75D3-4893-8F28-8460F849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 mengambil item, slicing mengambil bagian, method mengubah isi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F67BD-375C-4641-AB7C-ED722EEF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7698B-F616-48A6-B479-F40DF868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3AA59-1EB7-4852-B96A-44DD4943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796B5-E966-4A0B-8B84-C876F0BF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BA172-26EE-40BF-B4D9-D0E81A26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78847-F4CA-429C-A496-EDF1C0A8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BC15C-5004-4235-B714-B0243F5E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 = ["biru", "kuning", "hijau", "merah"]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print(warna[0])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print(warna[-1])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print(warna[1:3])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warna.append("ungu")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warna.remove("kuning")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item = warna.pop()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B3BA4-C945-470E-9061-962DBB02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455C1-7952-4621-B71F-7006017B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indexing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9B568-E06F-4F97-989E-AC9973A3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item berdasarkan posisi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86EC1-E5D9-4A1B-8338-F8335234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44E48-838F-45A5-8122-67103037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825FC-B96D-447C-A284-13AC23F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dari posisi belakang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BA717-0778-4428-A8A5-C19C540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68B7C-0CF6-487B-86C2-6474077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slicing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988CE-C235-482D-8A9B-3CC7489E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sebagian urutan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0ABFB-F769-42ED-9419-FEF5E140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32B4F-724E-47C9-9F92-009B5136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B06CA-CA66-46B0-BFD6-3D087A29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menambah atau menghapus item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0FEBF-CE6C-4E42-B986-0A444C64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68951-151B-4B53-901B-F344BC98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`append()` menambah, `remove()` mencari nilai, `pop()` mengambil item.</a:t>
            </a:r>
          </a:p>
        </p:txBody>
      </p:sp>
    </p:spTree>
    <p:extLst>
      <p:ext uri="{BB962C8B-B14F-4D97-AF65-F5344CB8AC3E}">
        <p14:creationId xmlns:p14="http://schemas.microsoft.com/office/powerpoint/2010/main" val="2036324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06E61-6CDD-4DD3-B34E-786E9702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9E4EE-12E6-46AC-8171-7B4B5403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Function bawaan membantu membaca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A41A8-CE96-4AA5-8221-14F72822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0E558-788F-4A1C-BD6A-D870A6B3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Beberapa operasi dasar sudah tersedia di Python.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FA34D-5B5E-45FF-B290-11B93C6E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FA7C5-04CE-4746-9C95-5FE31E71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5D38F-F982-4F72-83E2-EEBEE22D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C48FE-5C6A-491D-A111-7D241AEF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4BFB2-E247-47C0-A6DB-226CEB2F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DA901-47BA-4A95-BF3B-4750B4B0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439CE-1B31-4D47-9A29-0B79DF8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876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[72, 85, 90, 68]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print(len(nilai))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print(min(nilai))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print(max(nilai))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print(sum(nilai))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print(sorted(nilai))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print(sum(nilai) / len(nilai))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D4BDB-81D9-4761-907E-97D0C5C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59C0C-6DCB-4651-BD35-F424288A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len()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6C6F5-7C64-45CE-B674-96E6F9D9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menghitung banyak item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1C9FE-58A1-4415-8596-9C7696B2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90B52-4CA5-4251-8CF7-2245778B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min() / max()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B5EFD-1134-4C2D-98E7-4F1F1A5F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mencari nilai ekstrem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A73BD-9E70-4174-8666-17A5336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D70C5-532D-4B59-B91E-515577F2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sum()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3989E-9D1E-45E9-8040-279BBDC0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menghitung total nilai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DC06E-B24E-4466-980F-5613D016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A01B2-F074-45B1-86E2-0314BE32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sorted()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4A28B-64C9-49CC-ADEC-4BD18877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membuat urutan baru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09F13-C619-41BE-B87C-7B53F48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D23A5-A348-4B77-8528-4201142D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Rata-rata manual dapat ditulis sebagai `sum(nilai) / len(nilai)`.</a:t>
            </a:r>
          </a:p>
        </p:txBody>
      </p:sp>
    </p:spTree>
    <p:extLst>
      <p:ext uri="{BB962C8B-B14F-4D97-AF65-F5344CB8AC3E}">
        <p14:creationId xmlns:p14="http://schemas.microsoft.com/office/powerpoint/2010/main" val="1978979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FD52A-5B14-400B-A85B-6C7CEBF7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ADE5A-A522-49B0-AEBC-AA391974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 menyimpan data 2 dimensi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13E89-452F-4140-BC53-4B592049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054B3-9A95-4444-81F3-9010D82D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 pertama memilih baris. Index kedua memilih item di dalam baris.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974C-750E-4042-928E-057C3205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812FE-8952-4FCD-B3D6-E7491F6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41856-C363-42AB-8569-2F89FC1B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CB363-8A48-4006-88F1-8565F74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13897-DB00-4DD2-B3D4-AB85A48D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A7FF8-4250-4D8F-8A75-03CDD048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37BA5-480F-4C0F-9E7F-E19615E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[80, 90, 85],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[70, 75, 80],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[90, 95, 88]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print(nilai[0])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print(nilai[0][1])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9E0A0-8C19-4A83-9286-7ABBBF6F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akses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5A223-F07C-4971-8331-2D686CC7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EE31A-EB25-45F6-AE63-115EED1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nilai[0]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9C771-60F9-45FE-986E-24C0F843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197DF-521C-46AF-B9D0-0BB954B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527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[80, 90, 85]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A5D8C-992B-442C-A419-C260C4C2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0B18F-3802-46B1-95E5-48A6EEB6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nilai[0][1]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30077-DB8C-4BDF-8EF7-49E887BD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A6D4D-F56F-47AE-8484-DEE54CC1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90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68025-E6FB-4770-A84F-573979C2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421ED-1AEC-47A3-8ECF-EC218819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Satu nested list dapat mewakili tabel sederhana.</a:t>
            </a:r>
          </a:p>
        </p:txBody>
      </p:sp>
    </p:spTree>
    <p:extLst>
      <p:ext uri="{BB962C8B-B14F-4D97-AF65-F5344CB8AC3E}">
        <p14:creationId xmlns:p14="http://schemas.microsoft.com/office/powerpoint/2010/main" val="125757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2D564-3EE3-450F-AFAB-62A186E6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55B3C-7A6D-4448-9697-9DDB914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membaca setiap baris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8CE80-0ECF-412D-BD41-2F91EB81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6527D-8E5E-4B6C-BB1D-AF87264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Setiap putaran dapat menghitung statistik untuk satu siswa.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CD620-6102-4EFB-8B24-FB877507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65E63-0530-4877-810D-51224232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2650A-1912-4EB0-8E2F-9DCC2BC1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9E669-FE22-49C7-B16B-B5258EF4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B728C-9A48-4207-9EB1-FDB464A9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5739F-DC70-4571-BDA2-928E34B0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B004F-C57A-4CCB-A75F-F89A496D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siswa in nilai: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rata_rata = sum(siswa) / len(siswa)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print(rata_rata)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3597E-776B-417C-8617-E2BE0AB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hasil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965A2-8062-476A-A6F2-DFC474AA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77996-EB4A-497C-A290-2DD33DF2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F411A-F2C6-43C5-BE9F-7D67D0C4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85.0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77244-91B8-4A32-8F1B-F80272A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7FD36-26E0-4721-AD9A-23D7EEB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D08A1-548B-4621-9145-B80B518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75.0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10C12-7C6D-4188-824F-63F2C069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5050D-4D12-49E5-B40C-D359C7A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6283F-05EA-4227-BEDC-FF93A6D9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91.0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4E1E5-A7B0-451A-ADD1-6DC454BA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9D673-266A-4DA0-A4EB-FB4A0EB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luar membaca baris. Function list menghitung isi baris.</a:t>
            </a:r>
          </a:p>
        </p:txBody>
      </p:sp>
    </p:spTree>
    <p:extLst>
      <p:ext uri="{BB962C8B-B14F-4D97-AF65-F5344CB8AC3E}">
        <p14:creationId xmlns:p14="http://schemas.microsoft.com/office/powerpoint/2010/main" val="65162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9DE46-E138-48D6-8DAC-28D46C1C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4F980-3252-4180-90F3-5CA6ECC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 menghubungkan key dan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A735-6A6E-4321-9B99-643BD9FA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53F3A-9AFC-41BD-B786-19A8A2D1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key untuk mengambil data yang memiliki arti.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0DDDD-8FA4-4D41-953E-F6C54AD1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43A59-E745-415C-8674-735FF94A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F4FA1-3E11-4C35-924C-171B024E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C472F-E94F-40DB-B599-33AAD9D1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FCA67-C924-48F6-B7A4-3A40E3DC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68414-0FD7-4246-9A08-C86D933B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D5802-ADD7-4789-9815-6532E963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siswa = {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"nama": "Alya",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"umur": 16,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"nilai": [80, 90, 85]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print(siswa["nama"])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print(siswa["nilai"])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305EB-1938-453C-B4C8-DEF8BA30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Isi dictionary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FB48F-DE82-4084-93DE-B16FBB1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DFBBE-0963-4934-9CA8-51C2DD2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"nama"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1897E-8B4E-49F5-8066-474C157C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Alya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979F5-6FFD-4E5E-95E3-5FE0F68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BC246-1F47-4BC4-B6C4-A0F1D5D3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"umur"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3E733-C6AF-4424-98E3-6CB35EC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C5E86-581E-4A2B-A6FA-AFB30BB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5E361-2EFB-49F6-9DD6-5FDD9A16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"nilai"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30445-5A92-4DE8-9237-13229D2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[80, 90, 85]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B5C6B-737A-4E5A-93F4-96AD881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EB414-FBC9-4DCC-B11A-918DB7A9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Value dapat berupa angka, teks, atau list.</a:t>
            </a:r>
          </a:p>
        </p:txBody>
      </p:sp>
    </p:spTree>
    <p:extLst>
      <p:ext uri="{BB962C8B-B14F-4D97-AF65-F5344CB8AC3E}">
        <p14:creationId xmlns:p14="http://schemas.microsoft.com/office/powerpoint/2010/main" val="650398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C5BF4-BC5E-4AFF-B0B7-CB142C11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665ED-E92D-41BB-AADF-6F0D2B5D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`.items()` membaca pasangan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66ACD-49B0-43E1-B7CF-3BB3E4EE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C1F58-667E-4A32-92D5-A2DA1954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Loop dapat membaca key dan value sekaligus.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99815-E949-462D-A694-BFADCF7B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63FE0-A96A-4DB7-9200-59A3DE5C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96C79-5972-404B-AFD0-25C08DAC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82036-C1C4-489C-83BA-D3A8998C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4837F-9BA8-4559-AE63-ADF7D78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299AD-A179-4C67-88B0-1469DDCA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F2A4C-D54B-4323-B423-C34140B8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key, value in siswa.items():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print(key, value)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70953-1A39-41D6-ADCB-DB042A75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229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7067F-9D70-4CAB-B1F4-DEF1AD7C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BB841-81B7-4F4A-BD13-F56195C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nama  Alya</a:t>
            </a:r>
          </a:p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umur  16</a:t>
            </a:r>
          </a:p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  [80, 90, 85]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30455-B95D-4478-9E89-0ADCD6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5945F-18CB-44F4-96C7-CA531186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`.items()` cocok untuk memeriksa seluruh isi dictionary.</a:t>
            </a:r>
          </a:p>
        </p:txBody>
      </p:sp>
    </p:spTree>
    <p:extLst>
      <p:ext uri="{BB962C8B-B14F-4D97-AF65-F5344CB8AC3E}">
        <p14:creationId xmlns:p14="http://schemas.microsoft.com/office/powerpoint/2010/main" val="559265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0FB23-DFA4-491C-B152-9E129ED3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PRACTICE 1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39540-2411-4664-9F58-081C1E1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Rekap nested list dan dictionary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47C2F-2840-4CAA-9DA3-0E4AF269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00791-92D6-4A8F-960C-AEDDDB4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index, loop, sum(), dan len().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9431E-CE34-4A37-9ECB-5CB1DB34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52D69-A224-427C-B34E-B900A9AD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37445-F1F5-4E6E-9F1C-837F2085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59CCB-ED9E-4B2D-B61C-D010F79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B675C-9B1F-454D-9D5D-F9246B3E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95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88313-092F-4757-B788-0BDF0E1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91454-D717-4E6F-A85D-4372CDDD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7BAC8-BE72-42EB-AC79-1972A23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C538D-5C17-4103-930E-1410A1AC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038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[80, 90, 85],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[70, 75, 80],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[90, 95, 88]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87487-221E-43C4-B6DF-8E1B0D6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53FDC-EACA-458D-BD8B-13D6BDC2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Tugas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078EC-B893-4F83-AD13-D10A867F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  Tampilkan nilai siswa pertama.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2  Tampilkan nilai kedua siswa pertama.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3  Hitung rata-rata setiap siswa.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4  Buat satu dictionary siswa.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FFD17-AC76-4C33-A0E8-7D009B3E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0A79A-610A-4818-AD5C-6682C747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Kerjakan di notebook. Belum perlu memakai NumPy.</a:t>
            </a:r>
          </a:p>
        </p:txBody>
      </p:sp>
    </p:spTree>
    <p:extLst>
      <p:ext uri="{BB962C8B-B14F-4D97-AF65-F5344CB8AC3E}">
        <p14:creationId xmlns:p14="http://schemas.microsoft.com/office/powerpoint/2010/main" val="1532585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FD6F1-7700-43C0-8AAC-D1CBCAE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LIST OF 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6410F-6C10-4DEA-A111-F4D4626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of dictionary mulai terasa seperti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6A83C-1850-41F3-BE75-9A4159D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03F59-D19D-4D94-8CF1-5B61B13E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Satu dictionary dapat mewakili satu baris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13589-B28D-45C9-A401-FB49B61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77668-50FB-491F-959A-033D1A86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1927C-DCE6-46F5-8819-ACA3004C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A8516-7A2D-4BFE-A426-E32784D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E1787-2223-4FD1-A197-AFF7295A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0EDC3-3A5D-47B2-8C3A-779911F2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54C01-C99D-4474-B787-D7803612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4483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data_siswa = [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"Alya", "nilai": 85},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"Budi", "nilai": 72},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"Citra", "nilai": 91}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5786D-AF7A-4A50-BCD5-4756FF40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akses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2BE5D-ED71-4B69-B2F2-FA07EBE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AA8FF-94F9-474E-9589-EC0C5DEA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data_siswa[0]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7496A-EA84-4C73-90D0-1A5D01FD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Alya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4889D-697B-458D-B6C0-85099DB7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72E24-D2CE-4269-A1D4-A90BEB5A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data_siswa[2]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85B3D-9711-45BF-8D42-82ADC906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Citra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998E8-1A82-4A0B-B46B-0DB530A5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87CDA-9666-4DE8-8D47-1A6F7713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["nilai"]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1DBC5-5DE7-4141-9CA3-5F7AEB4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778E2-2289-4340-B02B-719A5833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235A2-C562-44CC-B58A-0EC3194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Key dapat dibaca sebagai nama kolom dataset.</a:t>
            </a:r>
          </a:p>
        </p:txBody>
      </p:sp>
    </p:spTree>
    <p:extLst>
      <p:ext uri="{BB962C8B-B14F-4D97-AF65-F5344CB8AC3E}">
        <p14:creationId xmlns:p14="http://schemas.microsoft.com/office/powerpoint/2010/main" val="15294431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07347-D129-4D9E-B0AA-BB878441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LIST OF 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B6AC6-B017-4B71-8F8C-B702745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mengolah setiap baris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393D4-73E1-404B-BFDC-48F880A6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56A68-75C5-4AEC-8C99-0BECA92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Struktur data dan loop bekerja bersama untuk mencari informasi.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30FAF-A4AF-4287-B258-DE3014B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B9BEE-DDF0-4ED8-B021-642031E3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A715D-AE77-4D44-8716-8F74D2D3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5C4BA-12EB-42FE-9570-86DA811D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F3650-A83D-4912-8B5E-9FB1E4BB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BBE0F-4696-4177-867C-09952BAA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AE0B2-29A7-4EEB-BB09-5315115A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4483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total = 0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tertinggi = data_siswa[0]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siswa in data_siswa: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total += siswa["nilai"]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siswa["nilai"] &gt; tertinggi["nilai"]: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tertinggi = siswa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print(total / len(data_siswa))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print(tertinggi["nama"])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F7C5C-60BD-40C6-A927-1130B408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F28BD-A686-4966-828B-07DD2C18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Hasil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A123F-FB6C-45B1-ACFC-181ADDC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098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Rata-rata</a:t>
            </a:r>
          </a:p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82.67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015CF-67E1-49FD-86BD-46C8F294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Nilai tertinggi</a:t>
            </a:r>
          </a:p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Citra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5024F-C47A-49FC-AAE7-8FEB45DE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267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7B598-B3CB-4DF0-886C-71A9B278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996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Kita masih memakai list, dictionary, dan loop yang sudah dipelajari.</a:t>
            </a:r>
          </a:p>
        </p:txBody>
      </p:sp>
    </p:spTree>
    <p:extLst>
      <p:ext uri="{BB962C8B-B14F-4D97-AF65-F5344CB8AC3E}">
        <p14:creationId xmlns:p14="http://schemas.microsoft.com/office/powerpoint/2010/main" val="383167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6A97E-8ADE-4B88-A34E-190D6934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INTRO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DDFE2-17C7-47C2-959B-45BF4237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NumPy merapikan perhitungan yang berulang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E58DA-E953-44AA-BC76-71478808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009E2-2F61-4B4C-B3CF-708E082D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Proses manual tetap menjadi dasar untuk memahami hasil library.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F0356-0F84-4ADD-9305-CE6C2C8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1A8BA-E91B-4C56-8030-A2C298FC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ED4C6-3E64-4010-93A4-6F1B0F4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D7CF8-C4D5-463C-A94F-702E4F5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43EBA-F80B-4DBD-B45A-4482C88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0858B-6DD0-43ED-9919-D11853A5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77684-76C2-4BA5-B4C8-BD45B1F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BB4A0-B1F5-4EBD-8330-6ECA3205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495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[72, 85, 90, 68]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nilai in data: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total += nilai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mean = total / len(data)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22B05-D791-4324-9C75-1D8A4417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Dengan NumPy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276BF-03BB-42BD-8118-75A22487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800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F03D7-0816-4301-83AD-13FBDE4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1EB7A-467F-492F-87B8-2E6EECD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67E5E-8DF1-4470-A288-A5D3F4B7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33962-A42A-40C1-87C2-AD18D6FE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43434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np.array([72, 85, 90, 68])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mean = np.mean(data)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00DF0-DFDC-41C3-AF04-7B1FC1A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7744B-809F-46CB-A80A-3D23E29C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Library membantu kita menulis proses yang sama dengan lebih ringkas.</a:t>
            </a:r>
          </a:p>
        </p:txBody>
      </p:sp>
    </p:spTree>
    <p:extLst>
      <p:ext uri="{BB962C8B-B14F-4D97-AF65-F5344CB8AC3E}">
        <p14:creationId xmlns:p14="http://schemas.microsoft.com/office/powerpoint/2010/main" val="322720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F6A51-3CC9-4712-98E4-A0EB55A5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INTRO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B2C69-6427-4C1E-9231-19D4810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Array NumPy punya function statistik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96C21-53E9-485E-B782-90D3100D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2BCFA-ED57-4D4D-9371-2BF21815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Satu array dapat dipakai untuk menghitung mean, median, dan standar deviasi.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A8243-D780-400A-9AE0-559A3B03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14DDB-7AFE-4400-830E-40D16CE5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8DF79-B882-480C-85DB-B8704224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56345-5581-429A-A740-4A56DA52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655F7-EC92-466E-8F3E-9CB5C9AC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FBA58-4DB5-4085-92B9-DA7D49A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42AB8-756C-49B7-8885-979FA8D3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np.array([72, 85, 90, 68])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print(np.mean(data))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print(np.median(data))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print(np.std(data))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7F5D1-C8BD-4581-B695-50593C05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hasil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46731-33E3-43B7-A99B-1598D144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16E56-144E-48C6-B261-07703452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33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np.mean(data)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18630-6BD0-4EBF-86DB-F6AE74D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78.75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BAC08-D6FE-498C-8CCF-63B542A3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B8DC9-7A65-45E4-9451-E80F29A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np.median(data)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52D26-44A1-4574-A6B1-3680AF34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78.5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72672-9628-462B-982A-CC6743BF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29209-9F8D-47B6-B9C7-680299FE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np.std(data)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6CE06-BDAD-4EFD-ABB1-C65767B5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≈ 9.04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2D6CA-6F17-4CBE-90C3-2EEDA20A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AE68C-33F6-4D5A-8937-56C94D62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Operasi menjadi ringkas, tetapi arti statistiknya tetap perlu dipahami.</a:t>
            </a:r>
          </a:p>
        </p:txBody>
      </p:sp>
    </p:spTree>
    <p:extLst>
      <p:ext uri="{BB962C8B-B14F-4D97-AF65-F5344CB8AC3E}">
        <p14:creationId xmlns:p14="http://schemas.microsoft.com/office/powerpoint/2010/main" val="5164165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D3FE9-0317-4BB0-8250-9EC38EAF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PRACTICE 2  •  15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0FC3C-1830-4D17-8751-540390A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Bandingkan loop manual dan NumPy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33462-BF51-4E38-8692-CB81A29C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D22EC-F5E7-4C01-BB54-E9A0345B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satu dataset yang sama untuk kedua cara.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C0E7F-A341-4BE8-B09D-7D5E9FFC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E7810-61F2-4019-B578-847C1EA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5C8BA-6875-4DF7-A08A-BA47710C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C6F2B-8330-4781-8682-4B41EF96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latihan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49D8A-5F8B-4CA0-A27E-1B89016E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495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A4F38-41B2-4770-829A-D048C53A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0DCFE-FAA8-4B3F-A832-C2081B05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D4F0E-4833-4480-B28B-63B2A2ED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2000C-690B-4819-9179-5E59F74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data_nilai = [72, 85, 90, 68, 88, 76]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37200-A80B-4F61-A807-3B46A7A1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Bandingkan hasil mean manual dengan `np.mean()`.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732E9-8BEC-4F66-92CD-F23D485E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3425E-35DE-4560-9C82-E8CD70BE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Tugas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E40A2-7038-4D3C-AB54-18B1489D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  Hitung mean dengan loop.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2  Hitung mean, median, dan standar deviasi dengan NumPy.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3  Bandingkan hasil mean.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4  Jelaskan arti standar deviasi.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D6D4C-175E-4A71-80DD-8A1E5106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343A3-81A0-4A96-869D-156D3C71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Tulis solusi di notebook. Gunakan data yang sama.</a:t>
            </a:r>
          </a:p>
        </p:txBody>
      </p:sp>
    </p:spTree>
    <p:extLst>
      <p:ext uri="{BB962C8B-B14F-4D97-AF65-F5344CB8AC3E}">
        <p14:creationId xmlns:p14="http://schemas.microsoft.com/office/powerpoint/2010/main" val="20877654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2D6C6-7BBF-4408-A692-58E6DF1A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INTI MATERI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76F26-F652-495D-8ACA-26E9272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Bentuk data menentukan cara kita membacanya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423BE-23EA-47C6-8C78-561E3BC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F67A0-57AE-4C9A-86FD-4F81D16D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Struktur data menjadi fondasi sebelum masuk ke Pandas dan preprocessing.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256DB-4DFD-4909-B7BE-1534258B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FD6A0-E8AC-4F75-B463-D7E13E08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99AAC-4674-4243-9788-07AFDFE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696CA-63BA-48C7-A531-58AF14AA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05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FD13C-5D37-447D-A07B-99DC60A8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37B72-D6F3-42FE-AD60-573C4E7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urutan item dan operasi dasar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0440D-2547-46F4-89B3-484E0B13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DD315-A7BA-4C27-9B51-3B28AD97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43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68D67-6D93-4BDF-BFFB-1557BC8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79118-CCDE-4F0D-A8F7-F924FF7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baris dan kolom dalam 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187FA-DF6A-438B-8A7C-24CC1459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8CF66-8333-4831-B563-F6D75135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05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CEE62-98EC-43CC-8EFD-3A1ABC2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CDAC8-54A7-407F-8475-5DE20397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key dan value yang bermakna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5000C-0077-4F09-8669-5829371F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3A57E-11D0-4471-99D0-A4E9D102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43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D7363-F7D1-4875-8CFA-9EE8F7A0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Dataset dan NumPy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AE10A-A0D1-4BEF-A5F2-EB8728C9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data terstruktur dan statistik ringkas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A5806-4F6B-4232-A0DC-C06BBB1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8A393-0319-49D2-B9F2-3D3BBB1B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Pahami proses manual sebelum memakai library.</a:t>
            </a:r>
          </a:p>
        </p:txBody>
      </p:sp>
    </p:spTree>
    <p:extLst>
      <p:ext uri="{BB962C8B-B14F-4D97-AF65-F5344CB8AC3E}">
        <p14:creationId xmlns:p14="http://schemas.microsoft.com/office/powerpoint/2010/main" val="10642984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92808-57E2-48E7-9A22-EDD2C567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4200B-9AED-4D58-B8A6-F8CC4233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6C842-E986-4BDE-B605-5E510036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16821-FD79-4647-ABFB-EC1C564D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Jawab dengan kalimat singkat atau contoh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F177E-E2A7-4089-8EC0-1F94425D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65710-BA72-43EA-8366-4D6E4D76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D57B9-9D25-4FD8-971F-4A9ED0C5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4E116-93D5-4F93-9B5B-EB8FEEA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193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7FA90-6816-4129-B988-32D996CF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Apa yang diambil oleh `nilai[0][1]`?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CF7AC-40F3-40FF-8AFD-3C1CAFA3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CAFFE-C684-4F74-8400-CC201BFF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38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A9548-F2C3-44CC-B582-0DA84D17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Kapan dictionary lebih membantu daripada list biasa?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569F5-3ECB-4D4F-9EC4-8CDC32F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E3B19-B427-470A-A533-C059B12A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576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87766-DFEF-4A24-8AF2-876CCA36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Apa hubungan proses manual dengan `np.mean()`?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886C6-C9CA-49D7-8955-61704AA4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C7DBC-7F71-474B-8E17-3D7454C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memberi urutan. Dictionary memberi arti. NumPy membantu menghitung.</a:t>
            </a:r>
          </a:p>
        </p:txBody>
      </p:sp>
    </p:spTree>
    <p:extLst>
      <p:ext uri="{BB962C8B-B14F-4D97-AF65-F5344CB8AC3E}">
        <p14:creationId xmlns:p14="http://schemas.microsoft.com/office/powerpoint/2010/main" val="1168897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2026-09-18T10:56:04.4690000Z</dcterms:created>
  <dcterms:modified xsi:type="dcterms:W3CDTF">2026-09-18T10:56:04.4690000Z</dcterms:modified>
</coreProperties>
</file>