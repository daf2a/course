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208d4d7f4431d" /><Relationship Type="http://schemas.openxmlformats.org/officeDocument/2006/relationships/extended-properties" Target="/docProps/app.xml" Id="Re35a12038e0e4d70" /><Relationship Type="http://schemas.openxmlformats.org/officeDocument/2006/relationships/officeDocument" Target="/ppt/presentation.xml" Id="Rafd82673e9aa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f8c9dc63ec4f35"/>
  </p:sldMasterIdLst>
  <p:notesMasterIdLst>
    <p:notesMasterId xmlns:r="http://schemas.openxmlformats.org/officeDocument/2006/relationships" r:id="Ra3d5c7c5615844c6"/>
  </p:notesMasterIdLst>
  <p:sldIdLst>
    <p:sldId xmlns:r="http://schemas.openxmlformats.org/officeDocument/2006/relationships" id="256" r:id="Rc4359f2aad9b4983"/>
    <p:sldId xmlns:r="http://schemas.openxmlformats.org/officeDocument/2006/relationships" id="257" r:id="R4d69cce5ca884413"/>
    <p:sldId xmlns:r="http://schemas.openxmlformats.org/officeDocument/2006/relationships" id="258" r:id="Rffcf345df92d4822"/>
    <p:sldId xmlns:r="http://schemas.openxmlformats.org/officeDocument/2006/relationships" id="259" r:id="R9d2263363f614fb5"/>
    <p:sldId xmlns:r="http://schemas.openxmlformats.org/officeDocument/2006/relationships" id="260" r:id="R0af43ab6fd1c43d9"/>
    <p:sldId xmlns:r="http://schemas.openxmlformats.org/officeDocument/2006/relationships" id="261" r:id="Rd0ff9fee0274483b"/>
    <p:sldId xmlns:r="http://schemas.openxmlformats.org/officeDocument/2006/relationships" id="262" r:id="Rc2e54a4eb9294ba0"/>
    <p:sldId xmlns:r="http://schemas.openxmlformats.org/officeDocument/2006/relationships" id="263" r:id="Rf449a7b2ddf245bb"/>
    <p:sldId xmlns:r="http://schemas.openxmlformats.org/officeDocument/2006/relationships" id="264" r:id="Rb3cf821076ab4f4f"/>
    <p:sldId xmlns:r="http://schemas.openxmlformats.org/officeDocument/2006/relationships" id="265" r:id="Rab1a8466fe9a4f93"/>
    <p:sldId xmlns:r="http://schemas.openxmlformats.org/officeDocument/2006/relationships" id="266" r:id="Ra892fef76b0e47a0"/>
    <p:sldId xmlns:r="http://schemas.openxmlformats.org/officeDocument/2006/relationships" id="267" r:id="Re0f3cffd80694704"/>
    <p:sldId xmlns:r="http://schemas.openxmlformats.org/officeDocument/2006/relationships" id="268" r:id="R96ed8ce69fe84800"/>
    <p:sldId xmlns:r="http://schemas.openxmlformats.org/officeDocument/2006/relationships" id="269" r:id="R8b3961b96d2244ff"/>
    <p:sldId xmlns:r="http://schemas.openxmlformats.org/officeDocument/2006/relationships" id="270" r:id="R57aebc03d0654138"/>
    <p:sldId xmlns:r="http://schemas.openxmlformats.org/officeDocument/2006/relationships" id="271" r:id="R5c72737cf58145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dee42f7cd4c3a" /><Relationship Type="http://schemas.openxmlformats.org/officeDocument/2006/relationships/slideMaster" Target="/ppt/slideMasters/slideMaster1.xml" Id="Rdaf8c9dc63ec4f35" /><Relationship Type="http://schemas.openxmlformats.org/officeDocument/2006/relationships/notesMaster" Target="/ppt/notesMasters/notesMaster1.xml" Id="Ra3d5c7c5615844c6" /><Relationship Type="http://schemas.openxmlformats.org/officeDocument/2006/relationships/presProps" Target="/ppt/presProps.xml" Id="R02bd398574be4bfb" /><Relationship Type="http://schemas.openxmlformats.org/officeDocument/2006/relationships/tableStyles" Target="/ppt/tableStyles.xml" Id="R6f2017343811440a" /><Relationship Type="http://schemas.openxmlformats.org/officeDocument/2006/relationships/slide" Target="/ppt/slides/slide1.xml" Id="Rc4359f2aad9b4983" /><Relationship Type="http://schemas.openxmlformats.org/officeDocument/2006/relationships/slide" Target="/ppt/slides/slide2.xml" Id="R4d69cce5ca884413" /><Relationship Type="http://schemas.openxmlformats.org/officeDocument/2006/relationships/slide" Target="/ppt/slides/slide3.xml" Id="Rffcf345df92d4822" /><Relationship Type="http://schemas.openxmlformats.org/officeDocument/2006/relationships/slide" Target="/ppt/slides/slide4.xml" Id="R9d2263363f614fb5" /><Relationship Type="http://schemas.openxmlformats.org/officeDocument/2006/relationships/slide" Target="/ppt/slides/slide5.xml" Id="R0af43ab6fd1c43d9" /><Relationship Type="http://schemas.openxmlformats.org/officeDocument/2006/relationships/slide" Target="/ppt/slides/slide6.xml" Id="Rd0ff9fee0274483b" /><Relationship Type="http://schemas.openxmlformats.org/officeDocument/2006/relationships/slide" Target="/ppt/slides/slide7.xml" Id="Rc2e54a4eb9294ba0" /><Relationship Type="http://schemas.openxmlformats.org/officeDocument/2006/relationships/slide" Target="/ppt/slides/slide8.xml" Id="Rf449a7b2ddf245bb" /><Relationship Type="http://schemas.openxmlformats.org/officeDocument/2006/relationships/slide" Target="/ppt/slides/slide9.xml" Id="Rb3cf821076ab4f4f" /><Relationship Type="http://schemas.openxmlformats.org/officeDocument/2006/relationships/slide" Target="/ppt/slides/slide10.xml" Id="Rab1a8466fe9a4f93" /><Relationship Type="http://schemas.openxmlformats.org/officeDocument/2006/relationships/slide" Target="/ppt/slides/slide11.xml" Id="Ra892fef76b0e47a0" /><Relationship Type="http://schemas.openxmlformats.org/officeDocument/2006/relationships/slide" Target="/ppt/slides/slide12.xml" Id="Re0f3cffd80694704" /><Relationship Type="http://schemas.openxmlformats.org/officeDocument/2006/relationships/slide" Target="/ppt/slides/slide13.xml" Id="R96ed8ce69fe84800" /><Relationship Type="http://schemas.openxmlformats.org/officeDocument/2006/relationships/slide" Target="/ppt/slides/slide14.xml" Id="R8b3961b96d2244ff" /><Relationship Type="http://schemas.openxmlformats.org/officeDocument/2006/relationships/slide" Target="/ppt/slides/slide15.xml" Id="R57aebc03d0654138" /><Relationship Type="http://schemas.openxmlformats.org/officeDocument/2006/relationships/slide" Target="/ppt/slides/slide16.xml" Id="R5c72737cf58145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72de8e3034e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00d2ccf8b4d97" /><Relationship Type="http://schemas.openxmlformats.org/officeDocument/2006/relationships/notesMaster" Target="/ppt/notesMasters/notesMaster1.xml" Id="Rc2588ec8439f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60649d8204d30" /><Relationship Type="http://schemas.openxmlformats.org/officeDocument/2006/relationships/notesMaster" Target="/ppt/notesMasters/notesMaster1.xml" Id="Ref0e8f5bf4f54c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f6e060bfb42ec" /><Relationship Type="http://schemas.openxmlformats.org/officeDocument/2006/relationships/notesMaster" Target="/ppt/notesMasters/notesMaster1.xml" Id="R4bbf51f9172347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9c1537286b49fa" /><Relationship Type="http://schemas.openxmlformats.org/officeDocument/2006/relationships/notesMaster" Target="/ppt/notesMasters/notesMaster1.xml" Id="R497a2d3f69894f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8d30f754948a5" /><Relationship Type="http://schemas.openxmlformats.org/officeDocument/2006/relationships/notesMaster" Target="/ppt/notesMasters/notesMaster1.xml" Id="Rb31a0a64e4fd4a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639a35a1ac48de" /><Relationship Type="http://schemas.openxmlformats.org/officeDocument/2006/relationships/notesMaster" Target="/ppt/notesMasters/notesMaster1.xml" Id="R60707d3ace6a47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65f05697a4e09" /><Relationship Type="http://schemas.openxmlformats.org/officeDocument/2006/relationships/notesMaster" Target="/ppt/notesMasters/notesMaster1.xml" Id="R3613fc5883d64b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19c010a1c14152" /><Relationship Type="http://schemas.openxmlformats.org/officeDocument/2006/relationships/notesMaster" Target="/ppt/notesMasters/notesMaster1.xml" Id="R7fb6067555124b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12d483ffde420e" /><Relationship Type="http://schemas.openxmlformats.org/officeDocument/2006/relationships/notesMaster" Target="/ppt/notesMasters/notesMaster1.xml" Id="R18e235da72054b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65a4ba85fb4b23" /><Relationship Type="http://schemas.openxmlformats.org/officeDocument/2006/relationships/notesMaster" Target="/ppt/notesMasters/notesMaster1.xml" Id="R73dfdcf4127948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2de04e37ed498b" /><Relationship Type="http://schemas.openxmlformats.org/officeDocument/2006/relationships/notesMaster" Target="/ppt/notesMasters/notesMaster1.xml" Id="Rbb973f86565f47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468ca3b07345ac" /><Relationship Type="http://schemas.openxmlformats.org/officeDocument/2006/relationships/notesMaster" Target="/ppt/notesMasters/notesMaster1.xml" Id="Re336112261b044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b3ef554e9f49a5" /><Relationship Type="http://schemas.openxmlformats.org/officeDocument/2006/relationships/notesMaster" Target="/ppt/notesMasters/notesMaster1.xml" Id="R70ddfff405e24e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186ede56a146df" /><Relationship Type="http://schemas.openxmlformats.org/officeDocument/2006/relationships/notesMaster" Target="/ppt/notesMasters/notesMaster1.xml" Id="R184cfd95e32646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8f75f4b7884a83" /><Relationship Type="http://schemas.openxmlformats.org/officeDocument/2006/relationships/notesMaster" Target="/ppt/notesMasters/notesMaster1.xml" Id="R47fbd58ffedc45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751790c8cc4fa0" /><Relationship Type="http://schemas.openxmlformats.org/officeDocument/2006/relationships/notesMaster" Target="/ppt/notesMasters/notesMaster1.xml" Id="Rc258a355d8ed49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menghubungkan materi sebelumnya. Siswa sudah memakai list, loop, dan function. Sesi ini memperluas bentuk data lalu menunjukkan bagaimana NumPy membantu perhitungan numerik.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Data Structures, https://docs.python.org/3/tutorial/datastructures.html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sesi. Tekankan urutannya. Kita mulai dengan struktur yang sudah dikenal, kemudian memperkenalkan struktur data baru sebelum NumPy.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for_while_loop.ipynb, conditional_statement.ipynb, function_statistic.ipynb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memprediksi hasil tiga print sebelum menjalankan code. Bedakan posisi pertama yang dimulai dari 0 dengan posisi terakhir yang dapat diakses menggunakan -1.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More on Lists, https://docs.python.org/3/tutorial/datastructures.html#more-on-lists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kembali dengan function statistik sebelumnya. Sebelum memakai library, siswa perlu memahami bahwa mean dapat dibangun dari total dibagi jumlah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Built-in Functions, https://docs.python.org/3/library/functions.html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Tulis dua index secara terpisah ketika menjelaskan. `nilai[0]` mengambil baris pertama. `nilai[0][1]` mengambil item kedua dari baris tersebut.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Lists, https://docs.python.org/3/tutorial/introduction.html#lists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membaca variable `siswa` pada setiap putaran. Nilainya berubah dari list pertama ke list kedua, lalu ke list ketiga. Perhitungan masih menggunakan operasi yang sudah dikenal.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Statements,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Bandingkan list dan dictionary. List menekankan posisi. Dictionary menekankan nama key. Tunjukkan bahwa value `nilai` masih dapat berupa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Dictionaries, https://docs.python.org/3/tutorial/datastructures.html#dictionaries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loop dan minta siswa melihat pasangan yang dicetak. Pada bagian berikutnya, pola ini akan dipakai untuk membaca setiap dictionary di dalam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Looping Techniques, https://docs.python.org/3/tutorial/datastructures.html#looping-techniques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Berikan waktu untuk menulis solusi. Periksa apakah siswa membedakan `nilai[0]` dan `nilai[0][1]`. Minta beberapa siswa menjelaskan mengapa `sum(siswa) / len(siswa)` dapat dipakai pada setiap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function_statistic.ipynb dan for_while_loop.ipynb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analogi tabel dengan hati-hati. List of dictionary belum menjadi DataFrame, tetapi bentuknya mulai menyerupai dataset dengan kolom dan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Dictionaries, https://docs.python.org/3/tutorial/datastructures.html#dictionaries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kode secara perlahan. Tanyakan kapan variable `tertinggi` berubah. Tekankan bahwa yang disimpan adalah dictionary lengkap, bukan hanya nilai angkanya.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Statements,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dua code block secara berurutan. Siswa perlu melihat bahwa `np.mean(data)` menggantikan proses manual yang baru saja mereka tulis.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Quickstart, https://numpy.org/doc/stable/user/quickstart.html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Sebutkan bahwa `np.std` pada contoh ini memakai standar deviasi populasi default NumPy. Untuk pengantar, fokuskan siswa pada makna hasil dan perbandingan dengan proses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menyelesaikan proses manual terlebih dahulu, lalu mengulang dengan NumPy. Diskusi terakhir cukup satu kalimat per siswa tentang besar kecilnya standar deviasi.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untuk mengulang jalur pembelajaran. Tanyakan bentuk data apa yang dipakai pada setiap bagian dan mengapa bentuk tersebut sesuai.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function_statistic.ipynb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pertanyaan ini sebagai penutup lisan atau tulisan. Minta siswa menjawab dengan kata-kata sendiri sebelum membuka notebook untuk melihat kembali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Data Structures, https://docs.python.org/3/tutorial/datastructures.html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f533bed154d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638c5ce80d4125" /><Relationship Type="http://schemas.openxmlformats.org/officeDocument/2006/relationships/slideLayout" Target="/ppt/slideLayouts/slideLayout1.xml" Id="R943f4912da83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f4912da83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19036696b435e" /><Relationship Type="http://schemas.openxmlformats.org/officeDocument/2006/relationships/image" Target="/ppt/media/image.png" Id="R008a0af6f26e40de" /><Relationship Type="http://schemas.openxmlformats.org/officeDocument/2006/relationships/notesSlide" Target="/ppt/notesSlides/notesSlide1.xml" Id="R5f20cf28dc41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d5c2b840140da" /><Relationship Type="http://schemas.openxmlformats.org/officeDocument/2006/relationships/notesSlide" Target="/ppt/notesSlides/notesSlide2.xml" Id="R5de190388cab49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a058e1c474ac0" /><Relationship Type="http://schemas.openxmlformats.org/officeDocument/2006/relationships/notesSlide" Target="/ppt/notesSlides/notesSlide3.xml" Id="R098218387575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51a517ec4d8f" /><Relationship Type="http://schemas.openxmlformats.org/officeDocument/2006/relationships/notesSlide" Target="/ppt/notesSlides/notesSlide4.xml" Id="Red21b7bc230b4a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2a4ff44d747c2" /><Relationship Type="http://schemas.openxmlformats.org/officeDocument/2006/relationships/notesSlide" Target="/ppt/notesSlides/notesSlide5.xml" Id="R19a97fd75e1c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46723abe04dfc" /><Relationship Type="http://schemas.openxmlformats.org/officeDocument/2006/relationships/notesSlide" Target="/ppt/notesSlides/notesSlide6.xml" Id="R9b1344a74ac543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ad96f2bcb4d12" /><Relationship Type="http://schemas.openxmlformats.org/officeDocument/2006/relationships/notesSlide" Target="/ppt/notesSlides/notesSlide7.xml" Id="R11dd86b9a1e940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5f53bf8c24caa" /><Relationship Type="http://schemas.openxmlformats.org/officeDocument/2006/relationships/notesSlide" Target="/ppt/notesSlides/notesSlide8.xml" Id="Rb76f03ea1be34b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97e7c9d954810" /><Relationship Type="http://schemas.openxmlformats.org/officeDocument/2006/relationships/notesSlide" Target="/ppt/notesSlides/notesSlide9.xml" Id="R81f3273386e84e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01a4a43b542ca" /><Relationship Type="http://schemas.openxmlformats.org/officeDocument/2006/relationships/notesSlide" Target="/ppt/notesSlides/notesSlide10.xml" Id="Rb0f51453e21a4e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253dd1864050" /><Relationship Type="http://schemas.openxmlformats.org/officeDocument/2006/relationships/notesSlide" Target="/ppt/notesSlides/notesSlide11.xml" Id="R987bcfedaf5245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b244b4db349d8" /><Relationship Type="http://schemas.openxmlformats.org/officeDocument/2006/relationships/notesSlide" Target="/ppt/notesSlides/notesSlide12.xml" Id="Rf5835e9d126f4d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0b00e0e524793" /><Relationship Type="http://schemas.openxmlformats.org/officeDocument/2006/relationships/notesSlide" Target="/ppt/notesSlides/notesSlide13.xml" Id="R0390ee356a40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6fbfc22934048" /><Relationship Type="http://schemas.openxmlformats.org/officeDocument/2006/relationships/notesSlide" Target="/ppt/notesSlides/notesSlide14.xml" Id="Rebb835f49ac242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b487716b04a2a" /><Relationship Type="http://schemas.openxmlformats.org/officeDocument/2006/relationships/notesSlide" Target="/ppt/notesSlides/notesSlide15.xml" Id="R0ef1b434932c44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8e7ad24bf4c67" /><Relationship Type="http://schemas.openxmlformats.org/officeDocument/2006/relationships/notesSlide" Target="/ppt/notesSlides/notesSlide16.xml" Id="R29203af9281a47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a0af6f26e40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DD76C-3947-430D-A167-F68D8B8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LEVEL 1  •  PERTEMUAN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E8928-B724-4063-B99D-4D1B3141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List, Dictionary,</a:t>
            </a:r>
          </a:p>
          <a:p xmlns:a="http://schemas.openxmlformats.org/drawingml/2006/main">
            <a:pPr>
              <a:defRPr sz="31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dan NumPy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E638-8E5E-4CF4-858E-424BA426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Dari data sederhana menuju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BB752-229C-443F-94EE-4CDB6C5D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54B7D-34C2-47D0-A01A-CD487D19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 · nested list · dictionary · NumPy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9E362-3970-451C-850E-C3CC9BF8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96614-690D-4670-BFB4-64C47F9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Membaca, menyusun, dan menghitung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15C22-2B50-4E82-ADF6-86A40695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0E222-0930-45A3-9A5C-418E19F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</p:spTree>
    <p:extLst>
      <p:ext uri="{BB962C8B-B14F-4D97-AF65-F5344CB8AC3E}">
        <p14:creationId xmlns:p14="http://schemas.microsoft.com/office/powerpoint/2010/main" val="204536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F45CF-F5A4-4606-B561-C53D34C2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TARGET BELAJAR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4E06A-5A80-4F34-8A8E-E330829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berubah bentuk saat kita mengolahnya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CB904-005B-4AE1-98E7-225C26C0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1DD64-1583-4520-802D-17CF6DE8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Mulai dari list, lalu susun menjadi dataset dan array numerik.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8A48A-66CD-4E14-8F11-E9F709D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95076-3434-4774-95A7-94103101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9A08E-8EEF-4B66-AE4A-E7277B1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C3B18-3318-4AA1-91EF-69F39A94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05045-882E-4BAD-B0A7-0315BCD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7C4C3-5E64-4B2B-A011-3FC7228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Indexing, slicing, method, dan function bawaan.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F4A0A-5BC2-4E07-BD0F-7B80819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E2948-EAD2-47BB-8168-110E7F7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859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283B8-B7AE-4CB2-A995-7143E622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A2A4D-7F16-4E71-ACC0-52A853AF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Membaca data berbentuk baris dan kolom.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E53D2-9CE4-4731-A352-16A0F969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9F3ED-91C5-40EE-95D3-FBA6197F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ADA87-3CA4-4451-AE41-79200350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B3738-ACDC-4FE4-9083-BFAE7B2C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Menghubungkan key dengan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23B20-330F-44CC-A7A3-A063ACAF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20E93-5C34-4FDD-AB49-76880B7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AE277-E302-4C6C-8BF9-122E22E6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Dataset dan NumPy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357F5-5056-4A79-A2ED-7332B16A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Mengolah list of dictionary dan statistik dasar.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38FEF-4D9D-48CD-95CC-00A2F38D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58DB7-C518-4CAF-AD35-5122FC0B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masuk, struktur membantu, perhitungan menghasilkan informasi.</a:t>
            </a:r>
          </a:p>
        </p:txBody>
      </p:sp>
    </p:spTree>
    <p:extLst>
      <p:ext uri="{BB962C8B-B14F-4D97-AF65-F5344CB8AC3E}">
        <p14:creationId xmlns:p14="http://schemas.microsoft.com/office/powerpoint/2010/main" val="144834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3B567-04CC-47CA-A9AF-AD28715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2047F-E814-4CFD-9C06-D2156B52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menyimpan urutan nilai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75CB0-8B95-46E8-A91B-09533D6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51DA8-F332-4973-B8AD-A57E82CB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 mengambil item, slicing mengambil bagian, method mengubah isi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A95B7-6313-44F0-B02D-BB5B0EA2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66EA7-B0CB-4250-8783-42174922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1467A-C7EB-4614-B619-74FB4A15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714BC-7E1F-4EEE-8FB0-74F1AF98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DECC2-D103-48F8-AAA1-EB547ED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2BD19-C4BF-42C1-A2BB-A6EBAF8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D92A8-626F-4171-8824-4B415A6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 = ["biru", "kuning", "hijau", "merah"]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print(warna[0])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print(warna[-1])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print(warna[1:3])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warna.append("ungu")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warna.remove("kuning")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item = warna.pop()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ACA27-DC1F-443E-813D-81C4E6A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FEFAE-058D-4143-971D-018E51B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indexing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E267F-87BA-43F1-9182-C6D5535D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item berdasarkan posisi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0BFBA-067D-492B-8ACC-D667D87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FF74B-6C43-4AE1-A7E4-38C75926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0303C-0261-4917-958C-EDC1A31F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dari posisi belakang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35FA9-3C56-4B1B-9258-98BE5E9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674C3-992B-4B94-88D8-8EB8377C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slicing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A7E37-BD6D-4488-AE9F-C7D63637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sebagian urutan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4D42E-9383-4794-AEC2-E904DF4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85654-2D6D-4D31-AFF3-CF48368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AB538-D24A-43C5-9CEE-CD4347E4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menambah atau menghapus item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FF249-270B-4FC2-BCD0-90B0708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DB711-4EEB-4250-A922-1EF5A858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`append()` menambah, `remove()` mencari nilai, `pop()` mengambil item.</a:t>
            </a:r>
          </a:p>
        </p:txBody>
      </p:sp>
    </p:spTree>
    <p:extLst>
      <p:ext uri="{BB962C8B-B14F-4D97-AF65-F5344CB8AC3E}">
        <p14:creationId xmlns:p14="http://schemas.microsoft.com/office/powerpoint/2010/main" val="1963487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AFEDC-9BB1-4694-AC39-9506D1D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9D2CE-DCF7-4BB4-821C-FE4535D5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Function bawaan membantu membaca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2938-A812-4814-BA77-143EF499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DA8A1-3C6F-4335-9174-7282555F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Beberapa operasi dasar sudah tersedia di Python.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76D43-12C7-48B2-ABAB-C0F82C4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4F429-7642-4DE2-9ABB-EE33A10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2A367-7AA5-4C4F-B6EA-69EB15A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FAFD0-AD68-4EE2-852A-EEF23355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B299F-4594-40C9-AC81-D07C8A48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AF7B4-A295-4C4B-A4C8-A4D471E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CE3A0-F276-4F05-8BA2-35D2DBF8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876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[72, 85, 90, 68]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print(len(nilai))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print(min(nilai))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print(max(nilai))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print(sorted(nilai))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print(sum(nilai) / len(nilai))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C2A15-9350-40C4-977A-CD8762E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F30A4-458A-4A8C-8065-39798679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len()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5A758-AAC6-484A-8C77-28C95193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menghitung banyak item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FF5BE-FCC5-4672-B99F-96B035E1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B645F-3584-486E-AB95-7A582ECF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min() / max()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90FC4-68A0-4C85-9410-2092566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mencari nilai ekstrem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3006E-9A1E-4C16-8A99-5C556F1E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8C4C6-798C-4491-ADB4-2CADCE04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sum()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923C1-1F37-46CC-A358-F8DC9AF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menghitung total nilai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4493A-E7AE-4627-9A7D-57F1867B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22F6A-97B5-4C8E-9A07-FE744634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sorted()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FC5D4-02A2-4653-8C5C-E938C9D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membuat urutan baru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1F11D-C7AA-4050-A89F-FB67348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A4DD7-728E-43B9-8290-5DE3389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Rata-rata manual dapat ditulis sebagai `sum(nilai) / len(nilai)`.</a:t>
            </a:r>
          </a:p>
        </p:txBody>
      </p:sp>
    </p:spTree>
    <p:extLst>
      <p:ext uri="{BB962C8B-B14F-4D97-AF65-F5344CB8AC3E}">
        <p14:creationId xmlns:p14="http://schemas.microsoft.com/office/powerpoint/2010/main" val="1034909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130CE-EEE5-4FB1-8141-B892F57E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6328-C894-45CC-A4CA-4F48B3B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 menyimpan data 2 dimensi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489C5-6582-48C4-B7FE-3909AD72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B63E5-2688-405E-A235-B597DC2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 pertama memilih baris. Index kedua memilih item di dalam baris.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6DDE0-665C-4D9E-BFD7-A87BDEA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1A4B7-3D05-48AD-9D20-6995053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18041-AD9A-4A05-A2DB-9F67D2D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30F81-A74C-4EAE-A2A7-42EDBD7B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A9AD1-BA2E-4461-8AC3-EB9DF603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7D10A-871D-4966-9140-DCCDBF2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B13A1-CB01-4A82-BD48-E86FE7A0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[80, 90, 85],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[70, 75, 80],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[90, 95, 88]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print(nilai[0])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print(nilai[0][1])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3469A-F908-4DFE-ADBB-9A3512F5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akses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5D6CC-7A40-4794-9CFD-B3C8C91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60BDE-44DD-48EC-B8DE-CC0A341A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nilai[0]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FA50D-DD07-4900-8D78-91F36557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F4F81-5402-4578-924D-C77619C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52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[80, 90, 85]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29DBE-B7FD-4A4C-9986-8ECC66ED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A09B0-020A-4F2E-98F3-13B994E2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nilai[0][1]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D48F4-B862-423E-821A-E9D4E5D5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267E1-91B3-4CB1-8CA7-F5144587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B4178-AE2A-4143-BB67-6D7A3FA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4EFA5-B64E-4ED4-BEF1-9A426C2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Satu nested list dapat mewakili tabel sederhana.</a:t>
            </a:r>
          </a:p>
        </p:txBody>
      </p:sp>
    </p:spTree>
    <p:extLst>
      <p:ext uri="{BB962C8B-B14F-4D97-AF65-F5344CB8AC3E}">
        <p14:creationId xmlns:p14="http://schemas.microsoft.com/office/powerpoint/2010/main" val="249475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A756C-A801-4B4D-A0E7-06F4199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95682-768D-4ADE-975F-6D1A7580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membaca setiap baris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8E5F5-CC3A-4471-965A-5655E430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221CB-5BFF-4175-9819-B45C0CBC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Setiap putaran dapat menghitung statistik untuk satu siswa.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80636-A73D-42D8-B746-33FCA9F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23844-8C2B-4B6F-B0C0-758E0125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47CB0-4903-48E6-96EB-B1DDEA0B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63E26-8B0C-4D6F-9755-DAE283F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27CE0-BDEB-4E35-A52E-B9990EB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9C934-FE8A-40F9-A478-03CD4AD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09DD9-1926-4DDB-B895-FD59289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siswa in nilai: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rata_rata = sum(siswa) / len(siswa)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print(rata_rata)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3F6E9-D9D7-4268-ACD2-B759A529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hasil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8B1EC-892B-4E7C-9F87-59831ED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2D816-F349-4B9D-868B-B240C02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8EA0-0D3F-4D16-8014-97ACB7F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85.0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649FA-8B3B-4923-8596-194102E7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2AB13-C7E4-4BF8-9ECE-1B8BA06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49D2E-97CE-4009-9891-C23500CB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75.0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9E241-BE92-4853-AD6B-7E28768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0CC3C-8FC3-440C-A0FE-B0A74525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4EB5A-AF1C-488D-BA8F-09EF242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91.0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DE99B-6108-498B-97A8-DAD1BEE5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65653-03CA-405C-9202-EF590A8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luar membaca baris. Function list menghitung isi baris.</a:t>
            </a:r>
          </a:p>
        </p:txBody>
      </p:sp>
    </p:spTree>
    <p:extLst>
      <p:ext uri="{BB962C8B-B14F-4D97-AF65-F5344CB8AC3E}">
        <p14:creationId xmlns:p14="http://schemas.microsoft.com/office/powerpoint/2010/main" val="1374658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A7190-35FB-4A96-BE81-DE39629D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6BB41-5E67-4881-8C20-486C24F4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 menghubungkan key dan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89237-34C8-49F2-91DD-0FD04CB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24F32-398D-48AA-BF87-9DC41402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key untuk mengambil data yang memiliki arti.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0DEB6-0B0E-4814-8921-2C0A979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20531-5D8E-4005-A81D-15885334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4144E-DAD4-4D2C-B498-FD0B03E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C8F69-3010-4F6C-AF7B-4F043C8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3CE57-484B-43AC-A11E-FF3E0588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3F226-BD0B-49DE-BB6C-4B4E9977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5174C-611D-4D3D-ACE3-41F30D1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siswa = {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"nama": "Alya",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"umur": 16,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"nilai": [80, 90, 85]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print(siswa["nama"])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print(siswa["nilai"])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81D8D-96BA-4B42-BE76-53BCCF3E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Isi dictionary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8A129-9D66-4AF9-AC85-A3FF07A8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2DF02-519C-47D2-A749-D7DAF2D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"nama"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64312-9213-40FC-97A1-C57A4B46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Alya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7AF04-F571-4186-A39F-941ABAE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F87BF-A87F-4D55-8AA1-F543753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"umur"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CB436-7B8A-4DC7-8A08-EB6B32B8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D86A7-23C0-4953-8188-8D3DC52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D3DEF-BF38-42D2-9636-90CF0C8F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"nilai"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ECDFD-6468-498A-BD64-D733EF82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[80, 90, 85]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15C98-F089-4018-9C2C-CFA682F2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C1249-FBC8-405E-AEA6-F576AC4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Value dapat berupa angka, teks, atau list.</a:t>
            </a:r>
          </a:p>
        </p:txBody>
      </p:sp>
    </p:spTree>
    <p:extLst>
      <p:ext uri="{BB962C8B-B14F-4D97-AF65-F5344CB8AC3E}">
        <p14:creationId xmlns:p14="http://schemas.microsoft.com/office/powerpoint/2010/main" val="1953011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E84DC-D6AF-4C45-AC7C-60338158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D4DF3-FD49-4DAF-9184-7440B524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`.items()` membaca pasangan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9B4D7-53B5-4889-9377-19B90E6B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B514F-F172-4B82-B415-2E0ABD1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Loop dapat membaca key dan value sekaligus.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72517-B8C1-4EF3-8934-D31E5BD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99797-78AC-4784-AF49-0A334F25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035C9-6A1C-429D-8E8C-A541600B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A7DDA-1E93-4FEF-AB19-68486896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6570B-AC6E-4F4D-B9E9-EFC566E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A0E67-76A1-460C-9D87-B13C463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F5352-659F-435C-B45B-71A47AF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key, value in siswa.items():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print(key, value)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ABA13-6A4B-4D56-90D8-354F17F4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229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AA3BC-35B2-48AF-B651-B274C92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79DE1-6DF0-4A05-8D7A-65F8BF13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nama  Alya</a:t>
            </a:r>
          </a:p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umur  16</a:t>
            </a:r>
          </a:p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  [80, 90, 85]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DD862-036F-4722-A61E-3B1AF3EA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AA1D5-03D5-43E1-9977-363094D0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`.items()` cocok untuk memeriksa seluruh isi dictionary.</a:t>
            </a:r>
          </a:p>
        </p:txBody>
      </p:sp>
    </p:spTree>
    <p:extLst>
      <p:ext uri="{BB962C8B-B14F-4D97-AF65-F5344CB8AC3E}">
        <p14:creationId xmlns:p14="http://schemas.microsoft.com/office/powerpoint/2010/main" val="907590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B716D-184D-4571-9127-EC2DF8B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PRACTICE 1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2A127-0FF5-4CCE-84CC-D93C6A6C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Rekap nested list dan dictionary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74110-DF18-4191-8E4D-53BD420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4C219-0DDE-4C10-87E4-D33B32D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index, loop, sum(), dan len().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39541-9B7E-4B43-89AF-376BAA6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1D790-AA7F-402B-8B91-AF32F724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7BF73-BFD6-4A88-8357-EBE95653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BBC35-0610-4F01-8EEB-302C2FF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6E13-8273-4F25-B1AA-C6B44F1E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95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36A2D-3C73-4C0C-A68E-6243525D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4A5A6-DCF1-4280-B9A4-DC2AC5D0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CBAA3-4834-42CC-A556-B48FDDC7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0265C-A387-4009-9850-BB29135A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038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[80, 90, 85],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[70, 75, 80],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[90, 95, 88]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89299-C9F0-4319-A415-D2351A29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4F28E-1547-4CF3-A8DC-47C4840D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9C4EE-D09A-4259-8E64-64199B0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E8E5D-3E85-41CB-9EF9-8482131B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  Tampilkan nilai siswa pertama.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2  Tampilkan nilai kedua siswa pertama.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3  Hitung rata-rata setiap siswa.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4  Buat satu dictionary siswa.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73FD5-BABC-4475-9968-15507A48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17B2C-A73B-4DF7-B954-EBF26328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Kerjakan di notebook. Belum perlu memakai NumPy.</a:t>
            </a:r>
          </a:p>
        </p:txBody>
      </p:sp>
    </p:spTree>
    <p:extLst>
      <p:ext uri="{BB962C8B-B14F-4D97-AF65-F5344CB8AC3E}">
        <p14:creationId xmlns:p14="http://schemas.microsoft.com/office/powerpoint/2010/main" val="1329192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CB408-165B-4232-BFAC-CC8CD28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LIST OF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56DB5-A0E9-45F6-93D4-6714AF3D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of dictionary mulai terasa seperti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37661-DB6B-4E07-94BB-DB53095F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5264A-043C-4BCD-8650-8EC3DB63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Satu dictionary dapat mewakili satu baris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59313-452C-44A2-9D94-E9BDDFB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D708F-923A-4600-92C0-C413D6F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392DA-B012-44D6-9FDF-25D06A1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5C877-6B6C-408C-9373-7628FCF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8CBD7-6DED-4AC4-ABFD-382221E4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9DE34-247C-473A-9D1A-92F036A2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2A638-92BD-4651-806F-00F77D5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4483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data_siswa = [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"Alya", "nilai": 85},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"Budi", "nilai": 72},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"Citra", "nilai": 91}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A2928-6FA3-4A60-A467-2FC6196F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akses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96336-142D-40BE-B8EE-DBBE4C83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CC7A6-2E82-4C2E-8529-1C557380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data_siswa[0]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9DE84-6EA1-4738-BE8D-6C513F8E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Alya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AC992-2927-4D4C-B20D-1C53D2C7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70A9D-B726-4653-985E-ECAF76DD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data_siswa[2]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BAB40-00AE-40F8-BFDC-A4B9324F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Citra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BA3FE-4961-4DEC-85B8-E378F03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3FA11-6986-407C-8FA2-D85DE930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["nilai"]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03386-E0EB-42FD-87C9-86B0849A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335D2-24BA-459A-95D1-16E1C32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0BD73-087A-4294-AEE4-2A60FD27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Key dapat dibaca sebagai nama kolom dataset.</a:t>
            </a:r>
          </a:p>
        </p:txBody>
      </p:sp>
    </p:spTree>
    <p:extLst>
      <p:ext uri="{BB962C8B-B14F-4D97-AF65-F5344CB8AC3E}">
        <p14:creationId xmlns:p14="http://schemas.microsoft.com/office/powerpoint/2010/main" val="336234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EE79F-32A8-4C63-9475-B140D9D6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LIST OF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E74F4-A5FE-4B0C-9A29-8A7DFC3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mengolah setiap baris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CE880-8586-459A-8826-34C05956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847C9-9725-45FC-9175-01779C14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Struktur data dan loop bekerja bersama untuk mencari informasi.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B0D80-3289-4A16-AFBE-E5D6315D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E16A2-1933-4049-B4FD-DB278D7B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7B5F4-D333-4C56-AA37-FD398CFA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B5D94-305D-40FE-9BFF-53430920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E61A4-3355-49ED-AAC4-3FBCCEC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A53EC-8F0A-4FC4-9A12-6572B78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EFE38-4478-4A4C-8B04-C3C0E048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448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total = 0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tertinggi = data_siswa[0]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siswa in data_siswa: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total += siswa["nilai"]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siswa["nilai"] &gt; tertinggi["nilai"]: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tertinggi = siswa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print(total / len(data_siswa))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print(tertinggi["nama"])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95BA4-FBF1-4CD4-BF2B-E6CDB922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FF6D6-CD77-4D2F-92AF-64C81871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Hasil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0E2E5-F11C-4073-B229-AFAB153F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98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Rata-rata</a:t>
            </a:r>
          </a:p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82.67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C3DFD-8E4D-409C-826E-AB0EA7D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Nilai tertinggi</a:t>
            </a:r>
          </a:p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Citra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861BE-B210-41B1-8D3D-3A4A4552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267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BB36B-860F-4760-8D17-6704A4D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996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Kita masih memakai list, dictionary, dan loop yang sudah dipelajari.</a:t>
            </a:r>
          </a:p>
        </p:txBody>
      </p:sp>
    </p:spTree>
    <p:extLst>
      <p:ext uri="{BB962C8B-B14F-4D97-AF65-F5344CB8AC3E}">
        <p14:creationId xmlns:p14="http://schemas.microsoft.com/office/powerpoint/2010/main" val="171548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AD7C7-06A3-45A4-B283-160401F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INTRO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546A7-39D7-4193-8452-55A1FBB1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NumPy merapikan perhitungan yang berulang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DD8AF-0311-4AB8-B74F-1F0006C5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B12CC-94CE-4DB4-9B05-FF6EF14A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Proses manual tetap menjadi dasar untuk memahami hasil library.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F6E47-6FF2-4A11-8D25-7D74EBA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BB402-FF4A-47F1-B462-A44DB71D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BAF02-2C99-46CC-A37F-F6D3394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A0FFD-D2A7-4530-AF7A-C505DA07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83E93-13EF-4309-9367-A663B68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9559B-85A1-4C17-8D79-DA67B54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D9DF2-9735-44BE-A173-6D88E824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3062B-D5AF-4B29-8CCA-881A4F4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495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[72, 85, 90, 68]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nilai in data: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total +=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total / len(data)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0463A-C049-4E56-8943-5E03E32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Dengan NumPy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8E161-B949-462E-A23D-1A294D48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800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630C4-C280-4323-AD05-22F46465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390B1-B520-4420-920C-7052803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92723-F615-401E-B53B-86227175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4B41E-1D8E-43F9-B41E-16617EF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43434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np.array([72, 85, 90, 68])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np.mean(data)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D243D-B93A-4BFB-94F4-77C66F60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541E4-B1C1-4409-8DFB-4EF60F89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Library membantu kita menulis proses yang sama dengan lebih ringkas.</a:t>
            </a:r>
          </a:p>
        </p:txBody>
      </p:sp>
    </p:spTree>
    <p:extLst>
      <p:ext uri="{BB962C8B-B14F-4D97-AF65-F5344CB8AC3E}">
        <p14:creationId xmlns:p14="http://schemas.microsoft.com/office/powerpoint/2010/main" val="16146961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DACF6-5DC5-444C-AC52-41D47B2E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INTRO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3CE6B-E8E0-4E8F-A534-09AEDB78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Array NumPy punya function statistik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35A94-78CC-44AA-8A9E-039C72B4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B2C62-5B5B-4F30-9187-2D7BC8E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Satu array dapat dipakai untuk menghitung mean, median, dan standar deviasi.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15FC7-971C-491E-918C-62EB9C22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03E34-8D51-4A8B-BB4D-DD54E80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8D06B-C44A-4827-99FE-E53B6AF4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EA3F3-1FEA-4E9A-A71C-38D84624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E645A-9786-466B-BA60-929E6503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2C485-7F4E-4854-A658-E35D8F5B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78589-1B90-4DA9-BFC6-ACF9F801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np.array([72, 85, 90, 68])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print(np.mean(data))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print(np.median(data))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print(np.std(data))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0B492-DBAB-463E-953F-A24CF25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hasil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DA9D7-D588-44EF-B73B-43D75BFD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C3AAA-AB2B-4855-B384-981458B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np.mean(data)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74BA0-762D-4BEA-8F57-2DB48632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78.75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63DFC-FDB2-4FA3-A5FB-4121F4CD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EC043-1648-4953-9F7E-54E3738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np.median(data)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49188-AE58-499A-ADB4-1485699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78.5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5B140-67C1-49F7-B057-740423B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D3360-E16C-4F79-92B9-444225D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np.std(data)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AE50D-E4C0-4B57-A10E-7DBEC8F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≈ 9.04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3A219-3049-4D85-92EF-20584CA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DEB48-4CE0-4578-822B-D5816E63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Operasi menjadi ringkas, tetapi arti statistiknya tetap perlu dipahami.</a:t>
            </a:r>
          </a:p>
        </p:txBody>
      </p:sp>
    </p:spTree>
    <p:extLst>
      <p:ext uri="{BB962C8B-B14F-4D97-AF65-F5344CB8AC3E}">
        <p14:creationId xmlns:p14="http://schemas.microsoft.com/office/powerpoint/2010/main" val="7035736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09FDA-0F6A-4483-9253-894DDA85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PRACTICE 2  •  15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9D48D-AFEC-4579-AB2D-2EFD9F3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Bandingkan loop manual dan NumPy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A0CAF-8620-4057-869D-CD3F3DA5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98338-6D6E-4E64-9C56-646B365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satu dataset yang sama untuk kedua cara.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41168-368E-47FB-B022-933663D7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D84F0-35E2-4624-A9BD-9C1FD352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E9DC7-BC8D-47B5-AE6A-A4234924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D897E-164D-4A18-AFE6-09BDA3E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latihan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7B153-3CE6-4FD3-B7EF-A524BA6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495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D8456-0C14-473E-812C-0AD48FA5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81C91-FFE2-478A-9253-268F18F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77350-EDA8-4C6E-A7B2-C878E0BA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F3D05-E727-4F15-B4F7-CA5BB4D5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data_nilai = [72, 85, 90, 68, 88, 76]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8CDF2-F7C3-4A9A-89B9-E4D8FC84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Bandingkan hasil mean manual dengan `np.mean()`.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FC5EA-F054-401C-98C4-5A0AAAE4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D1450-5D9F-4EBF-8252-018C8120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1FE6D-F607-4864-98A2-8459413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  Hitung mean dengan loop.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2  Hitung mean, median, dan standar deviasi dengan NumPy.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3  Bandingkan hasil mean.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4  Jelaskan arti standar deviasi.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34F08-4851-44F5-9FAF-B6BF93AC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1E47C-4DCC-40E1-A4FF-DA227702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Tulis solusi di notebook. Gunakan data yang sama.</a:t>
            </a:r>
          </a:p>
        </p:txBody>
      </p:sp>
    </p:spTree>
    <p:extLst>
      <p:ext uri="{BB962C8B-B14F-4D97-AF65-F5344CB8AC3E}">
        <p14:creationId xmlns:p14="http://schemas.microsoft.com/office/powerpoint/2010/main" val="17748800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1A67D-78B3-4FE0-91FE-85D64B8E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INTI MATERI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497B8-0DFA-404D-8AAE-EA7AA73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Bentuk data menentukan cara kita membacanya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F1E09-4F82-4831-B568-090F2D6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8CA77-EA2D-42B4-8591-43BBB32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Struktur data menjadi fondasi sebelum masuk ke Pandas dan preprocessing.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42A4-A1F8-43F7-B9F0-5BC4514B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C5706-0CD8-4101-A580-CA248D1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10D9A-73CA-4C1A-B1AF-E1AE007F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05D3A-39B6-4CF0-BF6D-428A956B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05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30570-BA82-4596-AEE6-6E3A4CE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8DD2C-3824-447E-99CA-55E19147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urutan item dan operasi dasar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5648D-FC11-42A8-95AE-687FA01F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BA979-DC09-44BC-BDB9-A1E3FD3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E5709-A363-47B5-BBDC-8F811F07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22B3E-8AAC-4F22-99FC-79EBE5EE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baris dan kolom dalam 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717DA-29C4-453E-8E4C-07EB909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02603-ECC1-46C5-B188-60717B5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BE1FA-6AB0-410C-B3D5-872147DD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1D87F-3895-43FA-81E5-2FAC2586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key dan value yang bermakna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29665-5090-47FE-BCEC-1B4A815C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C1179-C796-4DE6-8378-9A6F7E33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15726-8703-4854-BFC3-B0CDE4B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Dataset dan NumPy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639A4-20A5-4307-BC62-B7072A4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data terstruktur dan statistik ringkas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7AE66-0F73-44A1-87B4-C814E900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F9327-3037-4FD2-A87B-CE87819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Pahami proses manual sebelum memakai library.</a:t>
            </a:r>
          </a:p>
        </p:txBody>
      </p:sp>
    </p:spTree>
    <p:extLst>
      <p:ext uri="{BB962C8B-B14F-4D97-AF65-F5344CB8AC3E}">
        <p14:creationId xmlns:p14="http://schemas.microsoft.com/office/powerpoint/2010/main" val="4723432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BEE04-BE2F-4F65-96A0-15A30C4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2D0DA-5092-4885-A9AE-F90320A0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8B7D3-CB6B-4C0E-B0C0-860C9C02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1B84D-96FF-4AFC-A70F-28BC4411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Jawab dengan kalimat singkat atau contoh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342C9-F12C-46BF-BED6-276D9FCF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78469-4333-4CCC-B48A-A93CF62A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F97A0-0214-40E6-9DFF-5A505F7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3AA62-ADE4-485D-8DAD-220AE01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193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06DE5-A08E-4271-A0EC-9C5EF651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Apa yang diambil oleh `nilai[0][1]`?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0D8FE-4410-44B1-9D6F-F448D086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FCE06-26CC-4850-A792-2023B13E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38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320BF-B438-42BC-9A9E-370C8001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Kapan dictionary lebih membantu daripada list biasa?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B5947-9C7F-4891-9D08-A5340DE7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1A65A-5FB9-45D2-ACB3-4B6B97B7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576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AE16E-BEB4-4EB0-8963-EF7167E8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Apa hubungan proses manual dengan `np.mean()`?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18A29-6B14-4427-BFAB-A442D329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F21F7-6BE9-482B-B8A5-C29C703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memberi urutan. Dictionary memberi arti. NumPy membantu menghitung.</a:t>
            </a:r>
          </a:p>
        </p:txBody>
      </p:sp>
    </p:spTree>
    <p:extLst>
      <p:ext uri="{BB962C8B-B14F-4D97-AF65-F5344CB8AC3E}">
        <p14:creationId xmlns:p14="http://schemas.microsoft.com/office/powerpoint/2010/main" val="1665215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2026-09-18T10:54:56.8930000Z</dcterms:created>
  <dcterms:modified xsi:type="dcterms:W3CDTF">2026-09-18T10:54:56.8930000Z</dcterms:modified>
</coreProperties>
</file>