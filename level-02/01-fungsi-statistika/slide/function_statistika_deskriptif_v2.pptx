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865040a6448f6" /><Relationship Type="http://schemas.openxmlformats.org/officeDocument/2006/relationships/extended-properties" Target="/docProps/app.xml" Id="R0aa9e1fac66d4127" /><Relationship Type="http://schemas.openxmlformats.org/officeDocument/2006/relationships/officeDocument" Target="/ppt/presentation.xml" Id="R9482d3642078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23012dbb24fd5"/>
  </p:sldMasterIdLst>
  <p:notesMasterIdLst>
    <p:notesMasterId xmlns:r="http://schemas.openxmlformats.org/officeDocument/2006/relationships" r:id="R29cee9e52fdc491a"/>
  </p:notesMasterIdLst>
  <p:sldIdLst>
    <p:sldId xmlns:r="http://schemas.openxmlformats.org/officeDocument/2006/relationships" id="256" r:id="Re3fb068ecdef495f"/>
    <p:sldId xmlns:r="http://schemas.openxmlformats.org/officeDocument/2006/relationships" id="257" r:id="R5c3f13761eaf42ba"/>
    <p:sldId xmlns:r="http://schemas.openxmlformats.org/officeDocument/2006/relationships" id="258" r:id="R8ab964c3bfa54909"/>
    <p:sldId xmlns:r="http://schemas.openxmlformats.org/officeDocument/2006/relationships" id="259" r:id="Rad64150770244c6f"/>
    <p:sldId xmlns:r="http://schemas.openxmlformats.org/officeDocument/2006/relationships" id="260" r:id="Rf21f7bc18f7c4c2b"/>
    <p:sldId xmlns:r="http://schemas.openxmlformats.org/officeDocument/2006/relationships" id="261" r:id="Ra031799a40ba4847"/>
    <p:sldId xmlns:r="http://schemas.openxmlformats.org/officeDocument/2006/relationships" id="262" r:id="Rbbfa41bf304e4ea5"/>
    <p:sldId xmlns:r="http://schemas.openxmlformats.org/officeDocument/2006/relationships" id="263" r:id="Rc65ede933fee43ce"/>
    <p:sldId xmlns:r="http://schemas.openxmlformats.org/officeDocument/2006/relationships" id="264" r:id="R61e6794254b34588"/>
    <p:sldId xmlns:r="http://schemas.openxmlformats.org/officeDocument/2006/relationships" id="265" r:id="R10cbb36d305347f5"/>
    <p:sldId xmlns:r="http://schemas.openxmlformats.org/officeDocument/2006/relationships" id="266" r:id="Rc628f934f6a64e4d"/>
    <p:sldId xmlns:r="http://schemas.openxmlformats.org/officeDocument/2006/relationships" id="267" r:id="Rb3768317d63e4c1d"/>
    <p:sldId xmlns:r="http://schemas.openxmlformats.org/officeDocument/2006/relationships" id="268" r:id="R8188d34818ff4548"/>
    <p:sldId xmlns:r="http://schemas.openxmlformats.org/officeDocument/2006/relationships" id="269" r:id="Rcd1b0d59a79648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c7432bedbe4234" /><Relationship Type="http://schemas.openxmlformats.org/officeDocument/2006/relationships/slideMaster" Target="/ppt/slideMasters/slideMaster1.xml" Id="R2fc23012dbb24fd5" /><Relationship Type="http://schemas.openxmlformats.org/officeDocument/2006/relationships/notesMaster" Target="/ppt/notesMasters/notesMaster1.xml" Id="R29cee9e52fdc491a" /><Relationship Type="http://schemas.openxmlformats.org/officeDocument/2006/relationships/presProps" Target="/ppt/presProps.xml" Id="Rb31bd333082d46f1" /><Relationship Type="http://schemas.openxmlformats.org/officeDocument/2006/relationships/tableStyles" Target="/ppt/tableStyles.xml" Id="R5d15d6ffc4c64c3e" /><Relationship Type="http://schemas.openxmlformats.org/officeDocument/2006/relationships/slide" Target="/ppt/slides/slide1.xml" Id="Re3fb068ecdef495f" /><Relationship Type="http://schemas.openxmlformats.org/officeDocument/2006/relationships/slide" Target="/ppt/slides/slide2.xml" Id="R5c3f13761eaf42ba" /><Relationship Type="http://schemas.openxmlformats.org/officeDocument/2006/relationships/slide" Target="/ppt/slides/slide3.xml" Id="R8ab964c3bfa54909" /><Relationship Type="http://schemas.openxmlformats.org/officeDocument/2006/relationships/slide" Target="/ppt/slides/slide4.xml" Id="Rad64150770244c6f" /><Relationship Type="http://schemas.openxmlformats.org/officeDocument/2006/relationships/slide" Target="/ppt/slides/slide5.xml" Id="Rf21f7bc18f7c4c2b" /><Relationship Type="http://schemas.openxmlformats.org/officeDocument/2006/relationships/slide" Target="/ppt/slides/slide6.xml" Id="Ra031799a40ba4847" /><Relationship Type="http://schemas.openxmlformats.org/officeDocument/2006/relationships/slide" Target="/ppt/slides/slide7.xml" Id="Rbbfa41bf304e4ea5" /><Relationship Type="http://schemas.openxmlformats.org/officeDocument/2006/relationships/slide" Target="/ppt/slides/slide8.xml" Id="Rc65ede933fee43ce" /><Relationship Type="http://schemas.openxmlformats.org/officeDocument/2006/relationships/slide" Target="/ppt/slides/slide9.xml" Id="R61e6794254b34588" /><Relationship Type="http://schemas.openxmlformats.org/officeDocument/2006/relationships/slide" Target="/ppt/slides/slide10.xml" Id="R10cbb36d305347f5" /><Relationship Type="http://schemas.openxmlformats.org/officeDocument/2006/relationships/slide" Target="/ppt/slides/slide11.xml" Id="Rc628f934f6a64e4d" /><Relationship Type="http://schemas.openxmlformats.org/officeDocument/2006/relationships/slide" Target="/ppt/slides/slide12.xml" Id="Rb3768317d63e4c1d" /><Relationship Type="http://schemas.openxmlformats.org/officeDocument/2006/relationships/slide" Target="/ppt/slides/slide13.xml" Id="R8188d34818ff4548" /><Relationship Type="http://schemas.openxmlformats.org/officeDocument/2006/relationships/slide" Target="/ppt/slides/slide14.xml" Id="Rcd1b0d59a796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5de66d65e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40198b7724e59" /><Relationship Type="http://schemas.openxmlformats.org/officeDocument/2006/relationships/notesMaster" Target="/ppt/notesMasters/notesMaster1.xml" Id="Rad7166d3e7d94e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92ad78b0ea416a" /><Relationship Type="http://schemas.openxmlformats.org/officeDocument/2006/relationships/notesMaster" Target="/ppt/notesMasters/notesMaster1.xml" Id="R8b7f466f9a8e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61e98c1d134bf7" /><Relationship Type="http://schemas.openxmlformats.org/officeDocument/2006/relationships/notesMaster" Target="/ppt/notesMasters/notesMaster1.xml" Id="R78e39087c527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7b67cba334fbd" /><Relationship Type="http://schemas.openxmlformats.org/officeDocument/2006/relationships/notesMaster" Target="/ppt/notesMasters/notesMaster1.xml" Id="R0cae011905fb41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643dea60d4e16" /><Relationship Type="http://schemas.openxmlformats.org/officeDocument/2006/relationships/notesMaster" Target="/ppt/notesMasters/notesMaster1.xml" Id="R6d651dd26ce8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05f7924df74957" /><Relationship Type="http://schemas.openxmlformats.org/officeDocument/2006/relationships/notesMaster" Target="/ppt/notesMasters/notesMaster1.xml" Id="Rd72394aa821a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addbe8e504b95" /><Relationship Type="http://schemas.openxmlformats.org/officeDocument/2006/relationships/notesMaster" Target="/ppt/notesMasters/notesMaster1.xml" Id="R1b8937fc6fb5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7c050127f4bcb" /><Relationship Type="http://schemas.openxmlformats.org/officeDocument/2006/relationships/notesMaster" Target="/ppt/notesMasters/notesMaster1.xml" Id="Rb20fb41b71c649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9fbf415444109" /><Relationship Type="http://schemas.openxmlformats.org/officeDocument/2006/relationships/notesMaster" Target="/ppt/notesMasters/notesMaster1.xml" Id="Rf2a7f5f0bff949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18d01f7e3544b4" /><Relationship Type="http://schemas.openxmlformats.org/officeDocument/2006/relationships/notesMaster" Target="/ppt/notesMasters/notesMaster1.xml" Id="R81f2a5532d124b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86baacb5804580" /><Relationship Type="http://schemas.openxmlformats.org/officeDocument/2006/relationships/notesMaster" Target="/ppt/notesMasters/notesMaster1.xml" Id="Rbaf774b8330942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a8aa5267594f5e" /><Relationship Type="http://schemas.openxmlformats.org/officeDocument/2006/relationships/notesMaster" Target="/ppt/notesMasters/notesMaster1.xml" Id="Rb2dfc8cd384a48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81d9e9784d46e5" /><Relationship Type="http://schemas.openxmlformats.org/officeDocument/2006/relationships/notesMaster" Target="/ppt/notesMasters/notesMaster1.xml" Id="Rbf18e1bbae0a4f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83de9db83d410a" /><Relationship Type="http://schemas.openxmlformats.org/officeDocument/2006/relationships/notesMaster" Target="/ppt/notesMasters/notesMaster1.xml" Id="Rbc36da9f312e4e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 tentang loop dengan function. Function akan menjadi alat untuk membungkus proses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bahwa function menjadi jembatan dari Python dasar ke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dengan loop sebelumnya. Siswa sudah belajar menulis instruksi berulang. Sekarang instruksi dapat dibungkus dalam nama yang bisa dipanggil kembali.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perbedaan perilaku. Untuk function mean, median, dan standar deviasi, siswa harus memakai return karena hasil perhitungan akan dipakai di luar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luas untuk menunjukkan bahwa parameter membuat function tidak terikat pada satu angka tertentu. Hubungkan dengan data list pada slide mean.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ini untuk memperlihatkan bahwa function dapat menggabungkan konsep def, parameter, for loop, return, dan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Jangan tampilkan jawaban di slide. Sediakan starter cell di notebook hanya berisi dataset dan nama function. Minta siswa mengetik implementasinya sendiri.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Sampaikan sebagai extension. Fokus pada dua ide: base case dan recursive call. Tidak perlu menghubungkan recursion ke perhitungan statistik pada sesi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dot plot untuk menunjukkan bahwa mean saja belum cukup. Siswa perlu melihat posisi setiap nilai terhadap pusat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variasi memiliki fungsi praktis dalam pengolahan data. Data dengan mean sama dapat memiliki tingkat konsistensi yang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variansi memakai kuadrat agar selisih negatif dan positif tidak saling menghapus. Akar kuadrat mengembalikan skala ke satuan asli.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di kiri bersifat ilustratif. Fokuskan pembahasan pada bentuk penyebaran, bukan pada nilai statistik grafik.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Sediakan starter cell yang berisi import math, dua dataset, dan function kosong. Siswa mengetik implementasinya. Minta mereka membandingkan hasil, bukan hanya mencetak angka.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pertanyaan ini sebagai exit ticket lisan atau tulisan singkat. Minta siswa menjelaskan dengan kata-kata sendiri, bukan hanya menyebut rumus.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465b3b1be47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ee6a1df2be443f" /><Relationship Type="http://schemas.openxmlformats.org/officeDocument/2006/relationships/slideLayout" Target="/ppt/slideLayouts/slideLayout1.xml" Id="Rab34da0f4378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4da0f4378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24a2439f94dc8" /><Relationship Type="http://schemas.openxmlformats.org/officeDocument/2006/relationships/image" Target="/ppt/media/image.png" Id="R141bb91db6f04d06" /><Relationship Type="http://schemas.openxmlformats.org/officeDocument/2006/relationships/notesSlide" Target="/ppt/notesSlides/notesSlide1.xml" Id="Rf81760cc94cd45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beb1c9cd4e70" /><Relationship Type="http://schemas.openxmlformats.org/officeDocument/2006/relationships/notesSlide" Target="/ppt/notesSlides/notesSlide2.xml" Id="R039c7bc684d443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55cb7808e413e" /><Relationship Type="http://schemas.openxmlformats.org/officeDocument/2006/relationships/notesSlide" Target="/ppt/notesSlides/notesSlide3.xml" Id="R5ce0be014c1a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2780a49b2456e" /><Relationship Type="http://schemas.openxmlformats.org/officeDocument/2006/relationships/notesSlide" Target="/ppt/notesSlides/notesSlide4.xml" Id="R310d5b9fb899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daee2a064f13" /><Relationship Type="http://schemas.openxmlformats.org/officeDocument/2006/relationships/notesSlide" Target="/ppt/notesSlides/notesSlide5.xml" Id="R4c40a9b0118549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4752b45bf4a5f" /><Relationship Type="http://schemas.openxmlformats.org/officeDocument/2006/relationships/notesSlide" Target="/ppt/notesSlides/notesSlide6.xml" Id="R24d53413dc0947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8a17659b4b35" /><Relationship Type="http://schemas.openxmlformats.org/officeDocument/2006/relationships/notesSlide" Target="/ppt/notesSlides/notesSlide7.xml" Id="R3ce58a252a6d4d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bcbac0e10489a" /><Relationship Type="http://schemas.openxmlformats.org/officeDocument/2006/relationships/notesSlide" Target="/ppt/notesSlides/notesSlide8.xml" Id="R69e8cf0125a4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dc16a880440a3" /><Relationship Type="http://schemas.openxmlformats.org/officeDocument/2006/relationships/notesSlide" Target="/ppt/notesSlides/notesSlide9.xml" Id="Reb2fde18b556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24e4131014330" /><Relationship Type="http://schemas.openxmlformats.org/officeDocument/2006/relationships/notesSlide" Target="/ppt/notesSlides/notesSlide10.xml" Id="R5dfd79d2cca849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7830a7574748" /><Relationship Type="http://schemas.openxmlformats.org/officeDocument/2006/relationships/notesSlide" Target="/ppt/notesSlides/notesSlide11.xml" Id="R94a951f7d1ab45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0ceadad3849a7" /><Relationship Type="http://schemas.openxmlformats.org/officeDocument/2006/relationships/notesSlide" Target="/ppt/notesSlides/notesSlide12.xml" Id="R70b10763cf484b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3ba570fc24d53" /><Relationship Type="http://schemas.openxmlformats.org/officeDocument/2006/relationships/notesSlide" Target="/ppt/notesSlides/notesSlide13.xml" Id="Rbb0f02aba5de41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705fa5de44910" /><Relationship Type="http://schemas.openxmlformats.org/officeDocument/2006/relationships/notesSlide" Target="/ppt/notesSlides/notesSlide14.xml" Id="Rf597965dd14b41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bb91db6f04d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6D1F0-C538-4EA4-8C93-24FFB38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LEVEL 1  •  PERTEMUAN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0DDA-65A3-4E59-83D9-6C84DF2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untuk</a:t>
            </a:r>
          </a:p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Mengolah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58F9-6177-4718-ADF6-61040D5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Mean, median, modus, variasi,</a:t>
            </a:r>
          </a:p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dan standar deviasi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BA2F4-BBA6-4AE1-B361-35F4E093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FB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5F2C6-2229-482D-92A4-4C6493C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function Python untuk membaca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FB163-138D-4526-8EE1-1E3BFDDA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EKKA / OSN KECERDASAN ARTIFISIAL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81316-9B48-4B9D-AB62-7716A23E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92976-4D01-488F-9610-CACF9C2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</p:spTree>
    <p:extLst>
      <p:ext uri="{BB962C8B-B14F-4D97-AF65-F5344CB8AC3E}">
        <p14:creationId xmlns:p14="http://schemas.microsoft.com/office/powerpoint/2010/main" val="1848989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8C1E3-4AC5-4140-92F6-3D314FD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60812-6842-45A3-BCE4-10FD8AFA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dan statistik dasar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6117A-5E7C-4144-A29B-59D524DB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7A28-547F-4541-B469-2F242E8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 akhir sesi, siswa dapat membuat function untuk mengolah list angka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1F2B-ACA7-4434-AF9D-D4385D6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99D5A-5991-4408-BB9C-31FD96D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DD828-97AD-472B-8294-F81FF93A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200E0-84C6-40B7-871D-C04BD62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EB06E-7B12-49C3-937F-B2F6E281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Membuat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743ED-18E9-4459-8B5A-3CCD09C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def, nama function, dan blok instruksi.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04EEC-737A-47E5-B939-FECCF9A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90D70-BC31-43FE-B37A-39081B0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B9B88-1F7B-46C0-86E9-2D468F6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Mengembalikan nilai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D0F35-18C0-412A-B365-0D374D7A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Membedakan print() dengan return.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56246-2218-4F07-84DA-5A3C4744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7F6CB-377B-4F8F-8E49-DE5BF14F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37D84-FD49-454B-861B-5B6A033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Mengolah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B7337-FC69-4A05-A2DA-97200338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Menghitung mean, median, modus, dan rentang.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14FD4-D35E-4F90-BD94-DA90882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32B56-7316-49BF-97F9-A8D17D49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D140C-702C-4C11-955F-ACFBB73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Membaca penyebaran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6D9C0-9ACB-4896-B804-9FEA8135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Menjelaskan variasi dan standar deviasi.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27315-E10E-43E3-89CF-212753A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0B29F-4EB5-4987-A426-A038578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 masuk, function menghitung, hasil membantu kita membaca data.</a:t>
            </a:r>
          </a:p>
        </p:txBody>
      </p:sp>
    </p:spTree>
    <p:extLst>
      <p:ext uri="{BB962C8B-B14F-4D97-AF65-F5344CB8AC3E}">
        <p14:creationId xmlns:p14="http://schemas.microsoft.com/office/powerpoint/2010/main" val="372131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F412F-345D-4BA4-A38D-B9066C5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4EEE-E3E0-4764-B818-92F465E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menyimpan langkah yang dipakai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D7C8D-C41A-4EBF-B46E-5F031475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A7AA-7EDB-4851-9977-590EC4CE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Loop mengulang langkah. Function memberi nama pada langkah tersebut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DDEAB-F67F-4D5E-B6DF-E57BD436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28203-0AC1-42A6-8F52-B8C1299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function-code">
            <a:extLst xmlns:a="http://schemas.openxmlformats.org/drawingml/2006/main">
              <a:ext uri="{FF2B5EF4-FFF2-40B4-BE49-F238E27FC236}">
                <a16:creationId xmlns:a16="http://schemas.microsoft.com/office/drawing/2014/main" id="{C19911E2-63D5-45CA-91E0-51C14754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function-code-dot-1">
            <a:extLst xmlns:a="http://schemas.openxmlformats.org/drawingml/2006/main">
              <a:ext uri="{FF2B5EF4-FFF2-40B4-BE49-F238E27FC236}">
                <a16:creationId xmlns:a16="http://schemas.microsoft.com/office/drawing/2014/main" id="{1C51230A-5371-446F-9B41-3608D21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unction-code-dot-2">
            <a:extLst xmlns:a="http://schemas.openxmlformats.org/drawingml/2006/main">
              <a:ext uri="{FF2B5EF4-FFF2-40B4-BE49-F238E27FC236}">
                <a16:creationId xmlns:a16="http://schemas.microsoft.com/office/drawing/2014/main" id="{C80CA8D0-B6B5-4BCA-A0B0-1BFD16B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unction-code-dot-3">
            <a:extLst xmlns:a="http://schemas.openxmlformats.org/drawingml/2006/main">
              <a:ext uri="{FF2B5EF4-FFF2-40B4-BE49-F238E27FC236}">
                <a16:creationId xmlns:a16="http://schemas.microsoft.com/office/drawing/2014/main" id="{7381238A-63FD-4358-8A91-4FE5D7F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D6A1C-8DBD-4D43-BB8B-5D87C57D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sapa(nama):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print(f"Halo, {nama}!")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sapa("Alya")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BDA3E-2508-48E0-83F8-6FC0952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 memiliki tiga bagian penting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6FCBD-D6F3-40C6-A206-746FA4E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196B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BC34D-D9AE-4D0E-8966-AB1F8652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def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D435F-D3B8-42E9-9E32-5CEDE09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kata kunci untuk membuat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10A85-9FED-462A-91DA-54D8513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0B1DE-F551-4665-BCCB-7A6F6AA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741F5-BFA7-4AF3-A1A9-4D78FF8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nama yang dipanggil saat function digunakan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06A4D-0CF0-4E73-A4BD-9997461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61E6D-A368-47BC-BE33-B2423EBD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64C38-65C9-4CC6-AEE6-23DA11C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input yang diterima 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A4B5D-546B-4CD1-B93A-B545430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33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B4E7C-6620-4115-B233-4A40A6E8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Function dipanggil dengan menuliskan namanya.</a:t>
            </a:r>
          </a:p>
        </p:txBody>
      </p:sp>
    </p:spTree>
    <p:extLst>
      <p:ext uri="{BB962C8B-B14F-4D97-AF65-F5344CB8AC3E}">
        <p14:creationId xmlns:p14="http://schemas.microsoft.com/office/powerpoint/2010/main" val="309994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ED981-C491-48D9-A875-07878DB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B7880-D0CA-468D-B553-A34D5453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print() menampilkan, return mengembalikan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40F47-39FC-48CF-A738-4D235393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4ECE6-0F67-4FDE-A189-7C02E88D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Untuk function statistik, hasil perlu dikembalikan agar bisa dipakai lagi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3CE5-C61F-45C2-88CA-17350FBD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E828F-A748-4016-BDE7-782FA90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832DB-DCF8-45C7-8D84-EF0BE7F4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EFB57-D2FD-4210-BD5C-311DF60A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print()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54260-6996-486B-B391-D170176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terlihat di layar</a:t>
            </a:r>
          </a:p>
        </p:txBody>
      </p:sp>
      <p:sp>
        <p:nvSpPr>
          <p:cNvPr id="10" name="print-code">
            <a:extLst xmlns:a="http://schemas.openxmlformats.org/drawingml/2006/main">
              <a:ext uri="{FF2B5EF4-FFF2-40B4-BE49-F238E27FC236}">
                <a16:creationId xmlns:a16="http://schemas.microsoft.com/office/drawing/2014/main" id="{06B080E2-388B-4242-89C2-6ABFE3A5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1" name="print-code-dot-1">
            <a:extLst xmlns:a="http://schemas.openxmlformats.org/drawingml/2006/main">
              <a:ext uri="{FF2B5EF4-FFF2-40B4-BE49-F238E27FC236}">
                <a16:creationId xmlns:a16="http://schemas.microsoft.com/office/drawing/2014/main" id="{ECDC421D-82F6-49B6-8045-9D99361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-code-dot-2">
            <a:extLst xmlns:a="http://schemas.openxmlformats.org/drawingml/2006/main">
              <a:ext uri="{FF2B5EF4-FFF2-40B4-BE49-F238E27FC236}">
                <a16:creationId xmlns:a16="http://schemas.microsoft.com/office/drawing/2014/main" id="{BD374D72-5D16-4018-BFFD-533D3A35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nt-code-dot-3">
            <a:extLst xmlns:a="http://schemas.openxmlformats.org/drawingml/2006/main">
              <a:ext uri="{FF2B5EF4-FFF2-40B4-BE49-F238E27FC236}">
                <a16:creationId xmlns:a16="http://schemas.microsoft.com/office/drawing/2014/main" id="{B63D922E-418E-4C39-AFEB-A63AE7A9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4EADB-0CFB-49BF-8D2F-99B3B436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luas_print(p,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print(p * 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luas_print(4, 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126A7-D1A6-4602-B0D7-8E5CA56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8D9F7-BFDF-400D-9F3D-4CFE9B0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6F183-B099-4A7C-9036-1733307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bisa disimpan dan dihitung lagi</a:t>
            </a:r>
          </a:p>
        </p:txBody>
      </p:sp>
      <p:sp>
        <p:nvSpPr>
          <p:cNvPr id="18" name="return-code">
            <a:extLst xmlns:a="http://schemas.openxmlformats.org/drawingml/2006/main">
              <a:ext uri="{FF2B5EF4-FFF2-40B4-BE49-F238E27FC236}">
                <a16:creationId xmlns:a16="http://schemas.microsoft.com/office/drawing/2014/main" id="{7BC326BB-A2F8-4FEA-96A8-760452B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9" name="return-code-dot-1">
            <a:extLst xmlns:a="http://schemas.openxmlformats.org/drawingml/2006/main">
              <a:ext uri="{FF2B5EF4-FFF2-40B4-BE49-F238E27FC236}">
                <a16:creationId xmlns:a16="http://schemas.microsoft.com/office/drawing/2014/main" id="{1EE64908-0833-4C61-BECA-6EB4349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turn-code-dot-2">
            <a:extLst xmlns:a="http://schemas.openxmlformats.org/drawingml/2006/main">
              <a:ext uri="{FF2B5EF4-FFF2-40B4-BE49-F238E27FC236}">
                <a16:creationId xmlns:a16="http://schemas.microsoft.com/office/drawing/2014/main" id="{39F60D36-CDEC-4463-BFFE-8FD76AF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turn-code-dot-3">
            <a:extLst xmlns:a="http://schemas.openxmlformats.org/drawingml/2006/main">
              <a:ext uri="{FF2B5EF4-FFF2-40B4-BE49-F238E27FC236}">
                <a16:creationId xmlns:a16="http://schemas.microsoft.com/office/drawing/2014/main" id="{1B458093-66C2-48D8-B64B-CBBD20F0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FE3A5-F3CC-497C-8E6A-4CB0FBC4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5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luas_return(p,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 *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hasil = luas_return(4, 3)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print(hasil + 2)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EB643-EAD5-4757-BF14-A8CAEE1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B746E-C715-4284-BF8F-D2D540E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print() → layar        return → nilai yang bisa dipakai</a:t>
            </a:r>
          </a:p>
        </p:txBody>
      </p:sp>
    </p:spTree>
    <p:extLst>
      <p:ext uri="{BB962C8B-B14F-4D97-AF65-F5344CB8AC3E}">
        <p14:creationId xmlns:p14="http://schemas.microsoft.com/office/powerpoint/2010/main" val="1157820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985C4-1A3C-48C5-A076-438D0A7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BF990-027C-4B32-BADD-91ECD53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membuat function bisa dipakai untuk banyak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0B4F-1515-4812-B24E-F6F10DB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9DE0E-FB45-4252-8F62-68D3E3B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Parameter adalah nama untuk input yang diterima function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72D68-A23C-42EC-AAB3-5C597EF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D7E80-876E-4DB2-B5DB-7312980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parameter-code">
            <a:extLst xmlns:a="http://schemas.openxmlformats.org/drawingml/2006/main">
              <a:ext uri="{FF2B5EF4-FFF2-40B4-BE49-F238E27FC236}">
                <a16:creationId xmlns:a16="http://schemas.microsoft.com/office/drawing/2014/main" id="{7C4BD344-B514-4D3A-88E9-1FACAD83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19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parameter-code-dot-1">
            <a:extLst xmlns:a="http://schemas.openxmlformats.org/drawingml/2006/main">
              <a:ext uri="{FF2B5EF4-FFF2-40B4-BE49-F238E27FC236}">
                <a16:creationId xmlns:a16="http://schemas.microsoft.com/office/drawing/2014/main" id="{E46A248A-685F-4315-B3F3-1CB284B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meter-code-dot-2">
            <a:extLst xmlns:a="http://schemas.openxmlformats.org/drawingml/2006/main">
              <a:ext uri="{FF2B5EF4-FFF2-40B4-BE49-F238E27FC236}">
                <a16:creationId xmlns:a16="http://schemas.microsoft.com/office/drawing/2014/main" id="{4A68D668-3EC9-4ECB-9C69-72E60179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ameter-code-dot-3">
            <a:extLst xmlns:a="http://schemas.openxmlformats.org/drawingml/2006/main">
              <a:ext uri="{FF2B5EF4-FFF2-40B4-BE49-F238E27FC236}">
                <a16:creationId xmlns:a16="http://schemas.microsoft.com/office/drawing/2014/main" id="{8BE99791-F444-46A0-AE22-491C5E3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9C8B9-511D-48EF-B0C2-A7AAF87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5162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luas_persegi(panjang, lebar):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panjang * lebar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luas_persegi(4, 3)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luas_persegi(10, 2)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9ED47-51B5-45BB-ADEB-B04C5E0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dan argument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B333E-B99A-428D-AA13-89E8428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12483-24F2-4FEE-99BF-88D251FD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C6CD4-0C3D-413D-9D5C-25B8A224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2EE68-D20A-44BF-A942-286F50EC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86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panjang, lebar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E1E09-6CBD-4118-893E-F3983830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1A32F-9703-4477-B95F-4122DAA5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9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Argument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83C2E-5B42-4CA4-B771-8E6BC21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5FEA0-DA70-40E1-ABA0-FE941EB0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4, 3 atau 10,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A9C05-B8AB-4C38-A0DE-E8948ED3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6ADA4-6A4C-457D-813C-97BBA8B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Hasil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A2FFF-7A65-4B23-8889-7BBD8854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DB3D1-9DFB-49C3-9F04-97F5A46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38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12 atau 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957AC-99AE-4C6A-9611-EF3E9AD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3962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08D10-1A37-4E21-BEB3-2918E64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435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function, banyak kemungkinan input.</a:t>
            </a:r>
          </a:p>
        </p:txBody>
      </p:sp>
    </p:spTree>
    <p:extLst>
      <p:ext uri="{BB962C8B-B14F-4D97-AF65-F5344CB8AC3E}">
        <p14:creationId xmlns:p14="http://schemas.microsoft.com/office/powerpoint/2010/main" val="1094159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EB864-6AAB-4B04-92C0-5DA488BE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CONTOH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4BEBE-DC13-468E-B5CC-8C294CCA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 menjadi function pertama untuk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CC393-F718-4874-B9B3-8CBBC7A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186C2-EE15-45C7-AB9C-A673CC79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Function menerima list, menghitung jumlah, lalu mengembalikan rata-rata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7454B-D59D-4860-9F0A-97F78E8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3278B-E6DB-4182-A301-6EBF8F2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mean-code">
            <a:extLst xmlns:a="http://schemas.openxmlformats.org/drawingml/2006/main">
              <a:ext uri="{FF2B5EF4-FFF2-40B4-BE49-F238E27FC236}">
                <a16:creationId xmlns:a16="http://schemas.microsoft.com/office/drawing/2014/main" id="{902CEF3A-F786-43D6-959B-A211E03C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mean-code-dot-1">
            <a:extLst xmlns:a="http://schemas.openxmlformats.org/drawingml/2006/main">
              <a:ext uri="{FF2B5EF4-FFF2-40B4-BE49-F238E27FC236}">
                <a16:creationId xmlns:a16="http://schemas.microsoft.com/office/drawing/2014/main" id="{A8A71FED-F35E-466C-B697-92BEBFBF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an-code-dot-2">
            <a:extLst xmlns:a="http://schemas.openxmlformats.org/drawingml/2006/main">
              <a:ext uri="{FF2B5EF4-FFF2-40B4-BE49-F238E27FC236}">
                <a16:creationId xmlns:a16="http://schemas.microsoft.com/office/drawing/2014/main" id="{7D9EDA39-C81E-499F-84E5-9F3C8C2F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an-code-dot-3">
            <a:extLst xmlns:a="http://schemas.openxmlformats.org/drawingml/2006/main">
              <a:ext uri="{FF2B5EF4-FFF2-40B4-BE49-F238E27FC236}">
                <a16:creationId xmlns:a16="http://schemas.microsoft.com/office/drawing/2014/main" id="{5287D56D-757A-438F-B8ED-0DBA6B3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91761-D67D-4423-8022-9E46CE6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2578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hitung_mean(data):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for nilai in data: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total / len(data)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 = [70, 80, 75, 90]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print(hitung_mean(nilai))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2053F-4009-4BD4-93FC-890BE18E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B1CB1-9F22-4F8C-B357-7DE6E1AE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4000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33210-BEC1-443C-97EB-BC472118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jumlah seluruh nilai / banyak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E88AE-6583-4087-8641-528D32B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Proses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81F42-1889-4DAF-BBEA-FAC8B09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52A3F-8B19-4D34-9641-BE15B9D5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D6EF0-783C-42F0-AB8E-F45C2680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70, 80, 75, 90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E36BB-6652-4174-90E4-38F59778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32C8B-2B52-4D15-B9D7-A87C9D8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60D25-F36F-4C9A-9957-1110D4C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jumlah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F05CE-F9D7-41A7-95B5-E3181E8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FFCFF-8A87-465A-BC59-8106E54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702E5-7F79-4EBA-A0C9-1399C401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7FBFE-5271-41B8-B41E-E2119BF9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7CE4C-A2AD-4460-9905-8AB68C8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78.75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7E6AB-7EF7-4AD0-AED8-5685E69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Perulangan dari pertemuan sebelumnya membantu menjumlahkan nilai.</a:t>
            </a:r>
          </a:p>
        </p:txBody>
      </p:sp>
    </p:spTree>
    <p:extLst>
      <p:ext uri="{BB962C8B-B14F-4D97-AF65-F5344CB8AC3E}">
        <p14:creationId xmlns:p14="http://schemas.microsoft.com/office/powerpoint/2010/main" val="885052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16625-846A-4FE0-980D-484CCD5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B9F19-79CA-4741-8484-BE8CD18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Tiga statistik sederhana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507DA-88BA-4708-A6B6-500771D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C44A-8E15-4580-8B18-72BE551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Tulis function yang mengembalikan median, modus, dan rentang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3AFB1-4153-4AC1-AC4C-02341767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A539-8C9E-4DA5-8C2C-E519CD6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85948-A2BE-4A55-A929-72B35F29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F2ABE-D02C-4B7D-8A08-EEF52D9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Dataset</a:t>
            </a:r>
          </a:p>
        </p:txBody>
      </p:sp>
      <p:sp>
        <p:nvSpPr>
          <p:cNvPr id="9" name="hands-on-one-data">
            <a:extLst xmlns:a="http://schemas.openxmlformats.org/drawingml/2006/main">
              <a:ext uri="{FF2B5EF4-FFF2-40B4-BE49-F238E27FC236}">
                <a16:creationId xmlns:a16="http://schemas.microsoft.com/office/drawing/2014/main" id="{8D7D48FA-30A4-4FE9-B3E0-C3A76A8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005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0" name="hands-on-one-data-dot-1">
            <a:extLst xmlns:a="http://schemas.openxmlformats.org/drawingml/2006/main">
              <a:ext uri="{FF2B5EF4-FFF2-40B4-BE49-F238E27FC236}">
                <a16:creationId xmlns:a16="http://schemas.microsoft.com/office/drawing/2014/main" id="{A70BFE8F-E5A7-43F9-8B2D-EA26A96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ands-on-one-data-dot-2">
            <a:extLst xmlns:a="http://schemas.openxmlformats.org/drawingml/2006/main">
              <a:ext uri="{FF2B5EF4-FFF2-40B4-BE49-F238E27FC236}">
                <a16:creationId xmlns:a16="http://schemas.microsoft.com/office/drawing/2014/main" id="{0EC20392-A2EB-4B59-A752-8456D68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nds-on-one-data-dot-3">
            <a:extLst xmlns:a="http://schemas.openxmlformats.org/drawingml/2006/main">
              <a:ext uri="{FF2B5EF4-FFF2-40B4-BE49-F238E27FC236}">
                <a16:creationId xmlns:a16="http://schemas.microsoft.com/office/drawing/2014/main" id="{B2F40F67-044B-414B-A71B-4DFCF03E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E8E1C-EEF3-4E8A-83B0-6922DA5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data_nilai = [72, 85, 72,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90, 68, 75,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85, 72, 88]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8043F-8EC4-4442-B93E-D6E5A875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9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data baru ini. Jangan menyalin function mean.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442C6-F236-46C2-982C-112D90B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276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40D43-E66E-4AA1-A27F-6181C26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A7053-44B0-4C23-B0B3-DF9DA27C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hitung_median(data)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hitung_modus(data)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hitung_rentang(data)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return dan parameter data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Tampilkan hasil dengan print()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434AD-4064-4BCA-BE69-DAA03DE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572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F91A7-758B-4216-8527-94CA4768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Batasan: jangan gunakan statistics.median atau statistics.mode.</a:t>
            </a:r>
          </a:p>
        </p:txBody>
      </p:sp>
    </p:spTree>
    <p:extLst>
      <p:ext uri="{BB962C8B-B14F-4D97-AF65-F5344CB8AC3E}">
        <p14:creationId xmlns:p14="http://schemas.microsoft.com/office/powerpoint/2010/main" val="161131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3DE35-84BB-42DC-96FF-59E7597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5E1FC-032B-4169-8201-E432D9C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Recursive function memanggil dirinya sendiri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E73E0-DBFB-44BB-A556-5E2039B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6326D-40F2-46DF-89A4-B2CEF67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pemanggilan harus mendekati kondisi berhenti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7AC65-4BCC-4165-9384-B8F3A7F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05225-D602-4D8C-A595-27F1B93E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recursive-code">
            <a:extLst xmlns:a="http://schemas.openxmlformats.org/drawingml/2006/main">
              <a:ext uri="{FF2B5EF4-FFF2-40B4-BE49-F238E27FC236}">
                <a16:creationId xmlns:a16="http://schemas.microsoft.com/office/drawing/2014/main" id="{9B830DEE-7CE9-4721-A930-6B25EF2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recursive-code-dot-1">
            <a:extLst xmlns:a="http://schemas.openxmlformats.org/drawingml/2006/main">
              <a:ext uri="{FF2B5EF4-FFF2-40B4-BE49-F238E27FC236}">
                <a16:creationId xmlns:a16="http://schemas.microsoft.com/office/drawing/2014/main" id="{CB4F046D-7CBD-48C9-9AE1-6B410A6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ursive-code-dot-2">
            <a:extLst xmlns:a="http://schemas.openxmlformats.org/drawingml/2006/main">
              <a:ext uri="{FF2B5EF4-FFF2-40B4-BE49-F238E27FC236}">
                <a16:creationId xmlns:a16="http://schemas.microsoft.com/office/drawing/2014/main" id="{C40B7B3F-1EEC-4E7F-929F-E415793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ursive-code-dot-3">
            <a:extLst xmlns:a="http://schemas.openxmlformats.org/drawingml/2006/main">
              <a:ext uri="{FF2B5EF4-FFF2-40B4-BE49-F238E27FC236}">
                <a16:creationId xmlns:a16="http://schemas.microsoft.com/office/drawing/2014/main" id="{D07EC51C-0848-4D4A-8A8E-518CE0A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A182C-5AB8-49EC-A09C-AAA0E2C2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hitung_mundur(n):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0: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print(n)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hitung_mundur(n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hitung_mundur(3)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7BD25-0663-43B9-A267-E273362E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Pola recursive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D540E-BE1D-410C-BD1E-E997363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B706E-180E-4006-A482-0265CB1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E5469-EFB4-4747-9326-FCDE6B2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BB60F-9CF7-4A4E-B3E2-215F635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4B42F-4392-4F54-AE0B-9C2753C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575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FE810-91E6-4E0B-BD3D-CD4073A2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8A222-0F52-4419-B133-BB53475C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43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EBE9B-61EB-4A9A-B7D5-5FCEFC8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850A8-11FD-4D6B-95A4-0C5696F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3232F-FF19-4ED1-B6CD-78F0F05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10E62-37EB-4EEE-BD4E-B108589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E5EEB-2189-4EFA-8931-20D7660C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AFF33-A073-4ECC-B504-9847970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42E41-FCEC-4D36-8A86-44E62B7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A1E36-9882-41B2-AC3D-B19BE08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berhenti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02696-151F-4F86-9DE0-627D8272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F276E-A8B3-4093-8E68-1E867FD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4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Kondisi berhenti mencegah function berjalan tanpa akhir.</a:t>
            </a:r>
          </a:p>
        </p:txBody>
      </p:sp>
    </p:spTree>
    <p:extLst>
      <p:ext uri="{BB962C8B-B14F-4D97-AF65-F5344CB8AC3E}">
        <p14:creationId xmlns:p14="http://schemas.microsoft.com/office/powerpoint/2010/main" val="906544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CC8891-0FE1-4762-B1BB-CACD8D2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VARIASI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0BB40-B603-4A0F-8B5A-79F8FB2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menunjukkan seberapa menyebar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6B71B-E19B-4FAA-883E-DCE7DFC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82144-B0CB-460D-9CDB-3C08565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Dua dataset dapat memiliki mean yang sama dengan penyebaran yang berbeda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FE441-430F-4A99-8317-B885E7A1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C3F65-9E54-4DAB-8BDE-74EECF0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9D2C1-8373-4270-B128-2CEA1BD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526D4-314C-4290-8125-C2E605CC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49, 50, 51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64CD7-5D88-4A24-BED8-E27CD800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B4E0C-2CFB-4B50-8DE0-CDF2C77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87C57-0B53-4211-A22F-B4788E8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AE140-B7A9-4B37-917C-F950AE8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68284-216E-4F3D-BB01-448E75EF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208B5-F436-4D32-AC7B-594EF16F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DB8A6-DDD7-40DC-AE36-0E9F83F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88FAC-A13C-49E2-9407-44603B6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518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D81E9-8D5E-4442-8F0F-D0E9EF8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82659-8A00-4829-8F3C-1572343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9C7A9-D678-45B8-B567-82D59FE9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AAC56-1BCF-4C66-B357-A54DD1C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kecil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ADBA6-4640-45D3-9464-D829371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A2C14-6ED6-4D86-ACD0-252A3E5F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20, 50, 80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F0C51-6FAA-4515-A1FC-35AE7E2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0D81B-D714-4DFC-BF05-17500944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82ADD4-5603-4415-A415-0E7FB90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C63C5-BC5A-4ED3-A076-79C10B06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EA4B3-C03C-42B4-99E0-E8B643F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E2424-8977-45B0-B656-1B1F18E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BA211-AE45-4F4E-9A8D-A2314DB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7E5AF-BE4D-413C-B0AE-4CDD112C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86E64-1571-4E49-9673-D5521D4C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86205-55AA-46FD-99E5-94613D9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A9DEB-2B30-4E7E-80B6-56899F6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2291B2-5981-4704-A88D-12E40B6D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besar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5AEA0-A765-402D-8286-3E771DF5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948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47A665-BC23-4A75-9651-1375850F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18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memberi tahu pusat data. Variasi memberi tahu seberapa jauh data menyebar.</a:t>
            </a:r>
          </a:p>
        </p:txBody>
      </p:sp>
    </p:spTree>
    <p:extLst>
      <p:ext uri="{BB962C8B-B14F-4D97-AF65-F5344CB8AC3E}">
        <p14:creationId xmlns:p14="http://schemas.microsoft.com/office/powerpoint/2010/main" val="314813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FDD61E-9E3F-4C34-A532-C8611E79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BC74-A235-4432-BB66-2E3CF293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membantu membaca kondisi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616AF-00C1-4A80-926C-4028807E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7B17-C7D8-42A8-B4BF-FA2786F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penyebaran membantu kita memahami konsistensi dan nilai yang tidak biasa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08FE7-29F8-4554-BE2E-27134160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5F510-40D4-4339-9E0A-BE6473BA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29179-768E-45D9-B927-C3527C6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Contoh: dua kelas memiliki mean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A241-B76E-4682-B509-E77E8062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4FAF8-2404-49CC-AC17-E311006C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4ACAF-E117-4E67-B89D-D1FD3C3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F0D61-5188-4A21-9522-4288524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7C0DA-7FAB-4BE9-86E3-27F93D9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8537B-9FD7-4BF9-8708-3EE3593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D3AB4-9F03-4FC5-9AC9-11D00FAC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3B69E-7942-41B0-8A50-D55B93CC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0A8FF-A178-48DA-AB94-36AAC28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38B6D-F05B-4E9E-BE59-AE8B3D79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940A5-53C9-4D48-A7AA-C69BF16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C4CA-3986-4CA9-AF69-E82D084E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6D536-DB17-45C7-8B4F-7FFD88F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C101-5764-44CF-B5EC-57518EB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9932E-51F9-479B-9B14-8352BA58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E79D4-4999-436C-9DD0-ED37F7A5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B5A66-88E9-4A5E-8CDC-BB190531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89DDA-758F-409D-80ED-7795CC5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88147-5544-4A0C-8DCC-54F08FF9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6A1F7-EA99-4133-9F99-E23CA8C5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32D81-171F-47CF-B80A-8110688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F55CA-F11D-4736-A9A5-E7A9FE35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E8F5C-DA8F-4259-8DA0-29EC889D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55DC2-62A6-4FFD-892E-911F9E0E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63F6B-582E-40AB-944E-B34AB4FE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14979-800B-4D9A-A642-0DC8D18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57F8D6-543B-4263-958F-6BBA250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kelompok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pusat data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menentukan kebutuhan standardisasi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Membaca noise dalam pengukuran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5EF52-3FAC-4690-8C45-D07EB986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476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3715F-D90F-44A2-9FD5-7F953AD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 lebih konsisten karena nilai-nilainya lebih dekat dengan mean.</a:t>
            </a:r>
          </a:p>
        </p:txBody>
      </p:sp>
    </p:spTree>
    <p:extLst>
      <p:ext uri="{BB962C8B-B14F-4D97-AF65-F5344CB8AC3E}">
        <p14:creationId xmlns:p14="http://schemas.microsoft.com/office/powerpoint/2010/main" val="246906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B10514-E571-467A-8AFA-65D6349D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STANDAR DEVIASI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F9CA5-250D-4C71-87DE-BA762C7D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mengukur jarak data dari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1B910-F6A7-42AA-A96F-5EB6C089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1992B-86BB-47A6-9910-19F7E23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Standar deviasi adalah akar dari variansi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097DB-B363-4651-AF17-C3CEA6FC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F15C4-AD4F-44C3-BEE4-C42DE32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3925D-DF2A-4178-B785-2213D26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14B14-7C26-4C4F-8705-E641DDC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977C9-FC82-4180-B225-9977ADE9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variansi = Σ(xᵢ - μ)²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4C38E-9F80-426B-936B-95EDEA0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E7062-3CA9-44A5-A851-A458385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standar deviasi = √variansi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07D46-7954-43E3-BE03-74737F57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 kecil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C1E3B-E433-4C40-B35F-991D3B6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Data: 3, 5, 7     Mean: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9709D-8B10-490F-864C-7E41CF5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Selisih: -2, 0, +2     Kuadrat: 4, 0,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7877B-B818-494A-BD29-ACD0A38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Langkah perhitungan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92C46-A2B6-4109-BF80-9ABF83D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03172-6CB2-409C-AA5A-886FD5B4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98606-2621-4D33-B0A8-E6802DA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5CCB3-11D4-428F-B285-D79CF73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B30E0-0DF8-4C18-B63E-D24837C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81A27-454E-403E-A3E8-CCA6CD1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Cari selisih setiap nilai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4E1F4-AADD-4C4B-8127-F8A8560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DED83-DBF5-4A9D-BC03-48F75B0A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5BB32-9BEE-4E09-BB4A-1CE49829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Kuadratkan selisih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2716E-E0B1-44EC-82E1-482417E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AE82B-45FB-4254-B6AD-275304A0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ABE8A-E595-4274-9880-9844E45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variansi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27655-E277-40B3-B618-DBCE2ACD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D7B8E-2A5A-402A-BE72-A67F9CE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152F7-3F04-405F-87A1-3D1614A2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Ambil akar kuadrat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F2F5A-3D7A-4B31-8AD2-3FE1E08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095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3292F-B8BF-4F3E-9314-12A5DD1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Satuannya kembali ke satuan data asli.</a:t>
            </a:r>
          </a:p>
        </p:txBody>
      </p:sp>
    </p:spTree>
    <p:extLst>
      <p:ext uri="{BB962C8B-B14F-4D97-AF65-F5344CB8AC3E}">
        <p14:creationId xmlns:p14="http://schemas.microsoft.com/office/powerpoint/2010/main" val="6283436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BA92A-516B-4539-9095-584344E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66D0E-7709-4485-BE62-730F4DD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membantu membaca penyebaran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EAE56-CE47-4D4D-BA10-C129E54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2CFE9-C63A-4A6B-93CA-F970BBC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standar deviasi kecil menunjukkan data yang lebih rapat di sekitar mean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53CBC-3FA3-485B-99CC-3F16A5E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FBEDB-63AA-43E4-9A6C-27439142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212C7-E54B-4796-9BA7-385DC576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kecil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8E362-F8C4-48B6-8EA1-90F3C2E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0CA7B-C164-43A0-82A5-FD4652D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08180-2678-4093-A762-5CB2873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3C3E-A7DC-44AC-8B7B-4869A9E2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1B869-9B09-4B24-BC16-A33BA41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0D781-46B9-4461-86DE-A31824B4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2533650"/>
            <a:ext cx="484414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536E0-8289-4D16-8B3D-FEDDC9C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AE1BB-EC4D-4377-8F03-FD159DA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8715A-9ED7-4771-A2CE-0F1EE042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C99AC-CFA6-4162-9E7E-8BBC1737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besar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FBB8E-E2AE-4887-B1CF-CC6A0520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7DFB6-1D47-4418-8669-CFD2D6BC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5CF94-811D-4230-B02D-5BF597A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1E8BB-9B60-475B-B06E-BF2B1D0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A97EA-E14B-437D-A89B-9065B84B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65E80-839C-461C-9504-DBFF62E6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941A6-D650-418D-A0A5-B0946136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BF13B-2249-425E-9E0E-32B862E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A51A0-BB03-4CD2-AC90-8D8B33B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F489A-52DC-4961-90EC-BE1552BD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Kegunaan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ABEEB-90E8-4438-BA09-229581D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data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mean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Mengukur variasi hasil pengukuran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standardisasi fitur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54CD0-578A-42B5-996C-B06F471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47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3C69DB-0511-4576-ADB3-F5A6DC06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z = (nilai - mean) / standar deviasi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E2BA8-2EE5-47C8-B867-2E05D19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z-score menunjukkan posisi sebuah nilai relatif terhadap mean.</a:t>
            </a:r>
          </a:p>
        </p:txBody>
      </p:sp>
    </p:spTree>
    <p:extLst>
      <p:ext uri="{BB962C8B-B14F-4D97-AF65-F5344CB8AC3E}">
        <p14:creationId xmlns:p14="http://schemas.microsoft.com/office/powerpoint/2010/main" val="15402093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2C715-78EF-40DA-AB84-BACC70C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2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C230-71A3-4011-A974-4DC63A0F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variansi dan standar deviasi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C1469-1872-48DC-B87B-A2E73251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D9817-AD4D-4F19-B71C-9A4B311E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kembali function mean untuk membangun perhitungan berikutnya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5097-A967-4B17-B5AE-F37FA450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10DA4-6596-4BA0-B1BF-BC10406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9B19A-2F2A-49CE-9303-85ADEE4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863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6FA6E-B3D8-4797-8681-D931A31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</a:t>
            </a:r>
          </a:p>
        </p:txBody>
      </p:sp>
      <p:sp>
        <p:nvSpPr>
          <p:cNvPr id="9" name="hands-on-two-data">
            <a:extLst xmlns:a="http://schemas.openxmlformats.org/drawingml/2006/main">
              <a:ext uri="{FF2B5EF4-FFF2-40B4-BE49-F238E27FC236}">
                <a16:creationId xmlns:a16="http://schemas.microsoft.com/office/drawing/2014/main" id="{691B7C72-C5C3-4366-B3DE-1899BDA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1719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0" name="hands-on-two-data-dot-1">
            <a:extLst xmlns:a="http://schemas.openxmlformats.org/drawingml/2006/main">
              <a:ext uri="{FF2B5EF4-FFF2-40B4-BE49-F238E27FC236}">
                <a16:creationId xmlns:a16="http://schemas.microsoft.com/office/drawing/2014/main" id="{2BE89600-8567-4E5E-B299-59346FEA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ands-on-two-data-dot-2">
            <a:extLst xmlns:a="http://schemas.openxmlformats.org/drawingml/2006/main">
              <a:ext uri="{FF2B5EF4-FFF2-40B4-BE49-F238E27FC236}">
                <a16:creationId xmlns:a16="http://schemas.microsoft.com/office/drawing/2014/main" id="{9063BC0E-CE82-46A4-95A5-E3124369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nds-on-two-data-dot-3">
            <a:extLst xmlns:a="http://schemas.openxmlformats.org/drawingml/2006/main">
              <a:ext uri="{FF2B5EF4-FFF2-40B4-BE49-F238E27FC236}">
                <a16:creationId xmlns:a16="http://schemas.microsoft.com/office/drawing/2014/main" id="{56F83439-5E89-4DFF-9E22-E20C8AE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87B29-74F6-45FE-B1AC-6B209AA4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data_a = [28, 30, 31, 29, 32]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data_b = [10, 20, 30, 40, 50]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37D38-FB18-4918-8674-EA43DB5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 data memiliki mean yang sama.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4176A-478F-4514-975B-315BEB0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standar deviasinya.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B29D7-E047-4948-8A65-4430899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467E4-1693-401E-96F9-831F5C4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652B5-A5BE-4FF7-BB14-0D94DA79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hitung_variansi(data)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hitung_standar_deviasi(data)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Panggil kembali hitung_mean(data)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math.sqrt untuk akar kuadrat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data yang lebih menyebar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76AA5-110F-4F77-891A-56B12AF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2AA5C-6B3C-4E75-A6EF-E1FDEBD7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Jangan gunakan statistics.pvariance, statistics.stdev, atau numpy.std.</a:t>
            </a:r>
          </a:p>
        </p:txBody>
      </p:sp>
    </p:spTree>
    <p:extLst>
      <p:ext uri="{BB962C8B-B14F-4D97-AF65-F5344CB8AC3E}">
        <p14:creationId xmlns:p14="http://schemas.microsoft.com/office/powerpoint/2010/main" val="1894198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AEA3F-E633-4329-99F6-6A11F49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15144-9A03-4D04-BC0F-C74F3B75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Inti materi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089C8-D3C1-4316-B10F-540A0523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6F4B-56F4-4173-9514-64EE660A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tiga pertanyaan ini untuk mengecek pemahaman sebelum sesi berakhir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15175-3D00-49CA-BF25-FD9E954C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501EB-8329-4446-88EB-4562A6D8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5B35B-3EFB-4652-BCC9-7DC60EEF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7A483-7841-4AA1-9874-2DDBD76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51DAB-2AE8-4FD6-A73F-4D978DA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Apa perbedaan print() dan return?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6901B-532B-4B72-998C-8537D81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FF00-B8BD-475D-B898-B1ED9F0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6212-1BA7-488E-9C8B-F6724C8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Mengapa parameter membuat function lebih fleksibel?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CB48E-E3C9-42C3-B17C-1BF4146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74A2-7036-4AE0-9416-AC6D15BE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60C7A-DA57-45C3-9147-E2282EF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Dataset mana yang memiliki variasi lebih besar?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3C4F2-2AB6-47C8-AE2D-4491C2A9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C3E7C-FB5C-4C26-84C0-F4E71645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memberi tahu pusat data. Standar deviasi membantu membaca penyebarannya.</a:t>
            </a:r>
          </a:p>
        </p:txBody>
      </p:sp>
    </p:spTree>
    <p:extLst>
      <p:ext uri="{BB962C8B-B14F-4D97-AF65-F5344CB8AC3E}">
        <p14:creationId xmlns:p14="http://schemas.microsoft.com/office/powerpoint/2010/main" val="23938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2026-09-11T10:50:44.2040000Z</dcterms:created>
  <dcterms:modified xsi:type="dcterms:W3CDTF">2026-09-11T10:50:44.2040000Z</dcterms:modified>
</coreProperties>
</file>