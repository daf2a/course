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7e1ba3ca98f4222" /><Relationship Type="http://schemas.openxmlformats.org/officeDocument/2006/relationships/extended-properties" Target="/docProps/app.xml" Id="Rfae1469b7752420b" /><Relationship Type="http://schemas.openxmlformats.org/officeDocument/2006/relationships/officeDocument" Target="/ppt/presentation.xml" Id="R1209715da59846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a6f9e158b24ac4"/>
  </p:sldMasterIdLst>
  <p:notesMasterIdLst>
    <p:notesMasterId xmlns:r="http://schemas.openxmlformats.org/officeDocument/2006/relationships" r:id="Ra7c8081701e74bd4"/>
  </p:notesMasterIdLst>
  <p:sldIdLst>
    <p:sldId xmlns:r="http://schemas.openxmlformats.org/officeDocument/2006/relationships" id="256" r:id="R5e632511796e4aee"/>
    <p:sldId xmlns:r="http://schemas.openxmlformats.org/officeDocument/2006/relationships" id="257" r:id="R2aca71b3a44b4932"/>
    <p:sldId xmlns:r="http://schemas.openxmlformats.org/officeDocument/2006/relationships" id="258" r:id="R3394500a9c164eb5"/>
    <p:sldId xmlns:r="http://schemas.openxmlformats.org/officeDocument/2006/relationships" id="259" r:id="Rcee7da5cf6d94810"/>
    <p:sldId xmlns:r="http://schemas.openxmlformats.org/officeDocument/2006/relationships" id="260" r:id="Rb44c38daca2b43bb"/>
    <p:sldId xmlns:r="http://schemas.openxmlformats.org/officeDocument/2006/relationships" id="261" r:id="Rc3f5755300a04fca"/>
    <p:sldId xmlns:r="http://schemas.openxmlformats.org/officeDocument/2006/relationships" id="262" r:id="Re221545b0c724be3"/>
    <p:sldId xmlns:r="http://schemas.openxmlformats.org/officeDocument/2006/relationships" id="263" r:id="Rc83d0c5ce6534fbd"/>
    <p:sldId xmlns:r="http://schemas.openxmlformats.org/officeDocument/2006/relationships" id="264" r:id="R1682dc9dfc9e4533"/>
    <p:sldId xmlns:r="http://schemas.openxmlformats.org/officeDocument/2006/relationships" id="265" r:id="Ra7afa964521b46c4"/>
    <p:sldId xmlns:r="http://schemas.openxmlformats.org/officeDocument/2006/relationships" id="266" r:id="R7139f23cdebd4638"/>
    <p:sldId xmlns:r="http://schemas.openxmlformats.org/officeDocument/2006/relationships" id="267" r:id="R0476ce00e2754257"/>
    <p:sldId xmlns:r="http://schemas.openxmlformats.org/officeDocument/2006/relationships" id="268" r:id="Rda44f51579ff4a9e"/>
    <p:sldId xmlns:r="http://schemas.openxmlformats.org/officeDocument/2006/relationships" id="269" r:id="Rae8cd9f1d582497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8d13ecc66114bbf" /><Relationship Type="http://schemas.openxmlformats.org/officeDocument/2006/relationships/slideMaster" Target="/ppt/slideMasters/slideMaster1.xml" Id="R81a6f9e158b24ac4" /><Relationship Type="http://schemas.openxmlformats.org/officeDocument/2006/relationships/notesMaster" Target="/ppt/notesMasters/notesMaster1.xml" Id="Ra7c8081701e74bd4" /><Relationship Type="http://schemas.openxmlformats.org/officeDocument/2006/relationships/presProps" Target="/ppt/presProps.xml" Id="R262cca8854be4a06" /><Relationship Type="http://schemas.openxmlformats.org/officeDocument/2006/relationships/tableStyles" Target="/ppt/tableStyles.xml" Id="R28467e35209c4683" /><Relationship Type="http://schemas.openxmlformats.org/officeDocument/2006/relationships/slide" Target="/ppt/slides/slide1.xml" Id="R5e632511796e4aee" /><Relationship Type="http://schemas.openxmlformats.org/officeDocument/2006/relationships/slide" Target="/ppt/slides/slide2.xml" Id="R2aca71b3a44b4932" /><Relationship Type="http://schemas.openxmlformats.org/officeDocument/2006/relationships/slide" Target="/ppt/slides/slide3.xml" Id="R3394500a9c164eb5" /><Relationship Type="http://schemas.openxmlformats.org/officeDocument/2006/relationships/slide" Target="/ppt/slides/slide4.xml" Id="Rcee7da5cf6d94810" /><Relationship Type="http://schemas.openxmlformats.org/officeDocument/2006/relationships/slide" Target="/ppt/slides/slide5.xml" Id="Rb44c38daca2b43bb" /><Relationship Type="http://schemas.openxmlformats.org/officeDocument/2006/relationships/slide" Target="/ppt/slides/slide6.xml" Id="Rc3f5755300a04fca" /><Relationship Type="http://schemas.openxmlformats.org/officeDocument/2006/relationships/slide" Target="/ppt/slides/slide7.xml" Id="Re221545b0c724be3" /><Relationship Type="http://schemas.openxmlformats.org/officeDocument/2006/relationships/slide" Target="/ppt/slides/slide8.xml" Id="Rc83d0c5ce6534fbd" /><Relationship Type="http://schemas.openxmlformats.org/officeDocument/2006/relationships/slide" Target="/ppt/slides/slide9.xml" Id="R1682dc9dfc9e4533" /><Relationship Type="http://schemas.openxmlformats.org/officeDocument/2006/relationships/slide" Target="/ppt/slides/slide10.xml" Id="Ra7afa964521b46c4" /><Relationship Type="http://schemas.openxmlformats.org/officeDocument/2006/relationships/slide" Target="/ppt/slides/slide11.xml" Id="R7139f23cdebd4638" /><Relationship Type="http://schemas.openxmlformats.org/officeDocument/2006/relationships/slide" Target="/ppt/slides/slide12.xml" Id="R0476ce00e2754257" /><Relationship Type="http://schemas.openxmlformats.org/officeDocument/2006/relationships/slide" Target="/ppt/slides/slide13.xml" Id="Rda44f51579ff4a9e" /><Relationship Type="http://schemas.openxmlformats.org/officeDocument/2006/relationships/slide" Target="/ppt/slides/slide14.xml" Id="Rae8cd9f1d58249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d73bd7f55a94d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d450167e71f4317" /><Relationship Type="http://schemas.openxmlformats.org/officeDocument/2006/relationships/notesMaster" Target="/ppt/notesMasters/notesMaster1.xml" Id="Red04878fe0a241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0aed2b2f2ab49a1" /><Relationship Type="http://schemas.openxmlformats.org/officeDocument/2006/relationships/notesMaster" Target="/ppt/notesMasters/notesMaster1.xml" Id="R1549f61c96bb4b6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9df365532af4c22" /><Relationship Type="http://schemas.openxmlformats.org/officeDocument/2006/relationships/notesMaster" Target="/ppt/notesMasters/notesMaster1.xml" Id="R2fcd84576141440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a83b3d46a3c492f" /><Relationship Type="http://schemas.openxmlformats.org/officeDocument/2006/relationships/notesMaster" Target="/ppt/notesMasters/notesMaster1.xml" Id="R6790b0a6c13f4a6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3bfaccab3cc40c7" /><Relationship Type="http://schemas.openxmlformats.org/officeDocument/2006/relationships/notesMaster" Target="/ppt/notesMasters/notesMaster1.xml" Id="Rcac9827b46e94a0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0ee70407e8d4521" /><Relationship Type="http://schemas.openxmlformats.org/officeDocument/2006/relationships/notesMaster" Target="/ppt/notesMasters/notesMaster1.xml" Id="Reaef00a923a5450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50e69fa74104771" /><Relationship Type="http://schemas.openxmlformats.org/officeDocument/2006/relationships/notesMaster" Target="/ppt/notesMasters/notesMaster1.xml" Id="R900687a0a8e0461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619e63114aa444a" /><Relationship Type="http://schemas.openxmlformats.org/officeDocument/2006/relationships/notesMaster" Target="/ppt/notesMasters/notesMaster1.xml" Id="R3990474deec8436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1e2dc91a44b4c8a" /><Relationship Type="http://schemas.openxmlformats.org/officeDocument/2006/relationships/notesMaster" Target="/ppt/notesMasters/notesMaster1.xml" Id="Re2c5b016389d488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7a63829edad43ec" /><Relationship Type="http://schemas.openxmlformats.org/officeDocument/2006/relationships/notesMaster" Target="/ppt/notesMasters/notesMaster1.xml" Id="R21357d56710746b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4d8f298a0ce4bb2" /><Relationship Type="http://schemas.openxmlformats.org/officeDocument/2006/relationships/notesMaster" Target="/ppt/notesMasters/notesMaster1.xml" Id="Rbedee8571a664dd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0f1c5c974ce408b" /><Relationship Type="http://schemas.openxmlformats.org/officeDocument/2006/relationships/notesMaster" Target="/ppt/notesMasters/notesMaster1.xml" Id="Rae2ce013e6ea46d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d3efb5ad48f40c1" /><Relationship Type="http://schemas.openxmlformats.org/officeDocument/2006/relationships/notesMaster" Target="/ppt/notesMasters/notesMaster1.xml" Id="Re4e5c479c3d5425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51e585382c24919" /><Relationship Type="http://schemas.openxmlformats.org/officeDocument/2006/relationships/notesMaster" Target="/ppt/notesMasters/notesMaster1.xml" Id="R00df6cfe7d464b1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Buka dengan menghubungkan materi sebelumnya tentang loop dengan function. Function akan menjadi alat untuk membungkus proses pengolahan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Gunakan slide ini sebagai peta sesi. Tekankan bahwa function menjadi jembatan dari Python dasar ke pengolahan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Hubungkan dengan loop sebelumnya. Siswa sudah belajar menulis instruksi berulang. Sekarang instruksi dapat dibungkus dalam nama yang bisa dipanggil kembali.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Tekankan perbedaan perilaku. Untuk function mean, median, dan standar deviasi, siswa harus memakai return karena hasil perhitungan akan dipakai di luar function.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Gunakan contoh luas untuk menunjukkan bahwa parameter membuat function tidak terikat pada satu angka tertentu. Hubungkan dengan data list pada slide mean.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Gunakan contoh ini untuk memperlihatkan bahwa function dapat menggabungkan konsep def, parameter, for loop, return, dan list.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Jangan tampilkan jawaban di slide. Sediakan starter cell di notebook hanya berisi dataset dan nama function. Minta siswa mengetik implementasinya sendiri.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Sampaikan sebagai extension. Fokus pada dua ide: base case dan recursive call. Tidak perlu menghubungkan recursion ke perhitungan statistik pada sesi ini.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Gunakan dot plot untuk menunjukkan bahwa mean saja belum cukup. Siswa perlu melihat posisi setiap nilai terhadap pusat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Tekankan bahwa variasi memiliki fungsi praktis dalam pengolahan data. Data dengan mean sama dapat memiliki tingkat konsistensi yang berbeda.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Jelaskan bahwa variansi memakai kuadrat agar selisih negatif dan positif tidak saling menghapus. Akar kuadrat mengembalikan skala ke satuan asli.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Grafik di kiri bersifat ilustratif. Fokuskan pembahasan pada bentuk penyebaran, bukan pada nilai statistik grafik.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Sediakan starter cell yang berisi import math, dua dataset, dan function kosong. Siswa mengetik implementasinya. Minta mereka membandingkan hasil, bukan hanya mencetak angka.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Gunakan pertanyaan ini sebagai exit ticket lisan atau tulisan singkat. Minta siswa menjelaskan dengan kata-kata sendiri, bukan hanya menyebut rumus.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f5a1fa88064f5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4eb4e4d819c42cb" /><Relationship Type="http://schemas.openxmlformats.org/officeDocument/2006/relationships/slideLayout" Target="/ppt/slideLayouts/slideLayout1.xml" Id="Rf4e459b5297f467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e459b5297f467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5b0482ac944d6b" /><Relationship Type="http://schemas.openxmlformats.org/officeDocument/2006/relationships/image" Target="/ppt/media/image.png" Id="R7cb7dc95a0a949d0" /><Relationship Type="http://schemas.openxmlformats.org/officeDocument/2006/relationships/notesSlide" Target="/ppt/notesSlides/notesSlide1.xml" Id="R703c16fc000e4f2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04beca92cf4d7e" /><Relationship Type="http://schemas.openxmlformats.org/officeDocument/2006/relationships/notesSlide" Target="/ppt/notesSlides/notesSlide2.xml" Id="Rd5a000ca63b3433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5d7c08f3de4f74" /><Relationship Type="http://schemas.openxmlformats.org/officeDocument/2006/relationships/notesSlide" Target="/ppt/notesSlides/notesSlide3.xml" Id="R0fb0a13eead5409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5291644df54b5d" /><Relationship Type="http://schemas.openxmlformats.org/officeDocument/2006/relationships/notesSlide" Target="/ppt/notesSlides/notesSlide4.xml" Id="Rcfc458d5d6c44ae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1f1aab67c74eba" /><Relationship Type="http://schemas.openxmlformats.org/officeDocument/2006/relationships/notesSlide" Target="/ppt/notesSlides/notesSlide5.xml" Id="R4318c89bc1d5433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9a84d670dc4ee9" /><Relationship Type="http://schemas.openxmlformats.org/officeDocument/2006/relationships/notesSlide" Target="/ppt/notesSlides/notesSlide6.xml" Id="R4197f5323ae64a3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63fd81534546cb" /><Relationship Type="http://schemas.openxmlformats.org/officeDocument/2006/relationships/notesSlide" Target="/ppt/notesSlides/notesSlide7.xml" Id="R3d3800a2d8a14c5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a1ad2fd6f54476" /><Relationship Type="http://schemas.openxmlformats.org/officeDocument/2006/relationships/notesSlide" Target="/ppt/notesSlides/notesSlide8.xml" Id="Rffbfb6cffc01424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a6385585a54c26" /><Relationship Type="http://schemas.openxmlformats.org/officeDocument/2006/relationships/notesSlide" Target="/ppt/notesSlides/notesSlide9.xml" Id="R0e4556b4f5754ad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9a640558374434" /><Relationship Type="http://schemas.openxmlformats.org/officeDocument/2006/relationships/notesSlide" Target="/ppt/notesSlides/notesSlide10.xml" Id="R7df396d50f7346e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12cbe3aace4e7c" /><Relationship Type="http://schemas.openxmlformats.org/officeDocument/2006/relationships/notesSlide" Target="/ppt/notesSlides/notesSlide11.xml" Id="R5eb02519ca1049e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9dfadfe0454452" /><Relationship Type="http://schemas.openxmlformats.org/officeDocument/2006/relationships/notesSlide" Target="/ppt/notesSlides/notesSlide12.xml" Id="Rb1f12c51c9934b7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e2707d2e234c84" /><Relationship Type="http://schemas.openxmlformats.org/officeDocument/2006/relationships/notesSlide" Target="/ppt/notesSlides/notesSlide13.xml" Id="R8de2ae55e1904b4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37460fff0042c1" /><Relationship Type="http://schemas.openxmlformats.org/officeDocument/2006/relationships/notesSlide" Target="/ppt/notesSlides/notesSlide14.xml" Id="Rb8d494a8b4644b9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b7dc95a0a949d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2C8C35-5D64-4D6E-AE84-EB701AF0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050" b="1" i="0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LEVEL 1  •  PERTEMUAN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416989-44A4-4CE1-A537-96AC14A06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4953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30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Function untuk</a:t>
            </a:r>
          </a:p>
          <a:p xmlns:a="http://schemas.openxmlformats.org/drawingml/2006/main">
            <a:pPr algn="l">
              <a:defRPr sz="330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30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Mengolah Data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24E544-AC2A-417F-8E35-3C2B14811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6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Mean, median, modus, variasi,</a:t>
            </a:r>
          </a:p>
          <a:p xmlns:a="http://schemas.openxmlformats.org/drawingml/2006/main">
            <a:pPr algn="l">
              <a:defRPr sz="16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6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dan standar deviasi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E6657B-308A-4523-A316-AC06A6AC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162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4FB6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F37B71-65ED-4D75-A8D6-62B8AB737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Menggunakan function Python untuk membaca 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136AE4-4AE3-4922-9524-49D45AEA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1950"/>
            <a:ext cx="2933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900" b="1" i="0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EKKA / OSN KECERDASAN ARTIFISIAL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CEB452-34D7-4463-ABF9-74263D67A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defRPr>
            </a:pPr>
            <a:r>
              <a: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rPr>
              <a:t>Slide 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F9443E-FC05-4AE5-A594-D80857D90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7225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defRPr>
            </a:pPr>
            <a:r>
              <a: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rPr>
              <a:t>EKKA / PYTHON</a:t>
            </a:r>
          </a:p>
        </p:txBody>
      </p:sp>
    </p:spTree>
    <p:extLst>
      <p:ext uri="{BB962C8B-B14F-4D97-AF65-F5344CB8AC3E}">
        <p14:creationId xmlns:p14="http://schemas.microsoft.com/office/powerpoint/2010/main" val="9277002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C2B795-C049-437E-9E03-80A74838E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050" b="1" i="0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TARGET BELAJAR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DDAF77-6ED9-4E38-A056-F6A3FE31E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255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Function dan statistik dasar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5471FC-CF72-4BC0-BBB8-35AC2B41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67EC7B-6B77-40E9-8B6B-12ABDA23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Di akhir sesi, siswa dapat membuat function untuk mengolah list angka.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01D3F1-A5B6-4584-9C83-ABE71E976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defRPr>
            </a:pPr>
            <a:r>
              <a: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rPr>
              <a:t>Slide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B0A4BC-35CC-4C3A-8C1B-5C7E948E5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7225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defRPr>
            </a:pPr>
            <a:r>
              <a: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rPr>
              <a:t>EKKA / PYTHON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E3EA10-2E32-4098-A064-6FA807ACF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4FB6E8"/>
          </a:solidFill>
          <a:ln xmlns:a="http://schemas.openxmlformats.org/drawingml/2006/main" w="0">
            <a:solidFill>
              <a:srgbClr val="4FB6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B1B3E3-D251-4669-B2F2-66BB8835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07645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698C36-C7B9-4EEA-A0ED-6B0F468A9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09775"/>
            <a:ext cx="430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42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Membuat function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F379CC-8587-4109-9E12-0E9CD9AF2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430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12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Menggunakan def, nama function, dan blok instruksi.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2686D3-5987-4175-BEBF-A6F0188FE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193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4FB6E8"/>
          </a:solidFill>
          <a:ln xmlns:a="http://schemas.openxmlformats.org/drawingml/2006/main" w="0">
            <a:solidFill>
              <a:srgbClr val="4FB6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33421C-E655-49C1-9DAD-2F5513818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07645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3D1CF7-002A-4D8D-8129-4801BB2DC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09775"/>
            <a:ext cx="430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42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Mengembalikan nilai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3FF22B-EA6A-4F90-BD88-83F3455D2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66950"/>
            <a:ext cx="430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12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Membedakan print() dengan return.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189C79-B535-464D-A546-5FB4B426C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4FB6E8"/>
          </a:solidFill>
          <a:ln xmlns:a="http://schemas.openxmlformats.org/drawingml/2006/main" w="0">
            <a:solidFill>
              <a:srgbClr val="4FB6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EA0548-C89B-49B9-869D-1CB63C49D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25755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413A10-9A84-4557-9FB0-7E6D89168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90875"/>
            <a:ext cx="430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42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Mengolah data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2DEA62-BEAC-4CB3-A6C9-00AAB0E2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48050"/>
            <a:ext cx="430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12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Menghitung mean, median, modus, dan rentang.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DC3BD2-7FDA-460C-8BDA-15637BEEE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004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4FB6E8"/>
          </a:solidFill>
          <a:ln xmlns:a="http://schemas.openxmlformats.org/drawingml/2006/main" w="0">
            <a:solidFill>
              <a:srgbClr val="4FB6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6DF321-DDA6-4955-BFAB-F98FAEB7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25755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36A956-F0D1-436D-A9D4-1EC661830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90875"/>
            <a:ext cx="430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42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Membaca penyebaran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24EB60-350A-4BC9-9248-670C835E5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448050"/>
            <a:ext cx="430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12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Menjelaskan variasi dan standar deviasi.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3BCC70-7F47-41A8-BDC6-046B7A8A7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08204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16E227-BD3C-405C-8761-52CC1F421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72050"/>
            <a:ext cx="10515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Data masuk, function menghitung, hasil membantu kita membaca data.</a:t>
            </a:r>
          </a:p>
        </p:txBody>
      </p:sp>
    </p:spTree>
    <p:extLst>
      <p:ext uri="{BB962C8B-B14F-4D97-AF65-F5344CB8AC3E}">
        <p14:creationId xmlns:p14="http://schemas.microsoft.com/office/powerpoint/2010/main" val="1959752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CD788B-423F-4CAE-8341-672B88536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050" b="1" i="0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FUNCTION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262408-290D-49B4-828B-B2CFB771E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255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Function menyimpan langkah yang dipakai berulang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A869E3-BDD8-42BA-BEF4-450CAB3A0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2C0412-3146-49AC-BA70-483D9284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Loop mengulang langkah. Function memberi nama pada langkah tersebut.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D9C998-AFC9-48BD-AB57-32251B74F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defRPr>
            </a:pPr>
            <a:r>
              <a: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rPr>
              <a:t>Slide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89CE3-AAC6-4B65-90A9-C740DDC6B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7225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defRPr>
            </a:pPr>
            <a:r>
              <a: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rPr>
              <a:t>EKKA / PYTHON</a:t>
            </a:r>
          </a:p>
        </p:txBody>
      </p:sp>
      <p:sp>
        <p:nvSpPr>
          <p:cNvPr id="7" name="function-code">
            <a:extLst xmlns:a="http://schemas.openxmlformats.org/drawingml/2006/main">
              <a:ext uri="{FF2B5EF4-FFF2-40B4-BE49-F238E27FC236}">
                <a16:creationId xmlns:a16="http://schemas.microsoft.com/office/drawing/2014/main" id="{7D81A68D-6356-46D0-B10E-9AFBCC9D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5334000" cy="276225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0">
            <a:solidFill>
              <a:srgbClr val="111A30"/>
            </a:solidFill>
            <a:prstDash val="solid"/>
          </a:ln>
        </p:spPr>
      </p:sp>
      <p:sp>
        <p:nvSpPr>
          <p:cNvPr id="8" name="function-code-dot-1">
            <a:extLst xmlns:a="http://schemas.openxmlformats.org/drawingml/2006/main">
              <a:ext uri="{FF2B5EF4-FFF2-40B4-BE49-F238E27FC236}">
                <a16:creationId xmlns:a16="http://schemas.microsoft.com/office/drawing/2014/main" id="{B61F898E-CAFD-470A-8F36-F663AD95E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unction-code-dot-2">
            <a:extLst xmlns:a="http://schemas.openxmlformats.org/drawingml/2006/main">
              <a:ext uri="{FF2B5EF4-FFF2-40B4-BE49-F238E27FC236}">
                <a16:creationId xmlns:a16="http://schemas.microsoft.com/office/drawing/2014/main" id="{4AD094B8-E372-4099-8182-145EAFD5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unction-code-dot-3">
            <a:extLst xmlns:a="http://schemas.openxmlformats.org/drawingml/2006/main">
              <a:ext uri="{FF2B5EF4-FFF2-40B4-BE49-F238E27FC236}">
                <a16:creationId xmlns:a16="http://schemas.microsoft.com/office/drawing/2014/main" id="{810ED8ED-F8AF-4508-9052-5E9BF79E1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B7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1614D4-5266-4437-A26C-FAD014D5A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48768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425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def sapa(nama):</a:t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425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print(f"Halo, {nama}!")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425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sapa("Alya")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2AD557-565E-4A38-8796-EF2B4E7D5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9240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Satu function memiliki tiga bagian penting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F47493-252C-4203-A0A7-4C8ACB0D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476500"/>
            <a:ext cx="1238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196B9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110D9B-6E80-4161-80C9-6A8C9B30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9080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158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96B9B"/>
                </a:solidFill>
                <a:latin typeface="SF Mono"/>
                <a:ea typeface="SF Mono"/>
                <a:cs typeface="SF Mono"/>
              </a:defRPr>
            </a:pPr>
            <a:r>
              <a:rPr sz="1425" b="1" i="0">
                <a:solidFill>
                  <a:srgbClr val="196B9B"/>
                </a:solidFill>
                <a:latin typeface="SF Mono"/>
                <a:ea typeface="SF Mono"/>
                <a:cs typeface="SF Mono"/>
              </a:rPr>
              <a:t>def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75DAAF-F8D9-4A99-9640-78E855B1A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527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kata kunci untuk membuat function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BBE09C-D30C-4BC1-AC5C-324D8DF74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19450"/>
            <a:ext cx="1238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111A3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E547F8-ABE2-4FA1-8A54-2C605FA71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33375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158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425" b="1" i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sapa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67ED4A-5F06-4BE0-B6D5-BBD0C64CF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956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2247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nama yang dipanggil saat function digunakan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4F482A-E0FF-4792-B247-25C71715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962400"/>
            <a:ext cx="1238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9F7EE"/>
          </a:solidFill>
          <a:ln xmlns:a="http://schemas.openxmlformats.org/drawingml/2006/main" w="9525">
            <a:solidFill>
              <a:srgbClr val="111A3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BDDA55-F5B5-496E-AD4D-CC2BF65A9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07670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158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425" b="1" i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nama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0C07D4-085B-47AC-AB46-E713A6313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386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input yang diterima function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444614-A78D-4335-A966-0B3382366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53340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F5D36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40EC8F-40F0-4DA7-BE6E-4E675A31F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38750"/>
            <a:ext cx="502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Function dipanggil dengan menuliskan namanya.</a:t>
            </a:r>
          </a:p>
        </p:txBody>
      </p:sp>
    </p:spTree>
    <p:extLst>
      <p:ext uri="{BB962C8B-B14F-4D97-AF65-F5344CB8AC3E}">
        <p14:creationId xmlns:p14="http://schemas.microsoft.com/office/powerpoint/2010/main" val="18613910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88E141-F651-4FCE-A648-357A1EBC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050" b="1" i="0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RETURN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D544DD-EF05-4591-B508-D80588603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255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print() menampilkan, return mengembalikan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81208A-5E11-4D3F-9F7C-DAFD12B2B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E37980-9046-4938-8A9A-1488F8442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Untuk function statistik, hasil perlu dikembalikan agar bisa dipakai lagi.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0DE62E-D6F6-42FD-8D14-56B479CE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defRPr>
            </a:pPr>
            <a:r>
              <a: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rPr>
              <a:t>Slide 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82BEDA-CCE1-456B-8F60-241162138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7225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defRPr>
            </a:pPr>
            <a:r>
              <a: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rPr>
              <a:t>EKKA / PYTHON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B3B531-499F-4FFE-9FB6-ABC376F0A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49530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7DEC0D-7038-4936-8B11-CC3AD8E3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336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96B9B"/>
                </a:solidFill>
                <a:latin typeface="SF Pro Display"/>
                <a:ea typeface="SF Pro Display"/>
                <a:cs typeface="SF Pro Display"/>
              </a:defRPr>
            </a:pPr>
            <a:r>
              <a:rPr sz="1950" b="1" i="0">
                <a:solidFill>
                  <a:srgbClr val="196B9B"/>
                </a:solidFill>
                <a:latin typeface="SF Pro Display"/>
                <a:ea typeface="SF Pro Display"/>
                <a:cs typeface="SF Pro Display"/>
              </a:rPr>
              <a:t>print()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165F77-6E04-47E0-90FC-C2730C2A5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Hasil terlihat di layar</a:t>
            </a:r>
          </a:p>
        </p:txBody>
      </p:sp>
      <p:sp>
        <p:nvSpPr>
          <p:cNvPr id="10" name="print-code">
            <a:extLst xmlns:a="http://schemas.openxmlformats.org/drawingml/2006/main">
              <a:ext uri="{FF2B5EF4-FFF2-40B4-BE49-F238E27FC236}">
                <a16:creationId xmlns:a16="http://schemas.microsoft.com/office/drawing/2014/main" id="{4403AD10-52D2-4A7A-849D-C7EA4A182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440055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0">
            <a:solidFill>
              <a:srgbClr val="111A30"/>
            </a:solidFill>
            <a:prstDash val="solid"/>
          </a:ln>
        </p:spPr>
      </p:sp>
      <p:sp>
        <p:nvSpPr>
          <p:cNvPr id="11" name="print-code-dot-1">
            <a:extLst xmlns:a="http://schemas.openxmlformats.org/drawingml/2006/main">
              <a:ext uri="{FF2B5EF4-FFF2-40B4-BE49-F238E27FC236}">
                <a16:creationId xmlns:a16="http://schemas.microsoft.com/office/drawing/2014/main" id="{E0AF3753-0C1B-400B-91FD-5CB559FA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52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int-code-dot-2">
            <a:extLst xmlns:a="http://schemas.openxmlformats.org/drawingml/2006/main">
              <a:ext uri="{FF2B5EF4-FFF2-40B4-BE49-F238E27FC236}">
                <a16:creationId xmlns:a16="http://schemas.microsoft.com/office/drawing/2014/main" id="{A5DFC012-2240-49CB-AB58-04125DB7A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52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rint-code-dot-3">
            <a:extLst xmlns:a="http://schemas.openxmlformats.org/drawingml/2006/main">
              <a:ext uri="{FF2B5EF4-FFF2-40B4-BE49-F238E27FC236}">
                <a16:creationId xmlns:a16="http://schemas.microsoft.com/office/drawing/2014/main" id="{6EF1E3CA-EF4E-4D2C-A6F5-DFB979AFC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152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B7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F583C2-5630-4D90-B3CC-2878C0B5A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48050"/>
            <a:ext cx="39433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00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def luas_print(p, l):</a:t>
            </a:r>
          </a:p>
          <a:p xmlns:a="http://schemas.openxmlformats.org/drawingml/2006/main">
            <a:pPr algn="l">
              <a:defRPr sz="1200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00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print(p * l)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00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luas_print(4, 3)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C2294D-6C60-40D4-B584-7C18E0917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24050"/>
            <a:ext cx="49530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F5D36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C4C053-DF1D-4822-BD0C-B627D623B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1336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95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return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4D656E-EB82-4FEB-B546-02D5975B2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146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Nilai bisa disimpan dan dihitung lagi</a:t>
            </a:r>
          </a:p>
        </p:txBody>
      </p:sp>
      <p:sp>
        <p:nvSpPr>
          <p:cNvPr id="18" name="return-code">
            <a:extLst xmlns:a="http://schemas.openxmlformats.org/drawingml/2006/main">
              <a:ext uri="{FF2B5EF4-FFF2-40B4-BE49-F238E27FC236}">
                <a16:creationId xmlns:a16="http://schemas.microsoft.com/office/drawing/2014/main" id="{EB153C0E-2456-4A1D-BBCA-7DC07F678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009900"/>
            <a:ext cx="440055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0">
            <a:solidFill>
              <a:srgbClr val="111A30"/>
            </a:solidFill>
            <a:prstDash val="solid"/>
          </a:ln>
        </p:spPr>
      </p:sp>
      <p:sp>
        <p:nvSpPr>
          <p:cNvPr id="19" name="return-code-dot-1">
            <a:extLst xmlns:a="http://schemas.openxmlformats.org/drawingml/2006/main">
              <a:ext uri="{FF2B5EF4-FFF2-40B4-BE49-F238E27FC236}">
                <a16:creationId xmlns:a16="http://schemas.microsoft.com/office/drawing/2014/main" id="{63AB3C9B-B99D-49F6-8B26-41985F43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52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return-code-dot-2">
            <a:extLst xmlns:a="http://schemas.openxmlformats.org/drawingml/2006/main">
              <a:ext uri="{FF2B5EF4-FFF2-40B4-BE49-F238E27FC236}">
                <a16:creationId xmlns:a16="http://schemas.microsoft.com/office/drawing/2014/main" id="{8BC5B7B6-792C-4E07-9137-9AF325E1F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152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return-code-dot-3">
            <a:extLst xmlns:a="http://schemas.openxmlformats.org/drawingml/2006/main">
              <a:ext uri="{FF2B5EF4-FFF2-40B4-BE49-F238E27FC236}">
                <a16:creationId xmlns:a16="http://schemas.microsoft.com/office/drawing/2014/main" id="{40EB3F6C-2ECF-4B25-87AA-1EEC9D147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52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B7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C17485-D82F-4975-BD44-1D806F6E8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448050"/>
            <a:ext cx="39433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5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00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def luas_return(p, l):</a:t>
            </a:r>
          </a:p>
          <a:p xmlns:a="http://schemas.openxmlformats.org/drawingml/2006/main">
            <a:pPr algn="l">
              <a:defRPr sz="1200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00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return p * 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00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hasil = luas_return(4, 3)</a:t>
            </a:r>
          </a:p>
          <a:p xmlns:a="http://schemas.openxmlformats.org/drawingml/2006/main">
            <a:pPr algn="l">
              <a:defRPr sz="1200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00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print(hasil + 2)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44D3EB-2F00-44A2-8881-DA0A7F26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C52ACD-AA86-4FFF-A802-3203DB7B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14950"/>
            <a:ext cx="1051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print() → layar        return → nilai yang bisa dipakai</a:t>
            </a:r>
          </a:p>
        </p:txBody>
      </p:sp>
    </p:spTree>
    <p:extLst>
      <p:ext uri="{BB962C8B-B14F-4D97-AF65-F5344CB8AC3E}">
        <p14:creationId xmlns:p14="http://schemas.microsoft.com/office/powerpoint/2010/main" val="9152849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C807AA-3F5E-43B7-8249-471102118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050" b="1" i="0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PARAMETER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015CD7-7040-4446-819A-97276CEFA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255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Parameter membuat function bisa dipakai untuk banyak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530E29-6B08-4A88-87DE-A4E6FBF07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E9DDB1-714B-476D-BADF-A7A28369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Parameter adalah nama untuk input yang diterima function.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B57A4C-C272-4202-8FBD-DA171C6DF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defRPr>
            </a:pPr>
            <a:r>
              <a: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rPr>
              <a:t>Slide 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EF3516-2F66-44DA-B813-899826E4D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7225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defRPr>
            </a:pPr>
            <a:r>
              <a: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rPr>
              <a:t>EKKA / PYTHON</a:t>
            </a:r>
          </a:p>
        </p:txBody>
      </p:sp>
      <p:sp>
        <p:nvSpPr>
          <p:cNvPr id="7" name="parameter-code">
            <a:extLst xmlns:a="http://schemas.openxmlformats.org/drawingml/2006/main">
              <a:ext uri="{FF2B5EF4-FFF2-40B4-BE49-F238E27FC236}">
                <a16:creationId xmlns:a16="http://schemas.microsoft.com/office/drawing/2014/main" id="{2D968900-157F-4686-8992-EA8D3435F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561975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0">
            <a:solidFill>
              <a:srgbClr val="111A30"/>
            </a:solidFill>
            <a:prstDash val="solid"/>
          </a:ln>
        </p:spPr>
      </p:sp>
      <p:sp>
        <p:nvSpPr>
          <p:cNvPr id="8" name="parameter-code-dot-1">
            <a:extLst xmlns:a="http://schemas.openxmlformats.org/drawingml/2006/main">
              <a:ext uri="{FF2B5EF4-FFF2-40B4-BE49-F238E27FC236}">
                <a16:creationId xmlns:a16="http://schemas.microsoft.com/office/drawing/2014/main" id="{8D20AAC1-DF3D-4869-860F-B3BECFB8B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24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rameter-code-dot-2">
            <a:extLst xmlns:a="http://schemas.openxmlformats.org/drawingml/2006/main">
              <a:ext uri="{FF2B5EF4-FFF2-40B4-BE49-F238E27FC236}">
                <a16:creationId xmlns:a16="http://schemas.microsoft.com/office/drawing/2014/main" id="{F38C9C76-70E2-47D5-B36C-117EE6FED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24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rameter-code-dot-3">
            <a:extLst xmlns:a="http://schemas.openxmlformats.org/drawingml/2006/main">
              <a:ext uri="{FF2B5EF4-FFF2-40B4-BE49-F238E27FC236}">
                <a16:creationId xmlns:a16="http://schemas.microsoft.com/office/drawing/2014/main" id="{FEAEDB85-0A07-4BA7-BF1E-086E8B0A0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24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B7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7431F8-B04E-4E37-B929-5F8A83F2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51625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def luas_persegi(panjang, lebar):</a:t>
            </a:r>
          </a:p>
          <a:p xmlns:a="http://schemas.openxmlformats.org/drawingml/2006/main">
            <a:pPr algn="l">
              <a:defRPr sz="1350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return panjang * lebar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luas_persegi(4, 3)</a:t>
            </a:r>
          </a:p>
          <a:p xmlns:a="http://schemas.openxmlformats.org/drawingml/2006/main">
            <a:pPr algn="l">
              <a:defRPr sz="1350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350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luas_persegi(10, 2)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4AFEAB-F02D-4238-8D24-543E39122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0383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80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Parameter dan argument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2E2A99-EAB0-4553-A69C-B06EDAA5C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447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E1B519-D4A9-47F1-9C75-19F62141F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88607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00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Parameter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C8F20B-FFE9-43A2-ADCE-350A61D8C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4320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2EE0E0-2A2A-4A20-BF3E-F4B57206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886075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200" b="0" i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panjang, lebar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5591CE-C218-4EC7-8CD7-67520E02B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467100"/>
            <a:ext cx="1447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8BE9B7-7E97-4689-BE41-6F13DAFA8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60997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00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Argument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F97116-5A88-49F9-9743-117BD1FD1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46710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C96472-B8AD-4143-B0A3-6FB2B4617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609975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200" b="0" i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4, 3 atau 10, 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F40DAC-CE3E-48DB-B9DD-1FB49302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191000"/>
            <a:ext cx="1447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EE"/>
          </a:solidFill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934539-0802-4D41-B922-8A14897D2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33387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00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Hasil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AB7CA4-D54C-4078-A1EF-C3B92DEA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19100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C77D67-69F7-4452-B5D7-9023499B6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333875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200" b="0" i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12 atau 20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23EC2C-E06D-4EB8-8E53-FB8D7A49C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048250"/>
            <a:ext cx="39624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04EB76-02AC-41DA-9FE9-14D43CAA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143500"/>
            <a:ext cx="3657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Satu function, banyak kemungkinan input.</a:t>
            </a:r>
          </a:p>
        </p:txBody>
      </p:sp>
    </p:spTree>
    <p:extLst>
      <p:ext uri="{BB962C8B-B14F-4D97-AF65-F5344CB8AC3E}">
        <p14:creationId xmlns:p14="http://schemas.microsoft.com/office/powerpoint/2010/main" val="12830594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BBA3A9-8982-4F9A-A5C3-530AF2E77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050" b="1" i="0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CONTOH FUNCTION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C85BD2-3345-43EC-B032-BE11FD609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255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Mean menjadi function pertama untuk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4AA1DE-C1D6-4E50-824E-26394EE5D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DAF989-ECC8-4230-B45D-CEDDA57A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Function menerima list, menghitung jumlah, lalu mengembalikan rata-rata.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AD7F7E-C975-46AB-9AC7-F0AF219D9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defRPr>
            </a:pPr>
            <a:r>
              <a: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rPr>
              <a:t>Slide 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D2C09A-B870-435D-9ED7-E1457BF52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7225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defRPr>
            </a:pPr>
            <a:r>
              <a: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rPr>
              <a:t>EKKA / PYTHON</a:t>
            </a:r>
          </a:p>
        </p:txBody>
      </p:sp>
      <p:sp>
        <p:nvSpPr>
          <p:cNvPr id="7" name="mean-code">
            <a:extLst xmlns:a="http://schemas.openxmlformats.org/drawingml/2006/main">
              <a:ext uri="{FF2B5EF4-FFF2-40B4-BE49-F238E27FC236}">
                <a16:creationId xmlns:a16="http://schemas.microsoft.com/office/drawing/2014/main" id="{0CD4A6A7-C6A0-41FE-8F1B-69D0D083A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5715000" cy="352425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0">
            <a:solidFill>
              <a:srgbClr val="111A30"/>
            </a:solidFill>
            <a:prstDash val="solid"/>
          </a:ln>
        </p:spPr>
      </p:sp>
      <p:sp>
        <p:nvSpPr>
          <p:cNvPr id="8" name="mean-code-dot-1">
            <a:extLst xmlns:a="http://schemas.openxmlformats.org/drawingml/2006/main">
              <a:ext uri="{FF2B5EF4-FFF2-40B4-BE49-F238E27FC236}">
                <a16:creationId xmlns:a16="http://schemas.microsoft.com/office/drawing/2014/main" id="{A14CF9F5-48A5-4DE4-9448-2A10FA112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71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ean-code-dot-2">
            <a:extLst xmlns:a="http://schemas.openxmlformats.org/drawingml/2006/main">
              <a:ext uri="{FF2B5EF4-FFF2-40B4-BE49-F238E27FC236}">
                <a16:creationId xmlns:a16="http://schemas.microsoft.com/office/drawing/2014/main" id="{546DD03F-844A-4C75-A9DB-F017054F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71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ean-code-dot-3">
            <a:extLst xmlns:a="http://schemas.openxmlformats.org/drawingml/2006/main">
              <a:ext uri="{FF2B5EF4-FFF2-40B4-BE49-F238E27FC236}">
                <a16:creationId xmlns:a16="http://schemas.microsoft.com/office/drawing/2014/main" id="{DD970375-B31D-4CA2-AE1D-6AAE59C13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71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B7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CB4009-679B-46F0-9320-1063A357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5257800" cy="297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def hitung_mean(data):</a:t>
            </a:r>
          </a:p>
          <a:p xmlns:a="http://schemas.openxmlformats.org/drawingml/2006/main">
            <a:pPr algn="l">
              <a:def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total = 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for nilai in data:</a:t>
            </a:r>
          </a:p>
          <a:p xmlns:a="http://schemas.openxmlformats.org/drawingml/2006/main">
            <a:pPr algn="l">
              <a:def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    total += nilai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return total / len(data)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nilai = [70, 80, 75, 90]</a:t>
            </a:r>
          </a:p>
          <a:p xmlns:a="http://schemas.openxmlformats.org/drawingml/2006/main">
            <a:pPr algn="l">
              <a:def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print(hitung_mean(nilai))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97C927-F18C-4235-B01D-2F1F2B190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9431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875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Rumus mean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D993C6-BD89-40B1-B19E-C5F49FAA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00300"/>
            <a:ext cx="4000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F5D36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2F04A0-172F-45B6-9D85-9D1AF1F03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495550"/>
            <a:ext cx="3695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mean = jumlah seluruh nilai / banyak 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467C5C-E17C-438E-9D95-1BDAAED6A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314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Proses function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4E93BD-5961-4A43-B1CC-AF1603166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829050"/>
            <a:ext cx="10668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DF330D-766B-482E-A74B-F30562416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943350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125" b="1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list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1182FB-2CEA-429E-B745-09882F281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191000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125" b="0" i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70, 80, 75, 90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141774-7F9D-41D6-A1BD-37407E350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57650"/>
            <a:ext cx="1714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6C7D5"/>
          </a:solidFill>
          <a:ln xmlns:a="http://schemas.openxmlformats.org/drawingml/2006/main" w="0">
            <a:solidFill>
              <a:srgbClr val="B6C7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8D105E-1FE0-47E7-B319-87FB7864F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829050"/>
            <a:ext cx="10668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E0BF49-BFBA-4EFD-8152-A25DB9209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943350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125" b="1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jumlah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D8243B-488A-4288-A8EC-0DCBE6DE0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91000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125" b="0" i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315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CC2FCA-6358-43EF-8BA7-7630EF557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57650"/>
            <a:ext cx="1714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6C7D5"/>
          </a:solidFill>
          <a:ln xmlns:a="http://schemas.openxmlformats.org/drawingml/2006/main" w="0">
            <a:solidFill>
              <a:srgbClr val="B6C7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542142-0224-406B-AB43-886AAD674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829050"/>
            <a:ext cx="10668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9F7EE"/>
          </a:solidFill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293D71-5171-485F-B3F7-A0A3254C4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943350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125" b="1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mean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40AA6D-8EEE-42D9-97AC-76DC5720B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191000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125" b="0" i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78.75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C67631-C56B-4CE5-9B01-B050662E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953000"/>
            <a:ext cx="3943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314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Perulangan dari pertemuan sebelumnya membantu menjumlahkan nilai.</a:t>
            </a:r>
          </a:p>
        </p:txBody>
      </p:sp>
    </p:spTree>
    <p:extLst>
      <p:ext uri="{BB962C8B-B14F-4D97-AF65-F5344CB8AC3E}">
        <p14:creationId xmlns:p14="http://schemas.microsoft.com/office/powerpoint/2010/main" val="20389877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CD2341-E017-466D-9EAD-E85FEBD1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050" b="1" i="0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HANDS-ON 1  •  10 MENIT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409797-9C37-4A23-A704-49DB2E91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255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Tiga statistik sederhana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C73425-EEEF-486B-B5E2-9381D0014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2A1B97-0FF8-4E76-AF45-ED0681058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Tulis function yang mengembalikan median, modus, dan rentang.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C82649-59B0-471C-BC88-691DCA013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defRPr>
            </a:pPr>
            <a:r>
              <a: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rPr>
              <a:t>Slide 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6AB6F8-26EF-4BE6-9CE1-B1F55EC99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7225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defRPr>
            </a:pPr>
            <a:r>
              <a: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rPr>
              <a:t>EKKA / PYTHON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1B225D-4F99-412E-A213-529D5824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953000" cy="312420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F5D36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9DE5C4-9999-49B1-AE63-759A86E6B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71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889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80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Dataset</a:t>
            </a:r>
          </a:p>
        </p:txBody>
      </p:sp>
      <p:sp>
        <p:nvSpPr>
          <p:cNvPr id="9" name="hands-on-one-data">
            <a:extLst xmlns:a="http://schemas.openxmlformats.org/drawingml/2006/main">
              <a:ext uri="{FF2B5EF4-FFF2-40B4-BE49-F238E27FC236}">
                <a16:creationId xmlns:a16="http://schemas.microsoft.com/office/drawing/2014/main" id="{8DA7DD2D-7908-4A2C-B6B9-15322A26B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4400550" cy="1390650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0">
            <a:solidFill>
              <a:srgbClr val="111A30"/>
            </a:solidFill>
            <a:prstDash val="solid"/>
          </a:ln>
        </p:spPr>
      </p:sp>
      <p:sp>
        <p:nvSpPr>
          <p:cNvPr id="10" name="hands-on-one-data-dot-1">
            <a:extLst xmlns:a="http://schemas.openxmlformats.org/drawingml/2006/main">
              <a:ext uri="{FF2B5EF4-FFF2-40B4-BE49-F238E27FC236}">
                <a16:creationId xmlns:a16="http://schemas.microsoft.com/office/drawing/2014/main" id="{6D96916F-E027-4224-A434-BA5C1492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90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hands-on-one-data-dot-2">
            <a:extLst xmlns:a="http://schemas.openxmlformats.org/drawingml/2006/main">
              <a:ext uri="{FF2B5EF4-FFF2-40B4-BE49-F238E27FC236}">
                <a16:creationId xmlns:a16="http://schemas.microsoft.com/office/drawing/2014/main" id="{B8DEAF5F-582A-4B26-B114-92A30F46A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90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hands-on-one-data-dot-3">
            <a:extLst xmlns:a="http://schemas.openxmlformats.org/drawingml/2006/main">
              <a:ext uri="{FF2B5EF4-FFF2-40B4-BE49-F238E27FC236}">
                <a16:creationId xmlns:a16="http://schemas.microsoft.com/office/drawing/2014/main" id="{C64CDF6F-3BF6-4194-ADF7-68BFF8C27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90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B7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E339E7-BD5C-4F86-BD7B-1462D2448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86100"/>
            <a:ext cx="39433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data_nilai = [72, 85, 72,</a:t>
            </a:r>
          </a:p>
          <a:p xmlns:a="http://schemas.openxmlformats.org/drawingml/2006/main">
            <a:pPr algn="l">
              <a:def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          90, 68, 75,</a:t>
            </a:r>
          </a:p>
          <a:p xmlns:a="http://schemas.openxmlformats.org/drawingml/2006/main">
            <a:pPr algn="l">
              <a:def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          85, 72, 88]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89D97A-2D34-4047-8034-9853FB832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24350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97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00" b="1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Gunakan data baru ini. Jangan menyalin function mean.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DBA0DA-438C-4F36-9F51-596CD4CC5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43100"/>
            <a:ext cx="5276850" cy="312420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3F312B-4966-495F-BAA4-6746016D6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71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889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80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Tugas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9D0972-8695-4495-A299-C002D1AE9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47950"/>
            <a:ext cx="45720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500"/>
              </a:spcAft>
              <a:buChar char="•"/>
              <a:def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Buat hitung_median(data)</a:t>
            </a:r>
          </a:p>
          <a:p xmlns:a="http://schemas.openxmlformats.org/drawingml/2006/main">
            <a:pPr marL="228600" indent="-114300" algn="l">
              <a:spcAft>
                <a:spcPts val="500"/>
              </a:spcAft>
              <a:buChar char="•"/>
              <a:def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Buat hitung_modus(data)</a:t>
            </a:r>
          </a:p>
          <a:p xmlns:a="http://schemas.openxmlformats.org/drawingml/2006/main">
            <a:pPr marL="228600" indent="-114300" algn="l">
              <a:spcAft>
                <a:spcPts val="500"/>
              </a:spcAft>
              <a:buChar char="•"/>
              <a:def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Buat hitung_rentang(data)</a:t>
            </a:r>
          </a:p>
          <a:p xmlns:a="http://schemas.openxmlformats.org/drawingml/2006/main">
            <a:pPr marL="228600" indent="-114300" algn="l">
              <a:spcAft>
                <a:spcPts val="500"/>
              </a:spcAft>
              <a:buChar char="•"/>
              <a:def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Gunakan return dan parameter data</a:t>
            </a:r>
          </a:p>
          <a:p xmlns:a="http://schemas.openxmlformats.org/drawingml/2006/main">
            <a:pPr marL="228600" indent="-114300" algn="l">
              <a:spcAft>
                <a:spcPts val="500"/>
              </a:spcAft>
              <a:buChar char="•"/>
              <a:def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Tampilkan hasil dengan print()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6F7A86-986F-4F28-9C11-010B9856D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14850"/>
            <a:ext cx="45720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FB6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35AEDD-34B6-4448-BEEB-47C0E1DB9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10100"/>
            <a:ext cx="426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Batasan: jangan gunakan statistics.median atau statistics.mode.</a:t>
            </a:r>
          </a:p>
        </p:txBody>
      </p:sp>
    </p:spTree>
    <p:extLst>
      <p:ext uri="{BB962C8B-B14F-4D97-AF65-F5344CB8AC3E}">
        <p14:creationId xmlns:p14="http://schemas.microsoft.com/office/powerpoint/2010/main" val="17318818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070BD2-B6FB-4E61-9FAC-0AD36449C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050" b="1" i="0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EXTENSION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ADBA4F-DAC4-4EE1-95DA-0231B3B25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255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Recursive function memanggil dirinya sendiri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BD08B8-965A-4C58-B334-D6A66D694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E22C6F-2CBF-48DE-BC51-BED64860D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Setiap pemanggilan harus mendekati kondisi berhenti.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42F12C-8A0B-4FDB-AA03-87B71E544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defRPr>
            </a:pPr>
            <a:r>
              <a: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rPr>
              <a:t>Slide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EE6306-D493-4012-8079-B971802E7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7225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defRPr>
            </a:pPr>
            <a:r>
              <a: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rPr>
              <a:t>EKKA / PYTHON</a:t>
            </a:r>
          </a:p>
        </p:txBody>
      </p:sp>
      <p:sp>
        <p:nvSpPr>
          <p:cNvPr id="7" name="recursive-code">
            <a:extLst xmlns:a="http://schemas.openxmlformats.org/drawingml/2006/main">
              <a:ext uri="{FF2B5EF4-FFF2-40B4-BE49-F238E27FC236}">
                <a16:creationId xmlns:a16="http://schemas.microsoft.com/office/drawing/2014/main" id="{701F0596-BEFF-454F-9355-975BE064C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5334000" cy="32385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0">
            <a:solidFill>
              <a:srgbClr val="111A30"/>
            </a:solidFill>
            <a:prstDash val="solid"/>
          </a:ln>
        </p:spPr>
      </p:sp>
      <p:sp>
        <p:nvSpPr>
          <p:cNvPr id="8" name="recursive-code-dot-1">
            <a:extLst xmlns:a="http://schemas.openxmlformats.org/drawingml/2006/main">
              <a:ext uri="{FF2B5EF4-FFF2-40B4-BE49-F238E27FC236}">
                <a16:creationId xmlns:a16="http://schemas.microsoft.com/office/drawing/2014/main" id="{2BA78769-ACFE-41A8-BE56-AE43A57B2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ecursive-code-dot-2">
            <a:extLst xmlns:a="http://schemas.openxmlformats.org/drawingml/2006/main">
              <a:ext uri="{FF2B5EF4-FFF2-40B4-BE49-F238E27FC236}">
                <a16:creationId xmlns:a16="http://schemas.microsoft.com/office/drawing/2014/main" id="{5D31CD40-0653-49A3-905A-CAB419DF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ecursive-code-dot-3">
            <a:extLst xmlns:a="http://schemas.openxmlformats.org/drawingml/2006/main">
              <a:ext uri="{FF2B5EF4-FFF2-40B4-BE49-F238E27FC236}">
                <a16:creationId xmlns:a16="http://schemas.microsoft.com/office/drawing/2014/main" id="{5E31E458-BE98-4CDA-8DB2-4B325CB70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B7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F4A826-0494-442E-931E-529BE3007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487680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def hitung_mundur(n):</a:t>
            </a:r>
          </a:p>
          <a:p xmlns:a="http://schemas.openxmlformats.org/drawingml/2006/main">
            <a:pPr algn="l">
              <a:def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if n == 0:</a:t>
            </a:r>
          </a:p>
          <a:p xmlns:a="http://schemas.openxmlformats.org/drawingml/2006/main">
            <a:pPr algn="l">
              <a:def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    return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print(n)</a:t>
            </a:r>
          </a:p>
          <a:p xmlns:a="http://schemas.openxmlformats.org/drawingml/2006/main">
            <a:pPr algn="l">
              <a:def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hitung_mundur(n - 1)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hitung_mundur(3)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0718AF-861C-4B89-8151-97C7F1598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0383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333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875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Pola recursive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C425B6-27C4-4B47-AABE-25FC30DBC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628900"/>
            <a:ext cx="7429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C48BD8-4FA2-4EB7-8767-70F476A2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146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500" b="1" i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22E641-8B8B-4C5B-B4FC-79AA063E6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146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cetak 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CE8DBC-1D5E-4E66-B28A-D4EB83E71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67050"/>
            <a:ext cx="1524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6C7D5"/>
          </a:solidFill>
          <a:ln xmlns:a="http://schemas.openxmlformats.org/drawingml/2006/main" w="0">
            <a:solidFill>
              <a:srgbClr val="B6C7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2554F0-3C82-498A-9435-242D475F7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257550"/>
            <a:ext cx="7429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A5EE39-B0C9-435A-B3D4-12F8074DC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432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500" b="1" i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8B2134-CE3E-47F4-AEA9-7A424BD32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3432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cetak 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DDBB4B-D38E-4C0E-BA59-921DDC0F6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695700"/>
            <a:ext cx="1524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6C7D5"/>
          </a:solidFill>
          <a:ln xmlns:a="http://schemas.openxmlformats.org/drawingml/2006/main" w="0">
            <a:solidFill>
              <a:srgbClr val="B6C7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4E4E99-11BA-4D91-A758-2ADDB721B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886200"/>
            <a:ext cx="7429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9F7EE"/>
          </a:solidFill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D6A2FC-BD76-4B0D-94B5-14338AA7D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719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500" b="1" i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615AEA-582B-45F3-A253-11D44B15A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719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cetak 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D80040-0027-460E-9F56-FD1F0B685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324350"/>
            <a:ext cx="1524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6C7D5"/>
          </a:solidFill>
          <a:ln xmlns:a="http://schemas.openxmlformats.org/drawingml/2006/main" w="0">
            <a:solidFill>
              <a:srgbClr val="B6C7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330137-5C83-4B2A-B34B-859195F39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514850"/>
            <a:ext cx="7429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F1D058-37C0-4738-B99E-A8D498BFB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6005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11A30"/>
                </a:solidFill>
                <a:latin typeface="SF Mono"/>
                <a:ea typeface="SF Mono"/>
                <a:cs typeface="SF Mono"/>
              </a:defRPr>
            </a:pPr>
            <a:r>
              <a:rPr sz="1500" b="1" i="0">
                <a:solidFill>
                  <a:srgbClr val="111A30"/>
                </a:solidFill>
                <a:latin typeface="SF Mono"/>
                <a:ea typeface="SF Mono"/>
                <a:cs typeface="SF Mono"/>
              </a:rPr>
              <a:t>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8E6455-2238-4799-AD06-18AD9AAD6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6005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75" b="1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berhenti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0E4911-2F89-435E-B0FB-2F736F565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334000"/>
            <a:ext cx="40957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F5D36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B377CE-2178-4D5A-B447-F4E0DF4B9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429250"/>
            <a:ext cx="3790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462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Kondisi berhenti mencegah function berjalan tanpa akhir.</a:t>
            </a:r>
          </a:p>
        </p:txBody>
      </p:sp>
    </p:spTree>
    <p:extLst>
      <p:ext uri="{BB962C8B-B14F-4D97-AF65-F5344CB8AC3E}">
        <p14:creationId xmlns:p14="http://schemas.microsoft.com/office/powerpoint/2010/main" val="17155939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26B7999-D053-4C5A-A100-E59447820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050" b="1" i="0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VARIASI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E71552-44F5-491A-ACE9-8AD175424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255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Variasi menunjukkan seberapa menyebar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F1991C-5EE7-45AB-A17F-57A00A5BC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BA56B0-975B-4067-A40F-7D34E372F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Dua dataset dapat memiliki mean yang sama dengan penyebaran yang berbeda.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1CABE5-FC87-4B91-9E3C-7739341EF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defRPr>
            </a:pPr>
            <a:r>
              <a: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rPr>
              <a:t>Slide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3F3381-A0FF-43F1-BDEE-10CFEDB92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7225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defRPr>
            </a:pPr>
            <a:r>
              <a: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rPr>
              <a:t>EKKA / PYTHON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B21FB6-9FEF-4D73-9B45-9FC567467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383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725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Data 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2A2505-8EE2-411E-B163-F6C5D5133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622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5868"/>
                </a:solidFill>
                <a:latin typeface="SF Mono"/>
                <a:ea typeface="SF Mono"/>
                <a:cs typeface="SF Mono"/>
              </a:defRPr>
            </a:pPr>
            <a:r>
              <a:rPr sz="1275" b="0" i="0">
                <a:solidFill>
                  <a:srgbClr val="4B5868"/>
                </a:solidFill>
                <a:latin typeface="SF Mono"/>
                <a:ea typeface="SF Mono"/>
                <a:cs typeface="SF Mono"/>
              </a:rPr>
              <a:t>49, 50, 51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D9D88E-E8DE-43C5-BA4E-EFFC6726C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A3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0534F1-8A98-4C37-BC9D-C49F0EAA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4325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A3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F3881C-DB45-4FF5-9064-7205CBDAB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528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9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656250-FC08-4CDD-B840-86B0AF1A2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14325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A3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8C13E4-2CE7-4C81-B094-131A249C1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3528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9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50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44AC6E-95CC-4BC7-B7FE-32E9A0733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14325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A3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8231DE-EB89-4E7B-9913-B8F365C49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3528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9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100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48E9C7-0F60-4748-AA0B-9D16CE31D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7518" y="31432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B6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884D8E-CF40-4B44-9596-571DCFC3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1432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B6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57A191-8377-49A8-9D49-6DE7F6368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9433" y="31432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B6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A3F225-353C-4A66-BF27-37C69EA9E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00500"/>
            <a:ext cx="2476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32A50C-06F4-4BB4-8BBB-E785CEFA1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95750"/>
            <a:ext cx="217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Mean = 50</a:t>
            </a:r>
          </a:p>
          <a:p xmlns:a="http://schemas.openxmlformats.org/drawingml/2006/main">
            <a:pPr algn="l">
              <a:def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Variasi kecil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AE800A-51C4-4FB9-971D-721C2033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383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725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Data 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D58BA7-F3A1-4467-BD0D-646E84A04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622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5868"/>
                </a:solidFill>
                <a:latin typeface="SF Mono"/>
                <a:ea typeface="SF Mono"/>
                <a:cs typeface="SF Mono"/>
              </a:defRPr>
            </a:pPr>
            <a:r>
              <a:rPr sz="1275" b="0" i="0">
                <a:solidFill>
                  <a:srgbClr val="4B5868"/>
                </a:solidFill>
                <a:latin typeface="SF Mono"/>
                <a:ea typeface="SF Mono"/>
                <a:cs typeface="SF Mono"/>
              </a:rPr>
              <a:t>20, 50, 80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350B33-A0C3-415B-BBAE-9E3B129CE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19450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A3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0038CE-8348-4271-9B83-E37D0F2C9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4325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A3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968D07-55D6-4934-B458-F6C80D6CC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528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9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AB1526-552E-4D0A-8359-2E3143A8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14325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A3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6FE41F-3592-4157-BBF9-0C135BD91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3528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9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50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C6C473-A916-46E9-8EAF-8B5964CE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14325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A3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A1166A-FE0C-4F62-BCD2-CD93A142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3528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9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100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EE7094-25C1-4EFD-8713-A54AC754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1432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2E7C5B-D0FD-42CB-A021-0C70AE922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1432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F171EA-5C51-4D2D-91A5-6973BD2B1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1432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D22B67-D98C-4ED3-9716-D1B83E273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00500"/>
            <a:ext cx="2476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F5D36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5A7B727-5558-44F0-A0D0-F2AD98C1C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095750"/>
            <a:ext cx="217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Mean = 50</a:t>
            </a:r>
          </a:p>
          <a:p xmlns:a="http://schemas.openxmlformats.org/drawingml/2006/main">
            <a:pPr algn="l">
              <a:def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Variasi besar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560A87A-AA96-4EDA-BD76-5EEDC0569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38750"/>
            <a:ext cx="94869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238BB59-712F-4C62-B0E8-F65B86C77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334000"/>
            <a:ext cx="918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Mean memberi tahu pusat data. Variasi memberi tahu seberapa jauh data menyebar.</a:t>
            </a:r>
          </a:p>
        </p:txBody>
      </p:sp>
    </p:spTree>
    <p:extLst>
      <p:ext uri="{BB962C8B-B14F-4D97-AF65-F5344CB8AC3E}">
        <p14:creationId xmlns:p14="http://schemas.microsoft.com/office/powerpoint/2010/main" val="18311541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97B4173-2273-4D45-9329-B73997AE5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050" b="1" i="0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PENGOLAHAN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F286DC-737B-4D14-813A-E990F3A83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255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Variasi membantu membaca kondisi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D0AFAF-4FAC-4AD7-A912-BFDB1C66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3C1B5E-747C-49E8-ACDD-00C918CA3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Ukuran penyebaran membantu kita memahami konsistensi dan nilai yang tidak biasa.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4C86AD-D150-487A-8E58-C2D1F79FE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defRPr>
            </a:pPr>
            <a:r>
              <a: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rPr>
              <a:t>Slide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27A253-6484-4219-9290-1E4742867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7225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defRPr>
            </a:pPr>
            <a:r>
              <a: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rPr>
              <a:t>EKKA / PYTHON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380D8E-6E3D-482E-BC9D-619C79826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889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80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Contoh: dua kelas memiliki mean 80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8A27AF-757B-4972-BCBA-2862535D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146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Kelas 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7DFCDF-A326-4CC4-911B-CBA78D400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A3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0BC0B1-812C-4C5D-ABE9-3B32858A6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A3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5466B5-CB66-4A42-A1D9-DB364C4E8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718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9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50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BF217E-258A-4EC6-9CE1-A1D5B875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16230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A3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CBCCFB-AAE2-470C-B83B-85203B937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3718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9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80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1B38DE-DB3A-45C4-96AA-BF4DAF1E1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16230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A3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5577DA-6FBB-4B71-982A-0ADC2FC1D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3718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9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110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BA7B10-AB86-4D23-B238-A2C5B1926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62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B6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9CD59E-A855-4067-9661-B63F8450C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162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B6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30413E-3634-486C-92F9-A917B05FE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162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B6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EC56BF-3841-42F3-AF63-C073439AE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162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B6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A780CC-081B-40DD-8D97-CB6E36B97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162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B6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57EDC1-57E7-4E6A-9D40-8B3F0AF4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00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Kelas 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DAF2DD-7A64-4CA4-A651-EADF99A7C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24400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A3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9FD9FA-CCD1-4147-8DDA-8DC9EFFBA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A3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22E3F8-E880-40C9-8C9C-4759F230C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9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50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62A57A-A6D3-463F-85F8-E5AE2917E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64820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A3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85F407-69FF-4AC9-B4D4-FFB1882A5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8577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9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80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E8CDEE-9F1C-4E49-8F96-ECCCFD719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64820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A3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D3ADB8-C60B-455B-9CCC-51F26CF24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8577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9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110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0DFBAE-F216-470A-A503-AC4577AF9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648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07DDF6-B9DB-44B1-8553-98BC39742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648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50CC19-95E9-4717-A163-3617D4D4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648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AA9883-41EE-422E-80CA-3AE8C3BF4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648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EBEC99-1141-4939-A3E4-E595D7481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648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05F14F4-1CA4-4E95-AD77-33702F0A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14600"/>
            <a:ext cx="4476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700"/>
              </a:spcAft>
              <a:buChar char="•"/>
              <a:defRPr sz="142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Membandingkan konsistensi kelompok</a:t>
            </a:r>
          </a:p>
          <a:p xmlns:a="http://schemas.openxmlformats.org/drawingml/2006/main">
            <a:pPr marL="228600" indent="-114300" algn="l">
              <a:spcAft>
                <a:spcPts val="700"/>
              </a:spcAft>
              <a:buChar char="•"/>
              <a:defRPr sz="142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Mendeteksi nilai yang jauh dari pusat data</a:t>
            </a:r>
          </a:p>
          <a:p xmlns:a="http://schemas.openxmlformats.org/drawingml/2006/main">
            <a:pPr marL="228600" indent="-114300" algn="l">
              <a:spcAft>
                <a:spcPts val="700"/>
              </a:spcAft>
              <a:buChar char="•"/>
              <a:defRPr sz="142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Membantu menentukan kebutuhan standardisasi</a:t>
            </a:r>
          </a:p>
          <a:p xmlns:a="http://schemas.openxmlformats.org/drawingml/2006/main">
            <a:pPr marL="228600" indent="-114300" algn="l">
              <a:spcAft>
                <a:spcPts val="700"/>
              </a:spcAft>
              <a:buChar char="•"/>
              <a:defRPr sz="142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Membaca noise dalam pengukuran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1830F22-E62A-437F-9BB0-ECB194907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857750"/>
            <a:ext cx="4476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27A88F3-1972-4416-A5DE-556BF83AD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953000"/>
            <a:ext cx="417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314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Kelas A lebih konsisten karena nilai-nilainya lebih dekat dengan mean.</a:t>
            </a:r>
          </a:p>
        </p:txBody>
      </p:sp>
    </p:spTree>
    <p:extLst>
      <p:ext uri="{BB962C8B-B14F-4D97-AF65-F5344CB8AC3E}">
        <p14:creationId xmlns:p14="http://schemas.microsoft.com/office/powerpoint/2010/main" val="115188188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A6D7EFC-F1E1-411F-9535-20C121BB5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050" b="1" i="0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STANDAR DEVIASI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D5CB72-3E40-4807-BC95-59EA2C2E6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255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Standar deviasi mengukur jarak data dari mean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212104-0D0F-4EF0-9149-25866CA26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C46328-B6D6-406F-BF38-0E849A3A9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Standar deviasi adalah akar dari variansi.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ADF4EC-8056-42BD-A815-7FB0227B0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defRPr>
            </a:pPr>
            <a:r>
              <a: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rPr>
              <a:t>Slide 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916ACC-05AF-4871-AB22-C28CEE71D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7225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defRPr>
            </a:pPr>
            <a:r>
              <a: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rPr>
              <a:t>EKKA / PYTHON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B999AC-CC97-47C9-B9F4-EC2EC2C3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333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875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Rumus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5C4FCA-4980-4A32-8BA4-6DA9B1188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4762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5634DB-9544-4E93-918C-4E8DBD36F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95550"/>
            <a:ext cx="4457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variansi = Σ(xᵢ - μ)² / 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1AA2A7-EA82-4C30-8B0E-49227563C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4762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F5D36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CEF878-EA28-4FD6-954E-F3F640E49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4457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standar deviasi = √variansi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28E2B3-72DB-44E8-AC94-7B7CED68B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2121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Contoh kecil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5C54CD-B6FF-4D3D-B6EF-6C88B76FC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5868"/>
                </a:solidFill>
                <a:latin typeface="SF Mono"/>
                <a:ea typeface="SF Mono"/>
                <a:cs typeface="SF Mono"/>
              </a:defRPr>
            </a:pPr>
            <a:r>
              <a:rPr sz="1275" b="0" i="0">
                <a:solidFill>
                  <a:srgbClr val="4B5868"/>
                </a:solidFill>
                <a:latin typeface="SF Mono"/>
                <a:ea typeface="SF Mono"/>
                <a:cs typeface="SF Mono"/>
              </a:rPr>
              <a:t>Data: 3, 5, 7     Mean: 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9C96AF-5027-4BF4-AB34-B6C76DAD4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4B5868"/>
                </a:solidFill>
                <a:latin typeface="SF Mono"/>
                <a:ea typeface="SF Mono"/>
                <a:cs typeface="SF Mono"/>
              </a:defRPr>
            </a:pPr>
            <a:r>
              <a:rPr sz="1200" b="0" i="0">
                <a:solidFill>
                  <a:srgbClr val="4B5868"/>
                </a:solidFill>
                <a:latin typeface="SF Mono"/>
                <a:ea typeface="SF Mono"/>
                <a:cs typeface="SF Mono"/>
              </a:rPr>
              <a:t>Selisih: -2, 0, +2     Kuadrat: 4, 0, 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58716B-69B8-46CF-8CD0-919F30008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431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333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875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Langkah perhitungan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5D6CFF-8859-424D-BE36-E1C3DB585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14600"/>
            <a:ext cx="381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4EDA62-70AA-427E-9E99-45E375BB8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590800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481FEE-F770-438C-9033-15884452D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908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Hitung mean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E1D27E-2F4C-4F85-91C9-386FDDCD7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05150"/>
            <a:ext cx="381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EEC588-10DE-4F27-B217-2E43001D0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181350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AF3175-5B8A-4995-BDE6-133C4DDBB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813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Cari selisih setiap nilai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65D166-5162-443D-BA50-AE1167A21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95700"/>
            <a:ext cx="381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7946CB-C4D3-4848-A780-5ACCCF851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71900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868CC3-671A-4A62-8544-A87D912ED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71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Kuadratkan selisih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06652F-96C1-4B76-89DA-87006CD69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286250"/>
            <a:ext cx="381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C77175-ACAC-43E9-81E4-5AA2BDCB3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62450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E73BF8-D5E5-492A-80AD-15A90B39B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624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Hitung variansi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42489F-BDD4-4468-9F2F-1F071041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876800"/>
            <a:ext cx="381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9F7EE"/>
          </a:solidFill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E409B2-1D7C-4EE1-8AA2-AC522AEF9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953000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7851E8-E77D-4422-B62B-D631A4A50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9530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Ambil akar kuadrat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F05BEF-E61F-4504-A3DC-8606C1EA5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619750"/>
            <a:ext cx="40957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CA12E3-BAB8-430B-BD2A-14FFA950E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715000"/>
            <a:ext cx="3790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Satuannya kembali ke satuan data asli.</a:t>
            </a:r>
          </a:p>
        </p:txBody>
      </p:sp>
    </p:spTree>
    <p:extLst>
      <p:ext uri="{BB962C8B-B14F-4D97-AF65-F5344CB8AC3E}">
        <p14:creationId xmlns:p14="http://schemas.microsoft.com/office/powerpoint/2010/main" val="116015253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5948F9A-8B1E-434D-9C35-4B504BF2B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050" b="1" i="0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PENGOLAHAN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1B3504-4254-48B4-AE6B-0480A4AFF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255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Standar deviasi membantu membaca penyebaran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1D06B4-DDE3-4CB4-AE85-B69A187D9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46EFF3-58A1-459B-942D-DABBD01FC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Nilai standar deviasi kecil menunjukkan data yang lebih rapat di sekitar mean.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C70C27-070A-4FFA-AF87-7DC581C1B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defRPr>
            </a:pPr>
            <a:r>
              <a: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rPr>
              <a:t>Slide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27C969-6FC0-4C71-9705-8680D13D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7225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defRPr>
            </a:pPr>
            <a:r>
              <a: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rPr>
              <a:t>EKKA / PYTHON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18202D-4D39-4486-81EA-D4E93C323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Penyebaran kecil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EA35BE-4A32-4921-8A82-AABC7DB82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33850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A3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BF76F3-47AF-4330-A5FB-D87302C51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19350"/>
            <a:ext cx="0" cy="171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A3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031E57-A8BB-4F61-99DD-CD1AED1AA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67150"/>
            <a:ext cx="484414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B6E8"/>
          </a:solidFill>
          <a:ln xmlns:a="http://schemas.openxmlformats.org/drawingml/2006/main" w="0">
            <a:solidFill>
              <a:srgbClr val="4FB6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EB9926-7A25-4481-B611-1827465A9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064" y="3467100"/>
            <a:ext cx="484414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B6E8"/>
          </a:solidFill>
          <a:ln xmlns:a="http://schemas.openxmlformats.org/drawingml/2006/main" w="0">
            <a:solidFill>
              <a:srgbClr val="4FB6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B84666-5BB9-4C97-BE32-854B87E95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2779" y="2933700"/>
            <a:ext cx="484414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B6E8"/>
          </a:solidFill>
          <a:ln xmlns:a="http://schemas.openxmlformats.org/drawingml/2006/main" w="0">
            <a:solidFill>
              <a:srgbClr val="4FB6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1EE83A-8431-4D1E-AEF9-1D9EA6EE8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1493" y="2533650"/>
            <a:ext cx="484414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B6E8"/>
          </a:solidFill>
          <a:ln xmlns:a="http://schemas.openxmlformats.org/drawingml/2006/main" w="0">
            <a:solidFill>
              <a:srgbClr val="4FB6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70E56C-E244-49DA-9ADB-5A067DD2B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207" y="2933700"/>
            <a:ext cx="484414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B6E8"/>
          </a:solidFill>
          <a:ln xmlns:a="http://schemas.openxmlformats.org/drawingml/2006/main" w="0">
            <a:solidFill>
              <a:srgbClr val="4FB6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6581DF-0FC1-4C9B-A608-6AC7E3080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8921" y="3467100"/>
            <a:ext cx="484414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B6E8"/>
          </a:solidFill>
          <a:ln xmlns:a="http://schemas.openxmlformats.org/drawingml/2006/main" w="0">
            <a:solidFill>
              <a:srgbClr val="4FB6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F1682E-1195-4442-A7C0-78A1B1086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7636" y="3867150"/>
            <a:ext cx="484414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B6E8"/>
          </a:solidFill>
          <a:ln xmlns:a="http://schemas.openxmlformats.org/drawingml/2006/main" w="0">
            <a:solidFill>
              <a:srgbClr val="4FB6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940EB4-26BF-4324-AFB5-BEE531D05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958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Penyebaran besar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6C7004-B16E-46D8-85A6-37A7BC459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57900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A3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A0EE8D-5AF2-4C83-9ADE-9D9651F65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0" cy="1143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A3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1109DB-A489-4DB0-957D-9DDFBD9E9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484414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0">
            <a:solidFill>
              <a:srgbClr val="F5D36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5A36FD-4ED0-44DA-A717-6FBCE845C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064" y="5029200"/>
            <a:ext cx="484414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0">
            <a:solidFill>
              <a:srgbClr val="F5D36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700500-CB4A-4428-8870-6BF7E936B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2779" y="5029200"/>
            <a:ext cx="484414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0">
            <a:solidFill>
              <a:srgbClr val="F5D36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B0EFF0-D87D-4087-9B35-3C7F6EC91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1493" y="5029200"/>
            <a:ext cx="484414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0">
            <a:solidFill>
              <a:srgbClr val="F5D36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867B41-4216-4A33-9C0A-52E6CFEC5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207" y="5029200"/>
            <a:ext cx="484414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0">
            <a:solidFill>
              <a:srgbClr val="F5D36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22BD06-62D6-429B-94BB-233B6105E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8921" y="5029200"/>
            <a:ext cx="484414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0">
            <a:solidFill>
              <a:srgbClr val="F5D36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DB2913-985C-4275-8F7A-1B571992F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7636" y="5029200"/>
            <a:ext cx="484414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0">
            <a:solidFill>
              <a:srgbClr val="F5D36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AA0C77-3266-4A66-965C-C725D2AAD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875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Kegunaan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4931B6-B6EA-4B00-8D90-B581B4F25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14600"/>
            <a:ext cx="4476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42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Membandingkan konsistensi data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42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Mendeteksi nilai yang jauh dari mean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42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Mengukur variasi hasil pengukuran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42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Membantu standardisasi fitur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421E42-D48F-4D72-8418-EAE8E91C5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86300"/>
            <a:ext cx="44767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E3ABE2-2A4C-4CA8-9FE9-CFE86EB62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81550"/>
            <a:ext cx="417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z = (nilai - mean) / standar deviasi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4AAC87-4BF1-4A36-AE78-93ACF9A81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5245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072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0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z-score menunjukkan posisi sebuah nilai relatif terhadap mean.</a:t>
            </a:r>
          </a:p>
        </p:txBody>
      </p:sp>
    </p:spTree>
    <p:extLst>
      <p:ext uri="{BB962C8B-B14F-4D97-AF65-F5344CB8AC3E}">
        <p14:creationId xmlns:p14="http://schemas.microsoft.com/office/powerpoint/2010/main" val="58698682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6002DA-6110-4F50-B4D3-593C3288C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050" b="1" i="0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HANDS-ON 2  •  10 MENIT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3E89A6-A680-47BD-9184-FC3B06038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255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Function variansi dan standar deviasi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A6F597-5501-4F5F-960C-B838E4618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26D27D-C27E-4101-9E4B-F09EA5DE1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Gunakan kembali function mean untuk membangun perhitungan berikutnya.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97A384-DA90-4AF6-A6CE-57AA7EFD7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defRPr>
            </a:pPr>
            <a:r>
              <a: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rPr>
              <a:t>Slide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4189D1-59AD-42F3-BFF8-56139F2C2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7225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defRPr>
            </a:pPr>
            <a:r>
              <a: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rPr>
              <a:t>EKKA / PYTHON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A99D1C-4E73-4F76-A3C1-E926C88AD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686300" cy="30861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815ADB-CA3F-4431-98F0-CDF01F647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717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889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80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Data</a:t>
            </a:r>
          </a:p>
        </p:txBody>
      </p:sp>
      <p:sp>
        <p:nvSpPr>
          <p:cNvPr id="9" name="hands-on-two-data">
            <a:extLst xmlns:a="http://schemas.openxmlformats.org/drawingml/2006/main">
              <a:ext uri="{FF2B5EF4-FFF2-40B4-BE49-F238E27FC236}">
                <a16:creationId xmlns:a16="http://schemas.microsoft.com/office/drawing/2014/main" id="{46FA2DED-31AB-4CE4-816E-255A2BAF6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417195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0">
            <a:solidFill>
              <a:srgbClr val="111A30"/>
            </a:solidFill>
            <a:prstDash val="solid"/>
          </a:ln>
        </p:spPr>
      </p:sp>
      <p:sp>
        <p:nvSpPr>
          <p:cNvPr id="10" name="hands-on-two-data-dot-1">
            <a:extLst xmlns:a="http://schemas.openxmlformats.org/drawingml/2006/main">
              <a:ext uri="{FF2B5EF4-FFF2-40B4-BE49-F238E27FC236}">
                <a16:creationId xmlns:a16="http://schemas.microsoft.com/office/drawing/2014/main" id="{1065F3B5-CE8E-4537-90DF-BF8DC2BA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09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hands-on-two-data-dot-2">
            <a:extLst xmlns:a="http://schemas.openxmlformats.org/drawingml/2006/main">
              <a:ext uri="{FF2B5EF4-FFF2-40B4-BE49-F238E27FC236}">
                <a16:creationId xmlns:a16="http://schemas.microsoft.com/office/drawing/2014/main" id="{42961463-BE05-4197-9AF3-C266ED81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09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hands-on-two-data-dot-3">
            <a:extLst xmlns:a="http://schemas.openxmlformats.org/drawingml/2006/main">
              <a:ext uri="{FF2B5EF4-FFF2-40B4-BE49-F238E27FC236}">
                <a16:creationId xmlns:a16="http://schemas.microsoft.com/office/drawing/2014/main" id="{40F73886-EA30-464B-9564-EA6249206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09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B7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EA4398-8202-4526-9549-02212954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05150"/>
            <a:ext cx="371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data_a = [28, 30, 31, 29, 32]</a:t>
            </a:r>
          </a:p>
          <a:p xmlns:a="http://schemas.openxmlformats.org/drawingml/2006/main">
            <a:pPr algn="l">
              <a:def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 b="0" i="0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data_b = [10, 20, 30, 40, 50]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FE46C4-FEBC-449B-8546-F3A36174D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75" b="1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Kedua data memiliki mean yang sama.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2B7ACF-6CD0-4A36-B0AC-53F4CEDD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Bandingkan standar deviasinya.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F3B807-376D-428E-8659-8FDA80476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943100"/>
            <a:ext cx="5543550" cy="30861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F5D36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190131-7D34-4605-A3A8-85FDB0323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717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889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80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Tugas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FCBB51-6B7A-4E37-BBAF-6983759A2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47950"/>
            <a:ext cx="476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500"/>
              </a:spcAft>
              <a:buChar char="•"/>
              <a:def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Buat hitung_variansi(data)</a:t>
            </a:r>
          </a:p>
          <a:p xmlns:a="http://schemas.openxmlformats.org/drawingml/2006/main">
            <a:pPr marL="228600" indent="-114300" algn="l">
              <a:spcAft>
                <a:spcPts val="500"/>
              </a:spcAft>
              <a:buChar char="•"/>
              <a:def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Buat hitung_standar_deviasi(data)</a:t>
            </a:r>
          </a:p>
          <a:p xmlns:a="http://schemas.openxmlformats.org/drawingml/2006/main">
            <a:pPr marL="228600" indent="-114300" algn="l">
              <a:spcAft>
                <a:spcPts val="500"/>
              </a:spcAft>
              <a:buChar char="•"/>
              <a:def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Panggil kembali hitung_mean(data)</a:t>
            </a:r>
          </a:p>
          <a:p xmlns:a="http://schemas.openxmlformats.org/drawingml/2006/main">
            <a:pPr marL="228600" indent="-114300" algn="l">
              <a:spcAft>
                <a:spcPts val="500"/>
              </a:spcAft>
              <a:buChar char="•"/>
              <a:def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Gunakan math.sqrt untuk akar kuadrat</a:t>
            </a:r>
          </a:p>
          <a:p xmlns:a="http://schemas.openxmlformats.org/drawingml/2006/main">
            <a:pPr marL="228600" indent="-114300" algn="l">
              <a:spcAft>
                <a:spcPts val="500"/>
              </a:spcAft>
              <a:buChar char="•"/>
              <a:def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Tentukan data yang lebih menyebar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338F43-B043-4BDB-8047-7CF649F5C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91050"/>
            <a:ext cx="47625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D36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8D0E9E-110C-4051-9324-B109AC15A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86300"/>
            <a:ext cx="445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Jangan gunakan statistics.pvariance, statistics.stdev, atau numpy.std.</a:t>
            </a:r>
          </a:p>
        </p:txBody>
      </p:sp>
    </p:spTree>
    <p:extLst>
      <p:ext uri="{BB962C8B-B14F-4D97-AF65-F5344CB8AC3E}">
        <p14:creationId xmlns:p14="http://schemas.microsoft.com/office/powerpoint/2010/main" val="1584225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664F6C-EAF8-46B6-A496-CFA32A348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96B9B"/>
                </a:solidFill>
                <a:latin typeface="SF Pro Text"/>
                <a:ea typeface="SF Pro Text"/>
                <a:cs typeface="SF Pro Text"/>
              </a:defRPr>
            </a:pPr>
            <a:r>
              <a:rPr sz="1050" b="1" i="0">
                <a:solidFill>
                  <a:srgbClr val="196B9B"/>
                </a:solidFill>
                <a:latin typeface="SF Pro Text"/>
                <a:ea typeface="SF Pro Text"/>
                <a:cs typeface="SF Pro Text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5499DA-4F04-4CA1-AC76-3E34174F8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2550" b="1" i="0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Inti materi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2EA30D-D11A-4BD7-82E7-D2418E2E6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A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F9459A-DBE8-4503-A4C5-68E793523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275" b="0" i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Gunakan tiga pertanyaan ini untuk mengecek pemahaman sebelum sesi berakhir.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7B28C6-26F5-4A74-A897-30837AB21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defRPr>
            </a:pPr>
            <a:r>
              <a: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rPr>
              <a:t>Slide 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60A0E6-A065-4880-8AD3-13110EC1F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7225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defRPr>
            </a:pPr>
            <a:r>
              <a:rPr sz="750" b="0" i="0">
                <a:solidFill>
                  <a:srgbClr val="7D8793"/>
                </a:solidFill>
                <a:latin typeface="SF Pro Text"/>
                <a:ea typeface="SF Pro Text"/>
                <a:cs typeface="SF Pro Text"/>
              </a:rPr>
              <a:t>EKKA / PYTHON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55A463-F430-481B-9222-E634FB92E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4FB6E8"/>
          </a:solidFill>
          <a:ln xmlns:a="http://schemas.openxmlformats.org/drawingml/2006/main" w="0">
            <a:solidFill>
              <a:srgbClr val="4FB6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E3227C-D610-41D2-AA70-300E49B32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2F6233-BBEC-46E8-93D7-017F98E0D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288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650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Apa perbedaan print() dan return?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2B0352-C45D-4FD0-BCC7-6783B46E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4FB6E8"/>
          </a:solidFill>
          <a:ln xmlns:a="http://schemas.openxmlformats.org/drawingml/2006/main" w="0">
            <a:solidFill>
              <a:srgbClr val="4FB6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B93A6A-9FD5-43CE-BE70-FDDA478FC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5752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26ACBA-0EEC-40FE-8A7D-8BDAD7B4C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4800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650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Mengapa parameter membuat function lebih fleksibel?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10B00E-4D04-4DDB-BEA6-2EF688C25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4FB6E8"/>
          </a:solidFill>
          <a:ln xmlns:a="http://schemas.openxmlformats.org/drawingml/2006/main" w="0">
            <a:solidFill>
              <a:srgbClr val="4FB6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651A6-5BD4-4D7E-B808-9EF14290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766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350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384985-A8F1-4C9A-8C5B-4B4653789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671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650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Dataset mana yang memiliki variasi lebih besar?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6553F1-042C-412A-9D9E-6045E0A00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8204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F5D36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A93C12-A22E-43FC-BF7E-7ED35CBDC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0"/>
            <a:ext cx="10515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275" b="1" i="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Mean memberi tahu pusat data. Standar deviasi membantu membaca penyebarannya.</a:t>
            </a:r>
          </a:p>
        </p:txBody>
      </p:sp>
    </p:spTree>
    <p:extLst>
      <p:ext uri="{BB962C8B-B14F-4D97-AF65-F5344CB8AC3E}">
        <p14:creationId xmlns:p14="http://schemas.microsoft.com/office/powerpoint/2010/main" val="6838397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2026-09-11T10:47:43.0640000Z</dcterms:created>
  <dcterms:modified xsi:type="dcterms:W3CDTF">2026-09-11T10:47:43.0640000Z</dcterms:modified>
</coreProperties>
</file>