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920b4b222e42e6" /><Relationship Type="http://schemas.openxmlformats.org/officeDocument/2006/relationships/extended-properties" Target="/docProps/app.xml" Id="R869496d690ea45fc" /><Relationship Type="http://schemas.openxmlformats.org/officeDocument/2006/relationships/officeDocument" Target="/ppt/presentation.xml" Id="R425657e45db94f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de4cdb743f4adf"/>
  </p:sldMasterIdLst>
  <p:notesMasterIdLst>
    <p:notesMasterId xmlns:r="http://schemas.openxmlformats.org/officeDocument/2006/relationships" r:id="R2230e475cd0848e4"/>
  </p:notesMasterIdLst>
  <p:sldIdLst>
    <p:sldId xmlns:r="http://schemas.openxmlformats.org/officeDocument/2006/relationships" id="256" r:id="R42483b4ca72745ce"/>
    <p:sldId xmlns:r="http://schemas.openxmlformats.org/officeDocument/2006/relationships" id="257" r:id="R74da85bc2ad34b14"/>
    <p:sldId xmlns:r="http://schemas.openxmlformats.org/officeDocument/2006/relationships" id="258" r:id="R778b58b3b1bc4ce5"/>
    <p:sldId xmlns:r="http://schemas.openxmlformats.org/officeDocument/2006/relationships" id="259" r:id="R1983be13caaf41b7"/>
    <p:sldId xmlns:r="http://schemas.openxmlformats.org/officeDocument/2006/relationships" id="260" r:id="R2ecad5e3a3ac4bf3"/>
    <p:sldId xmlns:r="http://schemas.openxmlformats.org/officeDocument/2006/relationships" id="261" r:id="R00dacc8e417e47e1"/>
    <p:sldId xmlns:r="http://schemas.openxmlformats.org/officeDocument/2006/relationships" id="262" r:id="Rac67f1a16afc4c04"/>
    <p:sldId xmlns:r="http://schemas.openxmlformats.org/officeDocument/2006/relationships" id="263" r:id="R82cf90434c4b425f"/>
    <p:sldId xmlns:r="http://schemas.openxmlformats.org/officeDocument/2006/relationships" id="264" r:id="R60204f3479fa4d42"/>
    <p:sldId xmlns:r="http://schemas.openxmlformats.org/officeDocument/2006/relationships" id="265" r:id="Rc2105bc88e1a4f5b"/>
    <p:sldId xmlns:r="http://schemas.openxmlformats.org/officeDocument/2006/relationships" id="266" r:id="R6bff2d636689495b"/>
    <p:sldId xmlns:r="http://schemas.openxmlformats.org/officeDocument/2006/relationships" id="267" r:id="Ra3ee04d8ccbb4fe4"/>
    <p:sldId xmlns:r="http://schemas.openxmlformats.org/officeDocument/2006/relationships" id="268" r:id="Re5327f2b60634089"/>
    <p:sldId xmlns:r="http://schemas.openxmlformats.org/officeDocument/2006/relationships" id="269" r:id="R4716aa965c2246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04ac7a04244bf1" /><Relationship Type="http://schemas.openxmlformats.org/officeDocument/2006/relationships/slideMaster" Target="/ppt/slideMasters/slideMaster1.xml" Id="Re4de4cdb743f4adf" /><Relationship Type="http://schemas.openxmlformats.org/officeDocument/2006/relationships/notesMaster" Target="/ppt/notesMasters/notesMaster1.xml" Id="R2230e475cd0848e4" /><Relationship Type="http://schemas.openxmlformats.org/officeDocument/2006/relationships/presProps" Target="/ppt/presProps.xml" Id="Re2d8a507bb9b4770" /><Relationship Type="http://schemas.openxmlformats.org/officeDocument/2006/relationships/tableStyles" Target="/ppt/tableStyles.xml" Id="R500121106be5433a" /><Relationship Type="http://schemas.openxmlformats.org/officeDocument/2006/relationships/slide" Target="/ppt/slides/slide1.xml" Id="R42483b4ca72745ce" /><Relationship Type="http://schemas.openxmlformats.org/officeDocument/2006/relationships/slide" Target="/ppt/slides/slide2.xml" Id="R74da85bc2ad34b14" /><Relationship Type="http://schemas.openxmlformats.org/officeDocument/2006/relationships/slide" Target="/ppt/slides/slide3.xml" Id="R778b58b3b1bc4ce5" /><Relationship Type="http://schemas.openxmlformats.org/officeDocument/2006/relationships/slide" Target="/ppt/slides/slide4.xml" Id="R1983be13caaf41b7" /><Relationship Type="http://schemas.openxmlformats.org/officeDocument/2006/relationships/slide" Target="/ppt/slides/slide5.xml" Id="R2ecad5e3a3ac4bf3" /><Relationship Type="http://schemas.openxmlformats.org/officeDocument/2006/relationships/slide" Target="/ppt/slides/slide6.xml" Id="R00dacc8e417e47e1" /><Relationship Type="http://schemas.openxmlformats.org/officeDocument/2006/relationships/slide" Target="/ppt/slides/slide7.xml" Id="Rac67f1a16afc4c04" /><Relationship Type="http://schemas.openxmlformats.org/officeDocument/2006/relationships/slide" Target="/ppt/slides/slide8.xml" Id="R82cf90434c4b425f" /><Relationship Type="http://schemas.openxmlformats.org/officeDocument/2006/relationships/slide" Target="/ppt/slides/slide9.xml" Id="R60204f3479fa4d42" /><Relationship Type="http://schemas.openxmlformats.org/officeDocument/2006/relationships/slide" Target="/ppt/slides/slide10.xml" Id="Rc2105bc88e1a4f5b" /><Relationship Type="http://schemas.openxmlformats.org/officeDocument/2006/relationships/slide" Target="/ppt/slides/slide11.xml" Id="R6bff2d636689495b" /><Relationship Type="http://schemas.openxmlformats.org/officeDocument/2006/relationships/slide" Target="/ppt/slides/slide12.xml" Id="Ra3ee04d8ccbb4fe4" /><Relationship Type="http://schemas.openxmlformats.org/officeDocument/2006/relationships/slide" Target="/ppt/slides/slide13.xml" Id="Re5327f2b60634089" /><Relationship Type="http://schemas.openxmlformats.org/officeDocument/2006/relationships/slide" Target="/ppt/slides/slide14.xml" Id="R4716aa965c2246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90de4ac51749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94a41ac4814e1f" /><Relationship Type="http://schemas.openxmlformats.org/officeDocument/2006/relationships/notesMaster" Target="/ppt/notesMasters/notesMaster1.xml" Id="R0ac9ad26ec5746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33c93a0f04410d" /><Relationship Type="http://schemas.openxmlformats.org/officeDocument/2006/relationships/notesMaster" Target="/ppt/notesMasters/notesMaster1.xml" Id="R2b1c347dee534e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611b1fe8274459" /><Relationship Type="http://schemas.openxmlformats.org/officeDocument/2006/relationships/notesMaster" Target="/ppt/notesMasters/notesMaster1.xml" Id="Rba48fa0e471640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a41baab1344a09" /><Relationship Type="http://schemas.openxmlformats.org/officeDocument/2006/relationships/notesMaster" Target="/ppt/notesMasters/notesMaster1.xml" Id="R2d6eefbedccf43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adaf208f3b4c61" /><Relationship Type="http://schemas.openxmlformats.org/officeDocument/2006/relationships/notesMaster" Target="/ppt/notesMasters/notesMaster1.xml" Id="R41ca599aca0545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c85a6b036749fb" /><Relationship Type="http://schemas.openxmlformats.org/officeDocument/2006/relationships/notesMaster" Target="/ppt/notesMasters/notesMaster1.xml" Id="Rd5eb2ec52e054c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e4bbcb35e84fd2" /><Relationship Type="http://schemas.openxmlformats.org/officeDocument/2006/relationships/notesMaster" Target="/ppt/notesMasters/notesMaster1.xml" Id="Rd2d4e4c8c84a41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cabf8532bf4aa0" /><Relationship Type="http://schemas.openxmlformats.org/officeDocument/2006/relationships/notesMaster" Target="/ppt/notesMasters/notesMaster1.xml" Id="R3d6637ea677948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71535599514c6b" /><Relationship Type="http://schemas.openxmlformats.org/officeDocument/2006/relationships/notesMaster" Target="/ppt/notesMasters/notesMaster1.xml" Id="R7186687a40ed4d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d15df786784445" /><Relationship Type="http://schemas.openxmlformats.org/officeDocument/2006/relationships/notesMaster" Target="/ppt/notesMasters/notesMaster1.xml" Id="R1975bed328eb41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e70f74a39a4bc5" /><Relationship Type="http://schemas.openxmlformats.org/officeDocument/2006/relationships/notesMaster" Target="/ppt/notesMasters/notesMaster1.xml" Id="Rc0f7ab12e45a4a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44a17e4e374cc2" /><Relationship Type="http://schemas.openxmlformats.org/officeDocument/2006/relationships/notesMaster" Target="/ppt/notesMasters/notesMaster1.xml" Id="R267e3703337e41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68f846ec0f4bba" /><Relationship Type="http://schemas.openxmlformats.org/officeDocument/2006/relationships/notesMaster" Target="/ppt/notesMasters/notesMaster1.xml" Id="R151a36c9051942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086ff585754526" /><Relationship Type="http://schemas.openxmlformats.org/officeDocument/2006/relationships/notesMaster" Target="/ppt/notesMasters/notesMaster1.xml" Id="Rd4300918adf843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menghubungkan materi sebelumnya tentang loop dengan function. Function akan menjadi alat untuk membungkus proses pengolahan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slide ini sebagai peta sesi. Tekankan bahwa function menjadi jembatan dari Python dasar ke pengolahan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Hubungkan dengan loop sebelumnya. Siswa sudah belajar menulis instruksi berulang. Sekarang instruksi dapat dibungkus dalam nama yang bisa dipanggil kembali.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Tekankan perbedaan perilaku. Untuk function mean, median, dan standar deviasi, siswa harus memakai return karena hasil perhitungan akan dipakai di luar function.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contoh luas untuk menunjukkan bahwa parameter membuat function tidak terikat pada satu angka tertentu. Hubungkan dengan data list pada slide mean.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contoh ini untuk memperlihatkan bahwa function dapat menggabungkan konsep def, parameter, for loop, return, dan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Jangan tampilkan jawaban di slide. Sediakan starter cell di notebook hanya berisi dataset dan nama function. Minta siswa mengetik implementasinya sendiri.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Sampaikan sebagai extension. Fokus pada dua ide: base case dan recursive call. Tidak perlu menghubungkan recursion ke perhitungan statistik pada sesi ini.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pola angka sebagai pembuka. Lalu jalankan fibonacci(5) dan gambarkan pemanggilan function secara manual. Fokuskan demo pada base case dan dua pemanggilan sebelumnya.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dot plot untuk menunjukkan bahwa mean saja belum cukup. Siswa perlu melihat posisi setiap nilai terhadap pusat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Tekankan bahwa variasi memiliki fungsi praktis dalam pengolahan data. Data dengan mean sama dapat memiliki tingkat konsistensi yang berbeda.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bahwa variansi memakai kuadrat agar selisih negatif dan positif tidak saling menghapus. Akar kuadrat mengembalikan skala ke satuan asli.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Grafik di kiri bersifat ilustratif. Fokuskan pembahasan pada bentuk penyebaran, bukan pada nilai statistik grafik.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Sediakan starter cell yang berisi import math, dua dataset, dan function kosong. Siswa mengetik implementasinya. Minta mereka membandingkan hasil, bukan hanya mencetak angka.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3cb70ff8cb44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6f83eae5414406" /><Relationship Type="http://schemas.openxmlformats.org/officeDocument/2006/relationships/slideLayout" Target="/ppt/slideLayouts/slideLayout1.xml" Id="Ra5ccf1befcef41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ccf1befcef41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c86c6d7a04b0d" /><Relationship Type="http://schemas.openxmlformats.org/officeDocument/2006/relationships/image" Target="/ppt/media/image.png" Id="Re3ceeb7dd3584456" /><Relationship Type="http://schemas.openxmlformats.org/officeDocument/2006/relationships/notesSlide" Target="/ppt/notesSlides/notesSlide1.xml" Id="Re6c1c534cb2141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5a28aae984304" /><Relationship Type="http://schemas.openxmlformats.org/officeDocument/2006/relationships/notesSlide" Target="/ppt/notesSlides/notesSlide2.xml" Id="Ra89b432e66774a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dbc94810d4b42" /><Relationship Type="http://schemas.openxmlformats.org/officeDocument/2006/relationships/notesSlide" Target="/ppt/notesSlides/notesSlide3.xml" Id="Rcae7eec10a4e42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32057fa2d4912" /><Relationship Type="http://schemas.openxmlformats.org/officeDocument/2006/relationships/notesSlide" Target="/ppt/notesSlides/notesSlide4.xml" Id="Rfde5e9c83a014c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08a6ee6e745e7" /><Relationship Type="http://schemas.openxmlformats.org/officeDocument/2006/relationships/notesSlide" Target="/ppt/notesSlides/notesSlide5.xml" Id="R30a6d3d3282042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85b708f054da7" /><Relationship Type="http://schemas.openxmlformats.org/officeDocument/2006/relationships/notesSlide" Target="/ppt/notesSlides/notesSlide6.xml" Id="R33f74bf3a7114b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e7aef21064908" /><Relationship Type="http://schemas.openxmlformats.org/officeDocument/2006/relationships/notesSlide" Target="/ppt/notesSlides/notesSlide7.xml" Id="R219da741df694d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46b453e444458" /><Relationship Type="http://schemas.openxmlformats.org/officeDocument/2006/relationships/notesSlide" Target="/ppt/notesSlides/notesSlide8.xml" Id="R99cacb40a9004c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8ee163d744050" /><Relationship Type="http://schemas.openxmlformats.org/officeDocument/2006/relationships/notesSlide" Target="/ppt/notesSlides/notesSlide9.xml" Id="R4a3b5f7d56c34c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3a2c9af3d4431" /><Relationship Type="http://schemas.openxmlformats.org/officeDocument/2006/relationships/notesSlide" Target="/ppt/notesSlides/notesSlide10.xml" Id="R907884ea91fd4c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992b7475e4b90" /><Relationship Type="http://schemas.openxmlformats.org/officeDocument/2006/relationships/notesSlide" Target="/ppt/notesSlides/notesSlide11.xml" Id="R99dcf6573d5e4e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93af780d14c2b" /><Relationship Type="http://schemas.openxmlformats.org/officeDocument/2006/relationships/notesSlide" Target="/ppt/notesSlides/notesSlide12.xml" Id="R3deaf387034c45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aa51e0f984990" /><Relationship Type="http://schemas.openxmlformats.org/officeDocument/2006/relationships/notesSlide" Target="/ppt/notesSlides/notesSlide13.xml" Id="Rd5fe9fe898194b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eadd2175046c7" /><Relationship Type="http://schemas.openxmlformats.org/officeDocument/2006/relationships/notesSlide" Target="/ppt/notesSlides/notesSlide14.xml" Id="R76e2327b2ff946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eeb7dd358445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8F1F1-DFE1-4BA1-A4B6-401F4B89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3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Function untuk</a:t>
            </a:r>
          </a:p>
          <a:p xmlns:a="http://schemas.openxmlformats.org/drawingml/2006/main">
            <a:pPr algn="l">
              <a:defRPr sz="33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3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Mengolah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ACD66-62F0-4732-B26E-BFA6B625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Mean, median, modus, variasi,</a:t>
            </a:r>
          </a:p>
          <a:p xmlns:a="http://schemas.openxmlformats.org/drawingml/2006/main">
            <a:pPr algn="l">
              <a:defRPr sz="16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dan standar deviasi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CE577-26D2-4D4D-8B2C-982CCCB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4FB6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92455-37A5-46CE-882F-749E50EA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Menggunakan function Python untuk membaca data</a:t>
            </a:r>
          </a:p>
        </p:txBody>
      </p:sp>
    </p:spTree>
    <p:extLst>
      <p:ext uri="{BB962C8B-B14F-4D97-AF65-F5344CB8AC3E}">
        <p14:creationId xmlns:p14="http://schemas.microsoft.com/office/powerpoint/2010/main" val="629538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C46502-A2A7-44E5-AED3-631B4FCB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TARGET BELAJAR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FAD3B-8B92-41E2-8CE3-B460220B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Function dan statistik dasar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A27F6-E190-450A-9229-25EFCF3C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6B119-2B15-4E4F-9FDB-1CF7328A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Di akhir sesi, siswa dapat membuat function untuk mengolah list angka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4F93A-225F-43F7-89AC-E6519D53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FE4DA-3169-476D-A92B-557CB52C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64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7C8EC-FF3A-4211-9A4B-CE586EF2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977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Membuat function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E9250-B294-473F-8EC0-319AD48F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Menggunakan def, nama function, dan blok instruksi.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ACF45-8794-4A28-B766-9E9A8213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34020-9F11-46BB-926E-816DC548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764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47A90-D230-4E8F-923D-BCA8A0E7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977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Mengembalikan nilai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95244-F7BF-49A9-A6F0-2E43E1F0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Membedakan print() dengan return.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90C8E-ECD2-4B97-97BF-1B78AE4B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D1DFB-B962-4708-95F0-4089B1D3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575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C0014-D559-4F3F-9DC3-BE3D9618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Mengolah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FF5B5-8459-4E3E-9448-FB9A0AED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Menghitung mean, median, modus, dan rentang.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0E0C1-5F0E-4971-AC31-177F69AC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BDD25-0AE6-4FBE-B204-AADCE729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575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08942-B241-4F41-BAD5-5580C240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9087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Membaca penyebaran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71797-8EA1-4DA8-8DC8-487B0E6D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480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Menjelaskan variasi dan standar deviasi.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CCEB3-135C-4DBA-BA2D-8FDEE1B0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6D4033-D490-4231-9B60-49649254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051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Data masuk, function menghitung, hasil membantu kita membaca data.</a:t>
            </a:r>
          </a:p>
        </p:txBody>
      </p:sp>
    </p:spTree>
    <p:extLst>
      <p:ext uri="{BB962C8B-B14F-4D97-AF65-F5344CB8AC3E}">
        <p14:creationId xmlns:p14="http://schemas.microsoft.com/office/powerpoint/2010/main" val="11890517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038FA6-9805-40F2-B517-680EA7E7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FUNCTION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D649B-7CC3-4B32-AADB-6F59EA83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Function menyimpan langkah yang dipakai berulang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73AC4-C758-43E9-9A58-5CC0EA43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2C16F-3169-4144-AF3E-F077E181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Loop mengulang langkah. Function memberi nama pada langkah tersebut</a:t>
            </a:r>
          </a:p>
        </p:txBody>
      </p:sp>
      <p:sp>
        <p:nvSpPr>
          <p:cNvPr id="5" name="function-code">
            <a:extLst xmlns:a="http://schemas.openxmlformats.org/drawingml/2006/main">
              <a:ext uri="{FF2B5EF4-FFF2-40B4-BE49-F238E27FC236}">
                <a16:creationId xmlns:a16="http://schemas.microsoft.com/office/drawing/2014/main" id="{D41B4A4F-F35E-415E-9FE8-1D2CDF4F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3340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6" name="function-code-dot-1">
            <a:extLst xmlns:a="http://schemas.openxmlformats.org/drawingml/2006/main">
              <a:ext uri="{FF2B5EF4-FFF2-40B4-BE49-F238E27FC236}">
                <a16:creationId xmlns:a16="http://schemas.microsoft.com/office/drawing/2014/main" id="{85F3DA97-5D56-4E38-B7A6-AC0CC0C5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unction-code-dot-2">
            <a:extLst xmlns:a="http://schemas.openxmlformats.org/drawingml/2006/main">
              <a:ext uri="{FF2B5EF4-FFF2-40B4-BE49-F238E27FC236}">
                <a16:creationId xmlns:a16="http://schemas.microsoft.com/office/drawing/2014/main" id="{A5CD5A79-6455-4330-B3B0-C02DE35B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unction-code-dot-3">
            <a:extLst xmlns:a="http://schemas.openxmlformats.org/drawingml/2006/main">
              <a:ext uri="{FF2B5EF4-FFF2-40B4-BE49-F238E27FC236}">
                <a16:creationId xmlns:a16="http://schemas.microsoft.com/office/drawing/2014/main" id="{2D3B9159-DC9E-4B98-B828-F53AF1A5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11327-1DC1-4596-8ADB-5C7D5DB9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876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sapa(nama):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print(f"Halo, {nama}!")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sapa("Alya")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79374-192D-447E-BB8D-F5C0F08E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24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Satu function memiliki tiga bagian penting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D5BFD-CD43-4148-8B83-8E25AA0F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7650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196B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DECAD-DED1-4899-888A-CB3AAF6C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908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425" b="1" i="0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def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C484F-C026-458B-84F7-49161069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kata kunci untuk membuat function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BD023-1AA7-4D21-9EBC-DD5BAF0F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7EA04-530C-4839-B94B-5953205E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sapa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4F4F7-975A-4CB4-9443-3AB6D3AF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24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nama yang dipanggil saat function digunakan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82A77-F971-47F7-A26C-7F28071E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6240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FDC71-5207-4DD9-B1B5-6FC02612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767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nama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DBED3-2C07-40BC-A5BB-C6F364E6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input yang diterima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37A08-3825-4326-9B2C-5395F384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533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0AF058-72CF-425B-A17E-F07D91F3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Function dipanggil dengan menuliskan namanya.</a:t>
            </a:r>
          </a:p>
        </p:txBody>
      </p:sp>
    </p:spTree>
    <p:extLst>
      <p:ext uri="{BB962C8B-B14F-4D97-AF65-F5344CB8AC3E}">
        <p14:creationId xmlns:p14="http://schemas.microsoft.com/office/powerpoint/2010/main" val="584818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4D3A9B-817C-4C04-B375-6767EB8B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RETURN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F14D6-F6AC-4E38-8D40-56E59FDD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print() menampilkan, return mengembalikan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89FC3-233C-41A5-91F3-42161AE5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4DE90-D0F8-41D9-840E-A0503C49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Untuk function statistik, hasil perlu dikembalikan agar bisa dipakai lagi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B1106-AB4B-4A60-B9F6-B88011D2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AB109-6076-465D-97D8-4D43C7AD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96B9B"/>
                </a:solidFill>
                <a:latin typeface="SF Pro Display"/>
                <a:ea typeface="SF Pro Display"/>
                <a:cs typeface="SF Pro Display"/>
              </a:defRPr>
            </a:pPr>
            <a:r>
              <a:rPr sz="1950" b="1" i="0">
                <a:solidFill>
                  <a:srgbClr val="196B9B"/>
                </a:solidFill>
                <a:latin typeface="SF Pro Display"/>
                <a:ea typeface="SF Pro Display"/>
                <a:cs typeface="SF Pro Display"/>
              </a:rPr>
              <a:t>print()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3910E-AA34-45D6-A728-ED558FBB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Hasil terlihat di layar</a:t>
            </a:r>
          </a:p>
        </p:txBody>
      </p:sp>
      <p:sp>
        <p:nvSpPr>
          <p:cNvPr id="8" name="print-code">
            <a:extLst xmlns:a="http://schemas.openxmlformats.org/drawingml/2006/main">
              <a:ext uri="{FF2B5EF4-FFF2-40B4-BE49-F238E27FC236}">
                <a16:creationId xmlns:a16="http://schemas.microsoft.com/office/drawing/2014/main" id="{EC33FE15-AAC1-4C00-8943-4CBDD9DD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400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9" name="print-code-dot-1">
            <a:extLst xmlns:a="http://schemas.openxmlformats.org/drawingml/2006/main">
              <a:ext uri="{FF2B5EF4-FFF2-40B4-BE49-F238E27FC236}">
                <a16:creationId xmlns:a16="http://schemas.microsoft.com/office/drawing/2014/main" id="{1B6D005F-C6FE-4A5C-8B4F-44CC4199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-code-dot-2">
            <a:extLst xmlns:a="http://schemas.openxmlformats.org/drawingml/2006/main">
              <a:ext uri="{FF2B5EF4-FFF2-40B4-BE49-F238E27FC236}">
                <a16:creationId xmlns:a16="http://schemas.microsoft.com/office/drawing/2014/main" id="{E7B189B9-1E1A-4F88-B4FF-EF206134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-code-dot-3">
            <a:extLst xmlns:a="http://schemas.openxmlformats.org/drawingml/2006/main">
              <a:ext uri="{FF2B5EF4-FFF2-40B4-BE49-F238E27FC236}">
                <a16:creationId xmlns:a16="http://schemas.microsoft.com/office/drawing/2014/main" id="{C7685DC2-1F7E-4665-A4FF-53770D32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5FB1E-C812-4133-8C83-F2CCB6C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3943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luas_print(p, l):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print(p * 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luas_print(4, 3)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C9184-5873-483A-9134-DDC01613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4953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52C482-FC0E-4549-B1C7-D94FB81E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9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return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1C0E1-2F30-481A-AF38-0AFF3B54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14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Nilai bisa disimpan dan dihitung lagi</a:t>
            </a:r>
          </a:p>
        </p:txBody>
      </p:sp>
      <p:sp>
        <p:nvSpPr>
          <p:cNvPr id="16" name="return-code">
            <a:extLst xmlns:a="http://schemas.openxmlformats.org/drawingml/2006/main">
              <a:ext uri="{FF2B5EF4-FFF2-40B4-BE49-F238E27FC236}">
                <a16:creationId xmlns:a16="http://schemas.microsoft.com/office/drawing/2014/main" id="{547A6BDE-9602-4F54-907F-D3A4D38E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09900"/>
            <a:ext cx="4400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17" name="return-code-dot-1">
            <a:extLst xmlns:a="http://schemas.openxmlformats.org/drawingml/2006/main">
              <a:ext uri="{FF2B5EF4-FFF2-40B4-BE49-F238E27FC236}">
                <a16:creationId xmlns:a16="http://schemas.microsoft.com/office/drawing/2014/main" id="{7ED54702-E436-40C9-898C-6067868A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turn-code-dot-2">
            <a:extLst xmlns:a="http://schemas.openxmlformats.org/drawingml/2006/main">
              <a:ext uri="{FF2B5EF4-FFF2-40B4-BE49-F238E27FC236}">
                <a16:creationId xmlns:a16="http://schemas.microsoft.com/office/drawing/2014/main" id="{B71BE00F-E418-46D5-B75E-4AA9C436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turn-code-dot-3">
            <a:extLst xmlns:a="http://schemas.openxmlformats.org/drawingml/2006/main">
              <a:ext uri="{FF2B5EF4-FFF2-40B4-BE49-F238E27FC236}">
                <a16:creationId xmlns:a16="http://schemas.microsoft.com/office/drawing/2014/main" id="{A92FD6E1-6405-4AF7-9C64-EF03BE47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0670BB-0388-4127-954A-692ED535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48050"/>
            <a:ext cx="3943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5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luas_return(p, l):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return p *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hasil = luas_return(4, 3)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print(hasil + 2)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81FBE-F782-434A-B4BF-16AE4BB9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D33AEE-AC37-4119-B8E6-9EF59991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print() → layar        return → nilai yang bisa dipakai</a:t>
            </a:r>
          </a:p>
        </p:txBody>
      </p:sp>
    </p:spTree>
    <p:extLst>
      <p:ext uri="{BB962C8B-B14F-4D97-AF65-F5344CB8AC3E}">
        <p14:creationId xmlns:p14="http://schemas.microsoft.com/office/powerpoint/2010/main" val="16099357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5C615E-E863-4A18-97BE-DA5740CE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PARAMETER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760A5-980A-4241-8B58-F1C51176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Parameter membuat function bisa dipakai untuk banyak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5C43D-9D00-41BB-8FDB-614A991A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D63DB-0387-4A97-8C5F-28E8F304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Parameter adalah nama untuk input yang diterima function</a:t>
            </a:r>
          </a:p>
        </p:txBody>
      </p:sp>
      <p:sp>
        <p:nvSpPr>
          <p:cNvPr id="5" name="parameter-code">
            <a:extLst xmlns:a="http://schemas.openxmlformats.org/drawingml/2006/main">
              <a:ext uri="{FF2B5EF4-FFF2-40B4-BE49-F238E27FC236}">
                <a16:creationId xmlns:a16="http://schemas.microsoft.com/office/drawing/2014/main" id="{8070C310-98B3-44D2-BD6C-D483AFF1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619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6" name="parameter-code-dot-1">
            <a:extLst xmlns:a="http://schemas.openxmlformats.org/drawingml/2006/main">
              <a:ext uri="{FF2B5EF4-FFF2-40B4-BE49-F238E27FC236}">
                <a16:creationId xmlns:a16="http://schemas.microsoft.com/office/drawing/2014/main" id="{B2282EBD-FE18-41F6-8B00-12C38F9B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rameter-code-dot-2">
            <a:extLst xmlns:a="http://schemas.openxmlformats.org/drawingml/2006/main">
              <a:ext uri="{FF2B5EF4-FFF2-40B4-BE49-F238E27FC236}">
                <a16:creationId xmlns:a16="http://schemas.microsoft.com/office/drawing/2014/main" id="{B783E9C3-E3A6-4324-8E06-C49C98DB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rameter-code-dot-3">
            <a:extLst xmlns:a="http://schemas.openxmlformats.org/drawingml/2006/main">
              <a:ext uri="{FF2B5EF4-FFF2-40B4-BE49-F238E27FC236}">
                <a16:creationId xmlns:a16="http://schemas.microsoft.com/office/drawing/2014/main" id="{0F81A513-EF35-401F-BBF5-FC758B54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581FF-D97E-443D-8B08-E37D487D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51625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luas_persegi(panjang, lebar):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return panjang * lebar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luas_persegi(4, 3)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luas_persegi(10, 2)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612D2-6E21-4E98-834E-2A158FE7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Parameter dan argument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B7AF0-9D2E-4B10-A801-2C066DDD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BDB26-186E-46F3-B834-D17FF2E9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860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Parameter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B4D8A-A8A2-49FC-85BC-BA9F99AC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279C5-3140-42D8-A9E8-18AADCC8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860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panjang, lebar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DC22A-F52B-429F-A657-97FA32FB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7F196-CB2F-4C17-91DB-5DD69E66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99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Argument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1BA0A-89D5-4096-B16E-6173890A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671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C9CCE-C042-485B-AFDA-710F8FBD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99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4, 3 atau 10,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61AF9-A1F9-4257-BDA3-1006280B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9100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3DB8C-C615-4185-8AF0-C3707F20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338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Hasil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54D32-6219-4BE6-AB23-AE8D1755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910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07541-FC7F-49A1-B50F-37B2DD17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338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12 atau 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F0B599-67F3-442F-BB97-1FD5BC85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48250"/>
            <a:ext cx="3962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E3690D-82D4-41E1-9608-24E1A38B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4350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Satu function, banyak kemungkinan input.</a:t>
            </a:r>
          </a:p>
        </p:txBody>
      </p:sp>
    </p:spTree>
    <p:extLst>
      <p:ext uri="{BB962C8B-B14F-4D97-AF65-F5344CB8AC3E}">
        <p14:creationId xmlns:p14="http://schemas.microsoft.com/office/powerpoint/2010/main" val="1877838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338815-A33F-429B-9261-F8CE35DE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CONTOH FUNCTION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AE891-98DD-47B8-B513-0C19FF95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Mean menjadi function pertama untuk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0A27E-184B-4836-8F29-A88ED954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F5021-E694-4310-89F0-3037C042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Function menerima list, menghitung jumlah, lalu mengembalikan rata-rata</a:t>
            </a:r>
          </a:p>
        </p:txBody>
      </p:sp>
      <p:sp>
        <p:nvSpPr>
          <p:cNvPr id="5" name="mean-code">
            <a:extLst xmlns:a="http://schemas.openxmlformats.org/drawingml/2006/main">
              <a:ext uri="{FF2B5EF4-FFF2-40B4-BE49-F238E27FC236}">
                <a16:creationId xmlns:a16="http://schemas.microsoft.com/office/drawing/2014/main" id="{966664BC-979F-47B4-817F-544035DA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71500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6" name="mean-code-dot-1">
            <a:extLst xmlns:a="http://schemas.openxmlformats.org/drawingml/2006/main">
              <a:ext uri="{FF2B5EF4-FFF2-40B4-BE49-F238E27FC236}">
                <a16:creationId xmlns:a16="http://schemas.microsoft.com/office/drawing/2014/main" id="{838F06CB-6B4B-461A-AE47-7B7C7C6E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an-code-dot-2">
            <a:extLst xmlns:a="http://schemas.openxmlformats.org/drawingml/2006/main">
              <a:ext uri="{FF2B5EF4-FFF2-40B4-BE49-F238E27FC236}">
                <a16:creationId xmlns:a16="http://schemas.microsoft.com/office/drawing/2014/main" id="{10C4D743-A6E2-41ED-8686-F9252146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71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an-code-dot-3">
            <a:extLst xmlns:a="http://schemas.openxmlformats.org/drawingml/2006/main">
              <a:ext uri="{FF2B5EF4-FFF2-40B4-BE49-F238E27FC236}">
                <a16:creationId xmlns:a16="http://schemas.microsoft.com/office/drawing/2014/main" id="{BD14089F-B243-4288-85D7-9E9CE8C8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67BC1-C3C2-4728-A0F3-32447059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25780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hitung_mean(data):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for nilai in data: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total += nilai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return total / len(data)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nilai = [70, 80, 75, 90]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print(hitung_mean(nilai))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6B5FE-2A5A-4F7E-8522-00957571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43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Rumus 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8517A-2DAD-40F8-A4B0-3484F972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0300"/>
            <a:ext cx="4000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F2FBA-C632-43B8-9219-1FC7A559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95550"/>
            <a:ext cx="3695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mean = jumlah seluruh nilai / banyak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1E847-CB83-4BD7-A750-F7FA3711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14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Proses function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CC63B-96CA-4E6B-8EC6-406AC9C2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29050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5789C-3917-4610-8FBE-B7751F4F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433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35E1D-CBDD-4206-8567-8C1906EF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910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70, 80, 75, 90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3E13F-52B5-48B9-88AE-4F581929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53396-A3D7-4F44-B283-D68E2911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29050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CFBAA-BF82-40BB-8F11-5C4B2586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433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jumlah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D32D7-B6CA-47B2-B6F3-1EDB780D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910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315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97465-70E4-428B-8614-E2286ABF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5765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97AA3-AF99-483E-9D4F-A4EB2AE3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29050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48EB9D-465B-4F98-94CE-CE0FB66A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433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5954FB-1601-47C0-9452-5AF20838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910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78.75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DD86B0-D5DC-4EEB-80C1-7E09A43A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53000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Perulangan dari pertemuan sebelumnya membantu menjumlahkan nilai.</a:t>
            </a:r>
          </a:p>
        </p:txBody>
      </p:sp>
    </p:spTree>
    <p:extLst>
      <p:ext uri="{BB962C8B-B14F-4D97-AF65-F5344CB8AC3E}">
        <p14:creationId xmlns:p14="http://schemas.microsoft.com/office/powerpoint/2010/main" val="13059612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DE265E-49DD-4DEF-81F9-797E54D6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HANDS-ON 1  •  10 MENIT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64933-E5E6-4A9F-972B-DDE16C75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Tiga statistik sederhana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43726-1D67-4BBF-81E6-A9A7B17B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133E2-A7DD-4527-8796-4C11669D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Tulis function yang mengembalikan median, modus, dan rentang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6CFA3-18EB-4518-B8BC-EA81418F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530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AD625-9F25-4E9D-B0D1-0C3D4451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Dataset</a:t>
            </a:r>
          </a:p>
        </p:txBody>
      </p:sp>
      <p:sp>
        <p:nvSpPr>
          <p:cNvPr id="7" name="hands-on-one-data">
            <a:extLst xmlns:a="http://schemas.openxmlformats.org/drawingml/2006/main">
              <a:ext uri="{FF2B5EF4-FFF2-40B4-BE49-F238E27FC236}">
                <a16:creationId xmlns:a16="http://schemas.microsoft.com/office/drawing/2014/main" id="{35DBD548-09CD-4A43-BCC9-C4CC4259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4005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8" name="hands-on-one-data-dot-1">
            <a:extLst xmlns:a="http://schemas.openxmlformats.org/drawingml/2006/main">
              <a:ext uri="{FF2B5EF4-FFF2-40B4-BE49-F238E27FC236}">
                <a16:creationId xmlns:a16="http://schemas.microsoft.com/office/drawing/2014/main" id="{F55A2EB9-3D6C-433B-B6C0-6848DECA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ands-on-one-data-dot-2">
            <a:extLst xmlns:a="http://schemas.openxmlformats.org/drawingml/2006/main">
              <a:ext uri="{FF2B5EF4-FFF2-40B4-BE49-F238E27FC236}">
                <a16:creationId xmlns:a16="http://schemas.microsoft.com/office/drawing/2014/main" id="{86EA43AF-C516-4A22-A76F-08E4685F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ands-on-one-data-dot-3">
            <a:extLst xmlns:a="http://schemas.openxmlformats.org/drawingml/2006/main">
              <a:ext uri="{FF2B5EF4-FFF2-40B4-BE49-F238E27FC236}">
                <a16:creationId xmlns:a16="http://schemas.microsoft.com/office/drawing/2014/main" id="{F0B1E6A2-2CB7-4295-AB38-04044C15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19FC7-F6C3-4EC9-8DE5-2AE1A6AE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3943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data_nilai = [72, 85, 72,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      90, 68, 75,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      85, 72, 88]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2B731-3076-456A-A040-5D12ED8D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9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data baru ini. Jangan menyalin function mean.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896D9-086E-4468-AC13-C81EBDE0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43100"/>
            <a:ext cx="52768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801C4-3EE9-46F3-B3DA-6B19BB0C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Tugas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A53EA-B75A-491A-A627-CBEB30C8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572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hitung_median(data)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hitung_modus(data)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hitung_rentang(data)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return dan parameter data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Tampilkan hasil dengan print()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29E39-947F-4782-9A55-32FBCC54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572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BD092-387C-410A-915F-08E542C4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0100"/>
            <a:ext cx="426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Batasan: jangan gunakan statistics.median atau statistics.mode.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BBFF6-9825-47EF-8091-4C415CC7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20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Ingat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5316A-2CA7-4C7C-BEB2-319EE161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333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8A47E-ADFF-4F19-8CB6-6FEE8386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Median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C942AA-FE26-4112-9CBE-F2A3F518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nilai tengah setelah data diurutkan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19BFE-1F27-46C1-B842-EF87FD79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05450"/>
            <a:ext cx="333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91B5E-996C-4288-9177-F7367D2D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619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Modus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CE14D0-C60A-4B46-A14F-C9C5AEB2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674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nilai yang paling sering muncul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512426-8DA5-46F4-B640-5E656F80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505450"/>
            <a:ext cx="333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55B7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9AB8CC-0233-4BD8-8FC5-C0F22B68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19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Rentang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E55B6A-D343-470E-AC5C-492750CF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8674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nilai terbesar dikurangi nilai terkecil</a:t>
            </a:r>
          </a:p>
        </p:txBody>
      </p:sp>
    </p:spTree>
    <p:extLst>
      <p:ext uri="{BB962C8B-B14F-4D97-AF65-F5344CB8AC3E}">
        <p14:creationId xmlns:p14="http://schemas.microsoft.com/office/powerpoint/2010/main" val="2743350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B69483-32B0-4184-B496-5377D0FD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DCA43-06F5-4513-A876-5E104FF5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Recursive function memanggil dirinya sendiri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2844F-66E6-405A-9DE0-0FD3A7FC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D7625-86BC-4780-A444-626C84C4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pemanggilan harus mendekati kondisi berhenti</a:t>
            </a:r>
          </a:p>
        </p:txBody>
      </p:sp>
      <p:sp>
        <p:nvSpPr>
          <p:cNvPr id="5" name="recursive-code">
            <a:extLst xmlns:a="http://schemas.openxmlformats.org/drawingml/2006/main">
              <a:ext uri="{FF2B5EF4-FFF2-40B4-BE49-F238E27FC236}">
                <a16:creationId xmlns:a16="http://schemas.microsoft.com/office/drawing/2014/main" id="{FBD7EAD2-0882-4451-937C-6E621FC5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3340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6" name="recursive-code-dot-1">
            <a:extLst xmlns:a="http://schemas.openxmlformats.org/drawingml/2006/main">
              <a:ext uri="{FF2B5EF4-FFF2-40B4-BE49-F238E27FC236}">
                <a16:creationId xmlns:a16="http://schemas.microsoft.com/office/drawing/2014/main" id="{D077EFFB-D7D6-491E-9CEF-6D6B1CBD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ursive-code-dot-2">
            <a:extLst xmlns:a="http://schemas.openxmlformats.org/drawingml/2006/main">
              <a:ext uri="{FF2B5EF4-FFF2-40B4-BE49-F238E27FC236}">
                <a16:creationId xmlns:a16="http://schemas.microsoft.com/office/drawing/2014/main" id="{EACB8744-C07E-4EC2-AAEA-8D08B9D3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ursive-code-dot-3">
            <a:extLst xmlns:a="http://schemas.openxmlformats.org/drawingml/2006/main">
              <a:ext uri="{FF2B5EF4-FFF2-40B4-BE49-F238E27FC236}">
                <a16:creationId xmlns:a16="http://schemas.microsoft.com/office/drawing/2014/main" id="{42FD8C05-3360-4B74-8A20-CD36F825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3091B-0BF8-4E9B-AB09-66E5DD2B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8768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hitung_mundur(n):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if n == 0: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return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print(n)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hitung_mundur(n - 1)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hitung_mundur(3)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6FF22-42E6-488A-9E4A-B68FC675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Pola recursive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178F0-21F1-47A4-BBA0-EF820C00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28900"/>
            <a:ext cx="742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72EF7-A773-4444-BA6A-06E18642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A0212-6C04-4819-9C30-3C699338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14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cetak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AA3AF-CD06-4EF8-B41D-775ECCEE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AF2E6-7531-42C2-A69A-1BF2F107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57550"/>
            <a:ext cx="742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8C955-4869-47C5-B2E5-A9A49B63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43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0C394-1889-4957-B40D-D5999D76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432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cetak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889F2-0F65-4594-ABA3-CDB817D2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95700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5BF4F-9C7A-4B6A-975E-9D9DF78F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86200"/>
            <a:ext cx="742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90B41-641D-4C27-9440-D33EC361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719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DF8382-51CD-4AF4-8E61-4F18803B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71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cetak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9EA1E-72FE-41C9-B0E1-99001888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24350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25D63-3BDE-47D0-9596-86AB4EA9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14850"/>
            <a:ext cx="742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4F87C9-BC0B-4FA5-A943-87FBE876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005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A7FC44-9483-4AFC-B147-9D5F4AAB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00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berhenti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AF591A-A130-43B9-93CA-9DC6EAF6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34000"/>
            <a:ext cx="4095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3AAA83-431C-46FA-97B6-6F4B02AA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29250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46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Kondisi berhenti mencegah function berjalan tanpa akhir.</a:t>
            </a:r>
          </a:p>
        </p:txBody>
      </p:sp>
    </p:spTree>
    <p:extLst>
      <p:ext uri="{BB962C8B-B14F-4D97-AF65-F5344CB8AC3E}">
        <p14:creationId xmlns:p14="http://schemas.microsoft.com/office/powerpoint/2010/main" val="5031264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712E99-BD38-4881-919C-EC818B0E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DEMO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2BF50-E6A9-4161-B712-3600F7BE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Bilangan Fibonacci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55085-D78D-48B7-A908-8AA2DA01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98F12-EFBD-42B4-9D8B-7D055B75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angka berasal dari dua angka sebelumnya</a:t>
            </a:r>
          </a:p>
        </p:txBody>
      </p:sp>
      <p:sp>
        <p:nvSpPr>
          <p:cNvPr id="5" name="fibonacci-code">
            <a:extLst xmlns:a="http://schemas.openxmlformats.org/drawingml/2006/main">
              <a:ext uri="{FF2B5EF4-FFF2-40B4-BE49-F238E27FC236}">
                <a16:creationId xmlns:a16="http://schemas.microsoft.com/office/drawing/2014/main" id="{41B358AA-63A5-44A3-BF8D-E6750E74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3340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6" name="fibonacci-code-dot-1">
            <a:extLst xmlns:a="http://schemas.openxmlformats.org/drawingml/2006/main">
              <a:ext uri="{FF2B5EF4-FFF2-40B4-BE49-F238E27FC236}">
                <a16:creationId xmlns:a16="http://schemas.microsoft.com/office/drawing/2014/main" id="{FE9A056C-B316-4BEF-86E4-507B6DED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90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ibonacci-code-dot-2">
            <a:extLst xmlns:a="http://schemas.openxmlformats.org/drawingml/2006/main">
              <a:ext uri="{FF2B5EF4-FFF2-40B4-BE49-F238E27FC236}">
                <a16:creationId xmlns:a16="http://schemas.microsoft.com/office/drawing/2014/main" id="{CDEB3894-D649-4823-9D18-D872D4D6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90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bonacci-code-dot-3">
            <a:extLst xmlns:a="http://schemas.openxmlformats.org/drawingml/2006/main">
              <a:ext uri="{FF2B5EF4-FFF2-40B4-BE49-F238E27FC236}">
                <a16:creationId xmlns:a16="http://schemas.microsoft.com/office/drawing/2014/main" id="{ACD6BAB4-B50C-41F4-B7EB-3BBD9A73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90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1616B-D812-45F0-A237-480AC0A1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876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fibonacci(n):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if n &lt;= 1: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return 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return fibonacci(n - 1) + fibonacci(n - 2)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for i in range(8):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print(fibonacci(i))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06428-FF2E-46A1-A900-B6034D62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Pola angka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5D73A-7C5C-4B04-AF9B-6C2102A7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650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0, 1, 1, 2, 3, 5, 8, 13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A0A0C-C3A8-4ADC-BCAB-327CC90F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6A3DC-09AF-4D01-893A-8972990F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71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BE84D-1571-4CC7-95B3-1DCBB5FB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09925"/>
            <a:ext cx="1143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28A12-96BB-4906-9DB8-890498D6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23BC4-AECC-417B-9B5F-76DEB7AD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171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2BB63-FF06-419C-B3E2-4BA565A7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209925"/>
            <a:ext cx="1143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4CB55-928C-4329-84A3-69D921C7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93D9A-D55B-4C44-8AFB-7D1458F7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E60E3-DAC0-40AE-9D8E-8AD619B2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09925"/>
            <a:ext cx="1143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434FA-4818-45B4-8ECE-724106A0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9ABEB-A2CA-41A0-8A51-1CD5F9A7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71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70825-2559-41C3-890F-DAE608AD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09925"/>
            <a:ext cx="1143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5AF91-93B2-49AA-96F7-5878743F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A12C92-B193-41A9-8E90-6BD1C4DC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A9BD41-E897-4729-95BF-728D2DB9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9925"/>
            <a:ext cx="1143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FA3D33-EB6A-4491-B2A8-A85824F7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3508AE-D0DE-40FF-BC8A-5F94EB57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71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8ACFCA-3F56-4DAF-8CDF-9ED20BA3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209925"/>
            <a:ext cx="1143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BEFD57-194E-4D86-9DBB-CE21B8B2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0A2FBF-D173-44B2-9290-42E4B983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71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CAD725-34A2-4BFB-9C64-34A67BDA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09925"/>
            <a:ext cx="1143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C742FF-C779-4588-8789-E648289B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A79380-084E-4CC6-A6BA-A5AF0406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171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1120C7-6626-4085-872D-E420FD84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angka baru = dua angka sebelumnya dijumlahkan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145F73-12D7-4732-861C-0388017F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43434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248DC4-970A-49E3-A702-9DE07BFC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fibonacci(5) = fibonacci(4) + fibonacci(3)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9F6DE6-2868-4A3D-9E4A-785CC33F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01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slide ini sebagai persiapan demo recursive call.</a:t>
            </a:r>
          </a:p>
        </p:txBody>
      </p:sp>
    </p:spTree>
    <p:extLst>
      <p:ext uri="{BB962C8B-B14F-4D97-AF65-F5344CB8AC3E}">
        <p14:creationId xmlns:p14="http://schemas.microsoft.com/office/powerpoint/2010/main" val="5923290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1F6B23-46D4-4D0E-BE2B-104550D3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VARIASI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C6AF3-22C6-41AD-8219-5AB03082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Variasi menunjukkan seberapa menyebar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68EB4-2A9F-4157-8021-FC953DC6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DA5CE-1B9B-4E42-B8FE-623CA67C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Dua dataset dapat memiliki mean yang sama dengan penyebaran yang berbeda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A272A-DDEA-4E44-A875-2D33D673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Data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BB65C-175F-4C8A-B75C-44905C40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49, 50, 51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DC19D-4E1E-4B61-A58C-6EFD8BD8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552F9-3081-412D-806E-72C4894B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30269-BBDA-4F55-B822-661BBF90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DEF8C-AE1A-4E3F-9B75-2C9E16E8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D6577-97FA-43EA-A36F-3EB41F46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CCFC3-7A8B-4540-90AC-F0BEEB42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7ADF3-1C42-4B0A-AAAE-31EC0BD7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100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D3562-7375-4345-BA4B-1273C95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518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0B319-E256-4FDD-A24C-35252DD6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FEDBD8-4D66-4C32-B79A-1708F926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433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AD408-2C0B-4B95-AAC6-AA74C54D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FF13D-F87C-4CB5-84E0-C5183DDE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Mean = 50</a:t>
            </a:r>
          </a:p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Variasi kecil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983EA-B89D-4021-9722-AC2EA5D1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Data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7D0A4-FF44-4E8F-BABD-7088B6BE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20, 50, 80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0D359-81BA-43DA-96CB-8C177FC7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194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C5BEA-116B-411C-B855-F90DC31C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27A35-8FF7-41EE-94C3-73AF64AE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A5FA2-3414-4CE8-9877-59C3EF2D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0BC746-F5C8-4FF0-BE24-585A729A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F94DE-7738-4DD6-8848-E51B2319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8F242E-A52F-439B-8F23-98CE81C9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100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06C2F3-B11C-421B-9629-D54163AF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296911-A320-4B03-A8DF-53FF1184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C6DBCF-9740-4290-B6AF-8E14DEEE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C47272-B459-4C02-94ED-87AD2CB4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0A86E9-72FF-412E-AB38-FBD33C0B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957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Mean = 50</a:t>
            </a:r>
          </a:p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Variasi besar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DBB418-AA5A-4D21-B8D4-28C7934A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94869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98FD7C-7131-4D57-97A6-53970AE1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918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Mean memberi tahu pusat data. Variasi memberi tahu seberapa jauh data menyebar.</a:t>
            </a:r>
          </a:p>
        </p:txBody>
      </p:sp>
    </p:spTree>
    <p:extLst>
      <p:ext uri="{BB962C8B-B14F-4D97-AF65-F5344CB8AC3E}">
        <p14:creationId xmlns:p14="http://schemas.microsoft.com/office/powerpoint/2010/main" val="9816576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E1599E-FAFF-444F-A855-BDC60297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PENGOLAHAN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7C68D-0990-4A06-9E23-52BC9BB8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Variasi membantu membaca kondisi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6783A-6B5C-4711-AB6F-55564197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6B995-3BC4-4059-A2E5-C6CA9294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Ukuran penyebaran membantu kita memahami konsistensi dan nilai yang tidak biasa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434D0-C57C-48FB-80CC-446E081E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Contoh: dua kelas memiliki mean 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8B22D-3CD1-41F5-8653-C44E3898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Kelas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CA52D-B61C-4542-B164-56DD277E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9D532-2F6C-48E0-85D6-4D6DD6E2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25460-A676-4138-AA01-F08CCAAB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9291E-6DC0-43FE-90FE-422B9E64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623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1090F-5E92-4906-B334-FC93662A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71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82D6E-144F-44F7-9EB1-DB4B1085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623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DD265-23E4-436B-962A-F6A3E26F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71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110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E7E86-5BF2-4ADB-A82E-80B2350D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13E69-7DDA-4050-9BA5-6BDADC01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E1500-14D8-4928-BD74-53806B5B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4DFA7-D0E0-4135-845B-F94E12FC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40DFB-4CAF-40A6-A5F1-074D9F38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88ED1D-04A9-4BD4-B05A-CBA9AD82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Kelas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CA515-B1EF-41B3-ADA7-7293A6E0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6D754-31E7-444C-8995-35CA2532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29BB78-9E3A-4343-924F-D3C79DB7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AFD312-8CE1-40D8-9C19-799484DE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482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AECFA4-DAF9-4F29-8C7E-4794803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57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80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320DDD-82C8-4E54-91BB-9324739D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5A10C8-B50D-4AF4-84CA-6AE74669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57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110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9FAB66-E18C-4B86-A940-5E8B9B8B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48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0E0A1E-DD3E-4D90-ABB8-E9550734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48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245158-12E4-4E45-8056-EB35E1A7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48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07C844-CD38-4A6C-9E8E-C7E3CD1C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48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295737-306F-455A-A606-D69BF941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48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ED4358-A852-43B5-BE89-80E1A534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Membandingkan konsistensi kelompok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Mendeteksi nilai yang jauh dari pusat data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Membantu menentukan kebutuhan standardisasi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Membaca noise dalam pengukuran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811B88-EA0D-4700-8B91-2D99BE9A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4476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F5D379-98D2-4897-A498-F8FEA866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530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Kelas A lebih konsisten karena nilai-nilainya lebih dekat dengan mean.</a:t>
            </a:r>
          </a:p>
        </p:txBody>
      </p:sp>
    </p:spTree>
    <p:extLst>
      <p:ext uri="{BB962C8B-B14F-4D97-AF65-F5344CB8AC3E}">
        <p14:creationId xmlns:p14="http://schemas.microsoft.com/office/powerpoint/2010/main" val="4788538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3060C3-F4EB-4A7E-BBE8-C4C32F82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STANDAR DEVIASI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3C2EC-9753-4FBB-8EFF-4C415F47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Standar deviasi mengukur jarak data dari mean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DB95F-3CC2-4762-B4F9-3A97D070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90846-FEE3-4689-BFC1-E07820CC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Standar deviasi adalah akar dari variansi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4E08B-AA5F-419D-BD91-FD6E9FC1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Rumus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34DA2-2BCF-415E-8C3E-EE66D0C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DC83E-D97E-4729-B447-68B9DF6A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variansi = Σ(xᵢ - μ)² / 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17F7B-5EBC-4D8F-89ED-542A0D0F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41405-8284-4BA0-9A99-91AFEDE2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standar deviasi = √variansi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A1125-DD6A-43CF-BCD0-9CE45AA9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Contoh kecil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A1A09-65AE-41FD-A92D-57B03F2E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Data: 3, 5, 7     Mean: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4F765-1706-4361-BCE5-77BBA9E9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Selisih: -2, 0, +2     Kuadrat: 4, 0,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67EAA-63C2-4993-9028-64DB98DD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Langkah perhitungan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5A1D7-8333-4EBC-82F5-4CD2AB31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146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D5DD0-3679-46D2-8F2C-6926167C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908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D6476-4426-448C-B51C-1E549E3D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90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Hitung mean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98D07-B0DC-4ECA-9833-04D95261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7AB37-8181-4184-8737-270D0463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813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1E4030-5B67-4DAD-864A-9B9B841C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Cari selisih setiap nilai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28028-62F4-47C7-8684-282C1752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4119B-84C6-482B-8D17-38081116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719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D4D03-0828-424D-B4F3-085B7E0D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71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Kuadratkan selisih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3B8936-C733-4196-B82B-53097597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862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13AF5B-62F3-4080-A7A1-E9B53537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72781E-7B2F-41C6-B8E0-16BA775B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6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Hitung variansi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8233ED-3EEF-48CA-A520-41AE396D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768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A205AD-4946-4984-96C1-BA1A1D61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530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54C54F-452A-435C-A3B3-F72415B3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Ambil akar kuadrat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B464A4-5445-4940-BFDA-FC5F3F21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19750"/>
            <a:ext cx="4095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C4E8EA-FB9B-43E2-BAE0-22000649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15000"/>
            <a:ext cx="3790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Satuannya kembali ke satuan data asli.</a:t>
            </a:r>
          </a:p>
        </p:txBody>
      </p:sp>
    </p:spTree>
    <p:extLst>
      <p:ext uri="{BB962C8B-B14F-4D97-AF65-F5344CB8AC3E}">
        <p14:creationId xmlns:p14="http://schemas.microsoft.com/office/powerpoint/2010/main" val="840484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C376FE-4BFB-456D-8E9E-866C4D67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PENGOLAHAN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45F42-3A71-4861-9015-18B98C40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Standar deviasi membantu membaca penyebaran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25E3A-D6B4-4B85-B913-FF30D36C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0B7CA-2C4A-4EAF-A7F4-A37EF972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Nilai standar deviasi kecil menunjukkan data yang lebih rapat di sekitar mean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4AC71-40A5-4719-89EB-4671AC30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Penyebaran kecil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992FA-29A0-4F2F-898F-53B8115A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3BC75-2EBB-4797-A850-B1A42746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6108C-BE62-4218-9310-4CCF4792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48441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33DC6-F11F-4BF2-BF70-D9F9B14E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64" y="3467100"/>
            <a:ext cx="48441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28D3D-37DC-425B-9A6B-6C1CFFF0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779" y="2933700"/>
            <a:ext cx="484414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59D61-BE92-4489-B87C-7DF262B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493" y="2533650"/>
            <a:ext cx="484414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88857-43F7-41E3-BA90-C4B1F57E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207" y="2933700"/>
            <a:ext cx="484414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D6DB3-3A22-4C61-B7E7-3574A165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921" y="3467100"/>
            <a:ext cx="48441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701F4-8C9A-4BCA-854A-406BB5C0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636" y="3867150"/>
            <a:ext cx="48441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2403B-F210-487A-8FC6-4F6F0F5A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Penyebaran besar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68905-FBD3-406A-8CD8-5FB2D51A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9F224-8041-4FE6-9822-2C819365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9216BE-38C9-47B9-A111-0EA8C0BD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EC93E-21EB-489C-8E41-CDB08524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64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F7115-21DF-402F-93BC-384EA6D3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779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0B478-91D6-4048-8FEE-AA7CB51B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493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461F0C-2CA1-42DE-A15D-ABBB8C3F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207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1DDBC-5AD6-456F-A3EA-E90ADD55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921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DA4BA5-1639-414C-8DB4-83E2FC06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636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598F88-086A-4534-9D18-06396751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Kegunaan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4CE76F-CED4-40A0-B6B8-466A2C2F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Membandingkan konsistensi data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Mendeteksi nilai yang jauh dari mean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Mengukur variasi hasil pengukuran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Membantu standardisasi fitur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C019B-82B7-47B5-A942-8C8F680C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4476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EDC324-8BF0-4540-A195-35574A68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z = (nilai - mean) / standar deviasi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B8B103-A7F5-4EDE-B679-64DE358E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072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z-score menunjukkan posisi sebuah nilai relatif terhadap mean.</a:t>
            </a:r>
          </a:p>
        </p:txBody>
      </p:sp>
    </p:spTree>
    <p:extLst>
      <p:ext uri="{BB962C8B-B14F-4D97-AF65-F5344CB8AC3E}">
        <p14:creationId xmlns:p14="http://schemas.microsoft.com/office/powerpoint/2010/main" val="13983201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52F3E-6D0E-4D9E-A89E-98F09C26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HANDS-ON 2  •  10 MENIT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2BF21-EC0C-4310-8359-AAB2F3BF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Function variansi dan standar deviasi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D2747-6B46-4A2C-88E3-28D804B6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FED66-482E-4616-B459-79FC52CE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kembali function mean untuk membangun perhitungan berikutnya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7DCD5-373D-41DC-9DEE-6DD479E6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68630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EE06A-1723-4420-B2A3-C0AC534F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Data</a:t>
            </a:r>
          </a:p>
        </p:txBody>
      </p:sp>
      <p:sp>
        <p:nvSpPr>
          <p:cNvPr id="7" name="hands-on-two-data">
            <a:extLst xmlns:a="http://schemas.openxmlformats.org/drawingml/2006/main">
              <a:ext uri="{FF2B5EF4-FFF2-40B4-BE49-F238E27FC236}">
                <a16:creationId xmlns:a16="http://schemas.microsoft.com/office/drawing/2014/main" id="{454E2683-7043-4C63-81F0-4867ECF9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1719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8" name="hands-on-two-data-dot-1">
            <a:extLst xmlns:a="http://schemas.openxmlformats.org/drawingml/2006/main">
              <a:ext uri="{FF2B5EF4-FFF2-40B4-BE49-F238E27FC236}">
                <a16:creationId xmlns:a16="http://schemas.microsoft.com/office/drawing/2014/main" id="{E6FAF29E-06D6-43C3-A2DE-CA6C6936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ands-on-two-data-dot-2">
            <a:extLst xmlns:a="http://schemas.openxmlformats.org/drawingml/2006/main">
              <a:ext uri="{FF2B5EF4-FFF2-40B4-BE49-F238E27FC236}">
                <a16:creationId xmlns:a16="http://schemas.microsoft.com/office/drawing/2014/main" id="{6AEB34CF-A760-43BF-9BA8-55374C3E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ands-on-two-data-dot-3">
            <a:extLst xmlns:a="http://schemas.openxmlformats.org/drawingml/2006/main">
              <a:ext uri="{FF2B5EF4-FFF2-40B4-BE49-F238E27FC236}">
                <a16:creationId xmlns:a16="http://schemas.microsoft.com/office/drawing/2014/main" id="{1E2583F2-554E-470B-9B25-2D9268FC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7247B-D0A2-4DD7-BFFA-CC94236B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data_a = [28, 30, 31, 29, 32]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data_b = [10, 20, 30, 40, 50]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FF233-2F52-455D-9C70-99E32D39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Kedua data memiliki mean yang sama.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DC167-98B0-4561-92F0-895FEF21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Bandingkan standar deviasinya.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0D011-9DD0-47A0-991A-BABAB828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554355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07BF1-ABC5-4A74-9D2B-0CDBD490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Tugas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8330F-CC41-4345-B701-D9F4F05C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hitung_variansi(data)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hitung_standar_deviasi(data)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Panggil kembali hitung_mean(data)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math.sqrt untuk akar kuadrat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Tentukan data yang lebih menyebar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073C0-B424-47B4-991C-75D45F03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4762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4C2A7-8519-4162-848E-77425EE5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445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Jangan gunakan statistics.pvariance, statistics.stdev, atau numpy.std.</a:t>
            </a:r>
          </a:p>
        </p:txBody>
      </p:sp>
    </p:spTree>
    <p:extLst>
      <p:ext uri="{BB962C8B-B14F-4D97-AF65-F5344CB8AC3E}">
        <p14:creationId xmlns:p14="http://schemas.microsoft.com/office/powerpoint/2010/main" val="1585321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2026-09-11T11:02:20.9830000Z</dcterms:created>
  <dcterms:modified xsi:type="dcterms:W3CDTF">2026-09-11T11:02:20.9830000Z</dcterms:modified>
</coreProperties>
</file>