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5f51f694584c42" /><Relationship Type="http://schemas.openxmlformats.org/officeDocument/2006/relationships/extended-properties" Target="/docProps/app.xml" Id="R3861453f2ecb4d49" /><Relationship Type="http://schemas.openxmlformats.org/officeDocument/2006/relationships/officeDocument" Target="/ppt/presentation.xml" Id="R25e7e20b29c646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b72857b5b94340"/>
  </p:sldMasterIdLst>
  <p:notesMasterIdLst>
    <p:notesMasterId xmlns:r="http://schemas.openxmlformats.org/officeDocument/2006/relationships" r:id="Reaaaec64011d49eb"/>
  </p:notesMasterIdLst>
  <p:sldIdLst>
    <p:sldId xmlns:r="http://schemas.openxmlformats.org/officeDocument/2006/relationships" id="256" r:id="R6e25742d3d544f9b"/>
    <p:sldId xmlns:r="http://schemas.openxmlformats.org/officeDocument/2006/relationships" id="257" r:id="R0a6a36755f70497c"/>
    <p:sldId xmlns:r="http://schemas.openxmlformats.org/officeDocument/2006/relationships" id="258" r:id="Rea229ccd27b246a7"/>
    <p:sldId xmlns:r="http://schemas.openxmlformats.org/officeDocument/2006/relationships" id="259" r:id="R643f2a8b093b4a9e"/>
    <p:sldId xmlns:r="http://schemas.openxmlformats.org/officeDocument/2006/relationships" id="260" r:id="R83d6240e634a41ff"/>
    <p:sldId xmlns:r="http://schemas.openxmlformats.org/officeDocument/2006/relationships" id="261" r:id="R29278f9c147d410c"/>
    <p:sldId xmlns:r="http://schemas.openxmlformats.org/officeDocument/2006/relationships" id="262" r:id="Rfdcdc1ed5e5b4f70"/>
    <p:sldId xmlns:r="http://schemas.openxmlformats.org/officeDocument/2006/relationships" id="263" r:id="Rfba1a47fac7c4ac0"/>
    <p:sldId xmlns:r="http://schemas.openxmlformats.org/officeDocument/2006/relationships" id="264" r:id="Rb311f87c25ca4690"/>
    <p:sldId xmlns:r="http://schemas.openxmlformats.org/officeDocument/2006/relationships" id="265" r:id="Rc1c54b6d679b46ed"/>
    <p:sldId xmlns:r="http://schemas.openxmlformats.org/officeDocument/2006/relationships" id="266" r:id="R6df51148149f4fad"/>
    <p:sldId xmlns:r="http://schemas.openxmlformats.org/officeDocument/2006/relationships" id="267" r:id="Rd0ad05dc865f4879"/>
    <p:sldId xmlns:r="http://schemas.openxmlformats.org/officeDocument/2006/relationships" id="268" r:id="R475aeedd5adc4353"/>
    <p:sldId xmlns:r="http://schemas.openxmlformats.org/officeDocument/2006/relationships" id="269" r:id="Rd8263b3799e94aea"/>
    <p:sldId xmlns:r="http://schemas.openxmlformats.org/officeDocument/2006/relationships" id="270" r:id="R561d7511700840f5"/>
    <p:sldId xmlns:r="http://schemas.openxmlformats.org/officeDocument/2006/relationships" id="271" r:id="R7666b2e1d7f8455f"/>
    <p:sldId xmlns:r="http://schemas.openxmlformats.org/officeDocument/2006/relationships" id="272" r:id="R062f3525526541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8e15a7ad5d44d7" /><Relationship Type="http://schemas.openxmlformats.org/officeDocument/2006/relationships/slideMaster" Target="/ppt/slideMasters/slideMaster1.xml" Id="Ra8b72857b5b94340" /><Relationship Type="http://schemas.openxmlformats.org/officeDocument/2006/relationships/notesMaster" Target="/ppt/notesMasters/notesMaster1.xml" Id="Reaaaec64011d49eb" /><Relationship Type="http://schemas.openxmlformats.org/officeDocument/2006/relationships/presProps" Target="/ppt/presProps.xml" Id="R45e26eaf2ffb42f0" /><Relationship Type="http://schemas.openxmlformats.org/officeDocument/2006/relationships/tableStyles" Target="/ppt/tableStyles.xml" Id="R23acaa2ff45244bb" /><Relationship Type="http://schemas.openxmlformats.org/officeDocument/2006/relationships/slide" Target="/ppt/slides/slide1.xml" Id="R6e25742d3d544f9b" /><Relationship Type="http://schemas.openxmlformats.org/officeDocument/2006/relationships/slide" Target="/ppt/slides/slide2.xml" Id="R0a6a36755f70497c" /><Relationship Type="http://schemas.openxmlformats.org/officeDocument/2006/relationships/slide" Target="/ppt/slides/slide3.xml" Id="Rea229ccd27b246a7" /><Relationship Type="http://schemas.openxmlformats.org/officeDocument/2006/relationships/slide" Target="/ppt/slides/slide4.xml" Id="R643f2a8b093b4a9e" /><Relationship Type="http://schemas.openxmlformats.org/officeDocument/2006/relationships/slide" Target="/ppt/slides/slide5.xml" Id="R83d6240e634a41ff" /><Relationship Type="http://schemas.openxmlformats.org/officeDocument/2006/relationships/slide" Target="/ppt/slides/slide6.xml" Id="R29278f9c147d410c" /><Relationship Type="http://schemas.openxmlformats.org/officeDocument/2006/relationships/slide" Target="/ppt/slides/slide7.xml" Id="Rfdcdc1ed5e5b4f70" /><Relationship Type="http://schemas.openxmlformats.org/officeDocument/2006/relationships/slide" Target="/ppt/slides/slide8.xml" Id="Rfba1a47fac7c4ac0" /><Relationship Type="http://schemas.openxmlformats.org/officeDocument/2006/relationships/slide" Target="/ppt/slides/slide9.xml" Id="Rb311f87c25ca4690" /><Relationship Type="http://schemas.openxmlformats.org/officeDocument/2006/relationships/slide" Target="/ppt/slides/slide10.xml" Id="Rc1c54b6d679b46ed" /><Relationship Type="http://schemas.openxmlformats.org/officeDocument/2006/relationships/slide" Target="/ppt/slides/slide11.xml" Id="R6df51148149f4fad" /><Relationship Type="http://schemas.openxmlformats.org/officeDocument/2006/relationships/slide" Target="/ppt/slides/slide12.xml" Id="Rd0ad05dc865f4879" /><Relationship Type="http://schemas.openxmlformats.org/officeDocument/2006/relationships/slide" Target="/ppt/slides/slide13.xml" Id="R475aeedd5adc4353" /><Relationship Type="http://schemas.openxmlformats.org/officeDocument/2006/relationships/slide" Target="/ppt/slides/slide14.xml" Id="Rd8263b3799e94aea" /><Relationship Type="http://schemas.openxmlformats.org/officeDocument/2006/relationships/slide" Target="/ppt/slides/slide15.xml" Id="R561d7511700840f5" /><Relationship Type="http://schemas.openxmlformats.org/officeDocument/2006/relationships/slide" Target="/ppt/slides/slide16.xml" Id="R7666b2e1d7f8455f" /><Relationship Type="http://schemas.openxmlformats.org/officeDocument/2006/relationships/slide" Target="/ppt/slides/slide17.xml" Id="R062f3525526541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65fcd85e9841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63ed1911d14df0" /><Relationship Type="http://schemas.openxmlformats.org/officeDocument/2006/relationships/notesMaster" Target="/ppt/notesMasters/notesMaster1.xml" Id="R572a6685a1ff44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c48681831f4c9d" /><Relationship Type="http://schemas.openxmlformats.org/officeDocument/2006/relationships/notesMaster" Target="/ppt/notesMasters/notesMaster1.xml" Id="Rbb11ea663ddb4a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e642de538d4d52" /><Relationship Type="http://schemas.openxmlformats.org/officeDocument/2006/relationships/notesMaster" Target="/ppt/notesMasters/notesMaster1.xml" Id="Rc00528a1f25148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d097bbbc3c4134" /><Relationship Type="http://schemas.openxmlformats.org/officeDocument/2006/relationships/notesMaster" Target="/ppt/notesMasters/notesMaster1.xml" Id="R08f245431fbf41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7abf1491534271" /><Relationship Type="http://schemas.openxmlformats.org/officeDocument/2006/relationships/notesMaster" Target="/ppt/notesMasters/notesMaster1.xml" Id="Rb96cf9b03ed94d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6e4509218d4fa9" /><Relationship Type="http://schemas.openxmlformats.org/officeDocument/2006/relationships/notesMaster" Target="/ppt/notesMasters/notesMaster1.xml" Id="R9605884cd0f546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54ac02afbf41f3" /><Relationship Type="http://schemas.openxmlformats.org/officeDocument/2006/relationships/notesMaster" Target="/ppt/notesMasters/notesMaster1.xml" Id="R13224acfdf234a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945a32ad7240f5" /><Relationship Type="http://schemas.openxmlformats.org/officeDocument/2006/relationships/notesMaster" Target="/ppt/notesMasters/notesMaster1.xml" Id="Rcfcc5f1ceac64b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414e20a62e4c74" /><Relationship Type="http://schemas.openxmlformats.org/officeDocument/2006/relationships/notesMaster" Target="/ppt/notesMasters/notesMaster1.xml" Id="Rffa413f882a545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4be02a30144205" /><Relationship Type="http://schemas.openxmlformats.org/officeDocument/2006/relationships/notesMaster" Target="/ppt/notesMasters/notesMaster1.xml" Id="R0b4f41e193f942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7639a602fc455c" /><Relationship Type="http://schemas.openxmlformats.org/officeDocument/2006/relationships/notesMaster" Target="/ppt/notesMasters/notesMaster1.xml" Id="R2f2e3f95ad3d40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121524f1b34943" /><Relationship Type="http://schemas.openxmlformats.org/officeDocument/2006/relationships/notesMaster" Target="/ppt/notesMasters/notesMaster1.xml" Id="Re38f86f1e80a40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8a50ed93754a15" /><Relationship Type="http://schemas.openxmlformats.org/officeDocument/2006/relationships/notesMaster" Target="/ppt/notesMasters/notesMaster1.xml" Id="R6b86f95b39564c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a36b0c4a6e4910" /><Relationship Type="http://schemas.openxmlformats.org/officeDocument/2006/relationships/notesMaster" Target="/ppt/notesMasters/notesMaster1.xml" Id="Rf1f33180a0f344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8e3ecba0954bbd" /><Relationship Type="http://schemas.openxmlformats.org/officeDocument/2006/relationships/notesMaster" Target="/ppt/notesMasters/notesMaster1.xml" Id="R4202c2ee034241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95d2a6eeaf4f9a" /><Relationship Type="http://schemas.openxmlformats.org/officeDocument/2006/relationships/notesMaster" Target="/ppt/notesMasters/notesMaster1.xml" Id="Rfee8b405786d4e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1105a3e29a4744" /><Relationship Type="http://schemas.openxmlformats.org/officeDocument/2006/relationships/notesMaster" Target="/ppt/notesMasters/notesMaster1.xml" Id="Ra6eeea94e5e44d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pertanyaan: cabang mana yang mencapai target, dan bulan mana yang paling kuat?</a:t>
            </a:r>
          </a:p>
          <a:p xmlns:a="http://schemas.openxmlformats.org/drawingml/2006/main">
            <a:r>
              <a:t>Ilustrasi cover diambil dari deck List, Dictionary, dan NumPy yang menjadi referensi gaya.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Siswa sudah mengenal array satu dimensi dan ringkasan statistik dasar. Hari ini fokusnya membaca susunan data dan mengolah banyak nilai sekaligus.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pada slide ini adalah data ilustratif untuk latihan, bukan data perusahaan nyata. Tekankan bahwa label baris dan kolom menentukan cara membaca setiap angka.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tabel slide sebelumnya untuk menunjuk satu baris dan satu kolom.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Ajak siswa mengaitkan size 12 dengan empat cabang dikali tiga bulan.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 NumPy dimulai dari nol. Basic indexing dan slicing berlaku pada setiap dimensi array.</a:t>
            </a:r>
          </a:p>
          <a:p xmlns:a="http://schemas.openxmlformats.org/drawingml/2006/main">
            <a:r>
              <a:t>Dokumentasi: https://numpy.org/doc/stable/user/basics.indexing.html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Tegaskan bahwa reshape tidak menambah atau membuang nilai. Bentuk baru harus sesuai dengan jumlah elemennya.</a:t>
            </a:r>
          </a:p>
          <a:p xmlns:a="http://schemas.openxmlformats.org/drawingml/2006/main">
            <a:r>
              <a:t>Dokumentasi: https://numpy.org/doc/stable/reference/generated/numpy.reshape.html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Practice tengah dikerjakan di notebook. Minta siswa menyebutkan susunan raw sebelum menjalankan reshape.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Faktor 0.95 dan 1.05 adalah asumsi latihan untuk menunjukkan operasi vektor.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Faktor bulan adalah asumsi skenario. Broadcasting memperluas kecocokan bentuk secara konseptual tanpa perlu mengisi salinan array secara manual.</a:t>
            </a:r>
          </a:p>
          <a:p xmlns:a="http://schemas.openxmlformats.org/drawingml/2006/main">
            <a:r>
              <a:t>Dokumentasi: https://numpy.org/doc/stable/user/basics.broadcasting.html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Aturan broadcasting membandingkan ukuran dimensi dari kanan. Bentuk (4,) tidak cocok dengan (4, 3). Setelah diubah menjadi (4, 1), ukuran 1 dapat menyesuaikan sepanjang tiga kolom.</a:t>
            </a:r>
          </a:p>
          <a:p xmlns:a="http://schemas.openxmlformats.org/drawingml/2006/main">
            <a:r>
              <a:t>Dokumentasi: https://numpy.org/doc/stable/user/basics.broadcasting.html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NumPy mendukung Boolean indexing pada array. Untuk array dua dimensi, penggunaan satu mask per elemen menghasilkan pilihan elemen yang memenuhi kondisi.</a:t>
            </a:r>
          </a:p>
          <a:p xmlns:a="http://schemas.openxmlformats.org/drawingml/2006/main">
            <a:r>
              <a:t>Dokumentasi: https://numpy.org/doc/stable/user/basics.indexing.html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np.where memilih antara dua nilai berdasarkan kondisi. Di sini setiap label cocok dengan satu pasangan cabang dan bulan.</a:t>
            </a:r>
          </a:p>
          <a:p xmlns:a="http://schemas.openxmlformats.org/drawingml/2006/main">
            <a:r>
              <a:t>Dokumentasi: https://numpy.org/doc/stable/reference/generated/numpy.where.html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axis=1 mengurangi dimensi kolom dan menghasilkan satu total per baris. axis=0 mengurangi baris dan menghasilkan satu total per kolom. np.argmax mengembalikan indeks nilai maksimum.</a:t>
            </a:r>
          </a:p>
          <a:p xmlns:a="http://schemas.openxmlformats.org/drawingml/2006/main">
            <a:r>
              <a:t>Dokumentasi: https://numpy.org/doc/stable/reference/generated/numpy.argmax.html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np.concatenate menggabungkan urutan array sepanjang axis yang dipilih. Selain sumbu penggabungan, dimensi lain harus sama.</a:t>
            </a:r>
          </a:p>
          <a:p xmlns:a="http://schemas.openxmlformats.org/drawingml/2006/main">
            <a:r>
              <a:t>Dokumentasi: https://numpy.org/doc/stable/reference/generated/numpy.concatenate.html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penjualan dasar dan label cabang pada slide dataset. Faktor bulan adalah asumsi skenario. Tugas dikerjakan di notebook.</a:t>
            </a:r>
          </a:p>
          <a:p xmlns:a="http://schemas.openxmlformats.org/drawingml/2006/main">
            <a:r>
              <a:t>Validasi jawaban ada pada catatan pengajar slide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Jawaban practice akhir untuk pengajar. Total proyeksi per cabang sekitar [543.8, 460.0, 628.7, 415.8]. Total per bulan sekitar [450.0, 495.0, 534.6, 568.7].</a:t>
            </a:r>
          </a:p>
          <a:p xmlns:a="http://schemas.openxmlformats.org/drawingml/2006/main">
            <a:r>
              <a:t>Jakarta, Bandung, dan Surabaya mencapai target cabang. Medan berada di bawah target. Surabaya memiliki total cabang tertinggi dan April memiliki total bulanan tertinggi.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660555266240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f79b71562d4a9c" /><Relationship Type="http://schemas.openxmlformats.org/officeDocument/2006/relationships/slideLayout" Target="/ppt/slideLayouts/slideLayout1.xml" Id="Ref4d5cf71ee04f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4d5cf71ee04f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aaac61f904972" /><Relationship Type="http://schemas.openxmlformats.org/officeDocument/2006/relationships/image" Target="/ppt/media/image.png" Id="R5a1608bea11f4f97" /><Relationship Type="http://schemas.openxmlformats.org/officeDocument/2006/relationships/notesSlide" Target="/ppt/notesSlides/notesSlide1.xml" Id="R4625910ce0d844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c18a3063c43ae" /><Relationship Type="http://schemas.openxmlformats.org/officeDocument/2006/relationships/notesSlide" Target="/ppt/notesSlides/notesSlide2.xml" Id="R8ef838d3a78043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b23cb87d64cf5" /><Relationship Type="http://schemas.openxmlformats.org/officeDocument/2006/relationships/notesSlide" Target="/ppt/notesSlides/notesSlide3.xml" Id="Rafe71414c0e54f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5d0e395944744" /><Relationship Type="http://schemas.openxmlformats.org/officeDocument/2006/relationships/notesSlide" Target="/ppt/notesSlides/notesSlide4.xml" Id="R00bf8fa165724c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78db21ec04dad" /><Relationship Type="http://schemas.openxmlformats.org/officeDocument/2006/relationships/notesSlide" Target="/ppt/notesSlides/notesSlide5.xml" Id="Ra856f9a00df348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79a76182c402b" /><Relationship Type="http://schemas.openxmlformats.org/officeDocument/2006/relationships/notesSlide" Target="/ppt/notesSlides/notesSlide6.xml" Id="Rd3adcfc0721d47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ef41137074ebb" /><Relationship Type="http://schemas.openxmlformats.org/officeDocument/2006/relationships/notesSlide" Target="/ppt/notesSlides/notesSlide7.xml" Id="R49547b8d635c4f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8727f186d4cca" /><Relationship Type="http://schemas.openxmlformats.org/officeDocument/2006/relationships/notesSlide" Target="/ppt/notesSlides/notesSlide8.xml" Id="R12bf9008900b49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6ba2e17f143ee" /><Relationship Type="http://schemas.openxmlformats.org/officeDocument/2006/relationships/notesSlide" Target="/ppt/notesSlides/notesSlide9.xml" Id="Rbc6a795ddfc44f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fa4afe94c4dcd" /><Relationship Type="http://schemas.openxmlformats.org/officeDocument/2006/relationships/notesSlide" Target="/ppt/notesSlides/notesSlide10.xml" Id="Rb4d4444f189341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ec9b800784f9a" /><Relationship Type="http://schemas.openxmlformats.org/officeDocument/2006/relationships/notesSlide" Target="/ppt/notesSlides/notesSlide11.xml" Id="R51f30e379fd542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d4a8484a04ded" /><Relationship Type="http://schemas.openxmlformats.org/officeDocument/2006/relationships/notesSlide" Target="/ppt/notesSlides/notesSlide12.xml" Id="R3c2f988e0a994b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9fc408d374506" /><Relationship Type="http://schemas.openxmlformats.org/officeDocument/2006/relationships/notesSlide" Target="/ppt/notesSlides/notesSlide13.xml" Id="R24d58fb2d4fa47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bada0afb84eca" /><Relationship Type="http://schemas.openxmlformats.org/officeDocument/2006/relationships/notesSlide" Target="/ppt/notesSlides/notesSlide14.xml" Id="Re9e6e11294ea46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2ca9f7a7a4264" /><Relationship Type="http://schemas.openxmlformats.org/officeDocument/2006/relationships/notesSlide" Target="/ppt/notesSlides/notesSlide15.xml" Id="Red40dc7d684640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5cd2acfcf47b8" /><Relationship Type="http://schemas.openxmlformats.org/officeDocument/2006/relationships/notesSlide" Target="/ppt/notesSlides/notesSlide16.xml" Id="Rbcbbe824091644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e661ad2f24789" /><Relationship Type="http://schemas.openxmlformats.org/officeDocument/2006/relationships/notesSlide" Target="/ppt/notesSlides/notesSlide17.xml" Id="R9afb5b2df3534b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608bea11f4f9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F02E759-0357-4360-AEA3-19221421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LEVEL 1  •  PERTEMUAN 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B3396B7-2F88-4DD4-A00A-416157CD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42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NumPy untuk</a:t>
            </a:r>
          </a:p>
          <a:p xmlns:a="http://schemas.openxmlformats.org/drawingml/2006/main">
            <a:pPr algn="l">
              <a:defRPr sz="42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42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Analisis Data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42D5B04-5624-4525-BE90-3A306DA4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9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Dari tabel penjualan ke ringkasan bisnis</a:t>
            </a:r>
          </a:p>
        </p:txBody>
      </p:sp>
      <p:sp>
        <p:nvSpPr>
          <p:cNvPr id="5" name="cover-accent-line">
            <a:extLst xmlns:a="http://schemas.openxmlformats.org/drawingml/2006/main">
              <a:ext uri="{FF2B5EF4-FFF2-40B4-BE49-F238E27FC236}">
                <a16:creationId xmlns:a16="http://schemas.microsoft.com/office/drawing/2014/main" id="{2AC172B8-64EE-4ED3-9EBE-18D64DD0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6" name="cover-topics">
            <a:extLst xmlns:a="http://schemas.openxmlformats.org/drawingml/2006/main">
              <a:ext uri="{FF2B5EF4-FFF2-40B4-BE49-F238E27FC236}">
                <a16:creationId xmlns:a16="http://schemas.microsoft.com/office/drawing/2014/main" id="{DEC46AB5-536B-4E38-9F7E-24A0EF72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shape  ·  broadcasting  ·  filter  ·  axis</a:t>
            </a:r>
          </a:p>
        </p:txBody>
      </p:sp>
      <p:sp>
        <p:nvSpPr>
          <p:cNvPr id="7" name="cover-caption-bg">
            <a:extLst xmlns:a="http://schemas.openxmlformats.org/drawingml/2006/main">
              <a:ext uri="{FF2B5EF4-FFF2-40B4-BE49-F238E27FC236}">
                <a16:creationId xmlns:a16="http://schemas.microsoft.com/office/drawing/2014/main" id="{7D0B84A5-1512-4A06-A355-B17FC370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48577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8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4D8D3408-171B-462C-AB34-D2A18CB7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Kasus: empat cabang dan empat bulan</a:t>
            </a:r>
          </a:p>
        </p:txBody>
      </p:sp>
      <p:sp>
        <p:nvSpPr>
          <p:cNvPr id="9" name="page-1">
            <a:extLst xmlns:a="http://schemas.openxmlformats.org/drawingml/2006/main">
              <a:ext uri="{FF2B5EF4-FFF2-40B4-BE49-F238E27FC236}">
                <a16:creationId xmlns:a16="http://schemas.microsoft.com/office/drawing/2014/main" id="{6A1A2EFB-574F-42C0-8C47-CFCDC0A5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01</a:t>
            </a:r>
          </a:p>
        </p:txBody>
      </p:sp>
      <p:sp>
        <p:nvSpPr>
          <p:cNvPr id="10" name="course-1">
            <a:extLst xmlns:a="http://schemas.openxmlformats.org/drawingml/2006/main">
              <a:ext uri="{FF2B5EF4-FFF2-40B4-BE49-F238E27FC236}">
                <a16:creationId xmlns:a16="http://schemas.microsoft.com/office/drawing/2014/main" id="{C1A6476A-CCC4-40D8-A0B8-A02C5C72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</p:spTree>
    <p:extLst>
      <p:ext uri="{BB962C8B-B14F-4D97-AF65-F5344CB8AC3E}">
        <p14:creationId xmlns:p14="http://schemas.microsoft.com/office/powerpoint/2010/main" val="2004713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2">
            <a:extLst xmlns:a="http://schemas.openxmlformats.org/drawingml/2006/main">
              <a:ext uri="{FF2B5EF4-FFF2-40B4-BE49-F238E27FC236}">
                <a16:creationId xmlns:a16="http://schemas.microsoft.com/office/drawing/2014/main" id="{485B39C2-1280-41E3-BDD6-06EAD363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TARGET BELAJAR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CE42C41-A594-48C8-823C-97A47821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Array membantu membaca data sebagai tabel</a:t>
            </a:r>
          </a:p>
        </p:txBody>
      </p:sp>
      <p:sp>
        <p:nvSpPr>
          <p:cNvPr id="3" name="divider-2">
            <a:extLst xmlns:a="http://schemas.openxmlformats.org/drawingml/2006/main">
              <a:ext uri="{FF2B5EF4-FFF2-40B4-BE49-F238E27FC236}">
                <a16:creationId xmlns:a16="http://schemas.microsoft.com/office/drawing/2014/main" id="{19535251-54F8-4EDA-95BF-FAF416B2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37840B03-F892-4093-95FA-372D3091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Kita akan mengolah penjualan cabang untuk menjawab pertanyaan bisnis.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081584BC-23AF-4493-875F-EB20157D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02</a:t>
            </a:r>
          </a:p>
        </p:txBody>
      </p:sp>
      <p:sp>
        <p:nvSpPr>
          <p:cNvPr id="6" name="course-2">
            <a:extLst xmlns:a="http://schemas.openxmlformats.org/drawingml/2006/main">
              <a:ext uri="{FF2B5EF4-FFF2-40B4-BE49-F238E27FC236}">
                <a16:creationId xmlns:a16="http://schemas.microsoft.com/office/drawing/2014/main" id="{8A229147-4D09-4668-8A86-27FD7A5A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goals-left">
            <a:extLst xmlns:a="http://schemas.openxmlformats.org/drawingml/2006/main">
              <a:ext uri="{FF2B5EF4-FFF2-40B4-BE49-F238E27FC236}">
                <a16:creationId xmlns:a16="http://schemas.microsoft.com/office/drawing/2014/main" id="{5E54B8FB-9429-4EDA-9D38-F3F58265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609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01   Baca dimensi dan bentuk array.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02   Pilih baris, kolom, dan rentang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03   Terapkan operasi vektor dan broadcasting.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04   Filter data dan hitung ringkasan.</a:t>
            </a:r>
          </a:p>
        </p:txBody>
      </p:sp>
      <p:sp>
        <p:nvSpPr>
          <p:cNvPr id="8" name="business-question-panel">
            <a:extLst xmlns:a="http://schemas.openxmlformats.org/drawingml/2006/main">
              <a:ext uri="{FF2B5EF4-FFF2-40B4-BE49-F238E27FC236}">
                <a16:creationId xmlns:a16="http://schemas.microsoft.com/office/drawing/2014/main" id="{37CC26C6-B874-4AD5-B779-4B1ED661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81250"/>
            <a:ext cx="3810000" cy="2571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9" name="business-question-title">
            <a:extLst xmlns:a="http://schemas.openxmlformats.org/drawingml/2006/main">
              <a:ext uri="{FF2B5EF4-FFF2-40B4-BE49-F238E27FC236}">
                <a16:creationId xmlns:a16="http://schemas.microsoft.com/office/drawing/2014/main" id="{FAA3EAD5-1A7C-45F4-B6E5-DBAD8AAB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Pertanyaan bisnis</a:t>
            </a:r>
          </a:p>
        </p:txBody>
      </p:sp>
      <p:sp>
        <p:nvSpPr>
          <p:cNvPr id="10" name="business-question-copy">
            <a:extLst xmlns:a="http://schemas.openxmlformats.org/drawingml/2006/main">
              <a:ext uri="{FF2B5EF4-FFF2-40B4-BE49-F238E27FC236}">
                <a16:creationId xmlns:a16="http://schemas.microsoft.com/office/drawing/2014/main" id="{777BFEDA-D1E2-4C39-A698-8C5DEC45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3095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Cabang mana yang mencapai target?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Bulan mana yang memberi total penjualan tertinggi?</a:t>
            </a:r>
          </a:p>
        </p:txBody>
      </p:sp>
    </p:spTree>
    <p:extLst>
      <p:ext uri="{BB962C8B-B14F-4D97-AF65-F5344CB8AC3E}">
        <p14:creationId xmlns:p14="http://schemas.microsoft.com/office/powerpoint/2010/main" val="17063483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3">
            <a:extLst xmlns:a="http://schemas.openxmlformats.org/drawingml/2006/main">
              <a:ext uri="{FF2B5EF4-FFF2-40B4-BE49-F238E27FC236}">
                <a16:creationId xmlns:a16="http://schemas.microsoft.com/office/drawing/2014/main" id="{235FA689-6341-48E2-BD77-181CA0D6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STUDI KASUS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C316F4D-AFD4-4860-BAFA-DFAE0F2E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Dataset penjualan empat cabang</a:t>
            </a:r>
          </a:p>
        </p:txBody>
      </p:sp>
      <p:sp>
        <p:nvSpPr>
          <p:cNvPr id="3" name="divider-3">
            <a:extLst xmlns:a="http://schemas.openxmlformats.org/drawingml/2006/main">
              <a:ext uri="{FF2B5EF4-FFF2-40B4-BE49-F238E27FC236}">
                <a16:creationId xmlns:a16="http://schemas.microsoft.com/office/drawing/2014/main" id="{A30E0361-3046-4ED4-A41B-CC5E4C25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C73F133E-1F28-47C4-A78E-1C9DBF51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Angka dinyatakan dalam juta rupiah. Baris menunjukkan cabang dan kolom menunjukkan bulan.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D9A33BC2-C808-40B1-B76F-1768CC81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03</a:t>
            </a:r>
          </a:p>
        </p:txBody>
      </p:sp>
      <p:sp>
        <p:nvSpPr>
          <p:cNvPr id="6" name="course-3">
            <a:extLst xmlns:a="http://schemas.openxmlformats.org/drawingml/2006/main">
              <a:ext uri="{FF2B5EF4-FFF2-40B4-BE49-F238E27FC236}">
                <a16:creationId xmlns:a16="http://schemas.microsoft.com/office/drawing/2014/main" id="{6CDF50F5-AEEB-4BE7-9890-66E539F9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19150" y="2333625"/>
          <a:ext xmlns:a="http://schemas.openxmlformats.org/drawingml/2006/main" cx="7000875" cy="2952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750219"/>
                <a:gridCol w="1750219"/>
                <a:gridCol w="1750219"/>
                <a:gridCol w="1750219"/>
              </a:tblGrid>
              <a:tr h="4953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F Pro Display"/>
                          <a:ea typeface="SF Pro Display"/>
                          <a:cs typeface="SF Pro Display"/>
                        </a:rPr>
                        <a:t>Cabang</a:t>
                      </a:r>
                    </a:p>
                  </a:txBody>
                  <a:tcPr marL="91440" marR="91440" marT="45720" marB="45720"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F Pro Display"/>
                          <a:ea typeface="SF Pro Display"/>
                          <a:cs typeface="SF Pro Display"/>
                        </a:rPr>
                        <a:t>Jan</a:t>
                      </a:r>
                    </a:p>
                  </a:txBody>
                  <a:tcPr marL="91440" marR="91440" marT="45720" marB="45720"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F Pro Display"/>
                          <a:ea typeface="SF Pro Display"/>
                          <a:cs typeface="SF Pro Display"/>
                        </a:rPr>
                        <a:t>Feb</a:t>
                      </a:r>
                    </a:p>
                  </a:txBody>
                  <a:tcPr marL="91440" marR="91440" marT="45720" marB="45720"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F Pro Display"/>
                          <a:ea typeface="SF Pro Display"/>
                          <a:cs typeface="SF Pro Display"/>
                        </a:rPr>
                        <a:t>Mar</a:t>
                      </a:r>
                    </a:p>
                  </a:txBody>
                  <a:tcPr marL="91440" marR="91440" marT="45720" marB="45720">
                    <a:solidFill>
                      <a:srgbClr val="111A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Jakarta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Bandung</a:t>
                      </a:r>
                    </a:p>
                  </a:txBody>
                  <a:tcPr marL="91440" marR="91440" marT="45720" marB="45720"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98</a:t>
                      </a:r>
                    </a:p>
                  </a:txBody>
                  <a:tcPr marL="91440" marR="91440" marT="45720" marB="45720"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108</a:t>
                      </a:r>
                    </a:p>
                  </a:txBody>
                  <a:tcPr marL="91440" marR="91440" marT="45720" marB="45720"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112</a:t>
                      </a:r>
                    </a:p>
                  </a:txBody>
                  <a:tcPr marL="91440" marR="91440" marT="45720" marB="45720">
                    <a:solidFill>
                      <a:srgbClr val="EAF6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Surabaya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Medan</a:t>
                      </a:r>
                    </a:p>
                  </a:txBody>
                  <a:tcPr marL="91440" marR="91440" marT="45720" marB="45720"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87</a:t>
                      </a:r>
                    </a:p>
                  </a:txBody>
                  <a:tcPr marL="91440" marR="91440" marT="45720" marB="45720"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95</a:t>
                      </a:r>
                    </a:p>
                  </a:txBody>
                  <a:tcPr marL="91440" marR="91440" marT="45720" marB="45720"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103</a:t>
                      </a:r>
                    </a:p>
                  </a:txBody>
                  <a:tcPr marL="91440" marR="91440" marT="45720" marB="45720">
                    <a:solidFill>
                      <a:srgbClr val="EAF6FC"/>
                    </a:solidFill>
                  </a:tcPr>
                </a:tc>
              </a:tr>
            </a:tbl>
          </a:graphicData>
        </a:graphic>
      </p:graphicFrame>
      <p:sp>
        <p:nvSpPr>
          <p:cNvPr id="8" name="schema-title">
            <a:extLst xmlns:a="http://schemas.openxmlformats.org/drawingml/2006/main">
              <a:ext uri="{FF2B5EF4-FFF2-40B4-BE49-F238E27FC236}">
                <a16:creationId xmlns:a16="http://schemas.microsoft.com/office/drawing/2014/main" id="{B791E9DD-A9CE-4831-ABBE-C8B8FDF5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Makna susunan</a:t>
            </a:r>
          </a:p>
        </p:txBody>
      </p:sp>
      <p:sp>
        <p:nvSpPr>
          <p:cNvPr id="9" name="schema-copy">
            <a:extLst xmlns:a="http://schemas.openxmlformats.org/drawingml/2006/main">
              <a:ext uri="{FF2B5EF4-FFF2-40B4-BE49-F238E27FC236}">
                <a16:creationId xmlns:a16="http://schemas.microsoft.com/office/drawing/2014/main" id="{40C827A3-A1DB-47CC-9F19-DBB42C7D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4 baris  =  4 cabang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3 kolom  =  Jan sampai Mar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12 nilai =  12 pengamatan</a:t>
            </a:r>
          </a:p>
        </p:txBody>
      </p:sp>
      <p:sp>
        <p:nvSpPr>
          <p:cNvPr id="10" name="dataset-assumption">
            <a:extLst xmlns:a="http://schemas.openxmlformats.org/drawingml/2006/main">
              <a:ext uri="{FF2B5EF4-FFF2-40B4-BE49-F238E27FC236}">
                <a16:creationId xmlns:a16="http://schemas.microsoft.com/office/drawing/2014/main" id="{AE53E3A5-DCE7-47E8-8217-24C614EF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316230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1" name="dataset-assumption-text">
            <a:extLst xmlns:a="http://schemas.openxmlformats.org/drawingml/2006/main">
              <a:ext uri="{FF2B5EF4-FFF2-40B4-BE49-F238E27FC236}">
                <a16:creationId xmlns:a16="http://schemas.microsoft.com/office/drawing/2014/main" id="{5EB31D28-AD5C-4CB6-BFBD-4A2F7170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72000"/>
            <a:ext cx="2743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Data ini menjadi dasar skenario proyeksi.</a:t>
            </a:r>
          </a:p>
        </p:txBody>
      </p:sp>
    </p:spTree>
    <p:extLst>
      <p:ext uri="{BB962C8B-B14F-4D97-AF65-F5344CB8AC3E}">
        <p14:creationId xmlns:p14="http://schemas.microsoft.com/office/powerpoint/2010/main" val="1330291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4">
            <a:extLst xmlns:a="http://schemas.openxmlformats.org/drawingml/2006/main">
              <a:ext uri="{FF2B5EF4-FFF2-40B4-BE49-F238E27FC236}">
                <a16:creationId xmlns:a16="http://schemas.microsoft.com/office/drawing/2014/main" id="{9837F6CA-702B-4632-A385-B8401A3D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STRUKTUR ARRAY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07F6804-B196-49C0-8077-139006A5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Bentuk array mengikuti susunan data</a:t>
            </a:r>
          </a:p>
        </p:txBody>
      </p:sp>
      <p:sp>
        <p:nvSpPr>
          <p:cNvPr id="3" name="divider-4">
            <a:extLst xmlns:a="http://schemas.openxmlformats.org/drawingml/2006/main">
              <a:ext uri="{FF2B5EF4-FFF2-40B4-BE49-F238E27FC236}">
                <a16:creationId xmlns:a16="http://schemas.microsoft.com/office/drawing/2014/main" id="{9221C554-610F-46BB-88FB-8BDCAC93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B033E650-333C-4A93-87F2-E170E100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Satu dimensi menyimpan satu urutan. Dua dimensi menyimpan baris dan kolom.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CDDFABC8-3F18-4964-8C12-F3838261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04</a:t>
            </a:r>
          </a:p>
        </p:txBody>
      </p:sp>
      <p:sp>
        <p:nvSpPr>
          <p:cNvPr id="6" name="course-4">
            <a:extLst xmlns:a="http://schemas.openxmlformats.org/drawingml/2006/main">
              <a:ext uri="{FF2B5EF4-FFF2-40B4-BE49-F238E27FC236}">
                <a16:creationId xmlns:a16="http://schemas.microsoft.com/office/drawing/2014/main" id="{87E5A24E-3C52-4FD6-89FB-55BA1489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one-d-panel">
            <a:extLst xmlns:a="http://schemas.openxmlformats.org/drawingml/2006/main">
              <a:ext uri="{FF2B5EF4-FFF2-40B4-BE49-F238E27FC236}">
                <a16:creationId xmlns:a16="http://schemas.microsoft.com/office/drawing/2014/main" id="{1B7D6F78-D4A8-47C9-AEA1-019837D7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40957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8" name="one-d-title">
            <a:extLst xmlns:a="http://schemas.openxmlformats.org/drawingml/2006/main">
              <a:ext uri="{FF2B5EF4-FFF2-40B4-BE49-F238E27FC236}">
                <a16:creationId xmlns:a16="http://schemas.microsoft.com/office/drawing/2014/main" id="{AA3C7A5F-3DE0-45DD-9535-2A2042C2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384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Array bulan</a:t>
            </a:r>
          </a:p>
        </p:txBody>
      </p:sp>
      <p:sp>
        <p:nvSpPr>
          <p:cNvPr id="9" name="one-d-code">
            <a:extLst xmlns:a="http://schemas.openxmlformats.org/drawingml/2006/main">
              <a:ext uri="{FF2B5EF4-FFF2-40B4-BE49-F238E27FC236}">
                <a16:creationId xmlns:a16="http://schemas.microsoft.com/office/drawing/2014/main" id="{900756C8-46F2-43AD-A028-916E7405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90875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bulan = ["Jan", "Feb", "Mar"]</a:t>
            </a:r>
          </a:p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shape: (3,)</a:t>
            </a:r>
          </a:p>
        </p:txBody>
      </p:sp>
      <p:sp>
        <p:nvSpPr>
          <p:cNvPr id="10" name="two-d-panel">
            <a:extLst xmlns:a="http://schemas.openxmlformats.org/drawingml/2006/main">
              <a:ext uri="{FF2B5EF4-FFF2-40B4-BE49-F238E27FC236}">
                <a16:creationId xmlns:a16="http://schemas.microsoft.com/office/drawing/2014/main" id="{6AE34C37-EDF7-4EAC-94D4-692B39C0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5857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1" name="two-d-title">
            <a:extLst xmlns:a="http://schemas.openxmlformats.org/drawingml/2006/main">
              <a:ext uri="{FF2B5EF4-FFF2-40B4-BE49-F238E27FC236}">
                <a16:creationId xmlns:a16="http://schemas.microsoft.com/office/drawing/2014/main" id="{993EDF9B-37D5-4623-A570-80702F2F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384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Matriks penjualan</a:t>
            </a:r>
          </a:p>
        </p:txBody>
      </p:sp>
      <p:sp>
        <p:nvSpPr>
          <p:cNvPr id="12" name="two-d-code">
            <a:extLst xmlns:a="http://schemas.openxmlformats.org/drawingml/2006/main">
              <a:ext uri="{FF2B5EF4-FFF2-40B4-BE49-F238E27FC236}">
                <a16:creationId xmlns:a16="http://schemas.microsoft.com/office/drawing/2014/main" id="{F561700E-CACF-4BD1-8879-61F58FFE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9087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4 cabang × 3 bulan</a:t>
            </a:r>
          </a:p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shape: (4, 3)</a:t>
            </a:r>
          </a:p>
        </p:txBody>
      </p:sp>
      <p:sp>
        <p:nvSpPr>
          <p:cNvPr id="13" name="two-d-explain">
            <a:extLst xmlns:a="http://schemas.openxmlformats.org/drawingml/2006/main">
              <a:ext uri="{FF2B5EF4-FFF2-40B4-BE49-F238E27FC236}">
                <a16:creationId xmlns:a16="http://schemas.microsoft.com/office/drawing/2014/main" id="{5351A265-9EAD-46B5-8152-BF2A4B86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71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Posisi nilai dibaca sebagai [baris, kolom].</a:t>
            </a:r>
          </a:p>
        </p:txBody>
      </p:sp>
    </p:spTree>
    <p:extLst>
      <p:ext uri="{BB962C8B-B14F-4D97-AF65-F5344CB8AC3E}">
        <p14:creationId xmlns:p14="http://schemas.microsoft.com/office/powerpoint/2010/main" val="1022565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5">
            <a:extLst xmlns:a="http://schemas.openxmlformats.org/drawingml/2006/main">
              <a:ext uri="{FF2B5EF4-FFF2-40B4-BE49-F238E27FC236}">
                <a16:creationId xmlns:a16="http://schemas.microsoft.com/office/drawing/2014/main" id="{74CCF171-3B2D-49B9-B70D-CDD3E9C6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PROPERTI ARRAY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1E3EB33-2ECF-47B0-B843-AC0ABE28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Periksa shape sebelum mengolah data</a:t>
            </a:r>
          </a:p>
        </p:txBody>
      </p:sp>
      <p:sp>
        <p:nvSpPr>
          <p:cNvPr id="3" name="divider-5">
            <a:extLst xmlns:a="http://schemas.openxmlformats.org/drawingml/2006/main">
              <a:ext uri="{FF2B5EF4-FFF2-40B4-BE49-F238E27FC236}">
                <a16:creationId xmlns:a16="http://schemas.microsoft.com/office/drawing/2014/main" id="{1663542E-D951-4514-8726-2DD9C8CE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FAE6ED82-3534-4FB9-85BA-8A2DE19E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Properti array memberi tahu ukuran data dan tipe elemennya.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F2924BD8-9F09-4222-A732-30BCF41B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05</a:t>
            </a:r>
          </a:p>
        </p:txBody>
      </p:sp>
      <p:sp>
        <p:nvSpPr>
          <p:cNvPr id="6" name="course-5">
            <a:extLst xmlns:a="http://schemas.openxmlformats.org/drawingml/2006/main">
              <a:ext uri="{FF2B5EF4-FFF2-40B4-BE49-F238E27FC236}">
                <a16:creationId xmlns:a16="http://schemas.microsoft.com/office/drawing/2014/main" id="{BBDD0464-7501-48FE-BE8F-E3EB9646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properties-code-background">
            <a:extLst xmlns:a="http://schemas.openxmlformats.org/drawingml/2006/main">
              <a:ext uri="{FF2B5EF4-FFF2-40B4-BE49-F238E27FC236}">
                <a16:creationId xmlns:a16="http://schemas.microsoft.com/office/drawing/2014/main" id="{2018A251-A3C1-44F9-93E6-B8DA3F21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6191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8" name="properties-code-dot-red">
            <a:extLst xmlns:a="http://schemas.openxmlformats.org/drawingml/2006/main">
              <a:ext uri="{FF2B5EF4-FFF2-40B4-BE49-F238E27FC236}">
                <a16:creationId xmlns:a16="http://schemas.microsoft.com/office/drawing/2014/main" id="{F8AD0FE6-72E8-46CB-867F-6B7FF711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6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solidFill>
              <a:srgbClr val="E96B6B"/>
            </a:solidFill>
            <a:prstDash val="solid"/>
          </a:ln>
        </p:spPr>
      </p:sp>
      <p:sp>
        <p:nvSpPr>
          <p:cNvPr id="9" name="properties-code-dot-yellow">
            <a:extLst xmlns:a="http://schemas.openxmlformats.org/drawingml/2006/main">
              <a:ext uri="{FF2B5EF4-FFF2-40B4-BE49-F238E27FC236}">
                <a16:creationId xmlns:a16="http://schemas.microsoft.com/office/drawing/2014/main" id="{47101283-015E-4A01-A2E8-E0C1625E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6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10" name="properties-code-dot-green">
            <a:extLst xmlns:a="http://schemas.openxmlformats.org/drawingml/2006/main">
              <a:ext uri="{FF2B5EF4-FFF2-40B4-BE49-F238E27FC236}">
                <a16:creationId xmlns:a16="http://schemas.microsoft.com/office/drawing/2014/main" id="{13037C61-9980-4BF6-BCDF-17C86C2F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6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solidFill>
              <a:srgbClr val="55B77A"/>
            </a:solidFill>
            <a:prstDash val="solid"/>
          </a:ln>
        </p:spPr>
      </p:sp>
      <p:sp>
        <p:nvSpPr>
          <p:cNvPr id="11" name="properties-code-text">
            <a:extLst xmlns:a="http://schemas.openxmlformats.org/drawingml/2006/main">
              <a:ext uri="{FF2B5EF4-FFF2-40B4-BE49-F238E27FC236}">
                <a16:creationId xmlns:a16="http://schemas.microsoft.com/office/drawing/2014/main" id="{8F28C92F-39A0-42F1-A506-BB6CFE93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52725"/>
            <a:ext cx="56959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print(penjualan.ndim)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print(penjualan.shape)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print(penjualan.size)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print(penjualan.dtype)</a:t>
            </a:r>
          </a:p>
        </p:txBody>
      </p:sp>
      <p:sp>
        <p:nvSpPr>
          <p:cNvPr id="12" name="properties-result">
            <a:extLst xmlns:a="http://schemas.openxmlformats.org/drawingml/2006/main">
              <a:ext uri="{FF2B5EF4-FFF2-40B4-BE49-F238E27FC236}">
                <a16:creationId xmlns:a16="http://schemas.microsoft.com/office/drawing/2014/main" id="{3D8F033D-6BE3-4F9B-B250-86899962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733800" cy="26193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3" name="properties-result-title">
            <a:extLst xmlns:a="http://schemas.openxmlformats.org/drawingml/2006/main">
              <a:ext uri="{FF2B5EF4-FFF2-40B4-BE49-F238E27FC236}">
                <a16:creationId xmlns:a16="http://schemas.microsoft.com/office/drawing/2014/main" id="{4799AAEC-9E97-4AD2-9B51-876C0689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Untuk dataset ini</a:t>
            </a:r>
          </a:p>
        </p:txBody>
      </p:sp>
      <p:sp>
        <p:nvSpPr>
          <p:cNvPr id="14" name="properties-result-copy">
            <a:extLst xmlns:a="http://schemas.openxmlformats.org/drawingml/2006/main">
              <a:ext uri="{FF2B5EF4-FFF2-40B4-BE49-F238E27FC236}">
                <a16:creationId xmlns:a16="http://schemas.microsoft.com/office/drawing/2014/main" id="{BA81A60C-FBF5-408D-80F0-56AD937B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304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ndim  →  2</a:t>
            </a:r>
          </a:p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shape →  (4, 3)</a:t>
            </a:r>
          </a:p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size  →  12</a:t>
            </a:r>
          </a:p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dtype →  integer</a:t>
            </a:r>
          </a:p>
        </p:txBody>
      </p:sp>
    </p:spTree>
    <p:extLst>
      <p:ext uri="{BB962C8B-B14F-4D97-AF65-F5344CB8AC3E}">
        <p14:creationId xmlns:p14="http://schemas.microsoft.com/office/powerpoint/2010/main" val="19713042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6">
            <a:extLst xmlns:a="http://schemas.openxmlformats.org/drawingml/2006/main">
              <a:ext uri="{FF2B5EF4-FFF2-40B4-BE49-F238E27FC236}">
                <a16:creationId xmlns:a16="http://schemas.microsoft.com/office/drawing/2014/main" id="{98EA3197-B06E-4608-861B-31F7CA4E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INDEXING DAN SLICING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D698C8B-F24D-479F-BA71-7C0A25A1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Pilih data dengan posisi baris dan kolom</a:t>
            </a:r>
          </a:p>
        </p:txBody>
      </p:sp>
      <p:sp>
        <p:nvSpPr>
          <p:cNvPr id="3" name="divider-6">
            <a:extLst xmlns:a="http://schemas.openxmlformats.org/drawingml/2006/main">
              <a:ext uri="{FF2B5EF4-FFF2-40B4-BE49-F238E27FC236}">
                <a16:creationId xmlns:a16="http://schemas.microsoft.com/office/drawing/2014/main" id="{DA557E90-DDEC-466E-B7D1-DD3578F0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268C22C8-6BB0-4D8C-9F6A-7AB66C21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Index dimulai dari 0. Tanda titik dua mengambil rentang pada suatu sumbu.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78C4F24C-E3D7-4DFD-B9C5-02566579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06</a:t>
            </a:r>
          </a:p>
        </p:txBody>
      </p:sp>
      <p:sp>
        <p:nvSpPr>
          <p:cNvPr id="6" name="course-6">
            <a:extLst xmlns:a="http://schemas.openxmlformats.org/drawingml/2006/main">
              <a:ext uri="{FF2B5EF4-FFF2-40B4-BE49-F238E27FC236}">
                <a16:creationId xmlns:a16="http://schemas.microsoft.com/office/drawing/2014/main" id="{55669F7B-FFBF-4E91-8E28-C56878E2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index-code-background">
            <a:extLst xmlns:a="http://schemas.openxmlformats.org/drawingml/2006/main">
              <a:ext uri="{FF2B5EF4-FFF2-40B4-BE49-F238E27FC236}">
                <a16:creationId xmlns:a16="http://schemas.microsoft.com/office/drawing/2014/main" id="{390E194E-D9D9-4143-AECE-7DF356FB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6667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8" name="index-code-dot-red">
            <a:extLst xmlns:a="http://schemas.openxmlformats.org/drawingml/2006/main">
              <a:ext uri="{FF2B5EF4-FFF2-40B4-BE49-F238E27FC236}">
                <a16:creationId xmlns:a16="http://schemas.microsoft.com/office/drawing/2014/main" id="{57D0529D-74FD-487E-8E4D-17BEA5D5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6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solidFill>
              <a:srgbClr val="E96B6B"/>
            </a:solidFill>
            <a:prstDash val="solid"/>
          </a:ln>
        </p:spPr>
      </p:sp>
      <p:sp>
        <p:nvSpPr>
          <p:cNvPr id="9" name="index-code-dot-yellow">
            <a:extLst xmlns:a="http://schemas.openxmlformats.org/drawingml/2006/main">
              <a:ext uri="{FF2B5EF4-FFF2-40B4-BE49-F238E27FC236}">
                <a16:creationId xmlns:a16="http://schemas.microsoft.com/office/drawing/2014/main" id="{ADB518F0-8CDA-4F62-A4B2-5B79A404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6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10" name="index-code-dot-green">
            <a:extLst xmlns:a="http://schemas.openxmlformats.org/drawingml/2006/main">
              <a:ext uri="{FF2B5EF4-FFF2-40B4-BE49-F238E27FC236}">
                <a16:creationId xmlns:a16="http://schemas.microsoft.com/office/drawing/2014/main" id="{22CD4DA2-7E28-4451-A8DB-A5D7B265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6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solidFill>
              <a:srgbClr val="55B77A"/>
            </a:solidFill>
            <a:prstDash val="solid"/>
          </a:ln>
        </p:spPr>
      </p:sp>
      <p:sp>
        <p:nvSpPr>
          <p:cNvPr id="11" name="index-code-text">
            <a:extLst xmlns:a="http://schemas.openxmlformats.org/drawingml/2006/main">
              <a:ext uri="{FF2B5EF4-FFF2-40B4-BE49-F238E27FC236}">
                <a16:creationId xmlns:a16="http://schemas.microsoft.com/office/drawing/2014/main" id="{03CA026F-885F-4D99-BCAB-2979EC84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52725"/>
            <a:ext cx="61722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penjualan[0, 1]       # Jakarta, Feb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penjualan[:, 0]       # semua cabang, Jan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penjualan[1:4:2, 1:]  # Bandung dan Medan, Feb-Mar</a:t>
            </a:r>
          </a:p>
        </p:txBody>
      </p:sp>
      <p:sp>
        <p:nvSpPr>
          <p:cNvPr id="12" name="index-note">
            <a:extLst xmlns:a="http://schemas.openxmlformats.org/drawingml/2006/main">
              <a:ext uri="{FF2B5EF4-FFF2-40B4-BE49-F238E27FC236}">
                <a16:creationId xmlns:a16="http://schemas.microsoft.com/office/drawing/2014/main" id="{4C471734-43B8-4773-8098-D2BC17B5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05075"/>
            <a:ext cx="33337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3" name="index-note-title">
            <a:extLst xmlns:a="http://schemas.openxmlformats.org/drawingml/2006/main">
              <a:ext uri="{FF2B5EF4-FFF2-40B4-BE49-F238E27FC236}">
                <a16:creationId xmlns:a16="http://schemas.microsoft.com/office/drawing/2014/main" id="{BE114934-A6C0-473C-916B-2DEB503C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Cara membaca</a:t>
            </a:r>
          </a:p>
        </p:txBody>
      </p:sp>
      <p:sp>
        <p:nvSpPr>
          <p:cNvPr id="14" name="index-note-copy">
            <a:extLst xmlns:a="http://schemas.openxmlformats.org/drawingml/2006/main">
              <a:ext uri="{FF2B5EF4-FFF2-40B4-BE49-F238E27FC236}">
                <a16:creationId xmlns:a16="http://schemas.microsoft.com/office/drawing/2014/main" id="{A4445EDF-1BE0-4372-A125-B1CA3E55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14700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baris pertama → cabang</a:t>
            </a:r>
          </a:p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kolom kedua → bulan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`:` → ambil seluruh sumbu</a:t>
            </a:r>
          </a:p>
        </p:txBody>
      </p:sp>
    </p:spTree>
    <p:extLst>
      <p:ext uri="{BB962C8B-B14F-4D97-AF65-F5344CB8AC3E}">
        <p14:creationId xmlns:p14="http://schemas.microsoft.com/office/powerpoint/2010/main" val="1447506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7">
            <a:extLst xmlns:a="http://schemas.openxmlformats.org/drawingml/2006/main">
              <a:ext uri="{FF2B5EF4-FFF2-40B4-BE49-F238E27FC236}">
                <a16:creationId xmlns:a16="http://schemas.microsoft.com/office/drawing/2014/main" id="{16120095-8EDB-4DA0-A413-67BC60AE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TRANSFORMASI BENTUK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05078868-BD36-4307-BC5B-3527D670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reshape dan transpose menyusun ulang tampilan</a:t>
            </a:r>
          </a:p>
        </p:txBody>
      </p:sp>
      <p:sp>
        <p:nvSpPr>
          <p:cNvPr id="3" name="divider-7">
            <a:extLst xmlns:a="http://schemas.openxmlformats.org/drawingml/2006/main">
              <a:ext uri="{FF2B5EF4-FFF2-40B4-BE49-F238E27FC236}">
                <a16:creationId xmlns:a16="http://schemas.microsoft.com/office/drawing/2014/main" id="{D3FE17BC-CE63-43F6-85DA-14E2B879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705F6994-B31E-4323-97B0-E7EF15F7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Jumlah elemen tetap sama. Urutan data perlu diketahui saat reshape.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9496C529-6D53-4DCE-863E-10F97447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07</a:t>
            </a:r>
          </a:p>
        </p:txBody>
      </p:sp>
      <p:sp>
        <p:nvSpPr>
          <p:cNvPr id="6" name="course-7">
            <a:extLst xmlns:a="http://schemas.openxmlformats.org/drawingml/2006/main">
              <a:ext uri="{FF2B5EF4-FFF2-40B4-BE49-F238E27FC236}">
                <a16:creationId xmlns:a16="http://schemas.microsoft.com/office/drawing/2014/main" id="{1FE84683-BCA9-4594-9687-3E05A381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reshape-code-background">
            <a:extLst xmlns:a="http://schemas.openxmlformats.org/drawingml/2006/main">
              <a:ext uri="{FF2B5EF4-FFF2-40B4-BE49-F238E27FC236}">
                <a16:creationId xmlns:a16="http://schemas.microsoft.com/office/drawing/2014/main" id="{EF39624A-66DF-4A5C-A423-0A050FC8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628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8" name="reshape-code-dot-red">
            <a:extLst xmlns:a="http://schemas.openxmlformats.org/drawingml/2006/main">
              <a:ext uri="{FF2B5EF4-FFF2-40B4-BE49-F238E27FC236}">
                <a16:creationId xmlns:a16="http://schemas.microsoft.com/office/drawing/2014/main" id="{D4E913E2-256F-422F-A7FF-C1019A80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47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solidFill>
              <a:srgbClr val="E96B6B"/>
            </a:solidFill>
            <a:prstDash val="solid"/>
          </a:ln>
        </p:spPr>
      </p:sp>
      <p:sp>
        <p:nvSpPr>
          <p:cNvPr id="9" name="reshape-code-dot-yellow">
            <a:extLst xmlns:a="http://schemas.openxmlformats.org/drawingml/2006/main">
              <a:ext uri="{FF2B5EF4-FFF2-40B4-BE49-F238E27FC236}">
                <a16:creationId xmlns:a16="http://schemas.microsoft.com/office/drawing/2014/main" id="{8EF08BBF-FD34-4320-BC8F-0B0E4C94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7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10" name="reshape-code-dot-green">
            <a:extLst xmlns:a="http://schemas.openxmlformats.org/drawingml/2006/main">
              <a:ext uri="{FF2B5EF4-FFF2-40B4-BE49-F238E27FC236}">
                <a16:creationId xmlns:a16="http://schemas.microsoft.com/office/drawing/2014/main" id="{3935221F-BFA7-4DF6-A8D1-CFA91C36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solidFill>
              <a:srgbClr val="55B77A"/>
            </a:solidFill>
            <a:prstDash val="solid"/>
          </a:ln>
        </p:spPr>
      </p:sp>
      <p:sp>
        <p:nvSpPr>
          <p:cNvPr id="11" name="reshape-code-text">
            <a:extLst xmlns:a="http://schemas.openxmlformats.org/drawingml/2006/main">
              <a:ext uri="{FF2B5EF4-FFF2-40B4-BE49-F238E27FC236}">
                <a16:creationId xmlns:a16="http://schemas.microsoft.com/office/drawing/2014/main" id="{2B9B089C-8111-4DCE-B5AF-7DBC827A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33675"/>
            <a:ext cx="57912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raw = np.array([120, 135, 128,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         98, 108, 112,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         145, 138, 152,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         87, 95, 103])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tabel = raw.reshape(4, 3)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tampilan_bulan = tabel.T</a:t>
            </a:r>
          </a:p>
        </p:txBody>
      </p:sp>
      <p:sp>
        <p:nvSpPr>
          <p:cNvPr id="12" name="reshape-result">
            <a:extLst xmlns:a="http://schemas.openxmlformats.org/drawingml/2006/main">
              <a:ext uri="{FF2B5EF4-FFF2-40B4-BE49-F238E27FC236}">
                <a16:creationId xmlns:a16="http://schemas.microsoft.com/office/drawing/2014/main" id="{29899FDF-E87F-4FEC-BC07-54E410E1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14600"/>
            <a:ext cx="3581400" cy="242887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3" name="reshape-result-title">
            <a:extLst xmlns:a="http://schemas.openxmlformats.org/drawingml/2006/main">
              <a:ext uri="{FF2B5EF4-FFF2-40B4-BE49-F238E27FC236}">
                <a16:creationId xmlns:a16="http://schemas.microsoft.com/office/drawing/2014/main" id="{7CE1BA8C-43FE-4A21-B33D-7C370620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003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Bentuk hasil</a:t>
            </a:r>
          </a:p>
        </p:txBody>
      </p:sp>
      <p:sp>
        <p:nvSpPr>
          <p:cNvPr id="14" name="reshape-result-copy">
            <a:extLst xmlns:a="http://schemas.openxmlformats.org/drawingml/2006/main">
              <a:ext uri="{FF2B5EF4-FFF2-40B4-BE49-F238E27FC236}">
                <a16:creationId xmlns:a16="http://schemas.microsoft.com/office/drawing/2014/main" id="{FEAA6329-F11F-474E-BA02-80AD92EE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3375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raw               (12,)</a:t>
            </a:r>
          </a:p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tabel             (4, 3)</a:t>
            </a:r>
          </a:p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tampilan_bulan    (3, 4)</a:t>
            </a:r>
          </a:p>
        </p:txBody>
      </p:sp>
      <p:sp>
        <p:nvSpPr>
          <p:cNvPr id="15" name="reshape-note">
            <a:extLst xmlns:a="http://schemas.openxmlformats.org/drawingml/2006/main">
              <a:ext uri="{FF2B5EF4-FFF2-40B4-BE49-F238E27FC236}">
                <a16:creationId xmlns:a16="http://schemas.microsoft.com/office/drawing/2014/main" id="{246E7F6A-E326-4D71-8AF3-CDD40E75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Transpose menukar sumbu.</a:t>
            </a:r>
          </a:p>
        </p:txBody>
      </p:sp>
    </p:spTree>
    <p:extLst>
      <p:ext uri="{BB962C8B-B14F-4D97-AF65-F5344CB8AC3E}">
        <p14:creationId xmlns:p14="http://schemas.microsoft.com/office/powerpoint/2010/main" val="1396380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8">
            <a:extLst xmlns:a="http://schemas.openxmlformats.org/drawingml/2006/main">
              <a:ext uri="{FF2B5EF4-FFF2-40B4-BE49-F238E27FC236}">
                <a16:creationId xmlns:a16="http://schemas.microsoft.com/office/drawing/2014/main" id="{55EA3500-876B-4776-8530-3E7EF87F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PRACTICE TENGAH  •  15 MENIT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E0BE380E-2EFA-449F-95DF-1D829565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Bentuk laporan penjualan kuartal</a:t>
            </a:r>
          </a:p>
        </p:txBody>
      </p:sp>
      <p:sp>
        <p:nvSpPr>
          <p:cNvPr id="3" name="divider-8">
            <a:extLst xmlns:a="http://schemas.openxmlformats.org/drawingml/2006/main">
              <a:ext uri="{FF2B5EF4-FFF2-40B4-BE49-F238E27FC236}">
                <a16:creationId xmlns:a16="http://schemas.microsoft.com/office/drawing/2014/main" id="{166019D6-788C-4411-B5CE-A093FDF0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4B033571-97FB-452A-8562-883B2286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Susun ulang data mentah, lalu tampilkan dari dua orientasi.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56F9C46B-2F24-47E4-9E07-783D0CFD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08</a:t>
            </a:r>
          </a:p>
        </p:txBody>
      </p:sp>
      <p:sp>
        <p:nvSpPr>
          <p:cNvPr id="6" name="course-8">
            <a:extLst xmlns:a="http://schemas.openxmlformats.org/drawingml/2006/main">
              <a:ext uri="{FF2B5EF4-FFF2-40B4-BE49-F238E27FC236}">
                <a16:creationId xmlns:a16="http://schemas.microsoft.com/office/drawing/2014/main" id="{F8B41805-B48F-4493-B52D-57E05096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practice-mid-data-bg">
            <a:extLst xmlns:a="http://schemas.openxmlformats.org/drawingml/2006/main">
              <a:ext uri="{FF2B5EF4-FFF2-40B4-BE49-F238E27FC236}">
                <a16:creationId xmlns:a16="http://schemas.microsoft.com/office/drawing/2014/main" id="{F530BF1A-4E6B-4A44-B81C-CD192B87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048250" cy="3695700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8" name="practice-mid-data-label">
            <a:extLst xmlns:a="http://schemas.openxmlformats.org/drawingml/2006/main">
              <a:ext uri="{FF2B5EF4-FFF2-40B4-BE49-F238E27FC236}">
                <a16:creationId xmlns:a16="http://schemas.microsoft.com/office/drawing/2014/main" id="{F824CFED-5A75-4F87-ABC6-3624A978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DATA MENTAH</a:t>
            </a:r>
          </a:p>
        </p:txBody>
      </p:sp>
      <p:sp>
        <p:nvSpPr>
          <p:cNvPr id="9" name="practice-mid-data-code-background">
            <a:extLst xmlns:a="http://schemas.openxmlformats.org/drawingml/2006/main">
              <a:ext uri="{FF2B5EF4-FFF2-40B4-BE49-F238E27FC236}">
                <a16:creationId xmlns:a16="http://schemas.microsoft.com/office/drawing/2014/main" id="{8B797950-0766-410C-8F5D-5031533F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5720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0" name="practice-mid-data-code-dot-red">
            <a:extLst xmlns:a="http://schemas.openxmlformats.org/drawingml/2006/main">
              <a:ext uri="{FF2B5EF4-FFF2-40B4-BE49-F238E27FC236}">
                <a16:creationId xmlns:a16="http://schemas.microsoft.com/office/drawing/2014/main" id="{D46344EF-C822-4B8A-BD8C-2193B8B7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19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solidFill>
              <a:srgbClr val="E96B6B"/>
            </a:solidFill>
            <a:prstDash val="solid"/>
          </a:ln>
        </p:spPr>
      </p:sp>
      <p:sp>
        <p:nvSpPr>
          <p:cNvPr id="11" name="practice-mid-data-code-dot-yellow">
            <a:extLst xmlns:a="http://schemas.openxmlformats.org/drawingml/2006/main">
              <a:ext uri="{FF2B5EF4-FFF2-40B4-BE49-F238E27FC236}">
                <a16:creationId xmlns:a16="http://schemas.microsoft.com/office/drawing/2014/main" id="{44A729A2-1877-4944-8FE2-256B9E49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19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12" name="practice-mid-data-code-dot-green">
            <a:extLst xmlns:a="http://schemas.openxmlformats.org/drawingml/2006/main">
              <a:ext uri="{FF2B5EF4-FFF2-40B4-BE49-F238E27FC236}">
                <a16:creationId xmlns:a16="http://schemas.microsoft.com/office/drawing/2014/main" id="{BCFD4238-3CDF-4863-9A07-2D502482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19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solidFill>
              <a:srgbClr val="55B77A"/>
            </a:solidFill>
            <a:prstDash val="solid"/>
          </a:ln>
        </p:spPr>
      </p:sp>
      <p:sp>
        <p:nvSpPr>
          <p:cNvPr id="13" name="practice-mid-data-code-text">
            <a:extLst xmlns:a="http://schemas.openxmlformats.org/drawingml/2006/main">
              <a:ext uri="{FF2B5EF4-FFF2-40B4-BE49-F238E27FC236}">
                <a16:creationId xmlns:a16="http://schemas.microsoft.com/office/drawing/2014/main" id="{BF921851-F2AF-486C-8B04-B7186BE5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5175"/>
            <a:ext cx="40767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raw = np.array([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145, 151, 162,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102, 112, 118,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132, 129, 140,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91, 108, 113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])</a:t>
            </a:r>
          </a:p>
        </p:txBody>
      </p:sp>
      <p:sp>
        <p:nvSpPr>
          <p:cNvPr id="14" name="practice-mid-branch-list">
            <a:extLst xmlns:a="http://schemas.openxmlformats.org/drawingml/2006/main">
              <a:ext uri="{FF2B5EF4-FFF2-40B4-BE49-F238E27FC236}">
                <a16:creationId xmlns:a16="http://schemas.microsoft.com/office/drawing/2014/main" id="{00EC8C34-024B-4F85-9B46-8FD45257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Urutan cabang: Jakarta, Bandung, Surabaya, Medan</a:t>
            </a:r>
          </a:p>
        </p:txBody>
      </p:sp>
      <p:sp>
        <p:nvSpPr>
          <p:cNvPr id="15" name="practice-mid-task-bg">
            <a:extLst xmlns:a="http://schemas.openxmlformats.org/drawingml/2006/main">
              <a:ext uri="{FF2B5EF4-FFF2-40B4-BE49-F238E27FC236}">
                <a16:creationId xmlns:a16="http://schemas.microsoft.com/office/drawing/2014/main" id="{DF6B677A-07A1-4A8A-9AC4-29C54175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47900"/>
            <a:ext cx="5486400" cy="3695700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6" name="practice-mid-task-title">
            <a:extLst xmlns:a="http://schemas.openxmlformats.org/drawingml/2006/main">
              <a:ext uri="{FF2B5EF4-FFF2-40B4-BE49-F238E27FC236}">
                <a16:creationId xmlns:a16="http://schemas.microsoft.com/office/drawing/2014/main" id="{41B7547C-33E1-452E-BE83-D6069549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Tugas</a:t>
            </a:r>
          </a:p>
        </p:txBody>
      </p:sp>
      <p:sp>
        <p:nvSpPr>
          <p:cNvPr id="17" name="practice-mid-tasks">
            <a:extLst xmlns:a="http://schemas.openxmlformats.org/drawingml/2006/main">
              <a:ext uri="{FF2B5EF4-FFF2-40B4-BE49-F238E27FC236}">
                <a16:creationId xmlns:a16="http://schemas.microsoft.com/office/drawing/2014/main" id="{D8777CCF-427F-4DC2-8184-BD16CCBB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085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  Bentuk matriks 4 ×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2  Ambil nilai semua cabang pada Februari.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3  Pilih baris Jakarta dan Surabaya.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4  Buat tampilan bulan sebagai baris.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5  Cetak shape dan jelaskan maknanya.</a:t>
            </a:r>
          </a:p>
        </p:txBody>
      </p:sp>
      <p:sp>
        <p:nvSpPr>
          <p:cNvPr id="18" name="practice-mid-note">
            <a:extLst xmlns:a="http://schemas.openxmlformats.org/drawingml/2006/main">
              <a:ext uri="{FF2B5EF4-FFF2-40B4-BE49-F238E27FC236}">
                <a16:creationId xmlns:a16="http://schemas.microsoft.com/office/drawing/2014/main" id="{F3C9D5C1-5C3B-4231-A0D2-FD87DF0D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10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Gunakan slicing, reshape, dan `.T`.</a:t>
            </a:r>
          </a:p>
        </p:txBody>
      </p:sp>
    </p:spTree>
    <p:extLst>
      <p:ext uri="{BB962C8B-B14F-4D97-AF65-F5344CB8AC3E}">
        <p14:creationId xmlns:p14="http://schemas.microsoft.com/office/powerpoint/2010/main" val="20041912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9">
            <a:extLst xmlns:a="http://schemas.openxmlformats.org/drawingml/2006/main">
              <a:ext uri="{FF2B5EF4-FFF2-40B4-BE49-F238E27FC236}">
                <a16:creationId xmlns:a16="http://schemas.microsoft.com/office/drawing/2014/main" id="{9C259E81-4267-4B99-A82C-8488D140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OPERASI VEKTOR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EDF98BB-3179-4EB2-A002-18460F40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Satu operasi dapat mengubah seluruh matriks</a:t>
            </a:r>
          </a:p>
        </p:txBody>
      </p:sp>
      <p:sp>
        <p:nvSpPr>
          <p:cNvPr id="3" name="divider-9">
            <a:extLst xmlns:a="http://schemas.openxmlformats.org/drawingml/2006/main">
              <a:ext uri="{FF2B5EF4-FFF2-40B4-BE49-F238E27FC236}">
                <a16:creationId xmlns:a16="http://schemas.microsoft.com/office/drawing/2014/main" id="{B6460BD3-5F04-4CD2-95EB-E5EDC97D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CE76424A-73D6-40E6-8970-554A22EF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skenario penyesuaian yang sama pada setiap nilai penjualan.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4424580A-1641-4195-AEBC-DFECE175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09</a:t>
            </a:r>
          </a:p>
        </p:txBody>
      </p:sp>
      <p:sp>
        <p:nvSpPr>
          <p:cNvPr id="6" name="course-9">
            <a:extLst xmlns:a="http://schemas.openxmlformats.org/drawingml/2006/main">
              <a:ext uri="{FF2B5EF4-FFF2-40B4-BE49-F238E27FC236}">
                <a16:creationId xmlns:a16="http://schemas.microsoft.com/office/drawing/2014/main" id="{8572DE52-4B34-4FD5-B807-4521412F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vector-code-background">
            <a:extLst xmlns:a="http://schemas.openxmlformats.org/drawingml/2006/main">
              <a:ext uri="{FF2B5EF4-FFF2-40B4-BE49-F238E27FC236}">
                <a16:creationId xmlns:a16="http://schemas.microsoft.com/office/drawing/2014/main" id="{CB8E4BE2-A68B-43BE-A3A5-F379A6E8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6667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8" name="vector-code-dot-red">
            <a:extLst xmlns:a="http://schemas.openxmlformats.org/drawingml/2006/main">
              <a:ext uri="{FF2B5EF4-FFF2-40B4-BE49-F238E27FC236}">
                <a16:creationId xmlns:a16="http://schemas.microsoft.com/office/drawing/2014/main" id="{18D475CF-BD80-486D-9F8B-9BEFEC1E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solidFill>
              <a:srgbClr val="E96B6B"/>
            </a:solidFill>
            <a:prstDash val="solid"/>
          </a:ln>
        </p:spPr>
      </p:sp>
      <p:sp>
        <p:nvSpPr>
          <p:cNvPr id="9" name="vector-code-dot-yellow">
            <a:extLst xmlns:a="http://schemas.openxmlformats.org/drawingml/2006/main">
              <a:ext uri="{FF2B5EF4-FFF2-40B4-BE49-F238E27FC236}">
                <a16:creationId xmlns:a16="http://schemas.microsoft.com/office/drawing/2014/main" id="{A31E61F6-759A-4F56-8055-4E60A1BE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24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10" name="vector-code-dot-green">
            <a:extLst xmlns:a="http://schemas.openxmlformats.org/drawingml/2006/main">
              <a:ext uri="{FF2B5EF4-FFF2-40B4-BE49-F238E27FC236}">
                <a16:creationId xmlns:a16="http://schemas.microsoft.com/office/drawing/2014/main" id="{8E3A752F-611F-4418-8642-8AE885D0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24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solidFill>
              <a:srgbClr val="55B77A"/>
            </a:solidFill>
            <a:prstDash val="solid"/>
          </a:ln>
        </p:spPr>
      </p:sp>
      <p:sp>
        <p:nvSpPr>
          <p:cNvPr id="11" name="vector-code-text">
            <a:extLst xmlns:a="http://schemas.openxmlformats.org/drawingml/2006/main">
              <a:ext uri="{FF2B5EF4-FFF2-40B4-BE49-F238E27FC236}">
                <a16:creationId xmlns:a16="http://schemas.microsoft.com/office/drawing/2014/main" id="{33E7DA33-887E-4DFB-A205-5BFEBEAB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9875"/>
            <a:ext cx="61722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penjualan_diskon = penjualan * 0.95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penjualan_skenario = penjualan * 1.05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print(penjualan_skenario)</a:t>
            </a:r>
          </a:p>
        </p:txBody>
      </p:sp>
      <p:sp>
        <p:nvSpPr>
          <p:cNvPr id="12" name="vector-note">
            <a:extLst xmlns:a="http://schemas.openxmlformats.org/drawingml/2006/main">
              <a:ext uri="{FF2B5EF4-FFF2-40B4-BE49-F238E27FC236}">
                <a16:creationId xmlns:a16="http://schemas.microsoft.com/office/drawing/2014/main" id="{12E1F6CB-F40E-48C1-885F-EA8E7DA7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1750"/>
            <a:ext cx="3333750" cy="207645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3" name="vector-note-title">
            <a:extLst xmlns:a="http://schemas.openxmlformats.org/drawingml/2006/main">
              <a:ext uri="{FF2B5EF4-FFF2-40B4-BE49-F238E27FC236}">
                <a16:creationId xmlns:a16="http://schemas.microsoft.com/office/drawing/2014/main" id="{51493C1F-DD57-4FD4-A49B-2878163D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Per elemen</a:t>
            </a:r>
          </a:p>
        </p:txBody>
      </p:sp>
      <p:sp>
        <p:nvSpPr>
          <p:cNvPr id="14" name="vector-note-copy">
            <a:extLst xmlns:a="http://schemas.openxmlformats.org/drawingml/2006/main">
              <a:ext uri="{FF2B5EF4-FFF2-40B4-BE49-F238E27FC236}">
                <a16:creationId xmlns:a16="http://schemas.microsoft.com/office/drawing/2014/main" id="{4191226B-DBEE-4247-B9A4-B5534814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2781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Hasil memiliki shape yang sama.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Tidak perlu mengambil setiap nilai satu per satu.</a:t>
            </a:r>
          </a:p>
        </p:txBody>
      </p:sp>
    </p:spTree>
    <p:extLst>
      <p:ext uri="{BB962C8B-B14F-4D97-AF65-F5344CB8AC3E}">
        <p14:creationId xmlns:p14="http://schemas.microsoft.com/office/powerpoint/2010/main" val="19010999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0">
            <a:extLst xmlns:a="http://schemas.openxmlformats.org/drawingml/2006/main">
              <a:ext uri="{FF2B5EF4-FFF2-40B4-BE49-F238E27FC236}">
                <a16:creationId xmlns:a16="http://schemas.microsoft.com/office/drawing/2014/main" id="{2966DDA5-1CF6-4516-A39F-8D4A6D91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BROADCASTING PER BULAN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C5F9B1C-FA3B-4B75-811D-5CF23093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Terapkan faktor berbeda pada tiap bulan</a:t>
            </a:r>
          </a:p>
        </p:txBody>
      </p:sp>
      <p:sp>
        <p:nvSpPr>
          <p:cNvPr id="3" name="divider-10">
            <a:extLst xmlns:a="http://schemas.openxmlformats.org/drawingml/2006/main">
              <a:ext uri="{FF2B5EF4-FFF2-40B4-BE49-F238E27FC236}">
                <a16:creationId xmlns:a16="http://schemas.microsoft.com/office/drawing/2014/main" id="{30064CEE-0B47-4126-9CFF-D9D502FA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076A4673-EF7D-47D5-84B1-93162FD7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Faktor bulanan diulang untuk setiap baris cabang.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9776B160-43CB-4769-8DDF-8C90EE15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10</a:t>
            </a:r>
          </a:p>
        </p:txBody>
      </p:sp>
      <p:sp>
        <p:nvSpPr>
          <p:cNvPr id="6" name="course-10">
            <a:extLst xmlns:a="http://schemas.openxmlformats.org/drawingml/2006/main">
              <a:ext uri="{FF2B5EF4-FFF2-40B4-BE49-F238E27FC236}">
                <a16:creationId xmlns:a16="http://schemas.microsoft.com/office/drawing/2014/main" id="{ACF6265C-82C6-451B-8FA5-D251C504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broadcast-month-code-background">
            <a:extLst xmlns:a="http://schemas.openxmlformats.org/drawingml/2006/main">
              <a:ext uri="{FF2B5EF4-FFF2-40B4-BE49-F238E27FC236}">
                <a16:creationId xmlns:a16="http://schemas.microsoft.com/office/drawing/2014/main" id="{33D14C36-1484-405B-A7E1-97DBDF2B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65722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8" name="broadcast-month-code-dot-red">
            <a:extLst xmlns:a="http://schemas.openxmlformats.org/drawingml/2006/main">
              <a:ext uri="{FF2B5EF4-FFF2-40B4-BE49-F238E27FC236}">
                <a16:creationId xmlns:a16="http://schemas.microsoft.com/office/drawing/2014/main" id="{A75F3994-0D5F-4A40-8ADF-1333ACC6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solidFill>
              <a:srgbClr val="E96B6B"/>
            </a:solidFill>
            <a:prstDash val="solid"/>
          </a:ln>
        </p:spPr>
      </p:sp>
      <p:sp>
        <p:nvSpPr>
          <p:cNvPr id="9" name="broadcast-month-code-dot-yellow">
            <a:extLst xmlns:a="http://schemas.openxmlformats.org/drawingml/2006/main">
              <a:ext uri="{FF2B5EF4-FFF2-40B4-BE49-F238E27FC236}">
                <a16:creationId xmlns:a16="http://schemas.microsoft.com/office/drawing/2014/main" id="{946CB981-602E-4E24-B353-75725ACF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10" name="broadcast-month-code-dot-green">
            <a:extLst xmlns:a="http://schemas.openxmlformats.org/drawingml/2006/main">
              <a:ext uri="{FF2B5EF4-FFF2-40B4-BE49-F238E27FC236}">
                <a16:creationId xmlns:a16="http://schemas.microsoft.com/office/drawing/2014/main" id="{EB56D162-615B-4896-8C7A-25F8D6D1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solidFill>
              <a:srgbClr val="55B77A"/>
            </a:solidFill>
            <a:prstDash val="solid"/>
          </a:ln>
        </p:spPr>
      </p:sp>
      <p:sp>
        <p:nvSpPr>
          <p:cNvPr id="11" name="broadcast-month-code-text">
            <a:extLst xmlns:a="http://schemas.openxmlformats.org/drawingml/2006/main">
              <a:ext uri="{FF2B5EF4-FFF2-40B4-BE49-F238E27FC236}">
                <a16:creationId xmlns:a16="http://schemas.microsoft.com/office/drawing/2014/main" id="{B28CF927-30E0-4109-BAE6-2D0F7453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60769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faktor_bulan = np.array([1.00, 1.04, 1.08])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proyeksi_q1 = penjualan * faktor_bulan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penjualan.shape  # (4, 3)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faktor_bulan.shape # (3,)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proyeksi_q1.shape # (4, 3)</a:t>
            </a:r>
          </a:p>
        </p:txBody>
      </p:sp>
      <p:sp>
        <p:nvSpPr>
          <p:cNvPr id="12" name="broadcast-month-shape">
            <a:extLst xmlns:a="http://schemas.openxmlformats.org/drawingml/2006/main">
              <a:ext uri="{FF2B5EF4-FFF2-40B4-BE49-F238E27FC236}">
                <a16:creationId xmlns:a16="http://schemas.microsoft.com/office/drawing/2014/main" id="{2F88021C-E884-4CE4-9553-A19483D5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476625" cy="2286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3" name="broadcast-month-title">
            <a:extLst xmlns:a="http://schemas.openxmlformats.org/drawingml/2006/main">
              <a:ext uri="{FF2B5EF4-FFF2-40B4-BE49-F238E27FC236}">
                <a16:creationId xmlns:a16="http://schemas.microsoft.com/office/drawing/2014/main" id="{79CBD041-F241-4C47-A2D9-B2BBB96E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Pencocokan dimensi</a:t>
            </a:r>
          </a:p>
        </p:txBody>
      </p:sp>
      <p:sp>
        <p:nvSpPr>
          <p:cNvPr id="14" name="broadcast-month-copy">
            <a:extLst xmlns:a="http://schemas.openxmlformats.org/drawingml/2006/main">
              <a:ext uri="{FF2B5EF4-FFF2-40B4-BE49-F238E27FC236}">
                <a16:creationId xmlns:a16="http://schemas.microsoft.com/office/drawing/2014/main" id="{27EC056F-C8B0-410C-B04F-4DCEB96C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8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(4, 3)</a:t>
            </a:r>
          </a:p>
          <a:p xmlns:a="http://schemas.openxmlformats.org/drawingml/2006/main">
            <a:pPr algn="l">
              <a:defRPr sz="18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8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     (3,)</a:t>
            </a:r>
          </a:p>
          <a:p xmlns:a="http://schemas.openxmlformats.org/drawingml/2006/main">
            <a:pPr algn="l">
              <a:defRPr sz="18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8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→ hasil (4, 3)</a:t>
            </a:r>
          </a:p>
        </p:txBody>
      </p:sp>
      <p:sp>
        <p:nvSpPr>
          <p:cNvPr id="15" name="broadcast-month-note">
            <a:extLst xmlns:a="http://schemas.openxmlformats.org/drawingml/2006/main">
              <a:ext uri="{FF2B5EF4-FFF2-40B4-BE49-F238E27FC236}">
                <a16:creationId xmlns:a16="http://schemas.microsoft.com/office/drawing/2014/main" id="{C58F346D-032F-473D-BDDC-A2766BB1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Satu faktor untuk setiap kolom.</a:t>
            </a:r>
          </a:p>
        </p:txBody>
      </p:sp>
    </p:spTree>
    <p:extLst>
      <p:ext uri="{BB962C8B-B14F-4D97-AF65-F5344CB8AC3E}">
        <p14:creationId xmlns:p14="http://schemas.microsoft.com/office/powerpoint/2010/main" val="2443822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1">
            <a:extLst xmlns:a="http://schemas.openxmlformats.org/drawingml/2006/main">
              <a:ext uri="{FF2B5EF4-FFF2-40B4-BE49-F238E27FC236}">
                <a16:creationId xmlns:a16="http://schemas.microsoft.com/office/drawing/2014/main" id="{DB0EDD84-51A4-4452-81A8-0A2390C7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BENTUK ARRAY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37757339-4E65-4BF9-8B43-6998C0D6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Faktor cabang perlu dibentuk sebagai kolom</a:t>
            </a:r>
          </a:p>
        </p:txBody>
      </p:sp>
      <p:sp>
        <p:nvSpPr>
          <p:cNvPr id="3" name="divider-11">
            <a:extLst xmlns:a="http://schemas.openxmlformats.org/drawingml/2006/main">
              <a:ext uri="{FF2B5EF4-FFF2-40B4-BE49-F238E27FC236}">
                <a16:creationId xmlns:a16="http://schemas.microsoft.com/office/drawing/2014/main" id="{5B2CE43B-D3EA-42D2-BBE8-AD81B3D0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11">
            <a:extLst xmlns:a="http://schemas.openxmlformats.org/drawingml/2006/main">
              <a:ext uri="{FF2B5EF4-FFF2-40B4-BE49-F238E27FC236}">
                <a16:creationId xmlns:a16="http://schemas.microsoft.com/office/drawing/2014/main" id="{5FF82D18-6695-4217-906F-A4FB592E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Bentuk faktor menentukan apakah broadcasting cocok dengan matriks.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B97E539E-C661-4FD6-99F0-C1176D5D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11</a:t>
            </a:r>
          </a:p>
        </p:txBody>
      </p:sp>
      <p:sp>
        <p:nvSpPr>
          <p:cNvPr id="6" name="course-11">
            <a:extLst xmlns:a="http://schemas.openxmlformats.org/drawingml/2006/main">
              <a:ext uri="{FF2B5EF4-FFF2-40B4-BE49-F238E27FC236}">
                <a16:creationId xmlns:a16="http://schemas.microsoft.com/office/drawing/2014/main" id="{3ED2CA75-61A6-40AB-8153-4396B06E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broadcast-branch-code-background">
            <a:extLst xmlns:a="http://schemas.openxmlformats.org/drawingml/2006/main">
              <a:ext uri="{FF2B5EF4-FFF2-40B4-BE49-F238E27FC236}">
                <a16:creationId xmlns:a16="http://schemas.microsoft.com/office/drawing/2014/main" id="{4FAB5822-B8B3-4522-A823-07F739B5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65722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8" name="broadcast-branch-code-dot-red">
            <a:extLst xmlns:a="http://schemas.openxmlformats.org/drawingml/2006/main">
              <a:ext uri="{FF2B5EF4-FFF2-40B4-BE49-F238E27FC236}">
                <a16:creationId xmlns:a16="http://schemas.microsoft.com/office/drawing/2014/main" id="{97CDDDB4-2F30-4CF3-84FE-0AF062C0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6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solidFill>
              <a:srgbClr val="E96B6B"/>
            </a:solidFill>
            <a:prstDash val="solid"/>
          </a:ln>
        </p:spPr>
      </p:sp>
      <p:sp>
        <p:nvSpPr>
          <p:cNvPr id="9" name="broadcast-branch-code-dot-yellow">
            <a:extLst xmlns:a="http://schemas.openxmlformats.org/drawingml/2006/main">
              <a:ext uri="{FF2B5EF4-FFF2-40B4-BE49-F238E27FC236}">
                <a16:creationId xmlns:a16="http://schemas.microsoft.com/office/drawing/2014/main" id="{6F40319F-9DC9-47FA-9882-CE76D89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6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10" name="broadcast-branch-code-dot-green">
            <a:extLst xmlns:a="http://schemas.openxmlformats.org/drawingml/2006/main">
              <a:ext uri="{FF2B5EF4-FFF2-40B4-BE49-F238E27FC236}">
                <a16:creationId xmlns:a16="http://schemas.microsoft.com/office/drawing/2014/main" id="{13FBF01F-1B6E-4935-BBD8-12F17780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6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solidFill>
              <a:srgbClr val="55B77A"/>
            </a:solidFill>
            <a:prstDash val="solid"/>
          </a:ln>
        </p:spPr>
      </p:sp>
      <p:sp>
        <p:nvSpPr>
          <p:cNvPr id="11" name="broadcast-branch-code-text">
            <a:extLst xmlns:a="http://schemas.openxmlformats.org/drawingml/2006/main">
              <a:ext uri="{FF2B5EF4-FFF2-40B4-BE49-F238E27FC236}">
                <a16:creationId xmlns:a16="http://schemas.microsoft.com/office/drawing/2014/main" id="{8D0C353B-5053-4AC8-81BE-A01AFC1B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52725"/>
            <a:ext cx="6076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faktor_cabang = np.array([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1.05, 0.98, 1.08, 0.97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faktor_kolom = faktor_cabang.reshape(4, 1)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proyeksi = penjualan * faktor_kolom</a:t>
            </a:r>
          </a:p>
        </p:txBody>
      </p:sp>
      <p:sp>
        <p:nvSpPr>
          <p:cNvPr id="12" name="broadcast-branch-note">
            <a:extLst xmlns:a="http://schemas.openxmlformats.org/drawingml/2006/main">
              <a:ext uri="{FF2B5EF4-FFF2-40B4-BE49-F238E27FC236}">
                <a16:creationId xmlns:a16="http://schemas.microsoft.com/office/drawing/2014/main" id="{12871795-18D8-4BCB-BD57-25CAF963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47662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3" name="broadcast-branch-title">
            <a:extLst xmlns:a="http://schemas.openxmlformats.org/drawingml/2006/main">
              <a:ext uri="{FF2B5EF4-FFF2-40B4-BE49-F238E27FC236}">
                <a16:creationId xmlns:a16="http://schemas.microsoft.com/office/drawing/2014/main" id="{5AF45514-852C-4ED3-9E05-2408EDA4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Bandingkan shape</a:t>
            </a:r>
          </a:p>
        </p:txBody>
      </p:sp>
      <p:sp>
        <p:nvSpPr>
          <p:cNvPr id="14" name="broadcast-branch-copy">
            <a:extLst xmlns:a="http://schemas.openxmlformats.org/drawingml/2006/main">
              <a:ext uri="{FF2B5EF4-FFF2-40B4-BE49-F238E27FC236}">
                <a16:creationId xmlns:a16="http://schemas.microsoft.com/office/drawing/2014/main" id="{5E4F45FF-4DF9-4B98-8734-3E54CC55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29051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Faktor awal  (4,)</a:t>
            </a:r>
          </a:p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Faktor kolom (4, 1)</a:t>
            </a:r>
          </a:p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Penjualan    (4, 3)</a:t>
            </a:r>
          </a:p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Hasil        (4, 3)</a:t>
            </a:r>
          </a:p>
        </p:txBody>
      </p:sp>
      <p:sp>
        <p:nvSpPr>
          <p:cNvPr id="15" name="broadcast-branch-foot">
            <a:extLst xmlns:a="http://schemas.openxmlformats.org/drawingml/2006/main">
              <a:ext uri="{FF2B5EF4-FFF2-40B4-BE49-F238E27FC236}">
                <a16:creationId xmlns:a16="http://schemas.microsoft.com/office/drawing/2014/main" id="{D44E68D1-3A54-48A6-B9E8-310B137C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Satu faktor untuk tiap baris cabang.</a:t>
            </a:r>
          </a:p>
        </p:txBody>
      </p:sp>
    </p:spTree>
    <p:extLst>
      <p:ext uri="{BB962C8B-B14F-4D97-AF65-F5344CB8AC3E}">
        <p14:creationId xmlns:p14="http://schemas.microsoft.com/office/powerpoint/2010/main" val="954488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12">
            <a:extLst xmlns:a="http://schemas.openxmlformats.org/drawingml/2006/main">
              <a:ext uri="{FF2B5EF4-FFF2-40B4-BE49-F238E27FC236}">
                <a16:creationId xmlns:a16="http://schemas.microsoft.com/office/drawing/2014/main" id="{B42AF180-2C72-4C74-85EC-6564AF66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BOOLEAN MASK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FD58E307-0590-4D2D-A2B0-45C38DBA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Kondisi menghasilkan pilihan data</a:t>
            </a:r>
          </a:p>
        </p:txBody>
      </p:sp>
      <p:sp>
        <p:nvSpPr>
          <p:cNvPr id="3" name="divider-12">
            <a:extLst xmlns:a="http://schemas.openxmlformats.org/drawingml/2006/main">
              <a:ext uri="{FF2B5EF4-FFF2-40B4-BE49-F238E27FC236}">
                <a16:creationId xmlns:a16="http://schemas.microsoft.com/office/drawing/2014/main" id="{E3F89BFD-9DE8-4A46-8B0C-F5BAE267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12">
            <a:extLst xmlns:a="http://schemas.openxmlformats.org/drawingml/2006/main">
              <a:ext uri="{FF2B5EF4-FFF2-40B4-BE49-F238E27FC236}">
                <a16:creationId xmlns:a16="http://schemas.microsoft.com/office/drawing/2014/main" id="{A8B0D181-30ED-41DC-AD15-FB2F5C36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Bandingkan nilai dengan ambang, lalu pakai hasil perbandingan sebagai mask.</a:t>
            </a:r>
          </a:p>
        </p:txBody>
      </p:sp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B95FC53A-D9A3-44F4-806A-EB3AA83E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12</a:t>
            </a:r>
          </a:p>
        </p:txBody>
      </p:sp>
      <p:sp>
        <p:nvSpPr>
          <p:cNvPr id="6" name="course-12">
            <a:extLst xmlns:a="http://schemas.openxmlformats.org/drawingml/2006/main">
              <a:ext uri="{FF2B5EF4-FFF2-40B4-BE49-F238E27FC236}">
                <a16:creationId xmlns:a16="http://schemas.microsoft.com/office/drawing/2014/main" id="{72D7B963-B640-446A-9A1B-D5FCB5B5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mask-code-background">
            <a:extLst xmlns:a="http://schemas.openxmlformats.org/drawingml/2006/main">
              <a:ext uri="{FF2B5EF4-FFF2-40B4-BE49-F238E27FC236}">
                <a16:creationId xmlns:a16="http://schemas.microsoft.com/office/drawing/2014/main" id="{9A89B3E4-6D8A-4E5D-ABE6-10929C5E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6667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8" name="mask-code-dot-red">
            <a:extLst xmlns:a="http://schemas.openxmlformats.org/drawingml/2006/main">
              <a:ext uri="{FF2B5EF4-FFF2-40B4-BE49-F238E27FC236}">
                <a16:creationId xmlns:a16="http://schemas.microsoft.com/office/drawing/2014/main" id="{D450E2A9-A6CA-48FC-95C0-A57A5D6E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6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solidFill>
              <a:srgbClr val="E96B6B"/>
            </a:solidFill>
            <a:prstDash val="solid"/>
          </a:ln>
        </p:spPr>
      </p:sp>
      <p:sp>
        <p:nvSpPr>
          <p:cNvPr id="9" name="mask-code-dot-yellow">
            <a:extLst xmlns:a="http://schemas.openxmlformats.org/drawingml/2006/main">
              <a:ext uri="{FF2B5EF4-FFF2-40B4-BE49-F238E27FC236}">
                <a16:creationId xmlns:a16="http://schemas.microsoft.com/office/drawing/2014/main" id="{237AE853-885C-42D1-8EE0-5E9F6E88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6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10" name="mask-code-dot-green">
            <a:extLst xmlns:a="http://schemas.openxmlformats.org/drawingml/2006/main">
              <a:ext uri="{FF2B5EF4-FFF2-40B4-BE49-F238E27FC236}">
                <a16:creationId xmlns:a16="http://schemas.microsoft.com/office/drawing/2014/main" id="{182B7F27-0141-4150-ADC0-B0EF43AA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6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solidFill>
              <a:srgbClr val="55B77A"/>
            </a:solidFill>
            <a:prstDash val="solid"/>
          </a:ln>
        </p:spPr>
      </p:sp>
      <p:sp>
        <p:nvSpPr>
          <p:cNvPr id="11" name="mask-code-text">
            <a:extLst xmlns:a="http://schemas.openxmlformats.org/drawingml/2006/main">
              <a:ext uri="{FF2B5EF4-FFF2-40B4-BE49-F238E27FC236}">
                <a16:creationId xmlns:a16="http://schemas.microsoft.com/office/drawing/2014/main" id="{7F7931CB-2EB6-4726-80A0-211255A5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52725"/>
            <a:ext cx="61722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mask_januari = penjualan[:, 0] &gt;= 100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cabang_kuat = cabang[mask_januari]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mask_bulanan = proyeksi_q1 &gt;= target_bulan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nilai_di_atas_target = proyeksi_q1[mask_bulanan]</a:t>
            </a:r>
          </a:p>
        </p:txBody>
      </p:sp>
      <p:sp>
        <p:nvSpPr>
          <p:cNvPr id="12" name="mask-note">
            <a:extLst xmlns:a="http://schemas.openxmlformats.org/drawingml/2006/main">
              <a:ext uri="{FF2B5EF4-FFF2-40B4-BE49-F238E27FC236}">
                <a16:creationId xmlns:a16="http://schemas.microsoft.com/office/drawing/2014/main" id="{98159563-83EA-4746-AA84-F46B2C0D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3381375" cy="2238375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55B77A"/>
            </a:solidFill>
            <a:prstDash val="solid"/>
          </a:ln>
        </p:spPr>
      </p:sp>
      <p:sp>
        <p:nvSpPr>
          <p:cNvPr id="13" name="mask-note-title">
            <a:extLst xmlns:a="http://schemas.openxmlformats.org/drawingml/2006/main">
              <a:ext uri="{FF2B5EF4-FFF2-40B4-BE49-F238E27FC236}">
                <a16:creationId xmlns:a16="http://schemas.microsoft.com/office/drawing/2014/main" id="{C0C49DC8-4910-4C67-95EC-03DF6413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2809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Hasil mask</a:t>
            </a:r>
          </a:p>
        </p:txBody>
      </p:sp>
      <p:sp>
        <p:nvSpPr>
          <p:cNvPr id="14" name="mask-note-copy">
            <a:extLst xmlns:a="http://schemas.openxmlformats.org/drawingml/2006/main">
              <a:ext uri="{FF2B5EF4-FFF2-40B4-BE49-F238E27FC236}">
                <a16:creationId xmlns:a16="http://schemas.microsoft.com/office/drawing/2014/main" id="{4E5F0783-98A0-4117-AEA2-F670E508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09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True  → pilih data</a:t>
            </a:r>
          </a:p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False → lewati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Urutan baris tetap terjaga.</a:t>
            </a:r>
          </a:p>
        </p:txBody>
      </p:sp>
    </p:spTree>
    <p:extLst>
      <p:ext uri="{BB962C8B-B14F-4D97-AF65-F5344CB8AC3E}">
        <p14:creationId xmlns:p14="http://schemas.microsoft.com/office/powerpoint/2010/main" val="8898120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13">
            <a:extLst xmlns:a="http://schemas.openxmlformats.org/drawingml/2006/main">
              <a:ext uri="{FF2B5EF4-FFF2-40B4-BE49-F238E27FC236}">
                <a16:creationId xmlns:a16="http://schemas.microsoft.com/office/drawing/2014/main" id="{4F53D25B-AB31-4C35-BC04-E822A2CF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KATEGORI DARI KONDISI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E9CD766F-5666-4FD0-9D5A-D76D5BE2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np.where memberi label pada tiap pengamatan</a:t>
            </a:r>
          </a:p>
        </p:txBody>
      </p:sp>
      <p:sp>
        <p:nvSpPr>
          <p:cNvPr id="3" name="divider-13">
            <a:extLst xmlns:a="http://schemas.openxmlformats.org/drawingml/2006/main">
              <a:ext uri="{FF2B5EF4-FFF2-40B4-BE49-F238E27FC236}">
                <a16:creationId xmlns:a16="http://schemas.microsoft.com/office/drawing/2014/main" id="{75872F33-9770-4581-BD56-26997FEF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13">
            <a:extLst xmlns:a="http://schemas.openxmlformats.org/drawingml/2006/main">
              <a:ext uri="{FF2B5EF4-FFF2-40B4-BE49-F238E27FC236}">
                <a16:creationId xmlns:a16="http://schemas.microsoft.com/office/drawing/2014/main" id="{A9658DBA-EFDD-4DFF-A910-BDFFB724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Hasil label mempertahankan susunan cabang dan bulan.</a:t>
            </a:r>
          </a:p>
        </p:txBody>
      </p:sp>
      <p:sp>
        <p:nvSpPr>
          <p:cNvPr id="5" name="page-13">
            <a:extLst xmlns:a="http://schemas.openxmlformats.org/drawingml/2006/main">
              <a:ext uri="{FF2B5EF4-FFF2-40B4-BE49-F238E27FC236}">
                <a16:creationId xmlns:a16="http://schemas.microsoft.com/office/drawing/2014/main" id="{A40C529A-F58B-413D-9B8C-885D08BC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13</a:t>
            </a:r>
          </a:p>
        </p:txBody>
      </p:sp>
      <p:sp>
        <p:nvSpPr>
          <p:cNvPr id="6" name="course-13">
            <a:extLst xmlns:a="http://schemas.openxmlformats.org/drawingml/2006/main">
              <a:ext uri="{FF2B5EF4-FFF2-40B4-BE49-F238E27FC236}">
                <a16:creationId xmlns:a16="http://schemas.microsoft.com/office/drawing/2014/main" id="{0004C949-032D-44A0-913B-9961030F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where-code-background">
            <a:extLst xmlns:a="http://schemas.openxmlformats.org/drawingml/2006/main">
              <a:ext uri="{FF2B5EF4-FFF2-40B4-BE49-F238E27FC236}">
                <a16:creationId xmlns:a16="http://schemas.microsoft.com/office/drawing/2014/main" id="{FBE85260-E1D6-4C1A-B536-F5DE60F6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66675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8" name="where-code-dot-red">
            <a:extLst xmlns:a="http://schemas.openxmlformats.org/drawingml/2006/main">
              <a:ext uri="{FF2B5EF4-FFF2-40B4-BE49-F238E27FC236}">
                <a16:creationId xmlns:a16="http://schemas.microsoft.com/office/drawing/2014/main" id="{AEFAED75-13D7-40CD-BD5A-B206FD6B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05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solidFill>
              <a:srgbClr val="E96B6B"/>
            </a:solidFill>
            <a:prstDash val="solid"/>
          </a:ln>
        </p:spPr>
      </p:sp>
      <p:sp>
        <p:nvSpPr>
          <p:cNvPr id="9" name="where-code-dot-yellow">
            <a:extLst xmlns:a="http://schemas.openxmlformats.org/drawingml/2006/main">
              <a:ext uri="{FF2B5EF4-FFF2-40B4-BE49-F238E27FC236}">
                <a16:creationId xmlns:a16="http://schemas.microsoft.com/office/drawing/2014/main" id="{DF566B9E-793B-4DF1-80F4-E75B5B46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05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10" name="where-code-dot-green">
            <a:extLst xmlns:a="http://schemas.openxmlformats.org/drawingml/2006/main">
              <a:ext uri="{FF2B5EF4-FFF2-40B4-BE49-F238E27FC236}">
                <a16:creationId xmlns:a16="http://schemas.microsoft.com/office/drawing/2014/main" id="{96841603-6C9D-4C19-9642-1FDD9FE9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05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solidFill>
              <a:srgbClr val="55B77A"/>
            </a:solidFill>
            <a:prstDash val="solid"/>
          </a:ln>
        </p:spPr>
      </p:sp>
      <p:sp>
        <p:nvSpPr>
          <p:cNvPr id="11" name="where-code-text">
            <a:extLst xmlns:a="http://schemas.openxmlformats.org/drawingml/2006/main">
              <a:ext uri="{FF2B5EF4-FFF2-40B4-BE49-F238E27FC236}">
                <a16:creationId xmlns:a16="http://schemas.microsoft.com/office/drawing/2014/main" id="{500A5F28-2D66-4414-B114-C7CD718E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6172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status = np.where(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proyeksi_q1 &gt;= target_bulan,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"Mencapai target",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"Di bawah target"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print(status.shape)</a:t>
            </a:r>
          </a:p>
        </p:txBody>
      </p:sp>
      <p:sp>
        <p:nvSpPr>
          <p:cNvPr id="12" name="where-result">
            <a:extLst xmlns:a="http://schemas.openxmlformats.org/drawingml/2006/main">
              <a:ext uri="{FF2B5EF4-FFF2-40B4-BE49-F238E27FC236}">
                <a16:creationId xmlns:a16="http://schemas.microsoft.com/office/drawing/2014/main" id="{42CCB4FA-866F-4E4B-9055-92B46D51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3381375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3" name="where-result-title">
            <a:extLst xmlns:a="http://schemas.openxmlformats.org/drawingml/2006/main">
              <a:ext uri="{FF2B5EF4-FFF2-40B4-BE49-F238E27FC236}">
                <a16:creationId xmlns:a16="http://schemas.microsoft.com/office/drawing/2014/main" id="{A20732F7-6D50-40A5-88C2-4F7DDBA2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Satu label per sel</a:t>
            </a:r>
          </a:p>
        </p:txBody>
      </p:sp>
      <p:sp>
        <p:nvSpPr>
          <p:cNvPr id="14" name="where-result-copy">
            <a:extLst xmlns:a="http://schemas.openxmlformats.org/drawingml/2006/main">
              <a:ext uri="{FF2B5EF4-FFF2-40B4-BE49-F238E27FC236}">
                <a16:creationId xmlns:a16="http://schemas.microsoft.com/office/drawing/2014/main" id="{7223F638-C195-42BF-877A-367AF52F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2809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Masukan: matriks 4 × 3</a:t>
            </a:r>
          </a:p>
          <a:p xmlns:a="http://schemas.openxmlformats.org/drawingml/2006/main">
            <a: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Kondisi: True atau False</a:t>
            </a:r>
          </a:p>
          <a:p xmlns:a="http://schemas.openxmlformats.org/drawingml/2006/main">
            <a: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Hasil: matriks label 4 × 3</a:t>
            </a:r>
          </a:p>
        </p:txBody>
      </p:sp>
    </p:spTree>
    <p:extLst>
      <p:ext uri="{BB962C8B-B14F-4D97-AF65-F5344CB8AC3E}">
        <p14:creationId xmlns:p14="http://schemas.microsoft.com/office/powerpoint/2010/main" val="17400503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14">
            <a:extLst xmlns:a="http://schemas.openxmlformats.org/drawingml/2006/main">
              <a:ext uri="{FF2B5EF4-FFF2-40B4-BE49-F238E27FC236}">
                <a16:creationId xmlns:a16="http://schemas.microsoft.com/office/drawing/2014/main" id="{68BADDC8-D970-4388-ACBF-0E82FDC3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AGREGASI ARRAY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7CE75D56-6C42-4A7F-B3A3-F06CE953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axis menentukan arah ringkasan</a:t>
            </a:r>
          </a:p>
        </p:txBody>
      </p:sp>
      <p:sp>
        <p:nvSpPr>
          <p:cNvPr id="3" name="divider-14">
            <a:extLst xmlns:a="http://schemas.openxmlformats.org/drawingml/2006/main">
              <a:ext uri="{FF2B5EF4-FFF2-40B4-BE49-F238E27FC236}">
                <a16:creationId xmlns:a16="http://schemas.microsoft.com/office/drawing/2014/main" id="{AC0EE6A1-4C59-4EF5-B4EB-E36B6AAF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14">
            <a:extLst xmlns:a="http://schemas.openxmlformats.org/drawingml/2006/main">
              <a:ext uri="{FF2B5EF4-FFF2-40B4-BE49-F238E27FC236}">
                <a16:creationId xmlns:a16="http://schemas.microsoft.com/office/drawing/2014/main" id="{EE03F6B7-106E-4DB4-9525-2B272B2C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Pilih sumbu berdasarkan hasil yang ingin dihitung.</a:t>
            </a:r>
          </a:p>
        </p:txBody>
      </p:sp>
      <p:sp>
        <p:nvSpPr>
          <p:cNvPr id="5" name="page-14">
            <a:extLst xmlns:a="http://schemas.openxmlformats.org/drawingml/2006/main">
              <a:ext uri="{FF2B5EF4-FFF2-40B4-BE49-F238E27FC236}">
                <a16:creationId xmlns:a16="http://schemas.microsoft.com/office/drawing/2014/main" id="{F2624C92-61B9-46CA-BE25-CCF88257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14</a:t>
            </a:r>
          </a:p>
        </p:txBody>
      </p:sp>
      <p:sp>
        <p:nvSpPr>
          <p:cNvPr id="6" name="course-14">
            <a:extLst xmlns:a="http://schemas.openxmlformats.org/drawingml/2006/main">
              <a:ext uri="{FF2B5EF4-FFF2-40B4-BE49-F238E27FC236}">
                <a16:creationId xmlns:a16="http://schemas.microsoft.com/office/drawing/2014/main" id="{8FFFA571-B88D-42F2-A456-E5E003A5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axis-code-background">
            <a:extLst xmlns:a="http://schemas.openxmlformats.org/drawingml/2006/main">
              <a:ext uri="{FF2B5EF4-FFF2-40B4-BE49-F238E27FC236}">
                <a16:creationId xmlns:a16="http://schemas.microsoft.com/office/drawing/2014/main" id="{ECD7CEDF-285D-4712-8867-78EF5281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61912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8" name="axis-code-dot-red">
            <a:extLst xmlns:a="http://schemas.openxmlformats.org/drawingml/2006/main">
              <a:ext uri="{FF2B5EF4-FFF2-40B4-BE49-F238E27FC236}">
                <a16:creationId xmlns:a16="http://schemas.microsoft.com/office/drawing/2014/main" id="{925CFFFE-A7E8-45F3-8B1D-0E2434A1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solidFill>
              <a:srgbClr val="E96B6B"/>
            </a:solidFill>
            <a:prstDash val="solid"/>
          </a:ln>
        </p:spPr>
      </p:sp>
      <p:sp>
        <p:nvSpPr>
          <p:cNvPr id="9" name="axis-code-dot-yellow">
            <a:extLst xmlns:a="http://schemas.openxmlformats.org/drawingml/2006/main">
              <a:ext uri="{FF2B5EF4-FFF2-40B4-BE49-F238E27FC236}">
                <a16:creationId xmlns:a16="http://schemas.microsoft.com/office/drawing/2014/main" id="{A55D8B7D-456C-411E-9A1C-8189DB4E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10" name="axis-code-dot-green">
            <a:extLst xmlns:a="http://schemas.openxmlformats.org/drawingml/2006/main">
              <a:ext uri="{FF2B5EF4-FFF2-40B4-BE49-F238E27FC236}">
                <a16:creationId xmlns:a16="http://schemas.microsoft.com/office/drawing/2014/main" id="{F639CC92-5662-4B1F-B507-B76578A2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solidFill>
              <a:srgbClr val="55B77A"/>
            </a:solidFill>
            <a:prstDash val="solid"/>
          </a:ln>
        </p:spPr>
      </p:sp>
      <p:sp>
        <p:nvSpPr>
          <p:cNvPr id="11" name="axis-code-text">
            <a:extLst xmlns:a="http://schemas.openxmlformats.org/drawingml/2006/main">
              <a:ext uri="{FF2B5EF4-FFF2-40B4-BE49-F238E27FC236}">
                <a16:creationId xmlns:a16="http://schemas.microsoft.com/office/drawing/2014/main" id="{F5AA127E-E8F1-4EC8-A59B-CDB759BB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5695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total_cabang = proyeksi_q1.sum(axis=1)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total_bulan = proyeksi_q1.sum(axis=0)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nama_cabang = cabang[np.argmax(total_cabang)]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nama_bulan = bulan[np.argmax(total_bulan)]</a:t>
            </a:r>
          </a:p>
        </p:txBody>
      </p:sp>
      <p:sp>
        <p:nvSpPr>
          <p:cNvPr id="12" name="axis-row-panel">
            <a:extLst xmlns:a="http://schemas.openxmlformats.org/drawingml/2006/main">
              <a:ext uri="{FF2B5EF4-FFF2-40B4-BE49-F238E27FC236}">
                <a16:creationId xmlns:a16="http://schemas.microsoft.com/office/drawing/2014/main" id="{81EC6FA7-71AC-4E61-A52A-D7755BFA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38671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3" name="axis-row-title">
            <a:extLst xmlns:a="http://schemas.openxmlformats.org/drawingml/2006/main">
              <a:ext uri="{FF2B5EF4-FFF2-40B4-BE49-F238E27FC236}">
                <a16:creationId xmlns:a16="http://schemas.microsoft.com/office/drawing/2014/main" id="{4F3BA336-A03E-4FE6-A57D-2447247E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axis=1  →  satu total per cabang</a:t>
            </a:r>
          </a:p>
        </p:txBody>
      </p:sp>
      <p:sp>
        <p:nvSpPr>
          <p:cNvPr id="14" name="axis-row-copy">
            <a:extLst xmlns:a="http://schemas.openxmlformats.org/drawingml/2006/main">
              <a:ext uri="{FF2B5EF4-FFF2-40B4-BE49-F238E27FC236}">
                <a16:creationId xmlns:a16="http://schemas.microsoft.com/office/drawing/2014/main" id="{F1EC0FD9-A0BA-450A-967D-115C7BA4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81325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Gabungkan bulan pada tiap baris.</a:t>
            </a:r>
          </a:p>
        </p:txBody>
      </p:sp>
      <p:sp>
        <p:nvSpPr>
          <p:cNvPr id="15" name="axis-column-panel">
            <a:extLst xmlns:a="http://schemas.openxmlformats.org/drawingml/2006/main">
              <a:ext uri="{FF2B5EF4-FFF2-40B4-BE49-F238E27FC236}">
                <a16:creationId xmlns:a16="http://schemas.microsoft.com/office/drawing/2014/main" id="{F4BE6C5B-B62A-4D60-AE3C-32D90117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67150"/>
            <a:ext cx="38671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6" name="axis-column-title">
            <a:extLst xmlns:a="http://schemas.openxmlformats.org/drawingml/2006/main">
              <a:ext uri="{FF2B5EF4-FFF2-40B4-BE49-F238E27FC236}">
                <a16:creationId xmlns:a16="http://schemas.microsoft.com/office/drawing/2014/main" id="{BAFDBA44-A9CB-47DD-88BC-9C0FEEF1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axis=0  →  satu total per bulan</a:t>
            </a:r>
          </a:p>
        </p:txBody>
      </p:sp>
      <p:sp>
        <p:nvSpPr>
          <p:cNvPr id="17" name="axis-column-copy">
            <a:extLst xmlns:a="http://schemas.openxmlformats.org/drawingml/2006/main">
              <a:ext uri="{FF2B5EF4-FFF2-40B4-BE49-F238E27FC236}">
                <a16:creationId xmlns:a16="http://schemas.microsoft.com/office/drawing/2014/main" id="{201A503D-633D-4A14-AD45-17749EAC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86275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Gabungkan cabang pada tiap kolom.</a:t>
            </a:r>
          </a:p>
        </p:txBody>
      </p:sp>
    </p:spTree>
    <p:extLst>
      <p:ext uri="{BB962C8B-B14F-4D97-AF65-F5344CB8AC3E}">
        <p14:creationId xmlns:p14="http://schemas.microsoft.com/office/powerpoint/2010/main" val="12872494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15">
            <a:extLst xmlns:a="http://schemas.openxmlformats.org/drawingml/2006/main">
              <a:ext uri="{FF2B5EF4-FFF2-40B4-BE49-F238E27FC236}">
                <a16:creationId xmlns:a16="http://schemas.microsoft.com/office/drawing/2014/main" id="{319ECBBF-6AA4-4C2A-B595-1BA2B10A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MENGGABUNGKAN ARRAY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AB3529C6-36BF-4EEC-86EC-6598C1D9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Tambahkan bulan dengan concatenate</a:t>
            </a:r>
          </a:p>
        </p:txBody>
      </p:sp>
      <p:sp>
        <p:nvSpPr>
          <p:cNvPr id="3" name="divider-15">
            <a:extLst xmlns:a="http://schemas.openxmlformats.org/drawingml/2006/main">
              <a:ext uri="{FF2B5EF4-FFF2-40B4-BE49-F238E27FC236}">
                <a16:creationId xmlns:a16="http://schemas.microsoft.com/office/drawing/2014/main" id="{FC3FFA5C-32EF-4B12-970D-487AD942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15">
            <a:extLst xmlns:a="http://schemas.openxmlformats.org/drawingml/2006/main">
              <a:ext uri="{FF2B5EF4-FFF2-40B4-BE49-F238E27FC236}">
                <a16:creationId xmlns:a16="http://schemas.microsoft.com/office/drawing/2014/main" id="{902E0484-1875-4F9D-ACC9-6C49C4D6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Untuk menambah kolom, jumlah baris harus sama.</a:t>
            </a:r>
          </a:p>
        </p:txBody>
      </p:sp>
      <p:sp>
        <p:nvSpPr>
          <p:cNvPr id="5" name="page-15">
            <a:extLst xmlns:a="http://schemas.openxmlformats.org/drawingml/2006/main">
              <a:ext uri="{FF2B5EF4-FFF2-40B4-BE49-F238E27FC236}">
                <a16:creationId xmlns:a16="http://schemas.microsoft.com/office/drawing/2014/main" id="{E204C6F3-3F75-4FD4-AC15-AD998B31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15</a:t>
            </a:r>
          </a:p>
        </p:txBody>
      </p:sp>
      <p:sp>
        <p:nvSpPr>
          <p:cNvPr id="6" name="course-15">
            <a:extLst xmlns:a="http://schemas.openxmlformats.org/drawingml/2006/main">
              <a:ext uri="{FF2B5EF4-FFF2-40B4-BE49-F238E27FC236}">
                <a16:creationId xmlns:a16="http://schemas.microsoft.com/office/drawing/2014/main" id="{46C8C235-93E2-4146-BA70-A028457F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concat-code-background">
            <a:extLst xmlns:a="http://schemas.openxmlformats.org/drawingml/2006/main">
              <a:ext uri="{FF2B5EF4-FFF2-40B4-BE49-F238E27FC236}">
                <a16:creationId xmlns:a16="http://schemas.microsoft.com/office/drawing/2014/main" id="{D99431D1-63FB-4989-BE48-D7E23227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66675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8" name="concat-code-dot-red">
            <a:extLst xmlns:a="http://schemas.openxmlformats.org/drawingml/2006/main">
              <a:ext uri="{FF2B5EF4-FFF2-40B4-BE49-F238E27FC236}">
                <a16:creationId xmlns:a16="http://schemas.microsoft.com/office/drawing/2014/main" id="{D5C2B4DE-001E-4893-93DD-42D4971A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86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solidFill>
              <a:srgbClr val="E96B6B"/>
            </a:solidFill>
            <a:prstDash val="solid"/>
          </a:ln>
        </p:spPr>
      </p:sp>
      <p:sp>
        <p:nvSpPr>
          <p:cNvPr id="9" name="concat-code-dot-yellow">
            <a:extLst xmlns:a="http://schemas.openxmlformats.org/drawingml/2006/main">
              <a:ext uri="{FF2B5EF4-FFF2-40B4-BE49-F238E27FC236}">
                <a16:creationId xmlns:a16="http://schemas.microsoft.com/office/drawing/2014/main" id="{B7B739D3-0F18-46D0-B513-3556B9FF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86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10" name="concat-code-dot-green">
            <a:extLst xmlns:a="http://schemas.openxmlformats.org/drawingml/2006/main">
              <a:ext uri="{FF2B5EF4-FFF2-40B4-BE49-F238E27FC236}">
                <a16:creationId xmlns:a16="http://schemas.microsoft.com/office/drawing/2014/main" id="{BE1D8663-81ED-4CD5-B545-D879C519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86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solidFill>
              <a:srgbClr val="55B77A"/>
            </a:solidFill>
            <a:prstDash val="solid"/>
          </a:ln>
        </p:spPr>
      </p:sp>
      <p:sp>
        <p:nvSpPr>
          <p:cNvPr id="11" name="concat-code-text">
            <a:extLst xmlns:a="http://schemas.openxmlformats.org/drawingml/2006/main">
              <a:ext uri="{FF2B5EF4-FFF2-40B4-BE49-F238E27FC236}">
                <a16:creationId xmlns:a16="http://schemas.microsoft.com/office/drawing/2014/main" id="{CA0D9510-A7DD-4C1C-9D54-ECC25A05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71775"/>
            <a:ext cx="6172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april = np.array([132, 117, 160, 108])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april = april.reshape(4, 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penjualan_4bulan = np.concatenate(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(penjualan, april), axis=1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)</a:t>
            </a:r>
          </a:p>
        </p:txBody>
      </p:sp>
      <p:sp>
        <p:nvSpPr>
          <p:cNvPr id="12" name="concat-note">
            <a:extLst xmlns:a="http://schemas.openxmlformats.org/drawingml/2006/main">
              <a:ext uri="{FF2B5EF4-FFF2-40B4-BE49-F238E27FC236}">
                <a16:creationId xmlns:a16="http://schemas.microsoft.com/office/drawing/2014/main" id="{FDD0EEEB-92E9-49BB-B9B8-C48D5985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9850"/>
            <a:ext cx="3381375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3" name="concat-note-title">
            <a:extLst xmlns:a="http://schemas.openxmlformats.org/drawingml/2006/main">
              <a:ext uri="{FF2B5EF4-FFF2-40B4-BE49-F238E27FC236}">
                <a16:creationId xmlns:a16="http://schemas.microsoft.com/office/drawing/2014/main" id="{9CFC36BE-38C2-4E4D-951A-6E755E97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2809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Bentuk array</a:t>
            </a:r>
          </a:p>
        </p:txBody>
      </p:sp>
      <p:sp>
        <p:nvSpPr>
          <p:cNvPr id="14" name="concat-note-copy">
            <a:extLst xmlns:a="http://schemas.openxmlformats.org/drawingml/2006/main">
              <a:ext uri="{FF2B5EF4-FFF2-40B4-BE49-F238E27FC236}">
                <a16:creationId xmlns:a16="http://schemas.microsoft.com/office/drawing/2014/main" id="{02C892F1-3B46-4D57-A6FA-256924F9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2809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(4, 3) + (4, 1)</a:t>
            </a:r>
          </a:p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axis=1</a:t>
            </a:r>
          </a:p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→ (4, 4)</a:t>
            </a:r>
          </a:p>
        </p:txBody>
      </p:sp>
    </p:spTree>
    <p:extLst>
      <p:ext uri="{BB962C8B-B14F-4D97-AF65-F5344CB8AC3E}">
        <p14:creationId xmlns:p14="http://schemas.microsoft.com/office/powerpoint/2010/main" val="18787859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16">
            <a:extLst xmlns:a="http://schemas.openxmlformats.org/drawingml/2006/main">
              <a:ext uri="{FF2B5EF4-FFF2-40B4-BE49-F238E27FC236}">
                <a16:creationId xmlns:a16="http://schemas.microsoft.com/office/drawing/2014/main" id="{56289B56-540E-4642-B99E-A305CED9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PRACTICE AKHIR  •  24 MENIT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3659D906-89A4-4CB2-BF9E-C5979798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Evaluasi skenario penjualan empat bulan</a:t>
            </a:r>
          </a:p>
        </p:txBody>
      </p:sp>
      <p:sp>
        <p:nvSpPr>
          <p:cNvPr id="3" name="divider-16">
            <a:extLst xmlns:a="http://schemas.openxmlformats.org/drawingml/2006/main">
              <a:ext uri="{FF2B5EF4-FFF2-40B4-BE49-F238E27FC236}">
                <a16:creationId xmlns:a16="http://schemas.microsoft.com/office/drawing/2014/main" id="{59FF7CE8-AB00-4510-B0AB-F02BEA53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16">
            <a:extLst xmlns:a="http://schemas.openxmlformats.org/drawingml/2006/main">
              <a:ext uri="{FF2B5EF4-FFF2-40B4-BE49-F238E27FC236}">
                <a16:creationId xmlns:a16="http://schemas.microsoft.com/office/drawing/2014/main" id="{84FC2413-7264-4032-A7AA-D382CDB6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asumsi proyeksi untuk mencari cabang dan bulan yang perlu perhatian.</a:t>
            </a:r>
          </a:p>
        </p:txBody>
      </p:sp>
      <p:sp>
        <p:nvSpPr>
          <p:cNvPr id="5" name="page-16">
            <a:extLst xmlns:a="http://schemas.openxmlformats.org/drawingml/2006/main">
              <a:ext uri="{FF2B5EF4-FFF2-40B4-BE49-F238E27FC236}">
                <a16:creationId xmlns:a16="http://schemas.microsoft.com/office/drawing/2014/main" id="{16AD4083-6149-4CA0-98A2-0872515B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16</a:t>
            </a:r>
          </a:p>
        </p:txBody>
      </p:sp>
      <p:sp>
        <p:nvSpPr>
          <p:cNvPr id="6" name="course-16">
            <a:extLst xmlns:a="http://schemas.openxmlformats.org/drawingml/2006/main">
              <a:ext uri="{FF2B5EF4-FFF2-40B4-BE49-F238E27FC236}">
                <a16:creationId xmlns:a16="http://schemas.microsoft.com/office/drawing/2014/main" id="{5773B995-7A12-472E-9CA1-140CFC9F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practice-end-data-bg">
            <a:extLst xmlns:a="http://schemas.openxmlformats.org/drawingml/2006/main">
              <a:ext uri="{FF2B5EF4-FFF2-40B4-BE49-F238E27FC236}">
                <a16:creationId xmlns:a16="http://schemas.microsoft.com/office/drawing/2014/main" id="{FEA7A6D7-935C-4DBF-BA4A-A967050C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953000" cy="3781425"/>
          </a:xfrm>
          <a:prstGeom xmlns:a="http://schemas.openxmlformats.org/drawingml/2006/main" prst="roundRect">
            <a:avLst>
              <a:gd name="adj" fmla="val 251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8" name="practice-end-data-title">
            <a:extLst xmlns:a="http://schemas.openxmlformats.org/drawingml/2006/main">
              <a:ext uri="{FF2B5EF4-FFF2-40B4-BE49-F238E27FC236}">
                <a16:creationId xmlns:a16="http://schemas.microsoft.com/office/drawing/2014/main" id="{988DD283-47F6-46D0-9D34-0AD09B52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DATA DAN ASUMSI</a:t>
            </a:r>
          </a:p>
        </p:txBody>
      </p:sp>
      <p:sp>
        <p:nvSpPr>
          <p:cNvPr id="9" name="practice-end-data-code-background">
            <a:extLst xmlns:a="http://schemas.openxmlformats.org/drawingml/2006/main">
              <a:ext uri="{FF2B5EF4-FFF2-40B4-BE49-F238E27FC236}">
                <a16:creationId xmlns:a16="http://schemas.microsoft.com/office/drawing/2014/main" id="{96121192-1D91-459F-B502-6FC2CB8C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4495800" cy="254317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0" name="practice-end-data-code-dot-red">
            <a:extLst xmlns:a="http://schemas.openxmlformats.org/drawingml/2006/main">
              <a:ext uri="{FF2B5EF4-FFF2-40B4-BE49-F238E27FC236}">
                <a16:creationId xmlns:a16="http://schemas.microsoft.com/office/drawing/2014/main" id="{8AF147C9-9414-4E43-B48D-6B213979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solidFill>
              <a:srgbClr val="E96B6B"/>
            </a:solidFill>
            <a:prstDash val="solid"/>
          </a:ln>
        </p:spPr>
      </p:sp>
      <p:sp>
        <p:nvSpPr>
          <p:cNvPr id="11" name="practice-end-data-code-dot-yellow">
            <a:extLst xmlns:a="http://schemas.openxmlformats.org/drawingml/2006/main">
              <a:ext uri="{FF2B5EF4-FFF2-40B4-BE49-F238E27FC236}">
                <a16:creationId xmlns:a16="http://schemas.microsoft.com/office/drawing/2014/main" id="{AC53FA89-CF85-4C67-9EAD-3CFE3C7F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12" name="practice-end-data-code-dot-green">
            <a:extLst xmlns:a="http://schemas.openxmlformats.org/drawingml/2006/main">
              <a:ext uri="{FF2B5EF4-FFF2-40B4-BE49-F238E27FC236}">
                <a16:creationId xmlns:a16="http://schemas.microsoft.com/office/drawing/2014/main" id="{88A94741-4B8A-468A-9775-36301991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71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solidFill>
              <a:srgbClr val="55B77A"/>
            </a:solidFill>
            <a:prstDash val="solid"/>
          </a:ln>
        </p:spPr>
      </p:sp>
      <p:sp>
        <p:nvSpPr>
          <p:cNvPr id="13" name="practice-end-data-code-text">
            <a:extLst xmlns:a="http://schemas.openxmlformats.org/drawingml/2006/main">
              <a:ext uri="{FF2B5EF4-FFF2-40B4-BE49-F238E27FC236}">
                <a16:creationId xmlns:a16="http://schemas.microsoft.com/office/drawing/2014/main" id="{9D93DBD4-E100-4C0F-8D90-C78EF33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4000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april = [132, 117, 160, 108]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faktor = [1.00, 1.04, 1.08, 1.10]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target_cabang = [540, 450,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         620, 420]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target_bulan = [110, 115,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        120, 130]</a:t>
            </a:r>
          </a:p>
        </p:txBody>
      </p:sp>
      <p:sp>
        <p:nvSpPr>
          <p:cNvPr id="14" name="practice-end-unit">
            <a:extLst xmlns:a="http://schemas.openxmlformats.org/drawingml/2006/main">
              <a:ext uri="{FF2B5EF4-FFF2-40B4-BE49-F238E27FC236}">
                <a16:creationId xmlns:a16="http://schemas.microsoft.com/office/drawing/2014/main" id="{D10A0DC9-2A77-4CB0-90C1-7F320AAB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Angka dinyatakan dalam juta rupiah.</a:t>
            </a:r>
          </a:p>
        </p:txBody>
      </p:sp>
      <p:sp>
        <p:nvSpPr>
          <p:cNvPr id="15" name="practice-end-task-bg">
            <a:extLst xmlns:a="http://schemas.openxmlformats.org/drawingml/2006/main">
              <a:ext uri="{FF2B5EF4-FFF2-40B4-BE49-F238E27FC236}">
                <a16:creationId xmlns:a16="http://schemas.microsoft.com/office/drawing/2014/main" id="{4C2DF8A7-C369-4454-B352-6040BEA2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38375"/>
            <a:ext cx="5581650" cy="3781425"/>
          </a:xfrm>
          <a:prstGeom xmlns:a="http://schemas.openxmlformats.org/drawingml/2006/main" prst="roundRect">
            <a:avLst>
              <a:gd name="adj" fmla="val 2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6" name="practice-end-task-title">
            <a:extLst xmlns:a="http://schemas.openxmlformats.org/drawingml/2006/main">
              <a:ext uri="{FF2B5EF4-FFF2-40B4-BE49-F238E27FC236}">
                <a16:creationId xmlns:a16="http://schemas.microsoft.com/office/drawing/2014/main" id="{E0EACE17-C488-48A6-B0DC-ECF8F4D8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Tugas</a:t>
            </a:r>
          </a:p>
        </p:txBody>
      </p:sp>
      <p:sp>
        <p:nvSpPr>
          <p:cNvPr id="17" name="practice-end-tasks">
            <a:extLst xmlns:a="http://schemas.openxmlformats.org/drawingml/2006/main">
              <a:ext uri="{FF2B5EF4-FFF2-40B4-BE49-F238E27FC236}">
                <a16:creationId xmlns:a16="http://schemas.microsoft.com/office/drawing/2014/main" id="{3483F572-F46D-4331-912F-5AEE0343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4953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  Tambahkan April ke matriks.</a:t>
            </a:r>
          </a:p>
          <a:p xmlns:a="http://schemas.openxmlformats.org/drawingml/2006/main">
            <a: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2  Terapkan faktor tiap bulan.</a:t>
            </a:r>
          </a:p>
          <a:p xmlns:a="http://schemas.openxmlformats.org/drawingml/2006/main">
            <a: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3  Hitung total per cabang dan bulan.</a:t>
            </a:r>
          </a:p>
          <a:p xmlns:a="http://schemas.openxmlformats.org/drawingml/2006/main">
            <a: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4  Tandai target yang tercapai.</a:t>
            </a:r>
          </a:p>
          <a:p xmlns:a="http://schemas.openxmlformats.org/drawingml/2006/main">
            <a: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5  Cari cabang dan bulan tertinggi.</a:t>
            </a:r>
          </a:p>
          <a:p xmlns:a="http://schemas.openxmlformats.org/drawingml/2006/main">
            <a: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6  Tulis rekomendasi dengan angka.</a:t>
            </a:r>
          </a:p>
        </p:txBody>
      </p:sp>
      <p:sp>
        <p:nvSpPr>
          <p:cNvPr id="18" name="practice-end-note">
            <a:extLst xmlns:a="http://schemas.openxmlformats.org/drawingml/2006/main">
              <a:ext uri="{FF2B5EF4-FFF2-40B4-BE49-F238E27FC236}">
                <a16:creationId xmlns:a16="http://schemas.microsoft.com/office/drawing/2014/main" id="{378A10B3-6E4D-4092-8143-0AFDF4AE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49530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9" name="practice-end-note-text">
            <a:extLst xmlns:a="http://schemas.openxmlformats.org/drawingml/2006/main">
              <a:ext uri="{FF2B5EF4-FFF2-40B4-BE49-F238E27FC236}">
                <a16:creationId xmlns:a16="http://schemas.microsoft.com/office/drawing/2014/main" id="{599B94E0-A1CA-4D96-A629-DF5B7490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14975"/>
            <a:ext cx="459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Sertakan satu bukti numerik pada kesimpulan.</a:t>
            </a:r>
          </a:p>
        </p:txBody>
      </p:sp>
    </p:spTree>
    <p:extLst>
      <p:ext uri="{BB962C8B-B14F-4D97-AF65-F5344CB8AC3E}">
        <p14:creationId xmlns:p14="http://schemas.microsoft.com/office/powerpoint/2010/main" val="2125894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17">
            <a:extLst xmlns:a="http://schemas.openxmlformats.org/drawingml/2006/main">
              <a:ext uri="{FF2B5EF4-FFF2-40B4-BE49-F238E27FC236}">
                <a16:creationId xmlns:a16="http://schemas.microsoft.com/office/drawing/2014/main" id="{28B204A6-B57C-4539-BAD5-F0493435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RINGKASAN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ACF02EA5-531A-49C7-8ACD-4FE048A1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Dari shape menuju kesimpulan bisnis</a:t>
            </a:r>
          </a:p>
        </p:txBody>
      </p:sp>
      <p:sp>
        <p:nvSpPr>
          <p:cNvPr id="3" name="divider-17">
            <a:extLst xmlns:a="http://schemas.openxmlformats.org/drawingml/2006/main">
              <a:ext uri="{FF2B5EF4-FFF2-40B4-BE49-F238E27FC236}">
                <a16:creationId xmlns:a16="http://schemas.microsoft.com/office/drawing/2014/main" id="{123D8B50-3789-42E5-9B81-CCF050BD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ubtitle-17">
            <a:extLst xmlns:a="http://schemas.openxmlformats.org/drawingml/2006/main">
              <a:ext uri="{FF2B5EF4-FFF2-40B4-BE49-F238E27FC236}">
                <a16:creationId xmlns:a16="http://schemas.microsoft.com/office/drawing/2014/main" id="{E13C2AA8-71ED-4F68-BE67-F1F951DE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Array membantu menjaga susunan data saat kita menghitung dan memfilter banyak nilai.</a:t>
            </a:r>
          </a:p>
        </p:txBody>
      </p:sp>
      <p:sp>
        <p:nvSpPr>
          <p:cNvPr id="5" name="page-17">
            <a:extLst xmlns:a="http://schemas.openxmlformats.org/drawingml/2006/main">
              <a:ext uri="{FF2B5EF4-FFF2-40B4-BE49-F238E27FC236}">
                <a16:creationId xmlns:a16="http://schemas.microsoft.com/office/drawing/2014/main" id="{24D551D6-1CB0-44B4-AFC2-831F3E9C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17</a:t>
            </a:r>
          </a:p>
        </p:txBody>
      </p:sp>
      <p:sp>
        <p:nvSpPr>
          <p:cNvPr id="6" name="course-17">
            <a:extLst xmlns:a="http://schemas.openxmlformats.org/drawingml/2006/main">
              <a:ext uri="{FF2B5EF4-FFF2-40B4-BE49-F238E27FC236}">
                <a16:creationId xmlns:a16="http://schemas.microsoft.com/office/drawing/2014/main" id="{A6251A1A-F89C-49E5-AFE4-7171FF69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572250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EKA / PYTHON</a:t>
            </a:r>
          </a:p>
        </p:txBody>
      </p:sp>
      <p:sp>
        <p:nvSpPr>
          <p:cNvPr id="7" name="summary-points">
            <a:extLst xmlns:a="http://schemas.openxmlformats.org/drawingml/2006/main">
              <a:ext uri="{FF2B5EF4-FFF2-40B4-BE49-F238E27FC236}">
                <a16:creationId xmlns:a16="http://schemas.microsoft.com/office/drawing/2014/main" id="{BA7490D7-A6C5-478D-B581-8D5F938E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6191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• `shape` menjelaskan susunan baris dan kolom.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• Broadcasting menerapkan faktor sesuai bentuk array.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• Mask dan `np.where` memilih atau memberi label pada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• `axis` menentukan apakah ringkasan dibuat per baris atau kolom.</a:t>
            </a:r>
          </a:p>
        </p:txBody>
      </p:sp>
      <p:sp>
        <p:nvSpPr>
          <p:cNvPr id="8" name="exit-ticket-panel">
            <a:extLst xmlns:a="http://schemas.openxmlformats.org/drawingml/2006/main">
              <a:ext uri="{FF2B5EF4-FFF2-40B4-BE49-F238E27FC236}">
                <a16:creationId xmlns:a16="http://schemas.microsoft.com/office/drawing/2014/main" id="{29B8CB41-367D-4F83-A710-F8DFE17C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3762375" cy="26193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9" name="exit-ticket-title">
            <a:extLst xmlns:a="http://schemas.openxmlformats.org/drawingml/2006/main">
              <a:ext uri="{FF2B5EF4-FFF2-40B4-BE49-F238E27FC236}">
                <a16:creationId xmlns:a16="http://schemas.microsoft.com/office/drawing/2014/main" id="{7D79A6E6-E0C3-4FF3-BEDD-96FD624A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Exit ticket</a:t>
            </a:r>
          </a:p>
        </p:txBody>
      </p:sp>
      <p:sp>
        <p:nvSpPr>
          <p:cNvPr id="10" name="exit-ticket-copy">
            <a:extLst xmlns:a="http://schemas.openxmlformats.org/drawingml/2006/main">
              <a:ext uri="{FF2B5EF4-FFF2-40B4-BE49-F238E27FC236}">
                <a16:creationId xmlns:a16="http://schemas.microsoft.com/office/drawing/2014/main" id="{6A0B92ED-0CA8-41EE-9558-1BA79E95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992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Apa arti `axis=1` pada data ini?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Mengapa faktor per cabang perlu dibentuk sebagai kolom?</a:t>
            </a:r>
          </a:p>
        </p:txBody>
      </p:sp>
    </p:spTree>
    <p:extLst>
      <p:ext uri="{BB962C8B-B14F-4D97-AF65-F5344CB8AC3E}">
        <p14:creationId xmlns:p14="http://schemas.microsoft.com/office/powerpoint/2010/main" val="580670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2026-09-25T05:15:03.5990000Z</dcterms:created>
  <dcterms:modified xsi:type="dcterms:W3CDTF">2026-09-25T05:15:03.5990000Z</dcterms:modified>
</coreProperties>
</file>