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5d0de7789844b0" /><Relationship Type="http://schemas.openxmlformats.org/officeDocument/2006/relationships/extended-properties" Target="/docProps/app.xml" Id="Rb3b56bb200124807" /><Relationship Type="http://schemas.openxmlformats.org/officeDocument/2006/relationships/officeDocument" Target="/ppt/presentation.xml" Id="R4e658e5c14494cd2" /></Relationships>
</file>

<file path=ppt/presentation.xml><?xml version="1.0" encoding="utf-8"?>
<p:presentation xmlns:p="http://schemas.openxmlformats.org/presentationml/2006/main">
  <p:sldMasterIdLst>
    <p:sldMasterId xmlns:r="http://schemas.openxmlformats.org/officeDocument/2006/relationships" id="2147483648" r:id="Rbfccc0f9e8ab47a7"/>
  </p:sldMasterIdLst>
  <p:notesMasterIdLst>
    <p:notesMasterId xmlns:r="http://schemas.openxmlformats.org/officeDocument/2006/relationships" r:id="R9526842d25404dcf"/>
  </p:notesMasterIdLst>
  <p:sldIdLst>
    <p:sldId xmlns:r="http://schemas.openxmlformats.org/officeDocument/2006/relationships" id="256" r:id="R704c3a2dcdea4081"/>
    <p:sldId xmlns:r="http://schemas.openxmlformats.org/officeDocument/2006/relationships" id="257" r:id="R2f106856aac24c68"/>
    <p:sldId xmlns:r="http://schemas.openxmlformats.org/officeDocument/2006/relationships" id="258" r:id="R81461aa56bb24c48"/>
    <p:sldId xmlns:r="http://schemas.openxmlformats.org/officeDocument/2006/relationships" id="259" r:id="Rd69358d2dbcd4593"/>
    <p:sldId xmlns:r="http://schemas.openxmlformats.org/officeDocument/2006/relationships" id="260" r:id="R520b02a020074323"/>
    <p:sldId xmlns:r="http://schemas.openxmlformats.org/officeDocument/2006/relationships" id="261" r:id="R6a879443f6474b71"/>
    <p:sldId xmlns:r="http://schemas.openxmlformats.org/officeDocument/2006/relationships" id="262" r:id="R0a5d636e30dd418f"/>
    <p:sldId xmlns:r="http://schemas.openxmlformats.org/officeDocument/2006/relationships" id="263" r:id="R45c848a584984bbe"/>
    <p:sldId xmlns:r="http://schemas.openxmlformats.org/officeDocument/2006/relationships" id="264" r:id="Rcb6883fa32f24e8a"/>
    <p:sldId xmlns:r="http://schemas.openxmlformats.org/officeDocument/2006/relationships" id="265" r:id="R16be56eccd77400b"/>
    <p:sldId xmlns:r="http://schemas.openxmlformats.org/officeDocument/2006/relationships" id="266" r:id="R3271530145534c99"/>
    <p:sldId xmlns:r="http://schemas.openxmlformats.org/officeDocument/2006/relationships" id="267" r:id="R51a8ec18d9c0479e"/>
    <p:sldId xmlns:r="http://schemas.openxmlformats.org/officeDocument/2006/relationships" id="268" r:id="R2273118b0e1c4f7d"/>
    <p:sldId xmlns:r="http://schemas.openxmlformats.org/officeDocument/2006/relationships" id="269" r:id="Rc91241e8d4e64a7c"/>
    <p:sldId xmlns:r="http://schemas.openxmlformats.org/officeDocument/2006/relationships" id="270" r:id="Raee22e5bc8dd474c"/>
    <p:sldId xmlns:r="http://schemas.openxmlformats.org/officeDocument/2006/relationships" id="271" r:id="Re6549e1b71cf49ba"/>
    <p:sldId xmlns:r="http://schemas.openxmlformats.org/officeDocument/2006/relationships" id="272" r:id="R2bc1573425164c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06e58b90a2495f" /><Relationship Type="http://schemas.openxmlformats.org/officeDocument/2006/relationships/slideMaster" Target="/ppt/slideMasters/slideMaster1.xml" Id="Rbfccc0f9e8ab47a7" /><Relationship Type="http://schemas.openxmlformats.org/officeDocument/2006/relationships/notesMaster" Target="/ppt/notesMasters/notesMaster1.xml" Id="R9526842d25404dcf" /><Relationship Type="http://schemas.openxmlformats.org/officeDocument/2006/relationships/presProps" Target="/ppt/presProps.xml" Id="R332bb8e055b440c3" /><Relationship Type="http://schemas.openxmlformats.org/officeDocument/2006/relationships/tableStyles" Target="/ppt/tableStyles.xml" Id="Rbfc619921d2b48cd" /><Relationship Type="http://schemas.openxmlformats.org/officeDocument/2006/relationships/slide" Target="/ppt/slides/slide1.xml" Id="R704c3a2dcdea4081" /><Relationship Type="http://schemas.openxmlformats.org/officeDocument/2006/relationships/slide" Target="/ppt/slides/slide2.xml" Id="R2f106856aac24c68" /><Relationship Type="http://schemas.openxmlformats.org/officeDocument/2006/relationships/slide" Target="/ppt/slides/slide3.xml" Id="R81461aa56bb24c48" /><Relationship Type="http://schemas.openxmlformats.org/officeDocument/2006/relationships/slide" Target="/ppt/slides/slide4.xml" Id="Rd69358d2dbcd4593" /><Relationship Type="http://schemas.openxmlformats.org/officeDocument/2006/relationships/slide" Target="/ppt/slides/slide5.xml" Id="R520b02a020074323" /><Relationship Type="http://schemas.openxmlformats.org/officeDocument/2006/relationships/slide" Target="/ppt/slides/slide6.xml" Id="R6a879443f6474b71" /><Relationship Type="http://schemas.openxmlformats.org/officeDocument/2006/relationships/slide" Target="/ppt/slides/slide7.xml" Id="R0a5d636e30dd418f" /><Relationship Type="http://schemas.openxmlformats.org/officeDocument/2006/relationships/slide" Target="/ppt/slides/slide8.xml" Id="R45c848a584984bbe" /><Relationship Type="http://schemas.openxmlformats.org/officeDocument/2006/relationships/slide" Target="/ppt/slides/slide9.xml" Id="Rcb6883fa32f24e8a" /><Relationship Type="http://schemas.openxmlformats.org/officeDocument/2006/relationships/slide" Target="/ppt/slides/slide10.xml" Id="R16be56eccd77400b" /><Relationship Type="http://schemas.openxmlformats.org/officeDocument/2006/relationships/slide" Target="/ppt/slides/slide11.xml" Id="R3271530145534c99" /><Relationship Type="http://schemas.openxmlformats.org/officeDocument/2006/relationships/slide" Target="/ppt/slides/slide12.xml" Id="R51a8ec18d9c0479e" /><Relationship Type="http://schemas.openxmlformats.org/officeDocument/2006/relationships/slide" Target="/ppt/slides/slide13.xml" Id="R2273118b0e1c4f7d" /><Relationship Type="http://schemas.openxmlformats.org/officeDocument/2006/relationships/slide" Target="/ppt/slides/slide14.xml" Id="Rc91241e8d4e64a7c" /><Relationship Type="http://schemas.openxmlformats.org/officeDocument/2006/relationships/slide" Target="/ppt/slides/slide15.xml" Id="Raee22e5bc8dd474c" /><Relationship Type="http://schemas.openxmlformats.org/officeDocument/2006/relationships/slide" Target="/ppt/slides/slide16.xml" Id="Re6549e1b71cf49ba" /><Relationship Type="http://schemas.openxmlformats.org/officeDocument/2006/relationships/slide" Target="/ppt/slides/slide17.xml" Id="R2bc1573425164c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cd2722525641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3af2bf3f0c4db2" /><Relationship Type="http://schemas.openxmlformats.org/officeDocument/2006/relationships/notesMaster" Target="/ppt/notesMasters/notesMaster1.xml" Id="Rf07840a7ff4c43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304fe76ae24633" /><Relationship Type="http://schemas.openxmlformats.org/officeDocument/2006/relationships/notesMaster" Target="/ppt/notesMasters/notesMaster1.xml" Id="Rd90a667763ff4c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8deeca1dfc4701" /><Relationship Type="http://schemas.openxmlformats.org/officeDocument/2006/relationships/notesMaster" Target="/ppt/notesMasters/notesMaster1.xml" Id="R147ca26ab38641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0ba75f41fb42e2" /><Relationship Type="http://schemas.openxmlformats.org/officeDocument/2006/relationships/notesMaster" Target="/ppt/notesMasters/notesMaster1.xml" Id="R0e9085b7e8e944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094fd794ee4f8f" /><Relationship Type="http://schemas.openxmlformats.org/officeDocument/2006/relationships/notesMaster" Target="/ppt/notesMasters/notesMaster1.xml" Id="R91568f51ed8a46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d7edb5863048c9" /><Relationship Type="http://schemas.openxmlformats.org/officeDocument/2006/relationships/notesMaster" Target="/ppt/notesMasters/notesMaster1.xml" Id="R94c99dd0ee584b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b8eedc038c44f4" /><Relationship Type="http://schemas.openxmlformats.org/officeDocument/2006/relationships/notesMaster" Target="/ppt/notesMasters/notesMaster1.xml" Id="Rfae0d8b07b9d4a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774446b6e34994" /><Relationship Type="http://schemas.openxmlformats.org/officeDocument/2006/relationships/notesMaster" Target="/ppt/notesMasters/notesMaster1.xml" Id="R1653aefbfe3d4f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73edff8a094335" /><Relationship Type="http://schemas.openxmlformats.org/officeDocument/2006/relationships/notesMaster" Target="/ppt/notesMasters/notesMaster1.xml" Id="Re9cc6187ae4f44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bcc4765f0349ba" /><Relationship Type="http://schemas.openxmlformats.org/officeDocument/2006/relationships/notesMaster" Target="/ppt/notesMasters/notesMaster1.xml" Id="R67ef0fa57e1f4d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4de9aefc4742df" /><Relationship Type="http://schemas.openxmlformats.org/officeDocument/2006/relationships/notesMaster" Target="/ppt/notesMasters/notesMaster1.xml" Id="R8df6d3ec381141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1ed9bb5eea45d1" /><Relationship Type="http://schemas.openxmlformats.org/officeDocument/2006/relationships/notesMaster" Target="/ppt/notesMasters/notesMaster1.xml" Id="R786d05de408a40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69743c91ca4d0b" /><Relationship Type="http://schemas.openxmlformats.org/officeDocument/2006/relationships/notesMaster" Target="/ppt/notesMasters/notesMaster1.xml" Id="R6de829ba1cf749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18099afe9e48c1" /><Relationship Type="http://schemas.openxmlformats.org/officeDocument/2006/relationships/notesMaster" Target="/ppt/notesMasters/notesMaster1.xml" Id="Raa77c27637224e7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88fa6b6fcd4514" /><Relationship Type="http://schemas.openxmlformats.org/officeDocument/2006/relationships/notesMaster" Target="/ppt/notesMasters/notesMaster1.xml" Id="Rd9f8333fc11341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1491b3d7b04a56" /><Relationship Type="http://schemas.openxmlformats.org/officeDocument/2006/relationships/notesMaster" Target="/ppt/notesMasters/notesMaster1.xml" Id="R50e0067296234d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4cce63606847ec" /><Relationship Type="http://schemas.openxmlformats.org/officeDocument/2006/relationships/notesMaster" Target="/ppt/notesMasters/notesMaster1.xml" Id="R3d0488ac60a848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NumPy untuk Analisis Data</a:t>
            </a:r>
          </a:p>
          <a:p xmlns:a="http://schemas.openxmlformats.org/drawingml/2006/main">
            <a:r>
              <a:t>Durasi: sekitar 1 menit</a:t>
            </a:r>
          </a:p>
          <a:p xmlns:a="http://schemas.openxmlformats.org/drawingml/2006/main">
            <a:r>
              <a:t/>
            </a:r>
          </a:p>
          <a:p xmlns:a="http://schemas.openxmlformats.org/drawingml/2006/main">
            <a:r>
              <a:t>NASKAH</a:t>
            </a:r>
          </a:p>
          <a:p xmlns:a="http://schemas.openxmlformats.org/drawingml/2006/main">
            <a:r>
              <a:t>“Hari ini kita melanjutkan belajar NumPy untuk analisis data. Kita akan memakai data penjualan empat cabang. Kita mulai dari data Januari sampai Maret, lalu menambahkan April sebagai skenario. Di akhir, kita akan menjawab dua pertanyaan: cabang mana yang mencapai target, dan bulan mana yang mencatat total tertinggi?”</a:t>
            </a:r>
          </a:p>
          <a:p xmlns:a="http://schemas.openxmlformats.org/drawingml/2006/main">
            <a:r>
              <a:t/>
            </a:r>
          </a:p>
          <a:p xmlns:a="http://schemas.openxmlformats.org/drawingml/2006/main">
            <a:r>
              <a:t>CATATAN</a:t>
            </a:r>
          </a:p>
          <a:p xmlns:a="http://schemas.openxmlformats.org/drawingml/2006/main">
            <a:r>
              <a:t>Angka pada kasus ini bersifat simulasi dan dinyatakan dalam juta rupiah.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Target belajar</a:t>
            </a:r>
          </a:p>
          <a:p xmlns:a="http://schemas.openxmlformats.org/drawingml/2006/main">
            <a:r>
              <a:t>Durasi: sekitar 2 menit</a:t>
            </a:r>
          </a:p>
          <a:p xmlns:a="http://schemas.openxmlformats.org/drawingml/2006/main">
            <a:r>
              <a:t/>
            </a:r>
          </a:p>
          <a:p xmlns:a="http://schemas.openxmlformats.org/drawingml/2006/main">
            <a:r>
              <a:t>NASKAH</a:t>
            </a:r>
          </a:p>
          <a:p xmlns:a="http://schemas.openxmlformats.org/drawingml/2006/main">
            <a:r>
              <a:t>“Pada pertemuan sebelumnya kita sudah mengenal array satu dimensi dan ringkasan statistik dasar. Sekarang kita naik satu langkah. Kita akan membaca susunan matriks, mengambil bagian data, menerapkan operasi pada banyak nilai sekaligus, lalu membuat filter dan ringkasan. Semua itu akan dipakai untuk menjawab pertanyaan bisnis yang ada di kanan.”</a:t>
            </a:r>
          </a:p>
          <a:p xmlns:a="http://schemas.openxmlformats.org/drawingml/2006/main">
            <a:r>
              <a:t/>
            </a:r>
          </a:p>
          <a:p xmlns:a="http://schemas.openxmlformats.org/drawingml/2006/main">
            <a:r>
              <a:t>TANYAKAN</a:t>
            </a:r>
          </a:p>
          <a:p xmlns:a="http://schemas.openxmlformats.org/drawingml/2006/main">
            <a:r>
              <a:t>“Kalau ingin membandingkan penjualan per cabang, informasi apa yang harus kita punya?”</a:t>
            </a:r>
          </a:p>
          <a:p xmlns:a="http://schemas.openxmlformats.org/drawingml/2006/main">
            <a:r>
              <a:t/>
            </a:r>
          </a:p>
          <a:p xmlns:a="http://schemas.openxmlformats.org/drawingml/2006/main">
            <a:r>
              <a:t>ARAHKAN KE</a:t>
            </a:r>
          </a:p>
          <a:p xmlns:a="http://schemas.openxmlformats.org/drawingml/2006/main">
            <a:r>
              <a:t>Kita perlu tahu baris mana mewakili cabang, kolom mana mewakili bulan, dan aturan target yang dipakai.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Dataset penjualan</a:t>
            </a:r>
          </a:p>
          <a:p xmlns:a="http://schemas.openxmlformats.org/drawingml/2006/main">
            <a:r>
              <a:t>Durasi: sekitar 2 menit</a:t>
            </a:r>
          </a:p>
          <a:p xmlns:a="http://schemas.openxmlformats.org/drawingml/2006/main">
            <a:r>
              <a:t/>
            </a:r>
          </a:p>
          <a:p xmlns:a="http://schemas.openxmlformats.org/drawingml/2006/main">
            <a:r>
              <a:t>NASKAH</a:t>
            </a:r>
          </a:p>
          <a:p xmlns:a="http://schemas.openxmlformats.org/drawingml/2006/main">
            <a:r>
              <a:t>“Ini tabel dasar kita. Setiap baris adalah satu cabang, sedangkan setiap kolom adalah satu bulan. Contohnya, angka 120 menunjukkan penjualan Jakarta pada Januari sebesar 120 juta rupiah. Data ini contoh untuk latihan, bukan laporan perusahaan nyata. Sebelum menghitung, biasakan membaca label baris dan kolom supaya angka tidak tertukar.”</a:t>
            </a:r>
          </a:p>
          <a:p xmlns:a="http://schemas.openxmlformats.org/drawingml/2006/main">
            <a:r>
              <a:t/>
            </a:r>
          </a:p>
          <a:p xmlns:a="http://schemas.openxmlformats.org/drawingml/2006/main">
            <a:r>
              <a:t>CEK PEMAHAMAN</a:t>
            </a:r>
          </a:p>
          <a:p xmlns:a="http://schemas.openxmlformats.org/drawingml/2006/main">
            <a:r>
              <a:t>Minta siswa menyebutkan angka penjualan Surabaya pada Maret. Jawabannya 152 juta rupiah.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Struktur array</a:t>
            </a:r>
          </a:p>
          <a:p xmlns:a="http://schemas.openxmlformats.org/drawingml/2006/main">
            <a:r>
              <a:t>Durasi: sekitar 2 menit</a:t>
            </a:r>
          </a:p>
          <a:p xmlns:a="http://schemas.openxmlformats.org/drawingml/2006/main">
            <a:r>
              <a:t/>
            </a:r>
          </a:p>
          <a:p xmlns:a="http://schemas.openxmlformats.org/drawingml/2006/main">
            <a:r>
              <a:t>NASKAH</a:t>
            </a:r>
          </a:p>
          <a:p xmlns:a="http://schemas.openxmlformats.org/drawingml/2006/main">
            <a:r>
              <a:t>“Array bulan berisi satu urutan dengan tiga nilai, jadi bentuknya satu dimensi dan shape-nya (3,). Matriks penjualan memiliki empat baris dan tiga kolom, jadi shape-nya (4, 3). NumPy menyimpan nilai dan bentuknya, tetapi tidak otomatis memahami bahwa baris itu cabang atau kolom itu bulan. Label tetap perlu kita cocokkan sendiri.”</a:t>
            </a:r>
          </a:p>
          <a:p xmlns:a="http://schemas.openxmlformats.org/drawingml/2006/main">
            <a:r>
              <a:t/>
            </a:r>
          </a:p>
          <a:p xmlns:a="http://schemas.openxmlformats.org/drawingml/2006/main">
            <a:r>
              <a:t>TUNJUKKAN</a:t>
            </a:r>
          </a:p>
          <a:p xmlns:a="http://schemas.openxmlformats.org/drawingml/2006/main">
            <a:r>
              <a:t>Arahkan dari header Cabang ke baris Jakarta, lalu dari header Jan ke kolom pertama. Nanti posisi sel ditulis sebagai [baris, kolom].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Properti array</a:t>
            </a:r>
          </a:p>
          <a:p xmlns:a="http://schemas.openxmlformats.org/drawingml/2006/main">
            <a:r>
              <a:t>Durasi: sekitar 3 menit</a:t>
            </a:r>
          </a:p>
          <a:p xmlns:a="http://schemas.openxmlformats.org/drawingml/2006/main">
            <a:r>
              <a:t/>
            </a:r>
          </a:p>
          <a:p xmlns:a="http://schemas.openxmlformats.org/drawingml/2006/main">
            <a:r>
              <a:t>NASKAH</a:t>
            </a:r>
          </a:p>
          <a:p xmlns:a="http://schemas.openxmlformats.org/drawingml/2006/main">
            <a:r>
              <a:t>“Kita bisa memeriksa array sebelum mengolahnya. ndim memberi jumlah dimensi. shape menunjukkan panjang setiap dimensi, di sini empat baris dan tiga kolom. size menghitung jumlah seluruh nilai, yaitu 12. dtype memberi tipe data. Karena data awal berisi bilangan bulat, tipenya integer. Setelah kita kalikan dengan faktor desimal, hasil proyeksi akan menggunakan bilangan desimal.”</a:t>
            </a:r>
          </a:p>
          <a:p xmlns:a="http://schemas.openxmlformats.org/drawingml/2006/main">
            <a:r>
              <a:t/>
            </a:r>
          </a:p>
          <a:p xmlns:a="http://schemas.openxmlformats.org/drawingml/2006/main">
            <a:r>
              <a:t>CEK PEMAHAMAN</a:t>
            </a:r>
          </a:p>
          <a:p xmlns:a="http://schemas.openxmlformats.org/drawingml/2006/main">
            <a:r>
              <a:t>“Twelve berasal dari mana?” Arahkan ke empat cabang dikali tiga bulan. Tekankan bahwa size berbeda dari ndim.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Indexing dan slicing</a:t>
            </a:r>
          </a:p>
          <a:p xmlns:a="http://schemas.openxmlformats.org/drawingml/2006/main">
            <a:r>
              <a:t>Durasi: sekitar 4 menit</a:t>
            </a:r>
          </a:p>
          <a:p xmlns:a="http://schemas.openxmlformats.org/drawingml/2006/main">
            <a:r>
              <a:t/>
            </a:r>
          </a:p>
          <a:p xmlns:a="http://schemas.openxmlformats.org/drawingml/2006/main">
            <a:r>
              <a:t>NASKAH</a:t>
            </a:r>
          </a:p>
          <a:p xmlns:a="http://schemas.openxmlformats.org/drawingml/2006/main">
            <a:r>
              <a:t>“Indeks NumPy mulai dari nol. Jadi penjualan[0, 1] mengambil baris pertama dan kolom kedua, yaitu Jakarta pada Februari dengan nilai 135. Tanda titik dua sebelum koma mengambil semua cabang pada Januari. Pada contoh terakhir, baris 1 sampai sebelum 4 dengan langkah 2 berarti baris Bandung dan Medan. Bagian 1: setelah koma mengambil Februari sampai Maret.”</a:t>
            </a:r>
          </a:p>
          <a:p xmlns:a="http://schemas.openxmlformats.org/drawingml/2006/main">
            <a:r>
              <a:t/>
            </a:r>
          </a:p>
          <a:p xmlns:a="http://schemas.openxmlformats.org/drawingml/2006/main">
            <a:r>
              <a:t>HASIL CONTOH</a:t>
            </a:r>
          </a:p>
          <a:p xmlns:a="http://schemas.openxmlformats.org/drawingml/2006/main">
            <a:r>
              <a:t>penjualan[0, 1] menghasilkan 135.</a:t>
            </a:r>
          </a:p>
          <a:p xmlns:a="http://schemas.openxmlformats.org/drawingml/2006/main">
            <a:r>
              <a:t>penjualan[:, 0] menghasilkan [120, 98, 145, 87].</a:t>
            </a:r>
          </a:p>
          <a:p xmlns:a="http://schemas.openxmlformats.org/drawingml/2006/main">
            <a:r>
              <a:t>penjualan[1:4:2, 1:] menghasilkan [[108, 112], [95, 103]].</a:t>
            </a:r>
          </a:p>
          <a:p xmlns:a="http://schemas.openxmlformats.org/drawingml/2006/main">
            <a:r>
              <a:t/>
            </a:r>
          </a:p>
          <a:p xmlns:a="http://schemas.openxmlformats.org/drawingml/2006/main">
            <a:r>
              <a:t>MISKONSEPSI</a:t>
            </a:r>
          </a:p>
          <a:p xmlns:a="http://schemas.openxmlformats.org/drawingml/2006/main">
            <a:r>
              <a:t>Angka setelah tanda titik dua adalah batas akhir dan tidak ikut terambil.</a:t>
            </a:r>
          </a:p>
          <a:p xmlns:a="http://schemas.openxmlformats.org/drawingml/2006/main">
            <a:r>
              <a:t/>
            </a:r>
          </a:p>
          <a:p xmlns:a="http://schemas.openxmlformats.org/drawingml/2006/main">
            <a:r>
              <a:t>REFERENSI</a:t>
            </a:r>
          </a:p>
          <a:p xmlns:a="http://schemas.openxmlformats.org/drawingml/2006/main">
            <a:r>
              <a:t>https://numpy.org/doc/stable/user/basics.indexing.html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Reshape dan transpose</a:t>
            </a:r>
          </a:p>
          <a:p xmlns:a="http://schemas.openxmlformats.org/drawingml/2006/main">
            <a:r>
              <a:t>Durasi: sekitar 4 menit</a:t>
            </a:r>
          </a:p>
          <a:p xmlns:a="http://schemas.openxmlformats.org/drawingml/2006/main">
            <a:r>
              <a:t/>
            </a:r>
          </a:p>
          <a:p xmlns:a="http://schemas.openxmlformats.org/drawingml/2006/main">
            <a:r>
              <a:t>NASKAH</a:t>
            </a:r>
          </a:p>
          <a:p xmlns:a="http://schemas.openxmlformats.org/drawingml/2006/main">
            <a:r>
              <a:t>“raw berisi 12 nilai dalam satu urutan. reshape(4, 3) membacanya kembali sebagai empat baris dan tiga kolom. Karena nilai ditulis per cabang, hasilnya kembali menjadi tabel cabang dan bulan. Setelah itu, .T menukar baris dan kolom, sehingga bulan menjadi baris. Nilainya tidak bertambah atau hilang. Bentuk baru harus tetap memiliki 12 tempat.”</a:t>
            </a:r>
          </a:p>
          <a:p xmlns:a="http://schemas.openxmlformats.org/drawingml/2006/main">
            <a:r>
              <a:t/>
            </a:r>
          </a:p>
          <a:p xmlns:a="http://schemas.openxmlformats.org/drawingml/2006/main">
            <a:r>
              <a:t>TUNJUKKAN</a:t>
            </a:r>
          </a:p>
          <a:p xmlns:a="http://schemas.openxmlformats.org/drawingml/2006/main">
            <a:r>
              <a:t>Bandingkan shape (12,), (4, 3), dan (3, 4). Ingatkan bahwa reshape bergantung pada urutan nilai di raw.</a:t>
            </a:r>
          </a:p>
          <a:p xmlns:a="http://schemas.openxmlformats.org/drawingml/2006/main">
            <a:r>
              <a:t/>
            </a:r>
          </a:p>
          <a:p xmlns:a="http://schemas.openxmlformats.org/drawingml/2006/main">
            <a:r>
              <a:t>REFERENSI</a:t>
            </a:r>
          </a:p>
          <a:p xmlns:a="http://schemas.openxmlformats.org/drawingml/2006/main">
            <a:r>
              <a:t>https://numpy.org/doc/stable/reference/generated/numpy.reshape.html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Practice tengah</a:t>
            </a:r>
          </a:p>
          <a:p xmlns:a="http://schemas.openxmlformats.org/drawingml/2006/main">
            <a:r>
              <a:t>Durasi: 15 menit</a:t>
            </a:r>
          </a:p>
          <a:p xmlns:a="http://schemas.openxmlformats.org/drawingml/2006/main">
            <a:r>
              <a:t/>
            </a:r>
          </a:p>
          <a:p xmlns:a="http://schemas.openxmlformats.org/drawingml/2006/main">
            <a:r>
              <a:t>NASKAH</a:t>
            </a:r>
          </a:p>
          <a:p xmlns:a="http://schemas.openxmlformats.org/drawingml/2006/main">
            <a:r>
              <a:t>“Sekarang kerjakan latihan ini di notebook. Susun raw menjadi matriks empat kali tiga, ambil kolom Februari, pilih baris Jakarta dan Surabaya, lalu transpose. Jangan langsung menjalankan kode. Pastikan dulu urutan nilai di raw sesuai urutan cabang yang diberikan. Kerjakan sendiri atau berpasangan. Setelah itu kita cocokkan bentuk dan maknanya bersama.”</a:t>
            </a:r>
          </a:p>
          <a:p xmlns:a="http://schemas.openxmlformats.org/drawingml/2006/main">
            <a:r>
              <a:t/>
            </a:r>
          </a:p>
          <a:p xmlns:a="http://schemas.openxmlformats.org/drawingml/2006/main">
            <a:r>
              <a:t>PANDUAN PENGAJAR</a:t>
            </a:r>
          </a:p>
          <a:p xmlns:a="http://schemas.openxmlformats.org/drawingml/2006/main">
            <a:r>
              <a:t>Beri waktu sekitar 10 menit untuk mencoba, lalu gunakan sisa waktu untuk membahas hasil dan kesalahan indeks.</a:t>
            </a:r>
          </a:p>
          <a:p xmlns:a="http://schemas.openxmlformats.org/drawingml/2006/main">
            <a:r>
              <a:t/>
            </a:r>
          </a:p>
          <a:p xmlns:a="http://schemas.openxmlformats.org/drawingml/2006/main">
            <a:r>
              <a:t>KUNCI JAWABAN</a:t>
            </a:r>
          </a:p>
          <a:p xmlns:a="http://schemas.openxmlformats.org/drawingml/2006/main">
            <a:r>
              <a:t>matriks = raw.reshape(4, 3)</a:t>
            </a:r>
          </a:p>
          <a:p xmlns:a="http://schemas.openxmlformats.org/drawingml/2006/main">
            <a:r>
              <a:t>kolom_februari = matriks[:, 1] menghasilkan [151, 112, 129, 108].</a:t>
            </a:r>
          </a:p>
          <a:p xmlns:a="http://schemas.openxmlformats.org/drawingml/2006/main">
            <a:r>
              <a:t>baris_pilihan = matriks[0:3:2, :] menghasilkan [[145, 151, 162], [132, 129, 140]].</a:t>
            </a:r>
          </a:p>
          <a:p xmlns:a="http://schemas.openxmlformats.org/drawingml/2006/main">
            <a:r>
              <a:t>tampilan_bulan = matriks.T memiliki shape (3, 4).</a:t>
            </a:r>
          </a:p>
          <a:p xmlns:a="http://schemas.openxmlformats.org/drawingml/2006/main">
            <a:r>
              <a:t/>
            </a:r>
          </a:p>
          <a:p xmlns:a="http://schemas.openxmlformats.org/drawingml/2006/main">
            <a:r>
              <a:t>TRANSISI</a:t>
            </a:r>
          </a:p>
          <a:p xmlns:a="http://schemas.openxmlformats.org/drawingml/2006/main">
            <a:r>
              <a:t>“Sekarang kita sudah bisa memilih dan menyusun data. Berikutnya kita ubah semua nilainya dengan satu operasi.”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Operasi vektor</a:t>
            </a:r>
          </a:p>
          <a:p xmlns:a="http://schemas.openxmlformats.org/drawingml/2006/main">
            <a:r>
              <a:t>Durasi: sekitar 3 menit</a:t>
            </a:r>
          </a:p>
          <a:p xmlns:a="http://schemas.openxmlformats.org/drawingml/2006/main">
            <a:r>
              <a:t/>
            </a:r>
          </a:p>
          <a:p xmlns:a="http://schemas.openxmlformats.org/drawingml/2006/main">
            <a:r>
              <a:t>NASKAH</a:t>
            </a:r>
          </a:p>
          <a:p xmlns:a="http://schemas.openxmlformats.org/drawingml/2006/main">
            <a:r>
              <a:t>“Perkalian ini dilakukan pada setiap nilai di dalam matriks. Faktor 0.95 berarti setiap angka turun lima persen, sedangkan 1.05 berarti naik lima persen. Misalnya, 120 dikali 1.05 menjadi 126. Kita tidak perlu menulis loop untuk mengalikan sel satu per satu. Bentuk matriks hasil tetap sama, yaitu empat kali tiga.”</a:t>
            </a:r>
          </a:p>
          <a:p xmlns:a="http://schemas.openxmlformats.org/drawingml/2006/main">
            <a:r>
              <a:t/>
            </a:r>
          </a:p>
          <a:p xmlns:a="http://schemas.openxmlformats.org/drawingml/2006/main">
            <a:r>
              <a:t>CATATAN</a:t>
            </a:r>
          </a:p>
          <a:p xmlns:a="http://schemas.openxmlformats.org/drawingml/2006/main">
            <a:r>
              <a:t>Faktor ini hanya asumsi skenario untuk belajar operasi vektor, bukan perubahan aktual pada penjualan.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Broadcasting per bulan</a:t>
            </a:r>
          </a:p>
          <a:p xmlns:a="http://schemas.openxmlformats.org/drawingml/2006/main">
            <a:r>
              <a:t>Durasi: sekitar 4 menit</a:t>
            </a:r>
          </a:p>
          <a:p xmlns:a="http://schemas.openxmlformats.org/drawingml/2006/main">
            <a:r>
              <a:t/>
            </a:r>
          </a:p>
          <a:p xmlns:a="http://schemas.openxmlformats.org/drawingml/2006/main">
            <a:r>
              <a:t>NASKAH</a:t>
            </a:r>
          </a:p>
          <a:p xmlns:a="http://schemas.openxmlformats.org/drawingml/2006/main">
            <a:r>
              <a:t>“Sekarang setiap bulan memiliki faktor berbeda. Januari dikali 1.00, Februari dikali 1.04, dan Maret dikali 1.08. Karena faktor memiliki tiga nilai, NumPy mencocokkannya dengan tiga kolom terakhir pada matriks. Faktor yang sama dipakai untuk semua cabang pada bulan tersebut. Misalnya, Jakarta pada Februari menjadi 135 dikali 1.04, hasilnya 140.40. Shape hasil tetap (4, 3).”</a:t>
            </a:r>
          </a:p>
          <a:p xmlns:a="http://schemas.openxmlformats.org/drawingml/2006/main">
            <a:r>
              <a:t/>
            </a:r>
          </a:p>
          <a:p xmlns:a="http://schemas.openxmlformats.org/drawingml/2006/main">
            <a:r>
              <a:t>CEK PEMAHAMAN</a:t>
            </a:r>
          </a:p>
          <a:p xmlns:a="http://schemas.openxmlformats.org/drawingml/2006/main">
            <a:r>
              <a:t>Tanyakan: faktor 1.08 diterapkan ke cabang yang mana? Jawabannya semua cabang pada kolom Maret.</a:t>
            </a:r>
          </a:p>
          <a:p xmlns:a="http://schemas.openxmlformats.org/drawingml/2006/main">
            <a:r>
              <a:t/>
            </a:r>
          </a:p>
          <a:p xmlns:a="http://schemas.openxmlformats.org/drawingml/2006/main">
            <a:r>
              <a:t>REFERENSI</a:t>
            </a:r>
          </a:p>
          <a:p xmlns:a="http://schemas.openxmlformats.org/drawingml/2006/main">
            <a:r>
              <a:t>https://numpy.org/doc/stable/user/basics.broadcasting.html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Broadcasting per cabang</a:t>
            </a:r>
          </a:p>
          <a:p xmlns:a="http://schemas.openxmlformats.org/drawingml/2006/main">
            <a:r>
              <a:t>Durasi: sekitar 5 menit</a:t>
            </a:r>
          </a:p>
          <a:p xmlns:a="http://schemas.openxmlformats.org/drawingml/2006/main">
            <a:r>
              <a:t/>
            </a:r>
          </a:p>
          <a:p xmlns:a="http://schemas.openxmlformats.org/drawingml/2006/main">
            <a:r>
              <a:t>NASKAH</a:t>
            </a:r>
          </a:p>
          <a:p xmlns:a="http://schemas.openxmlformats.org/drawingml/2006/main">
            <a:r>
              <a:t>“Kalau kita punya satu faktor untuk setiap cabang, tujuan kita adalah mengalikan satu baris penuh dengan satu faktor. Vektor faktor awal berbentuk (4,). Bentuk itu disejajarkan dari dimensi paling kanan dengan (4, 3), sehingga angka empat dibandingkan dengan tiga dan tidak cocok. Kita bentuk ulang vektornya menjadi (4, 1). Dimensi satu ini bisa menyesuaikan ke tiga bulan, sementara empat baris tetap cocok dengan empat cabang.”</a:t>
            </a:r>
          </a:p>
          <a:p xmlns:a="http://schemas.openxmlformats.org/drawingml/2006/main">
            <a:r>
              <a:t/>
            </a:r>
          </a:p>
          <a:p xmlns:a="http://schemas.openxmlformats.org/drawingml/2006/main">
            <a:r>
              <a:t>TUNJUKKAN</a:t>
            </a:r>
          </a:p>
          <a:p xmlns:a="http://schemas.openxmlformats.org/drawingml/2006/main">
            <a:r>
              <a:t>Bandingkan bentuk (4,) dengan (4, 3), lalu (4, 1) dengan (4, 3). Beri satu contoh: faktor Jakarta 1.05 diterapkan ke ketiga nilai pada baris Jakarta.</a:t>
            </a:r>
          </a:p>
          <a:p xmlns:a="http://schemas.openxmlformats.org/drawingml/2006/main">
            <a:r>
              <a:t/>
            </a:r>
          </a:p>
          <a:p xmlns:a="http://schemas.openxmlformats.org/drawingml/2006/main">
            <a:r>
              <a:t>REFERENSI</a:t>
            </a:r>
          </a:p>
          <a:p xmlns:a="http://schemas.openxmlformats.org/drawingml/2006/main">
            <a:r>
              <a:t>https://numpy.org/doc/stable/user/basics.broadcasting.html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Boolean mask</a:t>
            </a:r>
          </a:p>
          <a:p xmlns:a="http://schemas.openxmlformats.org/drawingml/2006/main">
            <a:r>
              <a:t>Durasi: sekitar 4 menit</a:t>
            </a:r>
          </a:p>
          <a:p xmlns:a="http://schemas.openxmlformats.org/drawingml/2006/main">
            <a:r>
              <a:t/>
            </a:r>
          </a:p>
          <a:p xmlns:a="http://schemas.openxmlformats.org/drawingml/2006/main">
            <a:r>
              <a:t>NASKAH</a:t>
            </a:r>
          </a:p>
          <a:p xmlns:a="http://schemas.openxmlformats.org/drawingml/2006/main">
            <a:r>
              <a:t>“Perbandingan menghasilkan nilai True atau False. Contoh pertama memeriksa penjualan Januari yang minimal 100 juta. Hasilnya True untuk Jakarta dan Surabaya, lalu mask itu dipakai untuk memilih nama cabang. Contoh kedua membandingkan seluruh proyeksi dengan target tiap bulan. target_bulan berbentuk tiga nilai sehingga cocok dengan tiga kolom. Saat matriks diambil menggunakan satu mask Boolean, nilai yang lolos dikumpulkan sebagai pilihan satu dimensi.”</a:t>
            </a:r>
          </a:p>
          <a:p xmlns:a="http://schemas.openxmlformats.org/drawingml/2006/main">
            <a:r>
              <a:t/>
            </a:r>
          </a:p>
          <a:p xmlns:a="http://schemas.openxmlformats.org/drawingml/2006/main">
            <a:r>
              <a:t>CEK PEMAHAMAN</a:t>
            </a:r>
          </a:p>
          <a:p xmlns:a="http://schemas.openxmlformats.org/drawingml/2006/main">
            <a:r>
              <a:t>Untuk Januari, mask-nya [True, False, True, False], jadi cabang yang dipilih Jakarta dan Surabaya.</a:t>
            </a:r>
          </a:p>
          <a:p xmlns:a="http://schemas.openxmlformats.org/drawingml/2006/main">
            <a:r>
              <a:t/>
            </a:r>
          </a:p>
          <a:p xmlns:a="http://schemas.openxmlformats.org/drawingml/2006/main">
            <a:r>
              <a:t>REFERENSI</a:t>
            </a:r>
          </a:p>
          <a:p xmlns:a="http://schemas.openxmlformats.org/drawingml/2006/main">
            <a:r>
              <a:t>https://numpy.org/doc/stable/user/basics.indexing.html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np.where</a:t>
            </a:r>
          </a:p>
          <a:p xmlns:a="http://schemas.openxmlformats.org/drawingml/2006/main">
            <a:r>
              <a:t>Durasi: sekitar 3 menit</a:t>
            </a:r>
          </a:p>
          <a:p xmlns:a="http://schemas.openxmlformats.org/drawingml/2006/main">
            <a:r>
              <a:t/>
            </a:r>
          </a:p>
          <a:p xmlns:a="http://schemas.openxmlformats.org/drawingml/2006/main">
            <a:r>
              <a:t>NASKAH</a:t>
            </a:r>
          </a:p>
          <a:p xmlns:a="http://schemas.openxmlformats.org/drawingml/2006/main">
            <a:r>
              <a:t>“Kalau kita ingin mempertahankan bentuk matriks tetapi mengganti setiap sel menjadi label, gunakan np.where. Fungsi ini membaca kondisi, lalu memilih label pertama saat kondisi benar dan label kedua saat kondisi salah. Contohnya, proyeksi Bandung pada Maret sebesar 120.96, lebih besar dari target 120, jadi statusnya mencapai target. Medan pada Maret sebesar 111.24, jadi statusnya di bawah target. Hasilnya tetap berbentuk empat kali tiga.”</a:t>
            </a:r>
          </a:p>
          <a:p xmlns:a="http://schemas.openxmlformats.org/drawingml/2006/main">
            <a:r>
              <a:t/>
            </a:r>
          </a:p>
          <a:p xmlns:a="http://schemas.openxmlformats.org/drawingml/2006/main">
            <a:r>
              <a:t>PESAN UTAMA</a:t>
            </a:r>
          </a:p>
          <a:p xmlns:a="http://schemas.openxmlformats.org/drawingml/2006/main">
            <a:r>
              <a:t>Mask membantu memilih nilai. np.where membantu menghasilkan nilai atau label pada setiap posisi.</a:t>
            </a:r>
          </a:p>
          <a:p xmlns:a="http://schemas.openxmlformats.org/drawingml/2006/main">
            <a:r>
              <a:t/>
            </a:r>
          </a:p>
          <a:p xmlns:a="http://schemas.openxmlformats.org/drawingml/2006/main">
            <a:r>
              <a:t>REFERENSI</a:t>
            </a:r>
          </a:p>
          <a:p xmlns:a="http://schemas.openxmlformats.org/drawingml/2006/main">
            <a:r>
              <a:t>https://numpy.org/doc/stable/reference/generated/numpy.where.html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Agregasi dengan axis</a:t>
            </a:r>
          </a:p>
          <a:p xmlns:a="http://schemas.openxmlformats.org/drawingml/2006/main">
            <a:r>
              <a:t>Durasi: sekitar 4 menit</a:t>
            </a:r>
          </a:p>
          <a:p xmlns:a="http://schemas.openxmlformats.org/drawingml/2006/main">
            <a:r>
              <a:t/>
            </a:r>
          </a:p>
          <a:p xmlns:a="http://schemas.openxmlformats.org/drawingml/2006/main">
            <a:r>
              <a:t>NASKAH</a:t>
            </a:r>
          </a:p>
          <a:p xmlns:a="http://schemas.openxmlformats.org/drawingml/2006/main">
            <a:r>
              <a:t>“axis menentukan dimensi mana yang kita jumlahkan. Untuk total per cabang, kita menjumlahkan kolom pada setiap baris dengan axis=1. Hasilnya satu angka untuk tiap cabang dan shape-nya (4,). Untuk total per bulan, kita menjumlahkan baris pada setiap kolom dengan axis=0. Hasilnya tiga angka dan shape-nya (3,). np.argmax memberi posisi nilai terbesar. Kita pakai posisi itu untuk mengambil nama cabang atau bulan.”</a:t>
            </a:r>
          </a:p>
          <a:p xmlns:a="http://schemas.openxmlformats.org/drawingml/2006/main">
            <a:r>
              <a:t/>
            </a:r>
          </a:p>
          <a:p xmlns:a="http://schemas.openxmlformats.org/drawingml/2006/main">
            <a:r>
              <a:t>HASIL PADA PROYEKSI Q1</a:t>
            </a:r>
          </a:p>
          <a:p xmlns:a="http://schemas.openxmlformats.org/drawingml/2006/main">
            <a:r>
              <a:t>Total cabang sekitar [398.64, 331.28, 452.68, 297.04]. Surabaya tertinggi.</a:t>
            </a:r>
          </a:p>
          <a:p xmlns:a="http://schemas.openxmlformats.org/drawingml/2006/main">
            <a:r>
              <a:t>Total bulan sekitar [450.00, 495.04, 534.60]. Maret tertinggi.</a:t>
            </a:r>
          </a:p>
          <a:p xmlns:a="http://schemas.openxmlformats.org/drawingml/2006/main">
            <a:r>
              <a:t/>
            </a:r>
          </a:p>
          <a:p xmlns:a="http://schemas.openxmlformats.org/drawingml/2006/main">
            <a:r>
              <a:t>REFERENSI</a:t>
            </a:r>
          </a:p>
          <a:p xmlns:a="http://schemas.openxmlformats.org/drawingml/2006/main">
            <a:r>
              <a:t>https://numpy.org/doc/stable/reference/generated/numpy.argmax.html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Menggabungkan array</a:t>
            </a:r>
          </a:p>
          <a:p xmlns:a="http://schemas.openxmlformats.org/drawingml/2006/main">
            <a:r>
              <a:t>Durasi: sekitar 4 menit</a:t>
            </a:r>
          </a:p>
          <a:p xmlns:a="http://schemas.openxmlformats.org/drawingml/2006/main">
            <a:r>
              <a:t/>
            </a:r>
          </a:p>
          <a:p xmlns:a="http://schemas.openxmlformats.org/drawingml/2006/main">
            <a:r>
              <a:t>NASKAH</a:t>
            </a:r>
          </a:p>
          <a:p xmlns:a="http://schemas.openxmlformats.org/drawingml/2006/main">
            <a:r>
              <a:t>“Untuk menambahkan April sebagai kolom baru, array April perlu memiliki satu nilai untuk setiap cabang. Karena masih berupa vektor dengan shape (4,), kita ubah menjadi kolom dengan shape (4, 1). Setelah digabungkan dengan data Januari sampai Maret pada axis=1, bentuknya menjadi (4, 4). Jumlah baris harus tetap sama karena kita menggabungkan kolom. Nilai April di sini masih nilai dasar sebelum faktor April diterapkan.”</a:t>
            </a:r>
          </a:p>
          <a:p xmlns:a="http://schemas.openxmlformats.org/drawingml/2006/main">
            <a:r>
              <a:t/>
            </a:r>
          </a:p>
          <a:p xmlns:a="http://schemas.openxmlformats.org/drawingml/2006/main">
            <a:r>
              <a:t>CEK PEMAHAMAN</a:t>
            </a:r>
          </a:p>
          <a:p xmlns:a="http://schemas.openxmlformats.org/drawingml/2006/main">
            <a:r>
              <a:t>Tanyakan apa yang terjadi jika April berisi lima nilai. Bentuk barisnya tidak cocok dengan matriks empat cabang.</a:t>
            </a:r>
          </a:p>
          <a:p xmlns:a="http://schemas.openxmlformats.org/drawingml/2006/main">
            <a:r>
              <a:t/>
            </a:r>
          </a:p>
          <a:p xmlns:a="http://schemas.openxmlformats.org/drawingml/2006/main">
            <a:r>
              <a:t>REFERENSI</a:t>
            </a:r>
          </a:p>
          <a:p xmlns:a="http://schemas.openxmlformats.org/drawingml/2006/main">
            <a:r>
              <a:t>https://numpy.org/doc/stable/reference/generated/numpy.concatenate.html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 Practice akhir</a:t>
            </a:r>
          </a:p>
          <a:p xmlns:a="http://schemas.openxmlformats.org/drawingml/2006/main">
            <a:r>
              <a:t>Durasi: 24 menit</a:t>
            </a:r>
          </a:p>
          <a:p xmlns:a="http://schemas.openxmlformats.org/drawingml/2006/main">
            <a:r>
              <a:t/>
            </a:r>
          </a:p>
          <a:p xmlns:a="http://schemas.openxmlformats.org/drawingml/2006/main">
            <a:r>
              <a:t>NASKAH</a:t>
            </a:r>
          </a:p>
          <a:p xmlns:a="http://schemas.openxmlformats.org/drawingml/2006/main">
            <a:r>
              <a:t>“Gunakan semua konsep hari ini untuk menilai skenario Januari sampai April. Gabungkan nilai dasar April, kalikan setiap bulan dengan faktornya, hitung total per cabang dan per bulan, lalu periksa target. Perhatikan bahwa target_bulan berlaku pada setiap sel di kolom bulan yang sama. target_cabang dibandingkan dengan total empat bulan per cabang. Sisakan waktu untuk menulis kesimpulan dengan angka pendukung.”</a:t>
            </a:r>
          </a:p>
          <a:p xmlns:a="http://schemas.openxmlformats.org/drawingml/2006/main">
            <a:r>
              <a:t/>
            </a:r>
          </a:p>
          <a:p xmlns:a="http://schemas.openxmlformats.org/drawingml/2006/main">
            <a:r>
              <a:t>PANDUAN PENGAJAR</a:t>
            </a:r>
          </a:p>
          <a:p xmlns:a="http://schemas.openxmlformats.org/drawingml/2006/main">
            <a:r>
              <a:t>Berikan waktu 18 menit untuk mengerjakan dan 6 menit untuk membahas hasil. Jika siswa kesulitan, beri petunjuk bertahap: ubah April menjadi kolom, gunakan concatenate dengan axis=1, lalu kalikan dengan faktor berbentuk (4,).</a:t>
            </a:r>
          </a:p>
          <a:p xmlns:a="http://schemas.openxmlformats.org/drawingml/2006/main">
            <a:r>
              <a:t/>
            </a:r>
          </a:p>
          <a:p xmlns:a="http://schemas.openxmlformats.org/drawingml/2006/main">
            <a:r>
              <a:t>KUNCI JAWABAN</a:t>
            </a:r>
          </a:p>
          <a:p xmlns:a="http://schemas.openxmlformats.org/drawingml/2006/main">
            <a:r>
              <a:t>Shape matriks setelah April ditambahkan: (4, 4).</a:t>
            </a:r>
          </a:p>
          <a:p xmlns:a="http://schemas.openxmlformats.org/drawingml/2006/main">
            <a:r>
              <a:t>Proyeksi per baris:</a:t>
            </a:r>
          </a:p>
          <a:p xmlns:a="http://schemas.openxmlformats.org/drawingml/2006/main">
            <a:r>
              <a:t>Jakarta [120.00, 140.40, 138.24, 145.20].</a:t>
            </a:r>
          </a:p>
          <a:p xmlns:a="http://schemas.openxmlformats.org/drawingml/2006/main">
            <a:r>
              <a:t>Bandung [98.00, 112.32, 120.96, 128.70].</a:t>
            </a:r>
          </a:p>
          <a:p xmlns:a="http://schemas.openxmlformats.org/drawingml/2006/main">
            <a:r>
              <a:t>Surabaya [145.00, 143.52, 164.16, 176.00].</a:t>
            </a:r>
          </a:p>
          <a:p xmlns:a="http://schemas.openxmlformats.org/drawingml/2006/main">
            <a:r>
              <a:t>Medan [87.00, 98.80, 111.24, 118.80].</a:t>
            </a:r>
          </a:p>
          <a:p xmlns:a="http://schemas.openxmlformats.org/drawingml/2006/main">
            <a:r>
              <a:t>Total per cabang: [543.84, 459.98, 628.68, 415.84]. Jakarta, Bandung, dan Surabaya mencapai target cabang. Medan kurang 4.16 juta dari target 420.</a:t>
            </a:r>
          </a:p>
          <a:p xmlns:a="http://schemas.openxmlformats.org/drawingml/2006/main">
            <a:r>
              <a:t>Total per bulan: [450.00, 495.04, 534.60, 568.70]. April memberi total tertinggi. Surabaya memiliki total cabang tertinggi.</a:t>
            </a:r>
          </a:p>
          <a:p xmlns:a="http://schemas.openxmlformats.org/drawingml/2006/main">
            <a:r>
              <a:t/>
            </a:r>
          </a:p>
          <a:p xmlns:a="http://schemas.openxmlformats.org/drawingml/2006/main">
            <a:r>
              <a:t>CONTOH KESIMPULAN</a:t>
            </a:r>
          </a:p>
          <a:p xmlns:a="http://schemas.openxmlformats.org/drawingml/2006/main">
            <a:r>
              <a:t>“Medan perlu diperhatikan karena total proyeksinya 415.84 juta, sedikit di bawah target 420 juta. Surabaya menjadi cabang dengan total tertinggi, yaitu 628.68 juta, sedangkan April menjadi bulan dengan total tertinggi.”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 Ringkasan</a:t>
            </a:r>
          </a:p>
          <a:p xmlns:a="http://schemas.openxmlformats.org/drawingml/2006/main">
            <a:r>
              <a:t>Durasi: sekitar 3 menit</a:t>
            </a:r>
          </a:p>
          <a:p xmlns:a="http://schemas.openxmlformats.org/drawingml/2006/main">
            <a:r>
              <a:t/>
            </a:r>
          </a:p>
          <a:p xmlns:a="http://schemas.openxmlformats.org/drawingml/2006/main">
            <a:r>
              <a:t>NASKAH</a:t>
            </a:r>
          </a:p>
          <a:p xmlns:a="http://schemas.openxmlformats.org/drawingml/2006/main">
            <a:r>
              <a:t>“Kita sudah bergerak dari membaca bentuk array sampai merangkum skenario penjualan. Shape membantu memastikan susunan data. Broadcasting menerapkan faktor sesuai arah yang kita inginkan. Mask dan np.where memeriksa target, sedangkan axis menentukan arah ringkasan. Sebelum selesai, jawab dua pertanyaan exit ticket ini dengan melihat kembali bentuk matriksnya.”</a:t>
            </a:r>
          </a:p>
          <a:p xmlns:a="http://schemas.openxmlformats.org/drawingml/2006/main">
            <a:r>
              <a:t/>
            </a:r>
          </a:p>
          <a:p xmlns:a="http://schemas.openxmlformats.org/drawingml/2006/main">
            <a:r>
              <a:t>JAWABAN EXIT TICKET</a:t>
            </a:r>
          </a:p>
          <a:p xmlns:a="http://schemas.openxmlformats.org/drawingml/2006/main">
            <a:r>
              <a:t>axis=1 menjumlahkan kolom pada setiap baris, sehingga memberi satu total per cabang. Faktor per cabang dibentuk menjadi (4, 1) agar setiap faktor sejajar dengan satu baris dan dapat diterapkan ke semua kolom bulan.</a:t>
            </a:r>
          </a:p>
          <a:p xmlns:a="http://schemas.openxmlformats.org/drawingml/2006/main">
            <a:r>
              <a:t/>
            </a:r>
          </a:p>
          <a:p xmlns:a="http://schemas.openxmlformats.org/drawingml/2006/main">
            <a:r>
              <a:t>PENUTUP</a:t>
            </a:r>
          </a:p>
          <a:p xmlns:a="http://schemas.openxmlformats.org/drawingml/2006/main">
            <a:r>
              <a:t>Minta siswa menyebutkan satu hasil numerik dari practice akhir yang mendukung kesimpulan mereka.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72a09b6b6a4c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6faac930744d25" /><Relationship Type="http://schemas.openxmlformats.org/officeDocument/2006/relationships/slideLayout" Target="/ppt/slideLayouts/slideLayout1.xml" Id="Rbc91c0a3e8de43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91c0a3e8de43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9ec38e42394892" /><Relationship Type="http://schemas.openxmlformats.org/officeDocument/2006/relationships/image" Target="/ppt/media/image.png" Id="Rfa2e1260904c4c1f" /><Relationship Type="http://schemas.openxmlformats.org/officeDocument/2006/relationships/notesSlide" Target="/ppt/notesSlides/notesSlide1.xml" Id="Raba2bc82485e40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b0f0f5e0eb40b5" /><Relationship Type="http://schemas.openxmlformats.org/officeDocument/2006/relationships/notesSlide" Target="/ppt/notesSlides/notesSlide2.xml" Id="R53592ec464064b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b5a2da46eb4ab6" /><Relationship Type="http://schemas.openxmlformats.org/officeDocument/2006/relationships/notesSlide" Target="/ppt/notesSlides/notesSlide3.xml" Id="Rd5b18e8baa3348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9c54dcf20b4807" /><Relationship Type="http://schemas.openxmlformats.org/officeDocument/2006/relationships/notesSlide" Target="/ppt/notesSlides/notesSlide4.xml" Id="Rc5196e7ee80c44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e541abf7af46bf" /><Relationship Type="http://schemas.openxmlformats.org/officeDocument/2006/relationships/notesSlide" Target="/ppt/notesSlides/notesSlide5.xml" Id="Ra94d3151fbcb42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7a3565cfbb4391" /><Relationship Type="http://schemas.openxmlformats.org/officeDocument/2006/relationships/notesSlide" Target="/ppt/notesSlides/notesSlide6.xml" Id="Rc0109ad9fe5b46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60ae91d31f45fe" /><Relationship Type="http://schemas.openxmlformats.org/officeDocument/2006/relationships/notesSlide" Target="/ppt/notesSlides/notesSlide7.xml" Id="R9ef7c5e260b84b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70149bdc767405c" /><Relationship Type="http://schemas.openxmlformats.org/officeDocument/2006/relationships/notesSlide" Target="/ppt/notesSlides/notesSlide8.xml" Id="Re51e8aba1efb40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b2f0521b25c4912" /><Relationship Type="http://schemas.openxmlformats.org/officeDocument/2006/relationships/notesSlide" Target="/ppt/notesSlides/notesSlide9.xml" Id="R0ee043551cf249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1eeeb132f24af8" /><Relationship Type="http://schemas.openxmlformats.org/officeDocument/2006/relationships/notesSlide" Target="/ppt/notesSlides/notesSlide10.xml" Id="R775483d19dbe4d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dbd429b3bd4b81" /><Relationship Type="http://schemas.openxmlformats.org/officeDocument/2006/relationships/notesSlide" Target="/ppt/notesSlides/notesSlide11.xml" Id="Re5796226605443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d6288f6642a4313" /><Relationship Type="http://schemas.openxmlformats.org/officeDocument/2006/relationships/notesSlide" Target="/ppt/notesSlides/notesSlide12.xml" Id="R0278550f2c2841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9bc3a4330041fd" /><Relationship Type="http://schemas.openxmlformats.org/officeDocument/2006/relationships/notesSlide" Target="/ppt/notesSlides/notesSlide13.xml" Id="R87b079ef6bdc47a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409199b072c4a25" /><Relationship Type="http://schemas.openxmlformats.org/officeDocument/2006/relationships/notesSlide" Target="/ppt/notesSlides/notesSlide14.xml" Id="R55d68783cd4245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4f6af716c484c1a" /><Relationship Type="http://schemas.openxmlformats.org/officeDocument/2006/relationships/notesSlide" Target="/ppt/notesSlides/notesSlide15.xml" Id="Rff103293567f43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fb7cf3f475b4b89" /><Relationship Type="http://schemas.openxmlformats.org/officeDocument/2006/relationships/notesSlide" Target="/ppt/notesSlides/notesSlide16.xml" Id="R2223651ba6f44f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93b2a028fee4c68" /><Relationship Type="http://schemas.openxmlformats.org/officeDocument/2006/relationships/notesSlide" Target="/ppt/notesSlides/notesSlide17.xml" Id="R9d8f58893d9449f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a2e1260904c4c1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kicker">
            <a:extLst xmlns:a="http://schemas.openxmlformats.org/drawingml/2006/main">
              <a:ext uri="{FF2B5EF4-FFF2-40B4-BE49-F238E27FC236}">
                <a16:creationId xmlns:a16="http://schemas.microsoft.com/office/drawing/2014/main" id="{5F02E759-0357-4360-AEA3-19221421290B}"/>
              </a:ext>
            </a:extLst>
          </p:cNvPr>
          <p:cNvSpPr>
            <a:spLocks xmlns:a="http://schemas.openxmlformats.org/drawingml/2006/main" noGrp="1"/>
          </p:cNvSpPr>
          <p:nvPr/>
        </p:nvSpPr>
        <p:spPr>
          <a:xfrm xmlns:a="http://schemas.openxmlformats.org/drawingml/2006/main">
            <a:off x="742950" y="47625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196B9B"/>
                </a:solidFill>
                <a:latin typeface="SF Pro Text"/>
                <a:ea typeface="SF Pro Text"/>
                <a:cs typeface="SF Pro Text"/>
              </a:defRPr>
            </a:pPr>
            <a:r>
              <a:rPr sz="1275" b="1">
                <a:solidFill>
                  <a:srgbClr val="196B9B"/>
                </a:solidFill>
                <a:latin typeface="SF Pro Text"/>
                <a:ea typeface="SF Pro Text"/>
                <a:cs typeface="SF Pro Text"/>
              </a:rPr>
              <a:t>LEVEL 1  •  PERTEMUAN 6</a:t>
            </a:r>
          </a:p>
        </p:txBody>
      </p:sp>
      <p:sp>
        <p:nvSpPr>
          <p:cNvPr id="3" name="cover-title">
            <a:extLst xmlns:a="http://schemas.openxmlformats.org/drawingml/2006/main">
              <a:ext uri="{FF2B5EF4-FFF2-40B4-BE49-F238E27FC236}">
                <a16:creationId xmlns:a16="http://schemas.microsoft.com/office/drawing/2014/main" id="{1B3396B7-2F88-4DD4-A00A-416157CDEDD6}"/>
              </a:ext>
            </a:extLst>
          </p:cNvPr>
          <p:cNvSpPr>
            <a:spLocks xmlns:a="http://schemas.openxmlformats.org/drawingml/2006/main" noGrp="1"/>
          </p:cNvSpPr>
          <p:nvPr/>
        </p:nvSpPr>
        <p:spPr>
          <a:xfrm xmlns:a="http://schemas.openxmlformats.org/drawingml/2006/main">
            <a:off x="742950" y="1524000"/>
            <a:ext cx="5619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4275" b="1">
                <a:solidFill>
                  <a:srgbClr val="111A30"/>
                </a:solidFill>
                <a:latin typeface="SF Pro Display"/>
                <a:ea typeface="SF Pro Display"/>
                <a:cs typeface="SF Pro Display"/>
              </a:defRPr>
            </a:pPr>
            <a:r>
              <a:rPr sz="4275" b="1">
                <a:solidFill>
                  <a:srgbClr val="111A30"/>
                </a:solidFill>
                <a:latin typeface="SF Pro Display"/>
                <a:ea typeface="SF Pro Display"/>
                <a:cs typeface="SF Pro Display"/>
              </a:rPr>
              <a:t>NumPy untuk</a:t>
            </a:r>
          </a:p>
          <a:p xmlns:a="http://schemas.openxmlformats.org/drawingml/2006/main">
            <a:pPr algn="l">
              <a:buNone/>
              <a:defRPr sz="4275" b="1">
                <a:solidFill>
                  <a:srgbClr val="111A30"/>
                </a:solidFill>
                <a:latin typeface="SF Pro Display"/>
                <a:ea typeface="SF Pro Display"/>
                <a:cs typeface="SF Pro Display"/>
              </a:defRPr>
            </a:pPr>
            <a:r>
              <a:rPr sz="4275" b="1">
                <a:solidFill>
                  <a:srgbClr val="111A30"/>
                </a:solidFill>
                <a:latin typeface="SF Pro Display"/>
                <a:ea typeface="SF Pro Display"/>
                <a:cs typeface="SF Pro Display"/>
              </a:rPr>
              <a:t>Analisis Data</a:t>
            </a:r>
          </a:p>
        </p:txBody>
      </p:sp>
      <p:sp>
        <p:nvSpPr>
          <p:cNvPr id="4" name="cover-subtitle">
            <a:extLst xmlns:a="http://schemas.openxmlformats.org/drawingml/2006/main">
              <a:ext uri="{FF2B5EF4-FFF2-40B4-BE49-F238E27FC236}">
                <a16:creationId xmlns:a16="http://schemas.microsoft.com/office/drawing/2014/main" id="{142D5B04-5624-4525-BE90-3A306DA4813C}"/>
              </a:ext>
            </a:extLst>
          </p:cNvPr>
          <p:cNvSpPr>
            <a:spLocks xmlns:a="http://schemas.openxmlformats.org/drawingml/2006/main" noGrp="1"/>
          </p:cNvSpPr>
          <p:nvPr/>
        </p:nvSpPr>
        <p:spPr>
          <a:xfrm xmlns:a="http://schemas.openxmlformats.org/drawingml/2006/main">
            <a:off x="762000" y="3286125"/>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0">
                <a:solidFill>
                  <a:srgbClr val="4B5868"/>
                </a:solidFill>
                <a:latin typeface="SF Pro Text"/>
                <a:ea typeface="SF Pro Text"/>
                <a:cs typeface="SF Pro Text"/>
              </a:defRPr>
            </a:pPr>
            <a:r>
              <a:rPr sz="1950" b="0">
                <a:solidFill>
                  <a:srgbClr val="4B5868"/>
                </a:solidFill>
                <a:latin typeface="SF Pro Text"/>
                <a:ea typeface="SF Pro Text"/>
                <a:cs typeface="SF Pro Text"/>
              </a:rPr>
              <a:t>Dari tabel penjualan ke ringkasan bisnis</a:t>
            </a:r>
          </a:p>
        </p:txBody>
      </p:sp>
      <p:sp>
        <p:nvSpPr>
          <p:cNvPr id="5" name="cover-accent-line">
            <a:extLst xmlns:a="http://schemas.openxmlformats.org/drawingml/2006/main">
              <a:ext uri="{FF2B5EF4-FFF2-40B4-BE49-F238E27FC236}">
                <a16:creationId xmlns:a16="http://schemas.microsoft.com/office/drawing/2014/main" id="{2AC172B8-64EE-4ED3-9EBE-18D64DD0A51D}"/>
              </a:ext>
            </a:extLst>
          </p:cNvPr>
          <p:cNvSpPr>
            <a:spLocks xmlns:a="http://schemas.openxmlformats.org/drawingml/2006/main" noGrp="1"/>
          </p:cNvSpPr>
          <p:nvPr/>
        </p:nvSpPr>
        <p:spPr>
          <a:xfrm xmlns:a="http://schemas.openxmlformats.org/drawingml/2006/main">
            <a:off x="762000" y="4333875"/>
            <a:ext cx="1219200" cy="38100"/>
          </a:xfrm>
          <a:prstGeom xmlns:a="http://schemas.openxmlformats.org/drawingml/2006/main" prst="rect">
            <a:avLst/>
          </a:prstGeom>
          <a:solidFill xmlns:a="http://schemas.openxmlformats.org/drawingml/2006/main">
            <a:srgbClr val="4FB6E8"/>
          </a:solidFill>
          <a:ln xmlns:a="http://schemas.openxmlformats.org/drawingml/2006/main" w="0">
            <a:solidFill>
              <a:srgbClr val="4FB6E8"/>
            </a:solidFill>
            <a:prstDash val="solid"/>
          </a:ln>
        </p:spPr>
      </p:sp>
      <p:sp>
        <p:nvSpPr>
          <p:cNvPr id="6" name="cover-topics">
            <a:extLst xmlns:a="http://schemas.openxmlformats.org/drawingml/2006/main">
              <a:ext uri="{FF2B5EF4-FFF2-40B4-BE49-F238E27FC236}">
                <a16:creationId xmlns:a16="http://schemas.microsoft.com/office/drawing/2014/main" id="{DEC46AB5-536B-4E38-9F7E-24A0EF726E73}"/>
              </a:ext>
            </a:extLst>
          </p:cNvPr>
          <p:cNvSpPr>
            <a:spLocks xmlns:a="http://schemas.openxmlformats.org/drawingml/2006/main" noGrp="1"/>
          </p:cNvSpPr>
          <p:nvPr/>
        </p:nvSpPr>
        <p:spPr>
          <a:xfrm xmlns:a="http://schemas.openxmlformats.org/drawingml/2006/main">
            <a:off x="762000" y="45720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shape  ·  broadcasting  ·  filter  ·  axis</a:t>
            </a:r>
          </a:p>
        </p:txBody>
      </p:sp>
      <p:sp>
        <p:nvSpPr>
          <p:cNvPr id="7" name="cover-caption-bg">
            <a:extLst xmlns:a="http://schemas.openxmlformats.org/drawingml/2006/main">
              <a:ext uri="{FF2B5EF4-FFF2-40B4-BE49-F238E27FC236}">
                <a16:creationId xmlns:a16="http://schemas.microsoft.com/office/drawing/2014/main" id="{7D0B84A5-1512-4A06-A355-B17FC3702E15}"/>
              </a:ext>
            </a:extLst>
          </p:cNvPr>
          <p:cNvSpPr>
            <a:spLocks xmlns:a="http://schemas.openxmlformats.org/drawingml/2006/main" noGrp="1"/>
          </p:cNvSpPr>
          <p:nvPr/>
        </p:nvSpPr>
        <p:spPr>
          <a:xfrm xmlns:a="http://schemas.openxmlformats.org/drawingml/2006/main">
            <a:off x="742950" y="5334000"/>
            <a:ext cx="4857750" cy="457200"/>
          </a:xfrm>
          <a:prstGeom xmlns:a="http://schemas.openxmlformats.org/drawingml/2006/main" prst="roundRect">
            <a:avLst>
              <a:gd name="adj" fmla="val 20833"/>
            </a:avLst>
          </a:prstGeom>
          <a:solidFill xmlns:a="http://schemas.openxmlformats.org/drawingml/2006/main">
            <a:srgbClr val="FFF7D6"/>
          </a:solidFill>
          <a:ln xmlns:a="http://schemas.openxmlformats.org/drawingml/2006/main" w="9525">
            <a:solidFill>
              <a:srgbClr val="F5D36A"/>
            </a:solidFill>
            <a:prstDash val="solid"/>
          </a:ln>
        </p:spPr>
      </p:sp>
      <p:sp>
        <p:nvSpPr>
          <p:cNvPr id="8" name="cover-caption">
            <a:extLst xmlns:a="http://schemas.openxmlformats.org/drawingml/2006/main">
              <a:ext uri="{FF2B5EF4-FFF2-40B4-BE49-F238E27FC236}">
                <a16:creationId xmlns:a16="http://schemas.microsoft.com/office/drawing/2014/main" id="{4D8D3408-171B-462C-AB34-D2A18CB7EE19}"/>
              </a:ext>
            </a:extLst>
          </p:cNvPr>
          <p:cNvSpPr>
            <a:spLocks xmlns:a="http://schemas.openxmlformats.org/drawingml/2006/main" noGrp="1"/>
          </p:cNvSpPr>
          <p:nvPr/>
        </p:nvSpPr>
        <p:spPr>
          <a:xfrm xmlns:a="http://schemas.openxmlformats.org/drawingml/2006/main">
            <a:off x="971550" y="5467350"/>
            <a:ext cx="447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111A30"/>
                </a:solidFill>
                <a:latin typeface="SF Pro Text"/>
                <a:ea typeface="SF Pro Text"/>
                <a:cs typeface="SF Pro Text"/>
              </a:defRPr>
            </a:pPr>
            <a:r>
              <a:rPr sz="1350" b="0">
                <a:solidFill>
                  <a:srgbClr val="111A30"/>
                </a:solidFill>
                <a:latin typeface="SF Pro Text"/>
                <a:ea typeface="SF Pro Text"/>
                <a:cs typeface="SF Pro Text"/>
              </a:rPr>
              <a:t>Kasus: empat cabang dan empat bulan</a:t>
            </a:r>
          </a:p>
        </p:txBody>
      </p:sp>
      <p:sp>
        <p:nvSpPr>
          <p:cNvPr id="9" name="page-1">
            <a:extLst xmlns:a="http://schemas.openxmlformats.org/drawingml/2006/main">
              <a:ext uri="{FF2B5EF4-FFF2-40B4-BE49-F238E27FC236}">
                <a16:creationId xmlns:a16="http://schemas.microsoft.com/office/drawing/2014/main" id="{6A1A2EFB-574F-42C0-8C47-CFCDC0A55F43}"/>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01</a:t>
            </a:r>
          </a:p>
        </p:txBody>
      </p:sp>
      <p:sp>
        <p:nvSpPr>
          <p:cNvPr id="10" name="course-1">
            <a:extLst xmlns:a="http://schemas.openxmlformats.org/drawingml/2006/main">
              <a:ext uri="{FF2B5EF4-FFF2-40B4-BE49-F238E27FC236}">
                <a16:creationId xmlns:a16="http://schemas.microsoft.com/office/drawing/2014/main" id="{C1A6476A-CCC4-40D8-A0B8-A02C5C72904C}"/>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Tree>
    <p:extLst>
      <p:ext uri="{BB962C8B-B14F-4D97-AF65-F5344CB8AC3E}">
        <p14:creationId xmlns:p14="http://schemas.microsoft.com/office/powerpoint/2010/main" val="20047138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icker-2">
            <a:extLst xmlns:a="http://schemas.openxmlformats.org/drawingml/2006/main">
              <a:ext uri="{FF2B5EF4-FFF2-40B4-BE49-F238E27FC236}">
                <a16:creationId xmlns:a16="http://schemas.microsoft.com/office/drawing/2014/main" id="{485B39C2-1280-41E3-BDD6-06EAD36313A4}"/>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TARGET BELAJAR</a:t>
            </a:r>
          </a:p>
        </p:txBody>
      </p:sp>
      <p:sp>
        <p:nvSpPr>
          <p:cNvPr id="2" name="title-2">
            <a:extLst xmlns:a="http://schemas.openxmlformats.org/drawingml/2006/main">
              <a:ext uri="{FF2B5EF4-FFF2-40B4-BE49-F238E27FC236}">
                <a16:creationId xmlns:a16="http://schemas.microsoft.com/office/drawing/2014/main" id="{ACE42C41-A594-48C8-823C-97A4782128D1}"/>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Array membantu membaca data sebagai tabel</a:t>
            </a:r>
          </a:p>
        </p:txBody>
      </p:sp>
      <p:sp>
        <p:nvSpPr>
          <p:cNvPr id="3" name="divider-2">
            <a:extLst xmlns:a="http://schemas.openxmlformats.org/drawingml/2006/main">
              <a:ext uri="{FF2B5EF4-FFF2-40B4-BE49-F238E27FC236}">
                <a16:creationId xmlns:a16="http://schemas.microsoft.com/office/drawing/2014/main" id="{19535251-54F8-4EDA-95BF-FAF416B202A6}"/>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2">
            <a:extLst xmlns:a="http://schemas.openxmlformats.org/drawingml/2006/main">
              <a:ext uri="{FF2B5EF4-FFF2-40B4-BE49-F238E27FC236}">
                <a16:creationId xmlns:a16="http://schemas.microsoft.com/office/drawing/2014/main" id="{37840B03-F892-4093-95FA-372D3091BDCF}"/>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Kita akan mengolah penjualan cabang untuk menjawab pertanyaan bisnis.</a:t>
            </a:r>
          </a:p>
        </p:txBody>
      </p:sp>
      <p:sp>
        <p:nvSpPr>
          <p:cNvPr id="5" name="page-2">
            <a:extLst xmlns:a="http://schemas.openxmlformats.org/drawingml/2006/main">
              <a:ext uri="{FF2B5EF4-FFF2-40B4-BE49-F238E27FC236}">
                <a16:creationId xmlns:a16="http://schemas.microsoft.com/office/drawing/2014/main" id="{081584BC-23AF-4493-875F-EB20157D0CAB}"/>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02</a:t>
            </a:r>
          </a:p>
        </p:txBody>
      </p:sp>
      <p:sp>
        <p:nvSpPr>
          <p:cNvPr id="6" name="course-2">
            <a:extLst xmlns:a="http://schemas.openxmlformats.org/drawingml/2006/main">
              <a:ext uri="{FF2B5EF4-FFF2-40B4-BE49-F238E27FC236}">
                <a16:creationId xmlns:a16="http://schemas.microsoft.com/office/drawing/2014/main" id="{8A229147-4D09-4668-8A86-27FD7A5A41B2}"/>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goals-left">
            <a:extLst xmlns:a="http://schemas.openxmlformats.org/drawingml/2006/main">
              <a:ext uri="{FF2B5EF4-FFF2-40B4-BE49-F238E27FC236}">
                <a16:creationId xmlns:a16="http://schemas.microsoft.com/office/drawing/2014/main" id="{5E54B8FB-9429-4EDA-9D38-F3F58265C7B8}"/>
              </a:ext>
            </a:extLst>
          </p:cNvPr>
          <p:cNvSpPr>
            <a:spLocks xmlns:a="http://schemas.openxmlformats.org/drawingml/2006/main" noGrp="1"/>
          </p:cNvSpPr>
          <p:nvPr/>
        </p:nvSpPr>
        <p:spPr>
          <a:xfrm xmlns:a="http://schemas.openxmlformats.org/drawingml/2006/main">
            <a:off x="857250" y="2324100"/>
            <a:ext cx="6096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111A30"/>
                </a:solidFill>
                <a:latin typeface="SF Pro Text"/>
                <a:ea typeface="SF Pro Text"/>
                <a:cs typeface="SF Pro Text"/>
              </a:defRPr>
            </a:pPr>
            <a:r>
              <a:rPr sz="1800" b="0">
                <a:solidFill>
                  <a:srgbClr val="111A30"/>
                </a:solidFill>
                <a:latin typeface="SF Pro Text"/>
                <a:ea typeface="SF Pro Text"/>
                <a:cs typeface="SF Pro Text"/>
              </a:rPr>
              <a:t>01   Baca dimensi dan bentuk array.</a:t>
            </a:r>
          </a:p>
          <a:p xmlns:a="http://schemas.openxmlformats.org/drawingml/2006/main">
            <a:r>
              <a:t/>
            </a:r>
          </a:p>
          <a:p xmlns:a="http://schemas.openxmlformats.org/drawingml/2006/main">
            <a:pPr algn="l">
              <a:buNone/>
              <a:defRPr sz="1800" b="0">
                <a:solidFill>
                  <a:srgbClr val="111A30"/>
                </a:solidFill>
                <a:latin typeface="SF Pro Text"/>
                <a:ea typeface="SF Pro Text"/>
                <a:cs typeface="SF Pro Text"/>
              </a:defRPr>
            </a:pPr>
            <a:r>
              <a:rPr sz="1800" b="0">
                <a:solidFill>
                  <a:srgbClr val="111A30"/>
                </a:solidFill>
                <a:latin typeface="SF Pro Text"/>
                <a:ea typeface="SF Pro Text"/>
                <a:cs typeface="SF Pro Text"/>
              </a:rPr>
              <a:t>02   Pilih baris, kolom, dan rentang data.</a:t>
            </a:r>
          </a:p>
          <a:p xmlns:a="http://schemas.openxmlformats.org/drawingml/2006/main">
            <a:r>
              <a:t/>
            </a:r>
          </a:p>
          <a:p xmlns:a="http://schemas.openxmlformats.org/drawingml/2006/main">
            <a:pPr algn="l">
              <a:buNone/>
              <a:defRPr sz="1800" b="0">
                <a:solidFill>
                  <a:srgbClr val="111A30"/>
                </a:solidFill>
                <a:latin typeface="SF Pro Text"/>
                <a:ea typeface="SF Pro Text"/>
                <a:cs typeface="SF Pro Text"/>
              </a:defRPr>
            </a:pPr>
            <a:r>
              <a:rPr sz="1800" b="0">
                <a:solidFill>
                  <a:srgbClr val="111A30"/>
                </a:solidFill>
                <a:latin typeface="SF Pro Text"/>
                <a:ea typeface="SF Pro Text"/>
                <a:cs typeface="SF Pro Text"/>
              </a:rPr>
              <a:t>03   Terapkan operasi vektor dan broadcasting.</a:t>
            </a:r>
          </a:p>
          <a:p xmlns:a="http://schemas.openxmlformats.org/drawingml/2006/main">
            <a:r>
              <a:t/>
            </a:r>
          </a:p>
          <a:p xmlns:a="http://schemas.openxmlformats.org/drawingml/2006/main">
            <a:pPr algn="l">
              <a:buNone/>
              <a:defRPr sz="1800" b="0">
                <a:solidFill>
                  <a:srgbClr val="111A30"/>
                </a:solidFill>
                <a:latin typeface="SF Pro Text"/>
                <a:ea typeface="SF Pro Text"/>
                <a:cs typeface="SF Pro Text"/>
              </a:defRPr>
            </a:pPr>
            <a:r>
              <a:rPr sz="1800" b="0">
                <a:solidFill>
                  <a:srgbClr val="111A30"/>
                </a:solidFill>
                <a:latin typeface="SF Pro Text"/>
                <a:ea typeface="SF Pro Text"/>
                <a:cs typeface="SF Pro Text"/>
              </a:rPr>
              <a:t>04   Filter data dan hitung ringkasan.</a:t>
            </a:r>
          </a:p>
        </p:txBody>
      </p:sp>
      <p:sp>
        <p:nvSpPr>
          <p:cNvPr id="8" name="business-question-panel">
            <a:extLst xmlns:a="http://schemas.openxmlformats.org/drawingml/2006/main">
              <a:ext uri="{FF2B5EF4-FFF2-40B4-BE49-F238E27FC236}">
                <a16:creationId xmlns:a16="http://schemas.microsoft.com/office/drawing/2014/main" id="{37CC26C6-B874-4AD5-B779-4B1ED6612168}"/>
              </a:ext>
            </a:extLst>
          </p:cNvPr>
          <p:cNvSpPr>
            <a:spLocks xmlns:a="http://schemas.openxmlformats.org/drawingml/2006/main" noGrp="1"/>
          </p:cNvSpPr>
          <p:nvPr/>
        </p:nvSpPr>
        <p:spPr>
          <a:xfrm xmlns:a="http://schemas.openxmlformats.org/drawingml/2006/main">
            <a:off x="7477125" y="2381250"/>
            <a:ext cx="3810000" cy="2571750"/>
          </a:xfrm>
          <a:prstGeom xmlns:a="http://schemas.openxmlformats.org/drawingml/2006/main" prst="roundRect">
            <a:avLst>
              <a:gd name="adj" fmla="val 3704"/>
            </a:avLst>
          </a:prstGeom>
          <a:solidFill xmlns:a="http://schemas.openxmlformats.org/drawingml/2006/main">
            <a:srgbClr val="EAF6FC"/>
          </a:solidFill>
          <a:ln xmlns:a="http://schemas.openxmlformats.org/drawingml/2006/main" w="9525">
            <a:solidFill>
              <a:srgbClr val="4FB6E8"/>
            </a:solidFill>
            <a:prstDash val="solid"/>
          </a:ln>
        </p:spPr>
      </p:sp>
      <p:sp>
        <p:nvSpPr>
          <p:cNvPr id="9" name="business-question-title">
            <a:extLst xmlns:a="http://schemas.openxmlformats.org/drawingml/2006/main">
              <a:ext uri="{FF2B5EF4-FFF2-40B4-BE49-F238E27FC236}">
                <a16:creationId xmlns:a16="http://schemas.microsoft.com/office/drawing/2014/main" id="{FAA3EAD5-1A7C-45F4-B6E5-DBAD8AAB2EB9}"/>
              </a:ext>
            </a:extLst>
          </p:cNvPr>
          <p:cNvSpPr>
            <a:spLocks xmlns:a="http://schemas.openxmlformats.org/drawingml/2006/main" noGrp="1"/>
          </p:cNvSpPr>
          <p:nvPr/>
        </p:nvSpPr>
        <p:spPr>
          <a:xfrm xmlns:a="http://schemas.openxmlformats.org/drawingml/2006/main">
            <a:off x="7810500" y="268605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11A30"/>
                </a:solidFill>
                <a:latin typeface="SF Pro Display"/>
                <a:ea typeface="SF Pro Display"/>
                <a:cs typeface="SF Pro Display"/>
              </a:defRPr>
            </a:pPr>
            <a:r>
              <a:rPr sz="1800" b="1">
                <a:solidFill>
                  <a:srgbClr val="111A30"/>
                </a:solidFill>
                <a:latin typeface="SF Pro Display"/>
                <a:ea typeface="SF Pro Display"/>
                <a:cs typeface="SF Pro Display"/>
              </a:rPr>
              <a:t>Pertanyaan bisnis</a:t>
            </a:r>
          </a:p>
        </p:txBody>
      </p:sp>
      <p:sp>
        <p:nvSpPr>
          <p:cNvPr id="10" name="business-question-copy">
            <a:extLst xmlns:a="http://schemas.openxmlformats.org/drawingml/2006/main">
              <a:ext uri="{FF2B5EF4-FFF2-40B4-BE49-F238E27FC236}">
                <a16:creationId xmlns:a16="http://schemas.microsoft.com/office/drawing/2014/main" id="{777BFEDA-D1E2-4C39-A698-8C5DEC4520A4}"/>
              </a:ext>
            </a:extLst>
          </p:cNvPr>
          <p:cNvSpPr>
            <a:spLocks xmlns:a="http://schemas.openxmlformats.org/drawingml/2006/main" noGrp="1"/>
          </p:cNvSpPr>
          <p:nvPr/>
        </p:nvSpPr>
        <p:spPr>
          <a:xfrm xmlns:a="http://schemas.openxmlformats.org/drawingml/2006/main">
            <a:off x="7810500" y="3257550"/>
            <a:ext cx="3095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Cabang mana yang mencapai target?</a:t>
            </a:r>
          </a:p>
          <a:p xmlns:a="http://schemas.openxmlformats.org/drawingml/2006/main">
            <a:r>
              <a:t/>
            </a:r>
          </a:p>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Bulan mana yang memberi total penjualan tertinggi?</a:t>
            </a:r>
          </a:p>
        </p:txBody>
      </p:sp>
    </p:spTree>
    <p:extLst>
      <p:ext uri="{BB962C8B-B14F-4D97-AF65-F5344CB8AC3E}">
        <p14:creationId xmlns:p14="http://schemas.microsoft.com/office/powerpoint/2010/main" val="17063483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kicker-3">
            <a:extLst xmlns:a="http://schemas.openxmlformats.org/drawingml/2006/main">
              <a:ext uri="{FF2B5EF4-FFF2-40B4-BE49-F238E27FC236}">
                <a16:creationId xmlns:a16="http://schemas.microsoft.com/office/drawing/2014/main" id="{235FA689-6341-48E2-BD77-181CA0D6BD1F}"/>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STUDI KASUS</a:t>
            </a:r>
          </a:p>
        </p:txBody>
      </p:sp>
      <p:sp>
        <p:nvSpPr>
          <p:cNvPr id="2" name="title-3">
            <a:extLst xmlns:a="http://schemas.openxmlformats.org/drawingml/2006/main">
              <a:ext uri="{FF2B5EF4-FFF2-40B4-BE49-F238E27FC236}">
                <a16:creationId xmlns:a16="http://schemas.microsoft.com/office/drawing/2014/main" id="{4C316F4D-AFD4-4860-BAFA-DFAE0F2ED9D2}"/>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Dataset penjualan empat cabang</a:t>
            </a:r>
          </a:p>
        </p:txBody>
      </p:sp>
      <p:sp>
        <p:nvSpPr>
          <p:cNvPr id="3" name="divider-3">
            <a:extLst xmlns:a="http://schemas.openxmlformats.org/drawingml/2006/main">
              <a:ext uri="{FF2B5EF4-FFF2-40B4-BE49-F238E27FC236}">
                <a16:creationId xmlns:a16="http://schemas.microsoft.com/office/drawing/2014/main" id="{A30E0361-3046-4ED4-A41B-CC5E4C25B941}"/>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3">
            <a:extLst xmlns:a="http://schemas.openxmlformats.org/drawingml/2006/main">
              <a:ext uri="{FF2B5EF4-FFF2-40B4-BE49-F238E27FC236}">
                <a16:creationId xmlns:a16="http://schemas.microsoft.com/office/drawing/2014/main" id="{C73F133E-1F28-47C4-A78E-1C9DBF513DD7}"/>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Angka dinyatakan dalam juta rupiah. Baris menunjukkan cabang dan kolom menunjukkan bulan.</a:t>
            </a:r>
          </a:p>
        </p:txBody>
      </p:sp>
      <p:sp>
        <p:nvSpPr>
          <p:cNvPr id="5" name="page-3">
            <a:extLst xmlns:a="http://schemas.openxmlformats.org/drawingml/2006/main">
              <a:ext uri="{FF2B5EF4-FFF2-40B4-BE49-F238E27FC236}">
                <a16:creationId xmlns:a16="http://schemas.microsoft.com/office/drawing/2014/main" id="{D9A33BC2-C808-40B1-B76F-1768CC818245}"/>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03</a:t>
            </a:r>
          </a:p>
        </p:txBody>
      </p:sp>
      <p:sp>
        <p:nvSpPr>
          <p:cNvPr id="6" name="course-3">
            <a:extLst xmlns:a="http://schemas.openxmlformats.org/drawingml/2006/main">
              <a:ext uri="{FF2B5EF4-FFF2-40B4-BE49-F238E27FC236}">
                <a16:creationId xmlns:a16="http://schemas.microsoft.com/office/drawing/2014/main" id="{6CDF50F5-AEEB-4BE7-9890-66E539F913E1}"/>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graphicFrame>
        <p:nvGraphicFramePr>
          <p:cNvPr id="20" name=""/>
          <p:cNvGraphicFramePr/>
          <p:nvPr/>
        </p:nvGraphicFramePr>
        <p:xfrm>
          <a:off xmlns:a="http://schemas.openxmlformats.org/drawingml/2006/main" x="819150" y="2333625"/>
          <a:ext xmlns:a="http://schemas.openxmlformats.org/drawingml/2006/main" cx="7000875" cy="2952750"/>
        </p:xfrm>
        <a:graphic xmlns:a="http://schemas.openxmlformats.org/drawingml/2006/main">
          <a:graphicData uri="http://schemas.openxmlformats.org/drawingml/2006/table">
            <a:tbl>
              <a:tblPr firstRow="1" firstCol="1" bandRow="1"/>
              <a:tblGrid>
                <a:gridCol w="1750219"/>
                <a:gridCol w="1750219"/>
                <a:gridCol w="1750219"/>
                <a:gridCol w="1750219"/>
              </a:tblGrid>
              <a:tr h="495300">
                <a:tc>
                  <a:txBody>
                    <a:bodyPr/>
                    <a:lstStyle/>
                    <a:p>
                      <a:r>
                        <a:rPr sz="1500" b="1">
                          <a:solidFill>
                            <a:srgbClr val="FFFFFF"/>
                          </a:solidFill>
                          <a:latin typeface="SF Pro Display"/>
                          <a:ea typeface="SF Pro Display"/>
                          <a:cs typeface="SF Pro Display"/>
                        </a:rPr>
                        <a:t>Cabang</a:t>
                      </a:r>
                    </a:p>
                  </a:txBody>
                  <a:tcPr marL="91440" marR="91440" marT="45720" marB="45720">
                    <a:solidFill>
                      <a:srgbClr val="111A30"/>
                    </a:solidFill>
                  </a:tcPr>
                </a:tc>
                <a:tc>
                  <a:txBody>
                    <a:bodyPr/>
                    <a:lstStyle/>
                    <a:p>
                      <a:r>
                        <a:rPr sz="1500" b="1">
                          <a:solidFill>
                            <a:srgbClr val="FFFFFF"/>
                          </a:solidFill>
                          <a:latin typeface="SF Pro Display"/>
                          <a:ea typeface="SF Pro Display"/>
                          <a:cs typeface="SF Pro Display"/>
                        </a:rPr>
                        <a:t>Jan</a:t>
                      </a:r>
                    </a:p>
                  </a:txBody>
                  <a:tcPr marL="91440" marR="91440" marT="45720" marB="45720">
                    <a:solidFill>
                      <a:srgbClr val="111A30"/>
                    </a:solidFill>
                  </a:tcPr>
                </a:tc>
                <a:tc>
                  <a:txBody>
                    <a:bodyPr/>
                    <a:lstStyle/>
                    <a:p>
                      <a:r>
                        <a:rPr sz="1500" b="1">
                          <a:solidFill>
                            <a:srgbClr val="FFFFFF"/>
                          </a:solidFill>
                          <a:latin typeface="SF Pro Display"/>
                          <a:ea typeface="SF Pro Display"/>
                          <a:cs typeface="SF Pro Display"/>
                        </a:rPr>
                        <a:t>Feb</a:t>
                      </a:r>
                    </a:p>
                  </a:txBody>
                  <a:tcPr marL="91440" marR="91440" marT="45720" marB="45720">
                    <a:solidFill>
                      <a:srgbClr val="111A30"/>
                    </a:solidFill>
                  </a:tcPr>
                </a:tc>
                <a:tc>
                  <a:txBody>
                    <a:bodyPr/>
                    <a:lstStyle/>
                    <a:p>
                      <a:r>
                        <a:rPr sz="1500" b="1">
                          <a:solidFill>
                            <a:srgbClr val="FFFFFF"/>
                          </a:solidFill>
                          <a:latin typeface="SF Pro Display"/>
                          <a:ea typeface="SF Pro Display"/>
                          <a:cs typeface="SF Pro Display"/>
                        </a:rPr>
                        <a:t>Mar</a:t>
                      </a:r>
                    </a:p>
                  </a:txBody>
                  <a:tcPr marL="91440" marR="91440" marT="45720" marB="45720">
                    <a:solidFill>
                      <a:srgbClr val="111A30"/>
                    </a:solidFill>
                  </a:tcPr>
                </a:tc>
              </a:tr>
              <a:tr h="0">
                <a:tc>
                  <a:txBody>
                    <a:bodyPr/>
                    <a:lstStyle/>
                    <a:p>
                      <a:r>
                        <a:rPr sz="1425">
                          <a:solidFill>
                            <a:srgbClr val="111A30"/>
                          </a:solidFill>
                          <a:latin typeface="SF Pro Text"/>
                          <a:ea typeface="SF Pro Text"/>
                          <a:cs typeface="SF Pro Text"/>
                        </a:rPr>
                        <a:t>Jakarta</a:t>
                      </a:r>
                    </a:p>
                  </a:txBody>
                  <a:tcPr marL="91440" marR="91440" marT="45720" marB="45720">
                    <a:solidFill>
                      <a:srgbClr val="FFFFFF"/>
                    </a:solidFill>
                  </a:tcPr>
                </a:tc>
                <a:tc>
                  <a:txBody>
                    <a:bodyPr/>
                    <a:lstStyle/>
                    <a:p>
                      <a:r>
                        <a:rPr sz="1425">
                          <a:solidFill>
                            <a:srgbClr val="111A30"/>
                          </a:solidFill>
                          <a:latin typeface="SF Pro Text"/>
                          <a:ea typeface="SF Pro Text"/>
                          <a:cs typeface="SF Pro Text"/>
                        </a:rPr>
                        <a:t>120</a:t>
                      </a:r>
                    </a:p>
                  </a:txBody>
                  <a:tcPr marL="91440" marR="91440" marT="45720" marB="45720">
                    <a:solidFill>
                      <a:srgbClr val="FFFFFF"/>
                    </a:solidFill>
                  </a:tcPr>
                </a:tc>
                <a:tc>
                  <a:txBody>
                    <a:bodyPr/>
                    <a:lstStyle/>
                    <a:p>
                      <a:r>
                        <a:rPr sz="1425">
                          <a:solidFill>
                            <a:srgbClr val="111A30"/>
                          </a:solidFill>
                          <a:latin typeface="SF Pro Text"/>
                          <a:ea typeface="SF Pro Text"/>
                          <a:cs typeface="SF Pro Text"/>
                        </a:rPr>
                        <a:t>135</a:t>
                      </a:r>
                    </a:p>
                  </a:txBody>
                  <a:tcPr marL="91440" marR="91440" marT="45720" marB="45720">
                    <a:solidFill>
                      <a:srgbClr val="FFFFFF"/>
                    </a:solidFill>
                  </a:tcPr>
                </a:tc>
                <a:tc>
                  <a:txBody>
                    <a:bodyPr/>
                    <a:lstStyle/>
                    <a:p>
                      <a:r>
                        <a:rPr sz="1425">
                          <a:solidFill>
                            <a:srgbClr val="111A30"/>
                          </a:solidFill>
                          <a:latin typeface="SF Pro Text"/>
                          <a:ea typeface="SF Pro Text"/>
                          <a:cs typeface="SF Pro Text"/>
                        </a:rPr>
                        <a:t>128</a:t>
                      </a:r>
                    </a:p>
                  </a:txBody>
                  <a:tcPr marL="91440" marR="91440" marT="45720" marB="45720">
                    <a:solidFill>
                      <a:srgbClr val="FFFFFF"/>
                    </a:solidFill>
                  </a:tcPr>
                </a:tc>
              </a:tr>
              <a:tr h="0">
                <a:tc>
                  <a:txBody>
                    <a:bodyPr/>
                    <a:lstStyle/>
                    <a:p>
                      <a:r>
                        <a:rPr sz="1425">
                          <a:solidFill>
                            <a:srgbClr val="111A30"/>
                          </a:solidFill>
                          <a:latin typeface="SF Pro Text"/>
                          <a:ea typeface="SF Pro Text"/>
                          <a:cs typeface="SF Pro Text"/>
                        </a:rPr>
                        <a:t>Bandung</a:t>
                      </a:r>
                    </a:p>
                  </a:txBody>
                  <a:tcPr marL="91440" marR="91440" marT="45720" marB="45720">
                    <a:solidFill>
                      <a:srgbClr val="EAF6FC"/>
                    </a:solidFill>
                  </a:tcPr>
                </a:tc>
                <a:tc>
                  <a:txBody>
                    <a:bodyPr/>
                    <a:lstStyle/>
                    <a:p>
                      <a:r>
                        <a:rPr sz="1425">
                          <a:solidFill>
                            <a:srgbClr val="111A30"/>
                          </a:solidFill>
                          <a:latin typeface="SF Pro Text"/>
                          <a:ea typeface="SF Pro Text"/>
                          <a:cs typeface="SF Pro Text"/>
                        </a:rPr>
                        <a:t>98</a:t>
                      </a:r>
                    </a:p>
                  </a:txBody>
                  <a:tcPr marL="91440" marR="91440" marT="45720" marB="45720">
                    <a:solidFill>
                      <a:srgbClr val="EAF6FC"/>
                    </a:solidFill>
                  </a:tcPr>
                </a:tc>
                <a:tc>
                  <a:txBody>
                    <a:bodyPr/>
                    <a:lstStyle/>
                    <a:p>
                      <a:r>
                        <a:rPr sz="1425">
                          <a:solidFill>
                            <a:srgbClr val="111A30"/>
                          </a:solidFill>
                          <a:latin typeface="SF Pro Text"/>
                          <a:ea typeface="SF Pro Text"/>
                          <a:cs typeface="SF Pro Text"/>
                        </a:rPr>
                        <a:t>108</a:t>
                      </a:r>
                    </a:p>
                  </a:txBody>
                  <a:tcPr marL="91440" marR="91440" marT="45720" marB="45720">
                    <a:solidFill>
                      <a:srgbClr val="EAF6FC"/>
                    </a:solidFill>
                  </a:tcPr>
                </a:tc>
                <a:tc>
                  <a:txBody>
                    <a:bodyPr/>
                    <a:lstStyle/>
                    <a:p>
                      <a:r>
                        <a:rPr sz="1425">
                          <a:solidFill>
                            <a:srgbClr val="111A30"/>
                          </a:solidFill>
                          <a:latin typeface="SF Pro Text"/>
                          <a:ea typeface="SF Pro Text"/>
                          <a:cs typeface="SF Pro Text"/>
                        </a:rPr>
                        <a:t>112</a:t>
                      </a:r>
                    </a:p>
                  </a:txBody>
                  <a:tcPr marL="91440" marR="91440" marT="45720" marB="45720">
                    <a:solidFill>
                      <a:srgbClr val="EAF6FC"/>
                    </a:solidFill>
                  </a:tcPr>
                </a:tc>
              </a:tr>
              <a:tr h="0">
                <a:tc>
                  <a:txBody>
                    <a:bodyPr/>
                    <a:lstStyle/>
                    <a:p>
                      <a:r>
                        <a:rPr sz="1425">
                          <a:solidFill>
                            <a:srgbClr val="111A30"/>
                          </a:solidFill>
                          <a:latin typeface="SF Pro Text"/>
                          <a:ea typeface="SF Pro Text"/>
                          <a:cs typeface="SF Pro Text"/>
                        </a:rPr>
                        <a:t>Surabaya</a:t>
                      </a:r>
                    </a:p>
                  </a:txBody>
                  <a:tcPr marL="91440" marR="91440" marT="45720" marB="45720">
                    <a:solidFill>
                      <a:srgbClr val="FFFFFF"/>
                    </a:solidFill>
                  </a:tcPr>
                </a:tc>
                <a:tc>
                  <a:txBody>
                    <a:bodyPr/>
                    <a:lstStyle/>
                    <a:p>
                      <a:r>
                        <a:rPr sz="1425">
                          <a:solidFill>
                            <a:srgbClr val="111A30"/>
                          </a:solidFill>
                          <a:latin typeface="SF Pro Text"/>
                          <a:ea typeface="SF Pro Text"/>
                          <a:cs typeface="SF Pro Text"/>
                        </a:rPr>
                        <a:t>145</a:t>
                      </a:r>
                    </a:p>
                  </a:txBody>
                  <a:tcPr marL="91440" marR="91440" marT="45720" marB="45720">
                    <a:solidFill>
                      <a:srgbClr val="FFFFFF"/>
                    </a:solidFill>
                  </a:tcPr>
                </a:tc>
                <a:tc>
                  <a:txBody>
                    <a:bodyPr/>
                    <a:lstStyle/>
                    <a:p>
                      <a:r>
                        <a:rPr sz="1425">
                          <a:solidFill>
                            <a:srgbClr val="111A30"/>
                          </a:solidFill>
                          <a:latin typeface="SF Pro Text"/>
                          <a:ea typeface="SF Pro Text"/>
                          <a:cs typeface="SF Pro Text"/>
                        </a:rPr>
                        <a:t>138</a:t>
                      </a:r>
                    </a:p>
                  </a:txBody>
                  <a:tcPr marL="91440" marR="91440" marT="45720" marB="45720">
                    <a:solidFill>
                      <a:srgbClr val="FFFFFF"/>
                    </a:solidFill>
                  </a:tcPr>
                </a:tc>
                <a:tc>
                  <a:txBody>
                    <a:bodyPr/>
                    <a:lstStyle/>
                    <a:p>
                      <a:r>
                        <a:rPr sz="1425">
                          <a:solidFill>
                            <a:srgbClr val="111A30"/>
                          </a:solidFill>
                          <a:latin typeface="SF Pro Text"/>
                          <a:ea typeface="SF Pro Text"/>
                          <a:cs typeface="SF Pro Text"/>
                        </a:rPr>
                        <a:t>152</a:t>
                      </a:r>
                    </a:p>
                  </a:txBody>
                  <a:tcPr marL="91440" marR="91440" marT="45720" marB="45720">
                    <a:solidFill>
                      <a:srgbClr val="FFFFFF"/>
                    </a:solidFill>
                  </a:tcPr>
                </a:tc>
              </a:tr>
              <a:tr h="0">
                <a:tc>
                  <a:txBody>
                    <a:bodyPr/>
                    <a:lstStyle/>
                    <a:p>
                      <a:r>
                        <a:rPr sz="1425">
                          <a:solidFill>
                            <a:srgbClr val="111A30"/>
                          </a:solidFill>
                          <a:latin typeface="SF Pro Text"/>
                          <a:ea typeface="SF Pro Text"/>
                          <a:cs typeface="SF Pro Text"/>
                        </a:rPr>
                        <a:t>Medan</a:t>
                      </a:r>
                    </a:p>
                  </a:txBody>
                  <a:tcPr marL="91440" marR="91440" marT="45720" marB="45720">
                    <a:solidFill>
                      <a:srgbClr val="EAF6FC"/>
                    </a:solidFill>
                  </a:tcPr>
                </a:tc>
                <a:tc>
                  <a:txBody>
                    <a:bodyPr/>
                    <a:lstStyle/>
                    <a:p>
                      <a:r>
                        <a:rPr sz="1425">
                          <a:solidFill>
                            <a:srgbClr val="111A30"/>
                          </a:solidFill>
                          <a:latin typeface="SF Pro Text"/>
                          <a:ea typeface="SF Pro Text"/>
                          <a:cs typeface="SF Pro Text"/>
                        </a:rPr>
                        <a:t>87</a:t>
                      </a:r>
                    </a:p>
                  </a:txBody>
                  <a:tcPr marL="91440" marR="91440" marT="45720" marB="45720">
                    <a:solidFill>
                      <a:srgbClr val="EAF6FC"/>
                    </a:solidFill>
                  </a:tcPr>
                </a:tc>
                <a:tc>
                  <a:txBody>
                    <a:bodyPr/>
                    <a:lstStyle/>
                    <a:p>
                      <a:r>
                        <a:rPr sz="1425">
                          <a:solidFill>
                            <a:srgbClr val="111A30"/>
                          </a:solidFill>
                          <a:latin typeface="SF Pro Text"/>
                          <a:ea typeface="SF Pro Text"/>
                          <a:cs typeface="SF Pro Text"/>
                        </a:rPr>
                        <a:t>95</a:t>
                      </a:r>
                    </a:p>
                  </a:txBody>
                  <a:tcPr marL="91440" marR="91440" marT="45720" marB="45720">
                    <a:solidFill>
                      <a:srgbClr val="EAF6FC"/>
                    </a:solidFill>
                  </a:tcPr>
                </a:tc>
                <a:tc>
                  <a:txBody>
                    <a:bodyPr/>
                    <a:lstStyle/>
                    <a:p>
                      <a:r>
                        <a:rPr sz="1425">
                          <a:solidFill>
                            <a:srgbClr val="111A30"/>
                          </a:solidFill>
                          <a:latin typeface="SF Pro Text"/>
                          <a:ea typeface="SF Pro Text"/>
                          <a:cs typeface="SF Pro Text"/>
                        </a:rPr>
                        <a:t>103</a:t>
                      </a:r>
                    </a:p>
                  </a:txBody>
                  <a:tcPr marL="91440" marR="91440" marT="45720" marB="45720">
                    <a:solidFill>
                      <a:srgbClr val="EAF6FC"/>
                    </a:solidFill>
                  </a:tcPr>
                </a:tc>
              </a:tr>
            </a:tbl>
          </a:graphicData>
        </a:graphic>
      </p:graphicFrame>
      <p:sp>
        <p:nvSpPr>
          <p:cNvPr id="8" name="schema-title">
            <a:extLst xmlns:a="http://schemas.openxmlformats.org/drawingml/2006/main">
              <a:ext uri="{FF2B5EF4-FFF2-40B4-BE49-F238E27FC236}">
                <a16:creationId xmlns:a16="http://schemas.microsoft.com/office/drawing/2014/main" id="{B791E9DD-A9CE-4831-ABBE-C8B8FDF545B9}"/>
              </a:ext>
            </a:extLst>
          </p:cNvPr>
          <p:cNvSpPr>
            <a:spLocks xmlns:a="http://schemas.openxmlformats.org/drawingml/2006/main" noGrp="1"/>
          </p:cNvSpPr>
          <p:nvPr/>
        </p:nvSpPr>
        <p:spPr>
          <a:xfrm xmlns:a="http://schemas.openxmlformats.org/drawingml/2006/main">
            <a:off x="8248650" y="23812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A30"/>
                </a:solidFill>
                <a:latin typeface="SF Pro Display"/>
                <a:ea typeface="SF Pro Display"/>
                <a:cs typeface="SF Pro Display"/>
              </a:defRPr>
            </a:pPr>
            <a:r>
              <a:rPr sz="1725" b="1">
                <a:solidFill>
                  <a:srgbClr val="111A30"/>
                </a:solidFill>
                <a:latin typeface="SF Pro Display"/>
                <a:ea typeface="SF Pro Display"/>
                <a:cs typeface="SF Pro Display"/>
              </a:rPr>
              <a:t>Makna susunan</a:t>
            </a:r>
          </a:p>
        </p:txBody>
      </p:sp>
      <p:sp>
        <p:nvSpPr>
          <p:cNvPr id="9" name="schema-copy">
            <a:extLst xmlns:a="http://schemas.openxmlformats.org/drawingml/2006/main">
              <a:ext uri="{FF2B5EF4-FFF2-40B4-BE49-F238E27FC236}">
                <a16:creationId xmlns:a16="http://schemas.microsoft.com/office/drawing/2014/main" id="{40C827A3-A1DB-47CC-9F19-DBB42C7D71CB}"/>
              </a:ext>
            </a:extLst>
          </p:cNvPr>
          <p:cNvSpPr>
            <a:spLocks xmlns:a="http://schemas.openxmlformats.org/drawingml/2006/main" noGrp="1"/>
          </p:cNvSpPr>
          <p:nvPr/>
        </p:nvSpPr>
        <p:spPr>
          <a:xfrm xmlns:a="http://schemas.openxmlformats.org/drawingml/2006/main">
            <a:off x="8248650" y="2876550"/>
            <a:ext cx="304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4 baris  =  4 cabang</a:t>
            </a:r>
          </a:p>
          <a:p xmlns:a="http://schemas.openxmlformats.org/drawingml/2006/main">
            <a:pPr algn="l">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3 kolom  =  Jan sampai Mar</a:t>
            </a:r>
          </a:p>
          <a:p xmlns:a="http://schemas.openxmlformats.org/drawingml/2006/main">
            <a:pPr algn="l">
              <a:buNone/>
              <a:defRPr sz="1500" b="0">
                <a:solidFill>
                  <a:srgbClr val="4B5868"/>
                </a:solidFill>
                <a:latin typeface="SF Pro Text"/>
                <a:ea typeface="SF Pro Text"/>
                <a:cs typeface="SF Pro Text"/>
              </a:defRPr>
            </a:pPr>
            <a:r>
              <a:rPr sz="1500" b="0">
                <a:solidFill>
                  <a:srgbClr val="4B5868"/>
                </a:solidFill>
                <a:latin typeface="SF Pro Text"/>
                <a:ea typeface="SF Pro Text"/>
                <a:cs typeface="SF Pro Text"/>
              </a:rPr>
              <a:t>12 nilai =  12 pengamatan</a:t>
            </a:r>
          </a:p>
        </p:txBody>
      </p:sp>
      <p:sp>
        <p:nvSpPr>
          <p:cNvPr id="10" name="dataset-assumption">
            <a:extLst xmlns:a="http://schemas.openxmlformats.org/drawingml/2006/main">
              <a:ext uri="{FF2B5EF4-FFF2-40B4-BE49-F238E27FC236}">
                <a16:creationId xmlns:a16="http://schemas.microsoft.com/office/drawing/2014/main" id="{AE53E3A5-DCE7-47E8-8217-24C614EF32A6}"/>
              </a:ext>
            </a:extLst>
          </p:cNvPr>
          <p:cNvSpPr>
            <a:spLocks xmlns:a="http://schemas.openxmlformats.org/drawingml/2006/main" noGrp="1"/>
          </p:cNvSpPr>
          <p:nvPr/>
        </p:nvSpPr>
        <p:spPr>
          <a:xfrm xmlns:a="http://schemas.openxmlformats.org/drawingml/2006/main">
            <a:off x="8172450" y="4362450"/>
            <a:ext cx="3162300" cy="857250"/>
          </a:xfrm>
          <a:prstGeom xmlns:a="http://schemas.openxmlformats.org/drawingml/2006/main" prst="roundRect">
            <a:avLst>
              <a:gd name="adj" fmla="val 11111"/>
            </a:avLst>
          </a:prstGeom>
          <a:solidFill xmlns:a="http://schemas.openxmlformats.org/drawingml/2006/main">
            <a:srgbClr val="FFF7D6"/>
          </a:solidFill>
          <a:ln xmlns:a="http://schemas.openxmlformats.org/drawingml/2006/main" w="9525">
            <a:solidFill>
              <a:srgbClr val="F5D36A"/>
            </a:solidFill>
            <a:prstDash val="solid"/>
          </a:ln>
        </p:spPr>
      </p:sp>
      <p:sp>
        <p:nvSpPr>
          <p:cNvPr id="11" name="dataset-assumption-text">
            <a:extLst xmlns:a="http://schemas.openxmlformats.org/drawingml/2006/main">
              <a:ext uri="{FF2B5EF4-FFF2-40B4-BE49-F238E27FC236}">
                <a16:creationId xmlns:a16="http://schemas.microsoft.com/office/drawing/2014/main" id="{5EB31D28-AD5C-4CB6-BFBD-4A2F7170E566}"/>
              </a:ext>
            </a:extLst>
          </p:cNvPr>
          <p:cNvSpPr>
            <a:spLocks xmlns:a="http://schemas.openxmlformats.org/drawingml/2006/main" noGrp="1"/>
          </p:cNvSpPr>
          <p:nvPr/>
        </p:nvSpPr>
        <p:spPr>
          <a:xfrm xmlns:a="http://schemas.openxmlformats.org/drawingml/2006/main">
            <a:off x="8401050" y="4572000"/>
            <a:ext cx="2743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111A30"/>
                </a:solidFill>
                <a:latin typeface="SF Pro Text"/>
                <a:ea typeface="SF Pro Text"/>
                <a:cs typeface="SF Pro Text"/>
              </a:defRPr>
            </a:pPr>
            <a:r>
              <a:rPr sz="1350" b="0">
                <a:solidFill>
                  <a:srgbClr val="111A30"/>
                </a:solidFill>
                <a:latin typeface="SF Pro Text"/>
                <a:ea typeface="SF Pro Text"/>
                <a:cs typeface="SF Pro Text"/>
              </a:rPr>
              <a:t>Data ini menjadi dasar skenario proyeksi.</a:t>
            </a:r>
          </a:p>
        </p:txBody>
      </p:sp>
    </p:spTree>
    <p:extLst>
      <p:ext uri="{BB962C8B-B14F-4D97-AF65-F5344CB8AC3E}">
        <p14:creationId xmlns:p14="http://schemas.microsoft.com/office/powerpoint/2010/main" val="13302911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4">
            <a:extLst xmlns:a="http://schemas.openxmlformats.org/drawingml/2006/main">
              <a:ext uri="{FF2B5EF4-FFF2-40B4-BE49-F238E27FC236}">
                <a16:creationId xmlns:a16="http://schemas.microsoft.com/office/drawing/2014/main" id="{9837F6CA-702B-4632-A385-B8401A3DF963}"/>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STRUKTUR ARRAY</a:t>
            </a:r>
          </a:p>
        </p:txBody>
      </p:sp>
      <p:sp>
        <p:nvSpPr>
          <p:cNvPr id="2" name="title-4">
            <a:extLst xmlns:a="http://schemas.openxmlformats.org/drawingml/2006/main">
              <a:ext uri="{FF2B5EF4-FFF2-40B4-BE49-F238E27FC236}">
                <a16:creationId xmlns:a16="http://schemas.microsoft.com/office/drawing/2014/main" id="{B07F6804-B196-49C0-8077-139006A57BA7}"/>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Bentuk array mengikuti susunan data</a:t>
            </a:r>
          </a:p>
        </p:txBody>
      </p:sp>
      <p:sp>
        <p:nvSpPr>
          <p:cNvPr id="3" name="divider-4">
            <a:extLst xmlns:a="http://schemas.openxmlformats.org/drawingml/2006/main">
              <a:ext uri="{FF2B5EF4-FFF2-40B4-BE49-F238E27FC236}">
                <a16:creationId xmlns:a16="http://schemas.microsoft.com/office/drawing/2014/main" id="{9221C554-610F-46BB-88FB-8BDCAC9398C7}"/>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4">
            <a:extLst xmlns:a="http://schemas.openxmlformats.org/drawingml/2006/main">
              <a:ext uri="{FF2B5EF4-FFF2-40B4-BE49-F238E27FC236}">
                <a16:creationId xmlns:a16="http://schemas.microsoft.com/office/drawing/2014/main" id="{B033E650-333C-4A93-87F2-E170E1001E3E}"/>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Satu dimensi menyimpan satu urutan. Dua dimensi menyimpan baris dan kolom.</a:t>
            </a:r>
          </a:p>
        </p:txBody>
      </p:sp>
      <p:sp>
        <p:nvSpPr>
          <p:cNvPr id="5" name="page-4">
            <a:extLst xmlns:a="http://schemas.openxmlformats.org/drawingml/2006/main">
              <a:ext uri="{FF2B5EF4-FFF2-40B4-BE49-F238E27FC236}">
                <a16:creationId xmlns:a16="http://schemas.microsoft.com/office/drawing/2014/main" id="{CDDFABC8-3F18-4964-8C12-F3838261F8E7}"/>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04</a:t>
            </a:r>
          </a:p>
        </p:txBody>
      </p:sp>
      <p:sp>
        <p:nvSpPr>
          <p:cNvPr id="6" name="course-4">
            <a:extLst xmlns:a="http://schemas.openxmlformats.org/drawingml/2006/main">
              <a:ext uri="{FF2B5EF4-FFF2-40B4-BE49-F238E27FC236}">
                <a16:creationId xmlns:a16="http://schemas.microsoft.com/office/drawing/2014/main" id="{87E5A24E-3C52-4FD6-89FB-55BA1489D6B8}"/>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one-d-panel">
            <a:extLst xmlns:a="http://schemas.openxmlformats.org/drawingml/2006/main">
              <a:ext uri="{FF2B5EF4-FFF2-40B4-BE49-F238E27FC236}">
                <a16:creationId xmlns:a16="http://schemas.microsoft.com/office/drawing/2014/main" id="{1B7D6F78-D4A8-47C9-AEA1-019837D71707}"/>
              </a:ext>
            </a:extLst>
          </p:cNvPr>
          <p:cNvSpPr>
            <a:spLocks xmlns:a="http://schemas.openxmlformats.org/drawingml/2006/main" noGrp="1"/>
          </p:cNvSpPr>
          <p:nvPr/>
        </p:nvSpPr>
        <p:spPr>
          <a:xfrm xmlns:a="http://schemas.openxmlformats.org/drawingml/2006/main">
            <a:off x="819150" y="2381250"/>
            <a:ext cx="4095750" cy="2381250"/>
          </a:xfrm>
          <a:prstGeom xmlns:a="http://schemas.openxmlformats.org/drawingml/2006/main" prst="roundRect">
            <a:avLst>
              <a:gd name="adj" fmla="val 4000"/>
            </a:avLst>
          </a:prstGeom>
          <a:solidFill xmlns:a="http://schemas.openxmlformats.org/drawingml/2006/main">
            <a:srgbClr val="FFF7D6"/>
          </a:solidFill>
          <a:ln xmlns:a="http://schemas.openxmlformats.org/drawingml/2006/main" w="9525">
            <a:solidFill>
              <a:srgbClr val="F5D36A"/>
            </a:solidFill>
            <a:prstDash val="solid"/>
          </a:ln>
        </p:spPr>
      </p:sp>
      <p:sp>
        <p:nvSpPr>
          <p:cNvPr id="8" name="one-d-title">
            <a:extLst xmlns:a="http://schemas.openxmlformats.org/drawingml/2006/main">
              <a:ext uri="{FF2B5EF4-FFF2-40B4-BE49-F238E27FC236}">
                <a16:creationId xmlns:a16="http://schemas.microsoft.com/office/drawing/2014/main" id="{AA3C7A5F-3DE0-45DD-9535-2A2042C27865}"/>
              </a:ext>
            </a:extLst>
          </p:cNvPr>
          <p:cNvSpPr>
            <a:spLocks xmlns:a="http://schemas.openxmlformats.org/drawingml/2006/main" noGrp="1"/>
          </p:cNvSpPr>
          <p:nvPr/>
        </p:nvSpPr>
        <p:spPr>
          <a:xfrm xmlns:a="http://schemas.openxmlformats.org/drawingml/2006/main">
            <a:off x="1104900" y="2638425"/>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11A30"/>
                </a:solidFill>
                <a:latin typeface="SF Pro Display"/>
                <a:ea typeface="SF Pro Display"/>
                <a:cs typeface="SF Pro Display"/>
              </a:defRPr>
            </a:pPr>
            <a:r>
              <a:rPr sz="1800" b="1">
                <a:solidFill>
                  <a:srgbClr val="111A30"/>
                </a:solidFill>
                <a:latin typeface="SF Pro Display"/>
                <a:ea typeface="SF Pro Display"/>
                <a:cs typeface="SF Pro Display"/>
              </a:rPr>
              <a:t>Array bulan</a:t>
            </a:r>
          </a:p>
        </p:txBody>
      </p:sp>
      <p:sp>
        <p:nvSpPr>
          <p:cNvPr id="9" name="one-d-code">
            <a:extLst xmlns:a="http://schemas.openxmlformats.org/drawingml/2006/main">
              <a:ext uri="{FF2B5EF4-FFF2-40B4-BE49-F238E27FC236}">
                <a16:creationId xmlns:a16="http://schemas.microsoft.com/office/drawing/2014/main" id="{900756C8-46F2-43AD-A028-916E7405CD8A}"/>
              </a:ext>
            </a:extLst>
          </p:cNvPr>
          <p:cNvSpPr>
            <a:spLocks xmlns:a="http://schemas.openxmlformats.org/drawingml/2006/main" noGrp="1"/>
          </p:cNvSpPr>
          <p:nvPr/>
        </p:nvSpPr>
        <p:spPr>
          <a:xfrm xmlns:a="http://schemas.openxmlformats.org/drawingml/2006/main">
            <a:off x="1104900" y="3190875"/>
            <a:ext cx="342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111A30"/>
                </a:solidFill>
                <a:latin typeface="SF Mono"/>
                <a:ea typeface="SF Mono"/>
                <a:cs typeface="SF Mono"/>
              </a:defRPr>
            </a:pPr>
            <a:r>
              <a:rPr sz="1575" b="0">
                <a:solidFill>
                  <a:srgbClr val="111A30"/>
                </a:solidFill>
                <a:latin typeface="SF Mono"/>
                <a:ea typeface="SF Mono"/>
                <a:cs typeface="SF Mono"/>
              </a:rPr>
              <a:t>bulan = ["Jan", "Feb", "Mar"]</a:t>
            </a:r>
          </a:p>
          <a:p xmlns:a="http://schemas.openxmlformats.org/drawingml/2006/main">
            <a:pPr algn="l">
              <a:buNone/>
              <a:defRPr sz="1575" b="0">
                <a:solidFill>
                  <a:srgbClr val="111A30"/>
                </a:solidFill>
                <a:latin typeface="SF Mono"/>
                <a:ea typeface="SF Mono"/>
                <a:cs typeface="SF Mono"/>
              </a:defRPr>
            </a:pPr>
            <a:r>
              <a:rPr sz="1575" b="0">
                <a:solidFill>
                  <a:srgbClr val="111A30"/>
                </a:solidFill>
                <a:latin typeface="SF Mono"/>
                <a:ea typeface="SF Mono"/>
                <a:cs typeface="SF Mono"/>
              </a:rPr>
              <a:t>shape: (3,)</a:t>
            </a:r>
          </a:p>
        </p:txBody>
      </p:sp>
      <p:sp>
        <p:nvSpPr>
          <p:cNvPr id="10" name="two-d-panel">
            <a:extLst xmlns:a="http://schemas.openxmlformats.org/drawingml/2006/main">
              <a:ext uri="{FF2B5EF4-FFF2-40B4-BE49-F238E27FC236}">
                <a16:creationId xmlns:a16="http://schemas.microsoft.com/office/drawing/2014/main" id="{6AE34C37-EDF7-4EAC-94D4-692B39C0CF8C}"/>
              </a:ext>
            </a:extLst>
          </p:cNvPr>
          <p:cNvSpPr>
            <a:spLocks xmlns:a="http://schemas.openxmlformats.org/drawingml/2006/main" noGrp="1"/>
          </p:cNvSpPr>
          <p:nvPr/>
        </p:nvSpPr>
        <p:spPr>
          <a:xfrm xmlns:a="http://schemas.openxmlformats.org/drawingml/2006/main">
            <a:off x="5429250" y="2381250"/>
            <a:ext cx="5857875" cy="2381250"/>
          </a:xfrm>
          <a:prstGeom xmlns:a="http://schemas.openxmlformats.org/drawingml/2006/main" prst="roundRect">
            <a:avLst>
              <a:gd name="adj" fmla="val 4000"/>
            </a:avLst>
          </a:prstGeom>
          <a:solidFill xmlns:a="http://schemas.openxmlformats.org/drawingml/2006/main">
            <a:srgbClr val="EAF6FC"/>
          </a:solidFill>
          <a:ln xmlns:a="http://schemas.openxmlformats.org/drawingml/2006/main" w="9525">
            <a:solidFill>
              <a:srgbClr val="4FB6E8"/>
            </a:solidFill>
            <a:prstDash val="solid"/>
          </a:ln>
        </p:spPr>
      </p:sp>
      <p:sp>
        <p:nvSpPr>
          <p:cNvPr id="11" name="two-d-title">
            <a:extLst xmlns:a="http://schemas.openxmlformats.org/drawingml/2006/main">
              <a:ext uri="{FF2B5EF4-FFF2-40B4-BE49-F238E27FC236}">
                <a16:creationId xmlns:a16="http://schemas.microsoft.com/office/drawing/2014/main" id="{993EDF9B-37D5-4623-A570-80702F2FE93E}"/>
              </a:ext>
            </a:extLst>
          </p:cNvPr>
          <p:cNvSpPr>
            <a:spLocks xmlns:a="http://schemas.openxmlformats.org/drawingml/2006/main" noGrp="1"/>
          </p:cNvSpPr>
          <p:nvPr/>
        </p:nvSpPr>
        <p:spPr>
          <a:xfrm xmlns:a="http://schemas.openxmlformats.org/drawingml/2006/main">
            <a:off x="5734050" y="2638425"/>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11A30"/>
                </a:solidFill>
                <a:latin typeface="SF Pro Display"/>
                <a:ea typeface="SF Pro Display"/>
                <a:cs typeface="SF Pro Display"/>
              </a:defRPr>
            </a:pPr>
            <a:r>
              <a:rPr sz="1800" b="1">
                <a:solidFill>
                  <a:srgbClr val="111A30"/>
                </a:solidFill>
                <a:latin typeface="SF Pro Display"/>
                <a:ea typeface="SF Pro Display"/>
                <a:cs typeface="SF Pro Display"/>
              </a:rPr>
              <a:t>Matriks penjualan</a:t>
            </a:r>
          </a:p>
        </p:txBody>
      </p:sp>
      <p:sp>
        <p:nvSpPr>
          <p:cNvPr id="12" name="two-d-code">
            <a:extLst xmlns:a="http://schemas.openxmlformats.org/drawingml/2006/main">
              <a:ext uri="{FF2B5EF4-FFF2-40B4-BE49-F238E27FC236}">
                <a16:creationId xmlns:a16="http://schemas.microsoft.com/office/drawing/2014/main" id="{F561700E-CACF-4BD1-8879-61F58FFE9D1E}"/>
              </a:ext>
            </a:extLst>
          </p:cNvPr>
          <p:cNvSpPr>
            <a:spLocks xmlns:a="http://schemas.openxmlformats.org/drawingml/2006/main" noGrp="1"/>
          </p:cNvSpPr>
          <p:nvPr/>
        </p:nvSpPr>
        <p:spPr>
          <a:xfrm xmlns:a="http://schemas.openxmlformats.org/drawingml/2006/main">
            <a:off x="5734050" y="3190875"/>
            <a:ext cx="4953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0">
                <a:solidFill>
                  <a:srgbClr val="111A30"/>
                </a:solidFill>
                <a:latin typeface="SF Mono"/>
                <a:ea typeface="SF Mono"/>
                <a:cs typeface="SF Mono"/>
              </a:defRPr>
            </a:pPr>
            <a:r>
              <a:rPr sz="1650" b="0">
                <a:solidFill>
                  <a:srgbClr val="111A30"/>
                </a:solidFill>
                <a:latin typeface="SF Mono"/>
                <a:ea typeface="SF Mono"/>
                <a:cs typeface="SF Mono"/>
              </a:rPr>
              <a:t>4 cabang × 3 bulan</a:t>
            </a:r>
          </a:p>
          <a:p xmlns:a="http://schemas.openxmlformats.org/drawingml/2006/main">
            <a:pPr algn="l">
              <a:buNone/>
              <a:defRPr sz="1650" b="0">
                <a:solidFill>
                  <a:srgbClr val="111A30"/>
                </a:solidFill>
                <a:latin typeface="SF Mono"/>
                <a:ea typeface="SF Mono"/>
                <a:cs typeface="SF Mono"/>
              </a:defRPr>
            </a:pPr>
            <a:r>
              <a:rPr sz="1650" b="0">
                <a:solidFill>
                  <a:srgbClr val="111A30"/>
                </a:solidFill>
                <a:latin typeface="SF Mono"/>
                <a:ea typeface="SF Mono"/>
                <a:cs typeface="SF Mono"/>
              </a:rPr>
              <a:t>shape: (4, 3)</a:t>
            </a:r>
          </a:p>
        </p:txBody>
      </p:sp>
      <p:sp>
        <p:nvSpPr>
          <p:cNvPr id="13" name="two-d-explain">
            <a:extLst xmlns:a="http://schemas.openxmlformats.org/drawingml/2006/main">
              <a:ext uri="{FF2B5EF4-FFF2-40B4-BE49-F238E27FC236}">
                <a16:creationId xmlns:a16="http://schemas.microsoft.com/office/drawing/2014/main" id="{5351A265-9EAD-46B5-8152-BF2A4B86B31D}"/>
              </a:ext>
            </a:extLst>
          </p:cNvPr>
          <p:cNvSpPr>
            <a:spLocks xmlns:a="http://schemas.openxmlformats.org/drawingml/2006/main" noGrp="1"/>
          </p:cNvSpPr>
          <p:nvPr/>
        </p:nvSpPr>
        <p:spPr>
          <a:xfrm xmlns:a="http://schemas.openxmlformats.org/drawingml/2006/main">
            <a:off x="5734050" y="41719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Posisi nilai dibaca sebagai [baris, kolom].</a:t>
            </a:r>
          </a:p>
        </p:txBody>
      </p:sp>
    </p:spTree>
    <p:extLst>
      <p:ext uri="{BB962C8B-B14F-4D97-AF65-F5344CB8AC3E}">
        <p14:creationId xmlns:p14="http://schemas.microsoft.com/office/powerpoint/2010/main" val="10225659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kicker-5">
            <a:extLst xmlns:a="http://schemas.openxmlformats.org/drawingml/2006/main">
              <a:ext uri="{FF2B5EF4-FFF2-40B4-BE49-F238E27FC236}">
                <a16:creationId xmlns:a16="http://schemas.microsoft.com/office/drawing/2014/main" id="{74CCF171-3B2D-49B9-B70D-CDD3E9C6D20E}"/>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PROPERTI ARRAY</a:t>
            </a:r>
          </a:p>
        </p:txBody>
      </p:sp>
      <p:sp>
        <p:nvSpPr>
          <p:cNvPr id="2" name="title-5">
            <a:extLst xmlns:a="http://schemas.openxmlformats.org/drawingml/2006/main">
              <a:ext uri="{FF2B5EF4-FFF2-40B4-BE49-F238E27FC236}">
                <a16:creationId xmlns:a16="http://schemas.microsoft.com/office/drawing/2014/main" id="{41E3EB33-2ECF-47B0-B843-AC0ABE281671}"/>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Periksa shape sebelum mengolah data</a:t>
            </a:r>
          </a:p>
        </p:txBody>
      </p:sp>
      <p:sp>
        <p:nvSpPr>
          <p:cNvPr id="3" name="divider-5">
            <a:extLst xmlns:a="http://schemas.openxmlformats.org/drawingml/2006/main">
              <a:ext uri="{FF2B5EF4-FFF2-40B4-BE49-F238E27FC236}">
                <a16:creationId xmlns:a16="http://schemas.microsoft.com/office/drawing/2014/main" id="{1663542E-D951-4514-8726-2DD9C8CED9AD}"/>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5">
            <a:extLst xmlns:a="http://schemas.openxmlformats.org/drawingml/2006/main">
              <a:ext uri="{FF2B5EF4-FFF2-40B4-BE49-F238E27FC236}">
                <a16:creationId xmlns:a16="http://schemas.microsoft.com/office/drawing/2014/main" id="{FAE6ED82-3534-4FB9-85BA-8A2DE19E4934}"/>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Properti array memberi tahu ukuran data dan tipe elemennya.</a:t>
            </a:r>
          </a:p>
        </p:txBody>
      </p:sp>
      <p:sp>
        <p:nvSpPr>
          <p:cNvPr id="5" name="page-5">
            <a:extLst xmlns:a="http://schemas.openxmlformats.org/drawingml/2006/main">
              <a:ext uri="{FF2B5EF4-FFF2-40B4-BE49-F238E27FC236}">
                <a16:creationId xmlns:a16="http://schemas.microsoft.com/office/drawing/2014/main" id="{F2924BD8-9F09-4222-A732-30BCF41B230E}"/>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05</a:t>
            </a:r>
          </a:p>
        </p:txBody>
      </p:sp>
      <p:sp>
        <p:nvSpPr>
          <p:cNvPr id="6" name="course-5">
            <a:extLst xmlns:a="http://schemas.openxmlformats.org/drawingml/2006/main">
              <a:ext uri="{FF2B5EF4-FFF2-40B4-BE49-F238E27FC236}">
                <a16:creationId xmlns:a16="http://schemas.microsoft.com/office/drawing/2014/main" id="{BBDD0464-7501-48FE-BE8F-E3EB9646F1C7}"/>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properties-code-background">
            <a:extLst xmlns:a="http://schemas.openxmlformats.org/drawingml/2006/main">
              <a:ext uri="{FF2B5EF4-FFF2-40B4-BE49-F238E27FC236}">
                <a16:creationId xmlns:a16="http://schemas.microsoft.com/office/drawing/2014/main" id="{2018A251-A3C1-44F9-93E6-B8DA3F21989A}"/>
              </a:ext>
            </a:extLst>
          </p:cNvPr>
          <p:cNvSpPr>
            <a:spLocks xmlns:a="http://schemas.openxmlformats.org/drawingml/2006/main" noGrp="1"/>
          </p:cNvSpPr>
          <p:nvPr/>
        </p:nvSpPr>
        <p:spPr>
          <a:xfrm xmlns:a="http://schemas.openxmlformats.org/drawingml/2006/main">
            <a:off x="819150" y="2305050"/>
            <a:ext cx="6191250" cy="3143250"/>
          </a:xfrm>
          <a:prstGeom xmlns:a="http://schemas.openxmlformats.org/drawingml/2006/main" prst="roundRect">
            <a:avLst>
              <a:gd name="adj" fmla="val 3636"/>
            </a:avLst>
          </a:prstGeom>
          <a:solidFill xmlns:a="http://schemas.openxmlformats.org/drawingml/2006/main">
            <a:srgbClr val="111A30"/>
          </a:solidFill>
          <a:ln xmlns:a="http://schemas.openxmlformats.org/drawingml/2006/main" w="9525">
            <a:solidFill>
              <a:srgbClr val="111A30"/>
            </a:solidFill>
            <a:prstDash val="solid"/>
          </a:ln>
        </p:spPr>
      </p:sp>
      <p:sp>
        <p:nvSpPr>
          <p:cNvPr id="8" name="properties-code-dot-red">
            <a:extLst xmlns:a="http://schemas.openxmlformats.org/drawingml/2006/main">
              <a:ext uri="{FF2B5EF4-FFF2-40B4-BE49-F238E27FC236}">
                <a16:creationId xmlns:a16="http://schemas.microsoft.com/office/drawing/2014/main" id="{F8AD0FE6-72E8-46CB-867F-6B7FF7112E13}"/>
              </a:ext>
            </a:extLst>
          </p:cNvPr>
          <p:cNvSpPr>
            <a:spLocks xmlns:a="http://schemas.openxmlformats.org/drawingml/2006/main" noGrp="1"/>
          </p:cNvSpPr>
          <p:nvPr/>
        </p:nvSpPr>
        <p:spPr>
          <a:xfrm xmlns:a="http://schemas.openxmlformats.org/drawingml/2006/main">
            <a:off x="1028700" y="2466975"/>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9" name="properties-code-dot-yellow">
            <a:extLst xmlns:a="http://schemas.openxmlformats.org/drawingml/2006/main">
              <a:ext uri="{FF2B5EF4-FFF2-40B4-BE49-F238E27FC236}">
                <a16:creationId xmlns:a16="http://schemas.microsoft.com/office/drawing/2014/main" id="{47101283-015E-4A01-A2E8-E0C1625E02F8}"/>
              </a:ext>
            </a:extLst>
          </p:cNvPr>
          <p:cNvSpPr>
            <a:spLocks xmlns:a="http://schemas.openxmlformats.org/drawingml/2006/main" noGrp="1"/>
          </p:cNvSpPr>
          <p:nvPr/>
        </p:nvSpPr>
        <p:spPr>
          <a:xfrm xmlns:a="http://schemas.openxmlformats.org/drawingml/2006/main">
            <a:off x="1219200" y="2466975"/>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0" name="properties-code-dot-green">
            <a:extLst xmlns:a="http://schemas.openxmlformats.org/drawingml/2006/main">
              <a:ext uri="{FF2B5EF4-FFF2-40B4-BE49-F238E27FC236}">
                <a16:creationId xmlns:a16="http://schemas.microsoft.com/office/drawing/2014/main" id="{13037C61-9980-4BF6-BCDF-17C86C2FDBED}"/>
              </a:ext>
            </a:extLst>
          </p:cNvPr>
          <p:cNvSpPr>
            <a:spLocks xmlns:a="http://schemas.openxmlformats.org/drawingml/2006/main" noGrp="1"/>
          </p:cNvSpPr>
          <p:nvPr/>
        </p:nvSpPr>
        <p:spPr>
          <a:xfrm xmlns:a="http://schemas.openxmlformats.org/drawingml/2006/main">
            <a:off x="1409700" y="2466975"/>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1" name="properties-code-text">
            <a:extLst xmlns:a="http://schemas.openxmlformats.org/drawingml/2006/main">
              <a:ext uri="{FF2B5EF4-FFF2-40B4-BE49-F238E27FC236}">
                <a16:creationId xmlns:a16="http://schemas.microsoft.com/office/drawing/2014/main" id="{8F28C92F-39A0-42F1-A506-BB6CFE939155}"/>
              </a:ext>
            </a:extLst>
          </p:cNvPr>
          <p:cNvSpPr>
            <a:spLocks xmlns:a="http://schemas.openxmlformats.org/drawingml/2006/main" noGrp="1"/>
          </p:cNvSpPr>
          <p:nvPr/>
        </p:nvSpPr>
        <p:spPr>
          <a:xfrm xmlns:a="http://schemas.openxmlformats.org/drawingml/2006/main">
            <a:off x="1085850" y="2752725"/>
            <a:ext cx="569595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FFFFFF"/>
                </a:solidFill>
                <a:latin typeface="SF Mono"/>
                <a:ea typeface="SF Mono"/>
                <a:cs typeface="SF Mono"/>
              </a:defRPr>
            </a:pPr>
            <a:r>
              <a:rPr sz="1575" b="0">
                <a:solidFill>
                  <a:srgbClr val="FFFFFF"/>
                </a:solidFill>
                <a:latin typeface="SF Mono"/>
                <a:ea typeface="SF Mono"/>
                <a:cs typeface="SF Mono"/>
              </a:rPr>
              <a:t>print(penjualan.ndim)</a:t>
            </a:r>
          </a:p>
          <a:p xmlns:a="http://schemas.openxmlformats.org/drawingml/2006/main">
            <a:pPr algn="l">
              <a:buNone/>
              <a:defRPr sz="1575" b="0">
                <a:solidFill>
                  <a:srgbClr val="FFFFFF"/>
                </a:solidFill>
                <a:latin typeface="SF Mono"/>
                <a:ea typeface="SF Mono"/>
                <a:cs typeface="SF Mono"/>
              </a:defRPr>
            </a:pPr>
            <a:r>
              <a:rPr sz="1575" b="0">
                <a:solidFill>
                  <a:srgbClr val="FFFFFF"/>
                </a:solidFill>
                <a:latin typeface="SF Mono"/>
                <a:ea typeface="SF Mono"/>
                <a:cs typeface="SF Mono"/>
              </a:rPr>
              <a:t>print(penjualan.shape)</a:t>
            </a:r>
          </a:p>
          <a:p xmlns:a="http://schemas.openxmlformats.org/drawingml/2006/main">
            <a:pPr algn="l">
              <a:buNone/>
              <a:defRPr sz="1575" b="0">
                <a:solidFill>
                  <a:srgbClr val="FFFFFF"/>
                </a:solidFill>
                <a:latin typeface="SF Mono"/>
                <a:ea typeface="SF Mono"/>
                <a:cs typeface="SF Mono"/>
              </a:defRPr>
            </a:pPr>
            <a:r>
              <a:rPr sz="1575" b="0">
                <a:solidFill>
                  <a:srgbClr val="FFFFFF"/>
                </a:solidFill>
                <a:latin typeface="SF Mono"/>
                <a:ea typeface="SF Mono"/>
                <a:cs typeface="SF Mono"/>
              </a:rPr>
              <a:t>print(penjualan.size)</a:t>
            </a:r>
          </a:p>
          <a:p xmlns:a="http://schemas.openxmlformats.org/drawingml/2006/main">
            <a:pPr algn="l">
              <a:buNone/>
              <a:defRPr sz="1575" b="0">
                <a:solidFill>
                  <a:srgbClr val="FFFFFF"/>
                </a:solidFill>
                <a:latin typeface="SF Mono"/>
                <a:ea typeface="SF Mono"/>
                <a:cs typeface="SF Mono"/>
              </a:defRPr>
            </a:pPr>
            <a:r>
              <a:rPr sz="1575" b="0">
                <a:solidFill>
                  <a:srgbClr val="FFFFFF"/>
                </a:solidFill>
                <a:latin typeface="SF Mono"/>
                <a:ea typeface="SF Mono"/>
                <a:cs typeface="SF Mono"/>
              </a:rPr>
              <a:t>print(penjualan.dtype)</a:t>
            </a:r>
          </a:p>
        </p:txBody>
      </p:sp>
      <p:sp>
        <p:nvSpPr>
          <p:cNvPr id="12" name="properties-result">
            <a:extLst xmlns:a="http://schemas.openxmlformats.org/drawingml/2006/main">
              <a:ext uri="{FF2B5EF4-FFF2-40B4-BE49-F238E27FC236}">
                <a16:creationId xmlns:a16="http://schemas.microsoft.com/office/drawing/2014/main" id="{3D8F033D-6BE3-4F9B-B250-86899962B63A}"/>
              </a:ext>
            </a:extLst>
          </p:cNvPr>
          <p:cNvSpPr>
            <a:spLocks xmlns:a="http://schemas.openxmlformats.org/drawingml/2006/main" noGrp="1"/>
          </p:cNvSpPr>
          <p:nvPr/>
        </p:nvSpPr>
        <p:spPr>
          <a:xfrm xmlns:a="http://schemas.openxmlformats.org/drawingml/2006/main">
            <a:off x="7524750" y="2476500"/>
            <a:ext cx="3733800" cy="2619375"/>
          </a:xfrm>
          <a:prstGeom xmlns:a="http://schemas.openxmlformats.org/drawingml/2006/main" prst="roundRect">
            <a:avLst>
              <a:gd name="adj" fmla="val 3636"/>
            </a:avLst>
          </a:prstGeom>
          <a:solidFill xmlns:a="http://schemas.openxmlformats.org/drawingml/2006/main">
            <a:srgbClr val="FFF7D6"/>
          </a:solidFill>
          <a:ln xmlns:a="http://schemas.openxmlformats.org/drawingml/2006/main" w="9525">
            <a:solidFill>
              <a:srgbClr val="F5D36A"/>
            </a:solidFill>
            <a:prstDash val="solid"/>
          </a:ln>
        </p:spPr>
      </p:sp>
      <p:sp>
        <p:nvSpPr>
          <p:cNvPr id="13" name="properties-result-title">
            <a:extLst xmlns:a="http://schemas.openxmlformats.org/drawingml/2006/main">
              <a:ext uri="{FF2B5EF4-FFF2-40B4-BE49-F238E27FC236}">
                <a16:creationId xmlns:a16="http://schemas.microsoft.com/office/drawing/2014/main" id="{4799AAEC-9E97-4AD2-9B51-876C068930FC}"/>
              </a:ext>
            </a:extLst>
          </p:cNvPr>
          <p:cNvSpPr>
            <a:spLocks xmlns:a="http://schemas.openxmlformats.org/drawingml/2006/main" noGrp="1"/>
          </p:cNvSpPr>
          <p:nvPr/>
        </p:nvSpPr>
        <p:spPr>
          <a:xfrm xmlns:a="http://schemas.openxmlformats.org/drawingml/2006/main">
            <a:off x="7848600" y="2781300"/>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A30"/>
                </a:solidFill>
                <a:latin typeface="SF Pro Display"/>
                <a:ea typeface="SF Pro Display"/>
                <a:cs typeface="SF Pro Display"/>
              </a:defRPr>
            </a:pPr>
            <a:r>
              <a:rPr sz="1725" b="1">
                <a:solidFill>
                  <a:srgbClr val="111A30"/>
                </a:solidFill>
                <a:latin typeface="SF Pro Display"/>
                <a:ea typeface="SF Pro Display"/>
                <a:cs typeface="SF Pro Display"/>
              </a:rPr>
              <a:t>Untuk dataset ini</a:t>
            </a:r>
          </a:p>
        </p:txBody>
      </p:sp>
      <p:sp>
        <p:nvSpPr>
          <p:cNvPr id="14" name="properties-result-copy">
            <a:extLst xmlns:a="http://schemas.openxmlformats.org/drawingml/2006/main">
              <a:ext uri="{FF2B5EF4-FFF2-40B4-BE49-F238E27FC236}">
                <a16:creationId xmlns:a16="http://schemas.microsoft.com/office/drawing/2014/main" id="{BA81A60C-FBF5-408D-80F0-56AD937BE375}"/>
              </a:ext>
            </a:extLst>
          </p:cNvPr>
          <p:cNvSpPr>
            <a:spLocks xmlns:a="http://schemas.openxmlformats.org/drawingml/2006/main" noGrp="1"/>
          </p:cNvSpPr>
          <p:nvPr/>
        </p:nvSpPr>
        <p:spPr>
          <a:xfrm xmlns:a="http://schemas.openxmlformats.org/drawingml/2006/main">
            <a:off x="7848600" y="3295650"/>
            <a:ext cx="3048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0">
                <a:solidFill>
                  <a:srgbClr val="111A30"/>
                </a:solidFill>
                <a:latin typeface="SF Mono"/>
                <a:ea typeface="SF Mono"/>
                <a:cs typeface="SF Mono"/>
              </a:defRPr>
            </a:pPr>
            <a:r>
              <a:rPr sz="1650" b="0">
                <a:solidFill>
                  <a:srgbClr val="111A30"/>
                </a:solidFill>
                <a:latin typeface="SF Mono"/>
                <a:ea typeface="SF Mono"/>
                <a:cs typeface="SF Mono"/>
              </a:rPr>
              <a:t>ndim  →  2</a:t>
            </a:r>
          </a:p>
          <a:p xmlns:a="http://schemas.openxmlformats.org/drawingml/2006/main">
            <a:pPr algn="l">
              <a:buNone/>
              <a:defRPr sz="1650" b="0">
                <a:solidFill>
                  <a:srgbClr val="111A30"/>
                </a:solidFill>
                <a:latin typeface="SF Mono"/>
                <a:ea typeface="SF Mono"/>
                <a:cs typeface="SF Mono"/>
              </a:defRPr>
            </a:pPr>
            <a:r>
              <a:rPr sz="1650" b="0">
                <a:solidFill>
                  <a:srgbClr val="111A30"/>
                </a:solidFill>
                <a:latin typeface="SF Mono"/>
                <a:ea typeface="SF Mono"/>
                <a:cs typeface="SF Mono"/>
              </a:rPr>
              <a:t>shape →  (4, 3)</a:t>
            </a:r>
          </a:p>
          <a:p xmlns:a="http://schemas.openxmlformats.org/drawingml/2006/main">
            <a:pPr algn="l">
              <a:buNone/>
              <a:defRPr sz="1650" b="0">
                <a:solidFill>
                  <a:srgbClr val="111A30"/>
                </a:solidFill>
                <a:latin typeface="SF Mono"/>
                <a:ea typeface="SF Mono"/>
                <a:cs typeface="SF Mono"/>
              </a:defRPr>
            </a:pPr>
            <a:r>
              <a:rPr sz="1650" b="0">
                <a:solidFill>
                  <a:srgbClr val="111A30"/>
                </a:solidFill>
                <a:latin typeface="SF Mono"/>
                <a:ea typeface="SF Mono"/>
                <a:cs typeface="SF Mono"/>
              </a:rPr>
              <a:t>size  →  12</a:t>
            </a:r>
          </a:p>
          <a:p xmlns:a="http://schemas.openxmlformats.org/drawingml/2006/main">
            <a:pPr algn="l">
              <a:buNone/>
              <a:defRPr sz="1650" b="0">
                <a:solidFill>
                  <a:srgbClr val="111A30"/>
                </a:solidFill>
                <a:latin typeface="SF Mono"/>
                <a:ea typeface="SF Mono"/>
                <a:cs typeface="SF Mono"/>
              </a:defRPr>
            </a:pPr>
            <a:r>
              <a:rPr sz="1650" b="0">
                <a:solidFill>
                  <a:srgbClr val="111A30"/>
                </a:solidFill>
                <a:latin typeface="SF Mono"/>
                <a:ea typeface="SF Mono"/>
                <a:cs typeface="SF Mono"/>
              </a:rPr>
              <a:t>dtype →  integer</a:t>
            </a:r>
          </a:p>
        </p:txBody>
      </p:sp>
    </p:spTree>
    <p:extLst>
      <p:ext uri="{BB962C8B-B14F-4D97-AF65-F5344CB8AC3E}">
        <p14:creationId xmlns:p14="http://schemas.microsoft.com/office/powerpoint/2010/main" val="19713042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kicker-6">
            <a:extLst xmlns:a="http://schemas.openxmlformats.org/drawingml/2006/main">
              <a:ext uri="{FF2B5EF4-FFF2-40B4-BE49-F238E27FC236}">
                <a16:creationId xmlns:a16="http://schemas.microsoft.com/office/drawing/2014/main" id="{98EA3197-B06E-4608-861B-31F7CA4E0CC8}"/>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INDEXING DAN SLICING</a:t>
            </a:r>
          </a:p>
        </p:txBody>
      </p:sp>
      <p:sp>
        <p:nvSpPr>
          <p:cNvPr id="2" name="title-6">
            <a:extLst xmlns:a="http://schemas.openxmlformats.org/drawingml/2006/main">
              <a:ext uri="{FF2B5EF4-FFF2-40B4-BE49-F238E27FC236}">
                <a16:creationId xmlns:a16="http://schemas.microsoft.com/office/drawing/2014/main" id="{BD698C8B-F24D-479F-BA71-7C0A25A1A2B5}"/>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Pilih data dengan posisi baris dan kolom</a:t>
            </a:r>
          </a:p>
        </p:txBody>
      </p:sp>
      <p:sp>
        <p:nvSpPr>
          <p:cNvPr id="3" name="divider-6">
            <a:extLst xmlns:a="http://schemas.openxmlformats.org/drawingml/2006/main">
              <a:ext uri="{FF2B5EF4-FFF2-40B4-BE49-F238E27FC236}">
                <a16:creationId xmlns:a16="http://schemas.microsoft.com/office/drawing/2014/main" id="{DA557E90-DDEC-466E-B7D1-DD3578F099AA}"/>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6">
            <a:extLst xmlns:a="http://schemas.openxmlformats.org/drawingml/2006/main">
              <a:ext uri="{FF2B5EF4-FFF2-40B4-BE49-F238E27FC236}">
                <a16:creationId xmlns:a16="http://schemas.microsoft.com/office/drawing/2014/main" id="{268C22C8-6BB0-4D8C-9F6A-7AB66C21307E}"/>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Index dimulai dari 0. Tanda titik dua mengambil rentang pada suatu sumbu.</a:t>
            </a:r>
          </a:p>
        </p:txBody>
      </p:sp>
      <p:sp>
        <p:nvSpPr>
          <p:cNvPr id="5" name="page-6">
            <a:extLst xmlns:a="http://schemas.openxmlformats.org/drawingml/2006/main">
              <a:ext uri="{FF2B5EF4-FFF2-40B4-BE49-F238E27FC236}">
                <a16:creationId xmlns:a16="http://schemas.microsoft.com/office/drawing/2014/main" id="{78C4F24C-E3D7-4DFD-B9C5-025665797542}"/>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06</a:t>
            </a:r>
          </a:p>
        </p:txBody>
      </p:sp>
      <p:sp>
        <p:nvSpPr>
          <p:cNvPr id="6" name="course-6">
            <a:extLst xmlns:a="http://schemas.openxmlformats.org/drawingml/2006/main">
              <a:ext uri="{FF2B5EF4-FFF2-40B4-BE49-F238E27FC236}">
                <a16:creationId xmlns:a16="http://schemas.microsoft.com/office/drawing/2014/main" id="{55669F7B-FFBF-4E91-8E28-C56878E25CDE}"/>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index-code-background">
            <a:extLst xmlns:a="http://schemas.openxmlformats.org/drawingml/2006/main">
              <a:ext uri="{FF2B5EF4-FFF2-40B4-BE49-F238E27FC236}">
                <a16:creationId xmlns:a16="http://schemas.microsoft.com/office/drawing/2014/main" id="{390E194E-D9D9-4143-AECE-7DF356FB0980}"/>
              </a:ext>
            </a:extLst>
          </p:cNvPr>
          <p:cNvSpPr>
            <a:spLocks xmlns:a="http://schemas.openxmlformats.org/drawingml/2006/main" noGrp="1"/>
          </p:cNvSpPr>
          <p:nvPr/>
        </p:nvSpPr>
        <p:spPr>
          <a:xfrm xmlns:a="http://schemas.openxmlformats.org/drawingml/2006/main">
            <a:off x="819150" y="2305050"/>
            <a:ext cx="6667500" cy="3238500"/>
          </a:xfrm>
          <a:prstGeom xmlns:a="http://schemas.openxmlformats.org/drawingml/2006/main" prst="roundRect">
            <a:avLst>
              <a:gd name="adj" fmla="val 3529"/>
            </a:avLst>
          </a:prstGeom>
          <a:solidFill xmlns:a="http://schemas.openxmlformats.org/drawingml/2006/main">
            <a:srgbClr val="111A30"/>
          </a:solidFill>
          <a:ln xmlns:a="http://schemas.openxmlformats.org/drawingml/2006/main" w="9525">
            <a:solidFill>
              <a:srgbClr val="111A30"/>
            </a:solidFill>
            <a:prstDash val="solid"/>
          </a:ln>
        </p:spPr>
      </p:sp>
      <p:sp>
        <p:nvSpPr>
          <p:cNvPr id="8" name="index-code-dot-red">
            <a:extLst xmlns:a="http://schemas.openxmlformats.org/drawingml/2006/main">
              <a:ext uri="{FF2B5EF4-FFF2-40B4-BE49-F238E27FC236}">
                <a16:creationId xmlns:a16="http://schemas.microsoft.com/office/drawing/2014/main" id="{57D0529D-74FD-487E-8E4D-17BEA5D5F3EF}"/>
              </a:ext>
            </a:extLst>
          </p:cNvPr>
          <p:cNvSpPr>
            <a:spLocks xmlns:a="http://schemas.openxmlformats.org/drawingml/2006/main" noGrp="1"/>
          </p:cNvSpPr>
          <p:nvPr/>
        </p:nvSpPr>
        <p:spPr>
          <a:xfrm xmlns:a="http://schemas.openxmlformats.org/drawingml/2006/main">
            <a:off x="1028700" y="2466975"/>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9" name="index-code-dot-yellow">
            <a:extLst xmlns:a="http://schemas.openxmlformats.org/drawingml/2006/main">
              <a:ext uri="{FF2B5EF4-FFF2-40B4-BE49-F238E27FC236}">
                <a16:creationId xmlns:a16="http://schemas.microsoft.com/office/drawing/2014/main" id="{ADB518F0-8CDA-4F62-A4B2-5B79A404562D}"/>
              </a:ext>
            </a:extLst>
          </p:cNvPr>
          <p:cNvSpPr>
            <a:spLocks xmlns:a="http://schemas.openxmlformats.org/drawingml/2006/main" noGrp="1"/>
          </p:cNvSpPr>
          <p:nvPr/>
        </p:nvSpPr>
        <p:spPr>
          <a:xfrm xmlns:a="http://schemas.openxmlformats.org/drawingml/2006/main">
            <a:off x="1219200" y="2466975"/>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0" name="index-code-dot-green">
            <a:extLst xmlns:a="http://schemas.openxmlformats.org/drawingml/2006/main">
              <a:ext uri="{FF2B5EF4-FFF2-40B4-BE49-F238E27FC236}">
                <a16:creationId xmlns:a16="http://schemas.microsoft.com/office/drawing/2014/main" id="{22CD4DA2-7E28-4451-A8DB-A5D7B2659C00}"/>
              </a:ext>
            </a:extLst>
          </p:cNvPr>
          <p:cNvSpPr>
            <a:spLocks xmlns:a="http://schemas.openxmlformats.org/drawingml/2006/main" noGrp="1"/>
          </p:cNvSpPr>
          <p:nvPr/>
        </p:nvSpPr>
        <p:spPr>
          <a:xfrm xmlns:a="http://schemas.openxmlformats.org/drawingml/2006/main">
            <a:off x="1409700" y="2466975"/>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1" name="index-code-text">
            <a:extLst xmlns:a="http://schemas.openxmlformats.org/drawingml/2006/main">
              <a:ext uri="{FF2B5EF4-FFF2-40B4-BE49-F238E27FC236}">
                <a16:creationId xmlns:a16="http://schemas.microsoft.com/office/drawing/2014/main" id="{03CA026F-885F-4D99-BCAB-2979EC8443B3}"/>
              </a:ext>
            </a:extLst>
          </p:cNvPr>
          <p:cNvSpPr>
            <a:spLocks xmlns:a="http://schemas.openxmlformats.org/drawingml/2006/main" noGrp="1"/>
          </p:cNvSpPr>
          <p:nvPr/>
        </p:nvSpPr>
        <p:spPr>
          <a:xfrm xmlns:a="http://schemas.openxmlformats.org/drawingml/2006/main">
            <a:off x="1085850" y="2752725"/>
            <a:ext cx="617220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penjualan[0, 1]       # Jakarta, Feb</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penjualan[:, 0]       # semua cabang, Jan</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penjualan[1:4:2, 1:]  # Bandung dan Medan, Feb-Mar</a:t>
            </a:r>
          </a:p>
        </p:txBody>
      </p:sp>
      <p:sp>
        <p:nvSpPr>
          <p:cNvPr id="12" name="index-note">
            <a:extLst xmlns:a="http://schemas.openxmlformats.org/drawingml/2006/main">
              <a:ext uri="{FF2B5EF4-FFF2-40B4-BE49-F238E27FC236}">
                <a16:creationId xmlns:a16="http://schemas.microsoft.com/office/drawing/2014/main" id="{4C471734-43B8-4773-8098-D2BC17B51D6F}"/>
              </a:ext>
            </a:extLst>
          </p:cNvPr>
          <p:cNvSpPr>
            <a:spLocks xmlns:a="http://schemas.openxmlformats.org/drawingml/2006/main" noGrp="1"/>
          </p:cNvSpPr>
          <p:nvPr/>
        </p:nvSpPr>
        <p:spPr>
          <a:xfrm xmlns:a="http://schemas.openxmlformats.org/drawingml/2006/main">
            <a:off x="7953375" y="2505075"/>
            <a:ext cx="3333750" cy="2381250"/>
          </a:xfrm>
          <a:prstGeom xmlns:a="http://schemas.openxmlformats.org/drawingml/2006/main" prst="roundRect">
            <a:avLst>
              <a:gd name="adj" fmla="val 4000"/>
            </a:avLst>
          </a:prstGeom>
          <a:solidFill xmlns:a="http://schemas.openxmlformats.org/drawingml/2006/main">
            <a:srgbClr val="EAF6FC"/>
          </a:solidFill>
          <a:ln xmlns:a="http://schemas.openxmlformats.org/drawingml/2006/main" w="9525">
            <a:solidFill>
              <a:srgbClr val="4FB6E8"/>
            </a:solidFill>
            <a:prstDash val="solid"/>
          </a:ln>
        </p:spPr>
      </p:sp>
      <p:sp>
        <p:nvSpPr>
          <p:cNvPr id="13" name="index-note-title">
            <a:extLst xmlns:a="http://schemas.openxmlformats.org/drawingml/2006/main">
              <a:ext uri="{FF2B5EF4-FFF2-40B4-BE49-F238E27FC236}">
                <a16:creationId xmlns:a16="http://schemas.microsoft.com/office/drawing/2014/main" id="{BE114934-A6C0-473C-916B-2DEB503CBF64}"/>
              </a:ext>
            </a:extLst>
          </p:cNvPr>
          <p:cNvSpPr>
            <a:spLocks xmlns:a="http://schemas.openxmlformats.org/drawingml/2006/main" noGrp="1"/>
          </p:cNvSpPr>
          <p:nvPr/>
        </p:nvSpPr>
        <p:spPr>
          <a:xfrm xmlns:a="http://schemas.openxmlformats.org/drawingml/2006/main">
            <a:off x="8239125" y="27813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A30"/>
                </a:solidFill>
                <a:latin typeface="SF Pro Display"/>
                <a:ea typeface="SF Pro Display"/>
                <a:cs typeface="SF Pro Display"/>
              </a:defRPr>
            </a:pPr>
            <a:r>
              <a:rPr sz="1725" b="1">
                <a:solidFill>
                  <a:srgbClr val="111A30"/>
                </a:solidFill>
                <a:latin typeface="SF Pro Display"/>
                <a:ea typeface="SF Pro Display"/>
                <a:cs typeface="SF Pro Display"/>
              </a:rPr>
              <a:t>Cara membaca</a:t>
            </a:r>
          </a:p>
        </p:txBody>
      </p:sp>
      <p:sp>
        <p:nvSpPr>
          <p:cNvPr id="14" name="index-note-copy">
            <a:extLst xmlns:a="http://schemas.openxmlformats.org/drawingml/2006/main">
              <a:ext uri="{FF2B5EF4-FFF2-40B4-BE49-F238E27FC236}">
                <a16:creationId xmlns:a16="http://schemas.microsoft.com/office/drawing/2014/main" id="{A4445EDF-1BE0-4372-A125-B1CA3E5553D0}"/>
              </a:ext>
            </a:extLst>
          </p:cNvPr>
          <p:cNvSpPr>
            <a:spLocks xmlns:a="http://schemas.openxmlformats.org/drawingml/2006/main" noGrp="1"/>
          </p:cNvSpPr>
          <p:nvPr/>
        </p:nvSpPr>
        <p:spPr>
          <a:xfrm xmlns:a="http://schemas.openxmlformats.org/drawingml/2006/main">
            <a:off x="8239125" y="3314700"/>
            <a:ext cx="28098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baris pertama → cabang</a:t>
            </a:r>
          </a:p>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kolom kedua → bulan</a:t>
            </a:r>
          </a:p>
          <a:p xmlns:a="http://schemas.openxmlformats.org/drawingml/2006/main">
            <a:r>
              <a:t/>
            </a:r>
          </a:p>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 → ambil seluruh sumbu</a:t>
            </a:r>
          </a:p>
        </p:txBody>
      </p:sp>
    </p:spTree>
    <p:extLst>
      <p:ext uri="{BB962C8B-B14F-4D97-AF65-F5344CB8AC3E}">
        <p14:creationId xmlns:p14="http://schemas.microsoft.com/office/powerpoint/2010/main" val="14475062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7">
            <a:extLst xmlns:a="http://schemas.openxmlformats.org/drawingml/2006/main">
              <a:ext uri="{FF2B5EF4-FFF2-40B4-BE49-F238E27FC236}">
                <a16:creationId xmlns:a16="http://schemas.microsoft.com/office/drawing/2014/main" id="{16120095-8EDB-4DA0-A413-67BC60AE6BE5}"/>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TRANSFORMASI BENTUK</a:t>
            </a:r>
          </a:p>
        </p:txBody>
      </p:sp>
      <p:sp>
        <p:nvSpPr>
          <p:cNvPr id="2" name="title-7">
            <a:extLst xmlns:a="http://schemas.openxmlformats.org/drawingml/2006/main">
              <a:ext uri="{FF2B5EF4-FFF2-40B4-BE49-F238E27FC236}">
                <a16:creationId xmlns:a16="http://schemas.microsoft.com/office/drawing/2014/main" id="{05078868-BD36-4307-BC5B-3527D6704E84}"/>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reshape dan transpose menyusun ulang tampilan</a:t>
            </a:r>
          </a:p>
        </p:txBody>
      </p:sp>
      <p:sp>
        <p:nvSpPr>
          <p:cNvPr id="3" name="divider-7">
            <a:extLst xmlns:a="http://schemas.openxmlformats.org/drawingml/2006/main">
              <a:ext uri="{FF2B5EF4-FFF2-40B4-BE49-F238E27FC236}">
                <a16:creationId xmlns:a16="http://schemas.microsoft.com/office/drawing/2014/main" id="{D3FE17BC-CE63-43F6-85DA-14E2B879A869}"/>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7">
            <a:extLst xmlns:a="http://schemas.openxmlformats.org/drawingml/2006/main">
              <a:ext uri="{FF2B5EF4-FFF2-40B4-BE49-F238E27FC236}">
                <a16:creationId xmlns:a16="http://schemas.microsoft.com/office/drawing/2014/main" id="{705F6994-B31E-4323-97B0-E7EF15F7F0A2}"/>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Jumlah elemen tetap sama. Urutan data perlu diketahui saat reshape.</a:t>
            </a:r>
          </a:p>
        </p:txBody>
      </p:sp>
      <p:sp>
        <p:nvSpPr>
          <p:cNvPr id="5" name="page-7">
            <a:extLst xmlns:a="http://schemas.openxmlformats.org/drawingml/2006/main">
              <a:ext uri="{FF2B5EF4-FFF2-40B4-BE49-F238E27FC236}">
                <a16:creationId xmlns:a16="http://schemas.microsoft.com/office/drawing/2014/main" id="{9496C529-6D53-4DCE-863E-10F974477061}"/>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07</a:t>
            </a:r>
          </a:p>
        </p:txBody>
      </p:sp>
      <p:sp>
        <p:nvSpPr>
          <p:cNvPr id="6" name="course-7">
            <a:extLst xmlns:a="http://schemas.openxmlformats.org/drawingml/2006/main">
              <a:ext uri="{FF2B5EF4-FFF2-40B4-BE49-F238E27FC236}">
                <a16:creationId xmlns:a16="http://schemas.microsoft.com/office/drawing/2014/main" id="{1FE84683-BCA9-4594-9687-3E05A3810176}"/>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reshape-code-background">
            <a:extLst xmlns:a="http://schemas.openxmlformats.org/drawingml/2006/main">
              <a:ext uri="{FF2B5EF4-FFF2-40B4-BE49-F238E27FC236}">
                <a16:creationId xmlns:a16="http://schemas.microsoft.com/office/drawing/2014/main" id="{EF39624A-66DF-4A5C-A423-0A050FC89141}"/>
              </a:ext>
            </a:extLst>
          </p:cNvPr>
          <p:cNvSpPr>
            <a:spLocks xmlns:a="http://schemas.openxmlformats.org/drawingml/2006/main" noGrp="1"/>
          </p:cNvSpPr>
          <p:nvPr/>
        </p:nvSpPr>
        <p:spPr>
          <a:xfrm xmlns:a="http://schemas.openxmlformats.org/drawingml/2006/main">
            <a:off x="819150" y="2286000"/>
            <a:ext cx="6286500" cy="3429000"/>
          </a:xfrm>
          <a:prstGeom xmlns:a="http://schemas.openxmlformats.org/drawingml/2006/main" prst="roundRect">
            <a:avLst>
              <a:gd name="adj" fmla="val 3333"/>
            </a:avLst>
          </a:prstGeom>
          <a:solidFill xmlns:a="http://schemas.openxmlformats.org/drawingml/2006/main">
            <a:srgbClr val="111A30"/>
          </a:solidFill>
          <a:ln xmlns:a="http://schemas.openxmlformats.org/drawingml/2006/main" w="9525">
            <a:solidFill>
              <a:srgbClr val="111A30"/>
            </a:solidFill>
            <a:prstDash val="solid"/>
          </a:ln>
        </p:spPr>
      </p:sp>
      <p:sp>
        <p:nvSpPr>
          <p:cNvPr id="8" name="reshape-code-dot-red">
            <a:extLst xmlns:a="http://schemas.openxmlformats.org/drawingml/2006/main">
              <a:ext uri="{FF2B5EF4-FFF2-40B4-BE49-F238E27FC236}">
                <a16:creationId xmlns:a16="http://schemas.microsoft.com/office/drawing/2014/main" id="{D4E913E2-256F-422F-A7FF-C1019A80E362}"/>
              </a:ext>
            </a:extLst>
          </p:cNvPr>
          <p:cNvSpPr>
            <a:spLocks xmlns:a="http://schemas.openxmlformats.org/drawingml/2006/main" noGrp="1"/>
          </p:cNvSpPr>
          <p:nvPr/>
        </p:nvSpPr>
        <p:spPr>
          <a:xfrm xmlns:a="http://schemas.openxmlformats.org/drawingml/2006/main">
            <a:off x="1028700" y="2447925"/>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9" name="reshape-code-dot-yellow">
            <a:extLst xmlns:a="http://schemas.openxmlformats.org/drawingml/2006/main">
              <a:ext uri="{FF2B5EF4-FFF2-40B4-BE49-F238E27FC236}">
                <a16:creationId xmlns:a16="http://schemas.microsoft.com/office/drawing/2014/main" id="{8EF08BBF-FD34-4320-BC8F-0B0E4C94FB7A}"/>
              </a:ext>
            </a:extLst>
          </p:cNvPr>
          <p:cNvSpPr>
            <a:spLocks xmlns:a="http://schemas.openxmlformats.org/drawingml/2006/main" noGrp="1"/>
          </p:cNvSpPr>
          <p:nvPr/>
        </p:nvSpPr>
        <p:spPr>
          <a:xfrm xmlns:a="http://schemas.openxmlformats.org/drawingml/2006/main">
            <a:off x="1219200" y="2447925"/>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0" name="reshape-code-dot-green">
            <a:extLst xmlns:a="http://schemas.openxmlformats.org/drawingml/2006/main">
              <a:ext uri="{FF2B5EF4-FFF2-40B4-BE49-F238E27FC236}">
                <a16:creationId xmlns:a16="http://schemas.microsoft.com/office/drawing/2014/main" id="{3935221F-BFA7-4DF6-A8D1-CFA91C367D34}"/>
              </a:ext>
            </a:extLst>
          </p:cNvPr>
          <p:cNvSpPr>
            <a:spLocks xmlns:a="http://schemas.openxmlformats.org/drawingml/2006/main" noGrp="1"/>
          </p:cNvSpPr>
          <p:nvPr/>
        </p:nvSpPr>
        <p:spPr>
          <a:xfrm xmlns:a="http://schemas.openxmlformats.org/drawingml/2006/main">
            <a:off x="1409700" y="2447925"/>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1" name="reshape-code-text">
            <a:extLst xmlns:a="http://schemas.openxmlformats.org/drawingml/2006/main">
              <a:ext uri="{FF2B5EF4-FFF2-40B4-BE49-F238E27FC236}">
                <a16:creationId xmlns:a16="http://schemas.microsoft.com/office/drawing/2014/main" id="{2B9B089C-8111-4DCE-B5AF-7DBC827AE261}"/>
              </a:ext>
            </a:extLst>
          </p:cNvPr>
          <p:cNvSpPr>
            <a:spLocks xmlns:a="http://schemas.openxmlformats.org/drawingml/2006/main" noGrp="1"/>
          </p:cNvSpPr>
          <p:nvPr/>
        </p:nvSpPr>
        <p:spPr>
          <a:xfrm xmlns:a="http://schemas.openxmlformats.org/drawingml/2006/main">
            <a:off x="1085850" y="2733675"/>
            <a:ext cx="579120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raw = np.array([120, 135, 128,</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                 98, 108, 112,</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                 145, 138, 152,</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                 87, 95, 103])</a:t>
            </a:r>
          </a:p>
          <a:p xmlns:a="http://schemas.openxmlformats.org/drawingml/2006/main">
            <a:r>
              <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tabel = raw.reshape(4, 3)</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tampilan_bulan = tabel.T</a:t>
            </a:r>
          </a:p>
        </p:txBody>
      </p:sp>
      <p:sp>
        <p:nvSpPr>
          <p:cNvPr id="12" name="reshape-result">
            <a:extLst xmlns:a="http://schemas.openxmlformats.org/drawingml/2006/main">
              <a:ext uri="{FF2B5EF4-FFF2-40B4-BE49-F238E27FC236}">
                <a16:creationId xmlns:a16="http://schemas.microsoft.com/office/drawing/2014/main" id="{29899FDF-E87F-4FEC-BC07-54E410E1F648}"/>
              </a:ext>
            </a:extLst>
          </p:cNvPr>
          <p:cNvSpPr>
            <a:spLocks xmlns:a="http://schemas.openxmlformats.org/drawingml/2006/main" noGrp="1"/>
          </p:cNvSpPr>
          <p:nvPr/>
        </p:nvSpPr>
        <p:spPr>
          <a:xfrm xmlns:a="http://schemas.openxmlformats.org/drawingml/2006/main">
            <a:off x="7667625" y="2514600"/>
            <a:ext cx="3581400" cy="2428875"/>
          </a:xfrm>
          <a:prstGeom xmlns:a="http://schemas.openxmlformats.org/drawingml/2006/main" prst="roundRect">
            <a:avLst>
              <a:gd name="adj" fmla="val 3922"/>
            </a:avLst>
          </a:prstGeom>
          <a:solidFill xmlns:a="http://schemas.openxmlformats.org/drawingml/2006/main">
            <a:srgbClr val="FFF7D6"/>
          </a:solidFill>
          <a:ln xmlns:a="http://schemas.openxmlformats.org/drawingml/2006/main" w="9525">
            <a:solidFill>
              <a:srgbClr val="F5D36A"/>
            </a:solidFill>
            <a:prstDash val="solid"/>
          </a:ln>
        </p:spPr>
      </p:sp>
      <p:sp>
        <p:nvSpPr>
          <p:cNvPr id="13" name="reshape-result-title">
            <a:extLst xmlns:a="http://schemas.openxmlformats.org/drawingml/2006/main">
              <a:ext uri="{FF2B5EF4-FFF2-40B4-BE49-F238E27FC236}">
                <a16:creationId xmlns:a16="http://schemas.microsoft.com/office/drawing/2014/main" id="{7CE1BA8C-43FE-4A21-B33D-7C3706201F30}"/>
              </a:ext>
            </a:extLst>
          </p:cNvPr>
          <p:cNvSpPr>
            <a:spLocks xmlns:a="http://schemas.openxmlformats.org/drawingml/2006/main" noGrp="1"/>
          </p:cNvSpPr>
          <p:nvPr/>
        </p:nvSpPr>
        <p:spPr>
          <a:xfrm xmlns:a="http://schemas.openxmlformats.org/drawingml/2006/main">
            <a:off x="7953375" y="28003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A30"/>
                </a:solidFill>
                <a:latin typeface="SF Pro Display"/>
                <a:ea typeface="SF Pro Display"/>
                <a:cs typeface="SF Pro Display"/>
              </a:defRPr>
            </a:pPr>
            <a:r>
              <a:rPr sz="1725" b="1">
                <a:solidFill>
                  <a:srgbClr val="111A30"/>
                </a:solidFill>
                <a:latin typeface="SF Pro Display"/>
                <a:ea typeface="SF Pro Display"/>
                <a:cs typeface="SF Pro Display"/>
              </a:rPr>
              <a:t>Bentuk hasil</a:t>
            </a:r>
          </a:p>
        </p:txBody>
      </p:sp>
      <p:sp>
        <p:nvSpPr>
          <p:cNvPr id="14" name="reshape-result-copy">
            <a:extLst xmlns:a="http://schemas.openxmlformats.org/drawingml/2006/main">
              <a:ext uri="{FF2B5EF4-FFF2-40B4-BE49-F238E27FC236}">
                <a16:creationId xmlns:a16="http://schemas.microsoft.com/office/drawing/2014/main" id="{FEAA6329-F11F-474E-BA02-80AD92EEE555}"/>
              </a:ext>
            </a:extLst>
          </p:cNvPr>
          <p:cNvSpPr>
            <a:spLocks xmlns:a="http://schemas.openxmlformats.org/drawingml/2006/main" noGrp="1"/>
          </p:cNvSpPr>
          <p:nvPr/>
        </p:nvSpPr>
        <p:spPr>
          <a:xfrm xmlns:a="http://schemas.openxmlformats.org/drawingml/2006/main">
            <a:off x="7953375" y="3333750"/>
            <a:ext cx="30003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111A30"/>
                </a:solidFill>
                <a:latin typeface="SF Mono"/>
                <a:ea typeface="SF Mono"/>
                <a:cs typeface="SF Mono"/>
              </a:defRPr>
            </a:pPr>
            <a:r>
              <a:rPr sz="1350" b="0">
                <a:solidFill>
                  <a:srgbClr val="111A30"/>
                </a:solidFill>
                <a:latin typeface="SF Mono"/>
                <a:ea typeface="SF Mono"/>
                <a:cs typeface="SF Mono"/>
              </a:rPr>
              <a:t>raw               (12,)</a:t>
            </a:r>
          </a:p>
          <a:p xmlns:a="http://schemas.openxmlformats.org/drawingml/2006/main">
            <a:pPr algn="l">
              <a:buNone/>
              <a:defRPr sz="1350" b="0">
                <a:solidFill>
                  <a:srgbClr val="111A30"/>
                </a:solidFill>
                <a:latin typeface="SF Mono"/>
                <a:ea typeface="SF Mono"/>
                <a:cs typeface="SF Mono"/>
              </a:defRPr>
            </a:pPr>
            <a:r>
              <a:rPr sz="1350" b="0">
                <a:solidFill>
                  <a:srgbClr val="111A30"/>
                </a:solidFill>
                <a:latin typeface="SF Mono"/>
                <a:ea typeface="SF Mono"/>
                <a:cs typeface="SF Mono"/>
              </a:rPr>
              <a:t>tabel             (4, 3)</a:t>
            </a:r>
          </a:p>
          <a:p xmlns:a="http://schemas.openxmlformats.org/drawingml/2006/main">
            <a:pPr algn="l">
              <a:buNone/>
              <a:defRPr sz="1350" b="0">
                <a:solidFill>
                  <a:srgbClr val="111A30"/>
                </a:solidFill>
                <a:latin typeface="SF Mono"/>
                <a:ea typeface="SF Mono"/>
                <a:cs typeface="SF Mono"/>
              </a:defRPr>
            </a:pPr>
            <a:r>
              <a:rPr sz="1350" b="0">
                <a:solidFill>
                  <a:srgbClr val="111A30"/>
                </a:solidFill>
                <a:latin typeface="SF Mono"/>
                <a:ea typeface="SF Mono"/>
                <a:cs typeface="SF Mono"/>
              </a:rPr>
              <a:t>tampilan_bulan    (3, 4)</a:t>
            </a:r>
          </a:p>
        </p:txBody>
      </p:sp>
      <p:sp>
        <p:nvSpPr>
          <p:cNvPr id="15" name="reshape-note">
            <a:extLst xmlns:a="http://schemas.openxmlformats.org/drawingml/2006/main">
              <a:ext uri="{FF2B5EF4-FFF2-40B4-BE49-F238E27FC236}">
                <a16:creationId xmlns:a16="http://schemas.microsoft.com/office/drawing/2014/main" id="{246E7F6A-E326-4D71-8AF3-CDD40E75C086}"/>
              </a:ext>
            </a:extLst>
          </p:cNvPr>
          <p:cNvSpPr>
            <a:spLocks xmlns:a="http://schemas.openxmlformats.org/drawingml/2006/main" noGrp="1"/>
          </p:cNvSpPr>
          <p:nvPr/>
        </p:nvSpPr>
        <p:spPr>
          <a:xfrm xmlns:a="http://schemas.openxmlformats.org/drawingml/2006/main">
            <a:off x="7953375" y="4429125"/>
            <a:ext cx="2905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Transpose menukar sumbu.</a:t>
            </a:r>
          </a:p>
        </p:txBody>
      </p:sp>
    </p:spTree>
    <p:extLst>
      <p:ext uri="{BB962C8B-B14F-4D97-AF65-F5344CB8AC3E}">
        <p14:creationId xmlns:p14="http://schemas.microsoft.com/office/powerpoint/2010/main" val="13963803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kicker-8">
            <a:extLst xmlns:a="http://schemas.openxmlformats.org/drawingml/2006/main">
              <a:ext uri="{FF2B5EF4-FFF2-40B4-BE49-F238E27FC236}">
                <a16:creationId xmlns:a16="http://schemas.microsoft.com/office/drawing/2014/main" id="{55EA3500-876B-4776-8530-3E7EF87FCAB3}"/>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PRACTICE TENGAH  •  15 MENIT</a:t>
            </a:r>
          </a:p>
        </p:txBody>
      </p:sp>
      <p:sp>
        <p:nvSpPr>
          <p:cNvPr id="2" name="title-8">
            <a:extLst xmlns:a="http://schemas.openxmlformats.org/drawingml/2006/main">
              <a:ext uri="{FF2B5EF4-FFF2-40B4-BE49-F238E27FC236}">
                <a16:creationId xmlns:a16="http://schemas.microsoft.com/office/drawing/2014/main" id="{E0BE380E-2EFA-449F-95DF-1D829565754C}"/>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Bentuk laporan penjualan kuartal</a:t>
            </a:r>
          </a:p>
        </p:txBody>
      </p:sp>
      <p:sp>
        <p:nvSpPr>
          <p:cNvPr id="3" name="divider-8">
            <a:extLst xmlns:a="http://schemas.openxmlformats.org/drawingml/2006/main">
              <a:ext uri="{FF2B5EF4-FFF2-40B4-BE49-F238E27FC236}">
                <a16:creationId xmlns:a16="http://schemas.microsoft.com/office/drawing/2014/main" id="{166019D6-788C-4411-B5CE-A093FDF079D8}"/>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8">
            <a:extLst xmlns:a="http://schemas.openxmlformats.org/drawingml/2006/main">
              <a:ext uri="{FF2B5EF4-FFF2-40B4-BE49-F238E27FC236}">
                <a16:creationId xmlns:a16="http://schemas.microsoft.com/office/drawing/2014/main" id="{4B033571-97FB-452A-8562-883B22865DC8}"/>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Susun ulang data mentah, lalu tampilkan dari dua orientasi.</a:t>
            </a:r>
          </a:p>
        </p:txBody>
      </p:sp>
      <p:sp>
        <p:nvSpPr>
          <p:cNvPr id="5" name="page-8">
            <a:extLst xmlns:a="http://schemas.openxmlformats.org/drawingml/2006/main">
              <a:ext uri="{FF2B5EF4-FFF2-40B4-BE49-F238E27FC236}">
                <a16:creationId xmlns:a16="http://schemas.microsoft.com/office/drawing/2014/main" id="{56F9C46B-2F24-47E4-9E07-783D0CFD0D9E}"/>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08</a:t>
            </a:r>
          </a:p>
        </p:txBody>
      </p:sp>
      <p:sp>
        <p:nvSpPr>
          <p:cNvPr id="6" name="course-8">
            <a:extLst xmlns:a="http://schemas.openxmlformats.org/drawingml/2006/main">
              <a:ext uri="{FF2B5EF4-FFF2-40B4-BE49-F238E27FC236}">
                <a16:creationId xmlns:a16="http://schemas.microsoft.com/office/drawing/2014/main" id="{F8B41805-B48F-4493-B52D-57E0509677DA}"/>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practice-mid-data-bg">
            <a:extLst xmlns:a="http://schemas.openxmlformats.org/drawingml/2006/main">
              <a:ext uri="{FF2B5EF4-FFF2-40B4-BE49-F238E27FC236}">
                <a16:creationId xmlns:a16="http://schemas.microsoft.com/office/drawing/2014/main" id="{F530BF1A-4E6B-4A44-B81C-CD192B879AB4}"/>
              </a:ext>
            </a:extLst>
          </p:cNvPr>
          <p:cNvSpPr>
            <a:spLocks xmlns:a="http://schemas.openxmlformats.org/drawingml/2006/main" noGrp="1"/>
          </p:cNvSpPr>
          <p:nvPr/>
        </p:nvSpPr>
        <p:spPr>
          <a:xfrm xmlns:a="http://schemas.openxmlformats.org/drawingml/2006/main">
            <a:off x="685800" y="2247900"/>
            <a:ext cx="5048250" cy="3695700"/>
          </a:xfrm>
          <a:prstGeom xmlns:a="http://schemas.openxmlformats.org/drawingml/2006/main" prst="roundRect">
            <a:avLst>
              <a:gd name="adj" fmla="val 2577"/>
            </a:avLst>
          </a:prstGeom>
          <a:solidFill xmlns:a="http://schemas.openxmlformats.org/drawingml/2006/main">
            <a:srgbClr val="FFF7D6"/>
          </a:solidFill>
          <a:ln xmlns:a="http://schemas.openxmlformats.org/drawingml/2006/main" w="9525">
            <a:solidFill>
              <a:srgbClr val="F5D36A"/>
            </a:solidFill>
            <a:prstDash val="solid"/>
          </a:ln>
        </p:spPr>
      </p:sp>
      <p:sp>
        <p:nvSpPr>
          <p:cNvPr id="8" name="practice-mid-data-label">
            <a:extLst xmlns:a="http://schemas.openxmlformats.org/drawingml/2006/main">
              <a:ext uri="{FF2B5EF4-FFF2-40B4-BE49-F238E27FC236}">
                <a16:creationId xmlns:a16="http://schemas.microsoft.com/office/drawing/2014/main" id="{F824CFED-5A75-4F87-ABC6-3624A978EA2A}"/>
              </a:ext>
            </a:extLst>
          </p:cNvPr>
          <p:cNvSpPr>
            <a:spLocks xmlns:a="http://schemas.openxmlformats.org/drawingml/2006/main" noGrp="1"/>
          </p:cNvSpPr>
          <p:nvPr/>
        </p:nvSpPr>
        <p:spPr>
          <a:xfrm xmlns:a="http://schemas.openxmlformats.org/drawingml/2006/main">
            <a:off x="952500" y="2428875"/>
            <a:ext cx="433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DATA MENTAH</a:t>
            </a:r>
          </a:p>
        </p:txBody>
      </p:sp>
      <p:sp>
        <p:nvSpPr>
          <p:cNvPr id="9" name="practice-mid-data-code-background">
            <a:extLst xmlns:a="http://schemas.openxmlformats.org/drawingml/2006/main">
              <a:ext uri="{FF2B5EF4-FFF2-40B4-BE49-F238E27FC236}">
                <a16:creationId xmlns:a16="http://schemas.microsoft.com/office/drawing/2014/main" id="{8B797950-0766-410C-8F5D-5031533F4DF9}"/>
              </a:ext>
            </a:extLst>
          </p:cNvPr>
          <p:cNvSpPr>
            <a:spLocks xmlns:a="http://schemas.openxmlformats.org/drawingml/2006/main" noGrp="1"/>
          </p:cNvSpPr>
          <p:nvPr/>
        </p:nvSpPr>
        <p:spPr>
          <a:xfrm xmlns:a="http://schemas.openxmlformats.org/drawingml/2006/main">
            <a:off x="914400" y="2857500"/>
            <a:ext cx="4572000" cy="2114550"/>
          </a:xfrm>
          <a:prstGeom xmlns:a="http://schemas.openxmlformats.org/drawingml/2006/main" prst="roundRect">
            <a:avLst>
              <a:gd name="adj" fmla="val 5405"/>
            </a:avLst>
          </a:prstGeom>
          <a:solidFill xmlns:a="http://schemas.openxmlformats.org/drawingml/2006/main">
            <a:srgbClr val="111A30"/>
          </a:solidFill>
          <a:ln xmlns:a="http://schemas.openxmlformats.org/drawingml/2006/main" w="9525">
            <a:solidFill>
              <a:srgbClr val="111A30"/>
            </a:solidFill>
            <a:prstDash val="solid"/>
          </a:ln>
        </p:spPr>
      </p:sp>
      <p:sp>
        <p:nvSpPr>
          <p:cNvPr id="10" name="practice-mid-data-code-dot-red">
            <a:extLst xmlns:a="http://schemas.openxmlformats.org/drawingml/2006/main">
              <a:ext uri="{FF2B5EF4-FFF2-40B4-BE49-F238E27FC236}">
                <a16:creationId xmlns:a16="http://schemas.microsoft.com/office/drawing/2014/main" id="{D46344EF-C822-4B8A-BD8C-2193B8B7394D}"/>
              </a:ext>
            </a:extLst>
          </p:cNvPr>
          <p:cNvSpPr>
            <a:spLocks xmlns:a="http://schemas.openxmlformats.org/drawingml/2006/main" noGrp="1"/>
          </p:cNvSpPr>
          <p:nvPr/>
        </p:nvSpPr>
        <p:spPr>
          <a:xfrm xmlns:a="http://schemas.openxmlformats.org/drawingml/2006/main">
            <a:off x="1123950" y="3019425"/>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11" name="practice-mid-data-code-dot-yellow">
            <a:extLst xmlns:a="http://schemas.openxmlformats.org/drawingml/2006/main">
              <a:ext uri="{FF2B5EF4-FFF2-40B4-BE49-F238E27FC236}">
                <a16:creationId xmlns:a16="http://schemas.microsoft.com/office/drawing/2014/main" id="{44A729A2-1877-4944-8FE2-256B9E495542}"/>
              </a:ext>
            </a:extLst>
          </p:cNvPr>
          <p:cNvSpPr>
            <a:spLocks xmlns:a="http://schemas.openxmlformats.org/drawingml/2006/main" noGrp="1"/>
          </p:cNvSpPr>
          <p:nvPr/>
        </p:nvSpPr>
        <p:spPr>
          <a:xfrm xmlns:a="http://schemas.openxmlformats.org/drawingml/2006/main">
            <a:off x="1314450" y="3019425"/>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2" name="practice-mid-data-code-dot-green">
            <a:extLst xmlns:a="http://schemas.openxmlformats.org/drawingml/2006/main">
              <a:ext uri="{FF2B5EF4-FFF2-40B4-BE49-F238E27FC236}">
                <a16:creationId xmlns:a16="http://schemas.microsoft.com/office/drawing/2014/main" id="{BCFD4238-3CDF-4863-9A07-2D5024821336}"/>
              </a:ext>
            </a:extLst>
          </p:cNvPr>
          <p:cNvSpPr>
            <a:spLocks xmlns:a="http://schemas.openxmlformats.org/drawingml/2006/main" noGrp="1"/>
          </p:cNvSpPr>
          <p:nvPr/>
        </p:nvSpPr>
        <p:spPr>
          <a:xfrm xmlns:a="http://schemas.openxmlformats.org/drawingml/2006/main">
            <a:off x="1504950" y="3019425"/>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3" name="practice-mid-data-code-text">
            <a:extLst xmlns:a="http://schemas.openxmlformats.org/drawingml/2006/main">
              <a:ext uri="{FF2B5EF4-FFF2-40B4-BE49-F238E27FC236}">
                <a16:creationId xmlns:a16="http://schemas.microsoft.com/office/drawing/2014/main" id="{BF921851-F2AF-486C-8B04-B7186BE528CB}"/>
              </a:ext>
            </a:extLst>
          </p:cNvPr>
          <p:cNvSpPr>
            <a:spLocks xmlns:a="http://schemas.openxmlformats.org/drawingml/2006/main" noGrp="1"/>
          </p:cNvSpPr>
          <p:nvPr/>
        </p:nvSpPr>
        <p:spPr>
          <a:xfrm xmlns:a="http://schemas.openxmlformats.org/drawingml/2006/main">
            <a:off x="1181100" y="3305175"/>
            <a:ext cx="40767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raw = np.array([</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  145, 151, 162,</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  102, 112, 118,</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  132, 129, 140,</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   91, 108, 113</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a:t>
            </a:r>
          </a:p>
        </p:txBody>
      </p:sp>
      <p:sp>
        <p:nvSpPr>
          <p:cNvPr id="14" name="practice-mid-branch-list">
            <a:extLst xmlns:a="http://schemas.openxmlformats.org/drawingml/2006/main">
              <a:ext uri="{FF2B5EF4-FFF2-40B4-BE49-F238E27FC236}">
                <a16:creationId xmlns:a16="http://schemas.microsoft.com/office/drawing/2014/main" id="{00EC8C34-024B-4F85-9B46-8FD45257354A}"/>
              </a:ext>
            </a:extLst>
          </p:cNvPr>
          <p:cNvSpPr>
            <a:spLocks xmlns:a="http://schemas.openxmlformats.org/drawingml/2006/main" noGrp="1"/>
          </p:cNvSpPr>
          <p:nvPr/>
        </p:nvSpPr>
        <p:spPr>
          <a:xfrm xmlns:a="http://schemas.openxmlformats.org/drawingml/2006/main">
            <a:off x="952500" y="5191125"/>
            <a:ext cx="4333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11A30"/>
                </a:solidFill>
                <a:latin typeface="SF Pro Text"/>
                <a:ea typeface="SF Pro Text"/>
                <a:cs typeface="SF Pro Text"/>
              </a:defRPr>
            </a:pPr>
            <a:r>
              <a:rPr sz="1275" b="0">
                <a:solidFill>
                  <a:srgbClr val="111A30"/>
                </a:solidFill>
                <a:latin typeface="SF Pro Text"/>
                <a:ea typeface="SF Pro Text"/>
                <a:cs typeface="SF Pro Text"/>
              </a:rPr>
              <a:t>Urutan cabang: Jakarta, Bandung, Surabaya, Medan</a:t>
            </a:r>
          </a:p>
        </p:txBody>
      </p:sp>
      <p:sp>
        <p:nvSpPr>
          <p:cNvPr id="15" name="practice-mid-task-bg">
            <a:extLst xmlns:a="http://schemas.openxmlformats.org/drawingml/2006/main">
              <a:ext uri="{FF2B5EF4-FFF2-40B4-BE49-F238E27FC236}">
                <a16:creationId xmlns:a16="http://schemas.microsoft.com/office/drawing/2014/main" id="{DF6B677A-07A1-4A8A-9AC4-29C54175B07A}"/>
              </a:ext>
            </a:extLst>
          </p:cNvPr>
          <p:cNvSpPr>
            <a:spLocks xmlns:a="http://schemas.openxmlformats.org/drawingml/2006/main" noGrp="1"/>
          </p:cNvSpPr>
          <p:nvPr/>
        </p:nvSpPr>
        <p:spPr>
          <a:xfrm xmlns:a="http://schemas.openxmlformats.org/drawingml/2006/main">
            <a:off x="6019800" y="2247900"/>
            <a:ext cx="5486400" cy="3695700"/>
          </a:xfrm>
          <a:prstGeom xmlns:a="http://schemas.openxmlformats.org/drawingml/2006/main" prst="roundRect">
            <a:avLst>
              <a:gd name="adj" fmla="val 2577"/>
            </a:avLst>
          </a:prstGeom>
          <a:solidFill xmlns:a="http://schemas.openxmlformats.org/drawingml/2006/main">
            <a:srgbClr val="EAF6FC"/>
          </a:solidFill>
          <a:ln xmlns:a="http://schemas.openxmlformats.org/drawingml/2006/main" w="9525">
            <a:solidFill>
              <a:srgbClr val="4FB6E8"/>
            </a:solidFill>
            <a:prstDash val="solid"/>
          </a:ln>
        </p:spPr>
      </p:sp>
      <p:sp>
        <p:nvSpPr>
          <p:cNvPr id="16" name="practice-mid-task-title">
            <a:extLst xmlns:a="http://schemas.openxmlformats.org/drawingml/2006/main">
              <a:ext uri="{FF2B5EF4-FFF2-40B4-BE49-F238E27FC236}">
                <a16:creationId xmlns:a16="http://schemas.microsoft.com/office/drawing/2014/main" id="{41B7547C-33E1-452E-BE83-D60695494509}"/>
              </a:ext>
            </a:extLst>
          </p:cNvPr>
          <p:cNvSpPr>
            <a:spLocks xmlns:a="http://schemas.openxmlformats.org/drawingml/2006/main" noGrp="1"/>
          </p:cNvSpPr>
          <p:nvPr/>
        </p:nvSpPr>
        <p:spPr>
          <a:xfrm xmlns:a="http://schemas.openxmlformats.org/drawingml/2006/main">
            <a:off x="6334125" y="2476500"/>
            <a:ext cx="481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A30"/>
                </a:solidFill>
                <a:latin typeface="SF Pro Display"/>
                <a:ea typeface="SF Pro Display"/>
                <a:cs typeface="SF Pro Display"/>
              </a:defRPr>
            </a:pPr>
            <a:r>
              <a:rPr sz="1725" b="1">
                <a:solidFill>
                  <a:srgbClr val="111A30"/>
                </a:solidFill>
                <a:latin typeface="SF Pro Display"/>
                <a:ea typeface="SF Pro Display"/>
                <a:cs typeface="SF Pro Display"/>
              </a:rPr>
              <a:t>Tugas</a:t>
            </a:r>
          </a:p>
        </p:txBody>
      </p:sp>
      <p:sp>
        <p:nvSpPr>
          <p:cNvPr id="17" name="practice-mid-tasks">
            <a:extLst xmlns:a="http://schemas.openxmlformats.org/drawingml/2006/main">
              <a:ext uri="{FF2B5EF4-FFF2-40B4-BE49-F238E27FC236}">
                <a16:creationId xmlns:a16="http://schemas.microsoft.com/office/drawing/2014/main" id="{D8777CCF-427F-4DC2-8184-BD16CCBB22F4}"/>
              </a:ext>
            </a:extLst>
          </p:cNvPr>
          <p:cNvSpPr>
            <a:spLocks xmlns:a="http://schemas.openxmlformats.org/drawingml/2006/main" noGrp="1"/>
          </p:cNvSpPr>
          <p:nvPr/>
        </p:nvSpPr>
        <p:spPr>
          <a:xfrm xmlns:a="http://schemas.openxmlformats.org/drawingml/2006/main">
            <a:off x="6334125" y="2990850"/>
            <a:ext cx="4762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1  Bentuk matriks 4 × 3.</a:t>
            </a:r>
          </a:p>
          <a:p xmlns:a="http://schemas.openxmlformats.org/drawingml/2006/main">
            <a:r>
              <a:t/>
            </a:r>
          </a:p>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2  Ambil nilai semua cabang pada Februari.</a:t>
            </a:r>
          </a:p>
          <a:p xmlns:a="http://schemas.openxmlformats.org/drawingml/2006/main">
            <a:r>
              <a:t/>
            </a:r>
          </a:p>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3  Pilih baris Jakarta dan Surabaya.</a:t>
            </a:r>
          </a:p>
          <a:p xmlns:a="http://schemas.openxmlformats.org/drawingml/2006/main">
            <a:r>
              <a:t/>
            </a:r>
          </a:p>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4  Buat tampilan bulan sebagai baris.</a:t>
            </a:r>
          </a:p>
          <a:p xmlns:a="http://schemas.openxmlformats.org/drawingml/2006/main">
            <a:r>
              <a:t/>
            </a:r>
          </a:p>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5  Cetak shape dan jelaskan maknanya.</a:t>
            </a:r>
          </a:p>
        </p:txBody>
      </p:sp>
      <p:sp>
        <p:nvSpPr>
          <p:cNvPr id="18" name="practice-mid-note">
            <a:extLst xmlns:a="http://schemas.openxmlformats.org/drawingml/2006/main">
              <a:ext uri="{FF2B5EF4-FFF2-40B4-BE49-F238E27FC236}">
                <a16:creationId xmlns:a16="http://schemas.microsoft.com/office/drawing/2014/main" id="{F3C9D5C1-5C3B-4231-A0D2-FD87DF0D7BFF}"/>
              </a:ext>
            </a:extLst>
          </p:cNvPr>
          <p:cNvSpPr>
            <a:spLocks xmlns:a="http://schemas.openxmlformats.org/drawingml/2006/main" noGrp="1"/>
          </p:cNvSpPr>
          <p:nvPr/>
        </p:nvSpPr>
        <p:spPr>
          <a:xfrm xmlns:a="http://schemas.openxmlformats.org/drawingml/2006/main">
            <a:off x="6334125" y="5410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111A30"/>
                </a:solidFill>
                <a:latin typeface="SF Pro Text"/>
                <a:ea typeface="SF Pro Text"/>
                <a:cs typeface="SF Pro Text"/>
              </a:defRPr>
            </a:pPr>
            <a:r>
              <a:rPr sz="1275" b="1">
                <a:solidFill>
                  <a:srgbClr val="111A30"/>
                </a:solidFill>
                <a:latin typeface="SF Pro Text"/>
                <a:ea typeface="SF Pro Text"/>
                <a:cs typeface="SF Pro Text"/>
              </a:rPr>
              <a:t>Gunakan slicing, reshape, dan `.T`.</a:t>
            </a:r>
          </a:p>
        </p:txBody>
      </p:sp>
    </p:spTree>
    <p:extLst>
      <p:ext uri="{BB962C8B-B14F-4D97-AF65-F5344CB8AC3E}">
        <p14:creationId xmlns:p14="http://schemas.microsoft.com/office/powerpoint/2010/main" val="20041912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kicker-9">
            <a:extLst xmlns:a="http://schemas.openxmlformats.org/drawingml/2006/main">
              <a:ext uri="{FF2B5EF4-FFF2-40B4-BE49-F238E27FC236}">
                <a16:creationId xmlns:a16="http://schemas.microsoft.com/office/drawing/2014/main" id="{9C259E81-4267-4B99-A82C-8488D140B563}"/>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OPERASI VEKTOR</a:t>
            </a:r>
          </a:p>
        </p:txBody>
      </p:sp>
      <p:sp>
        <p:nvSpPr>
          <p:cNvPr id="2" name="title-9">
            <a:extLst xmlns:a="http://schemas.openxmlformats.org/drawingml/2006/main">
              <a:ext uri="{FF2B5EF4-FFF2-40B4-BE49-F238E27FC236}">
                <a16:creationId xmlns:a16="http://schemas.microsoft.com/office/drawing/2014/main" id="{EEDF98BB-3179-4EB2-A002-18460F4002FE}"/>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Satu operasi dapat mengubah seluruh matriks</a:t>
            </a:r>
          </a:p>
        </p:txBody>
      </p:sp>
      <p:sp>
        <p:nvSpPr>
          <p:cNvPr id="3" name="divider-9">
            <a:extLst xmlns:a="http://schemas.openxmlformats.org/drawingml/2006/main">
              <a:ext uri="{FF2B5EF4-FFF2-40B4-BE49-F238E27FC236}">
                <a16:creationId xmlns:a16="http://schemas.microsoft.com/office/drawing/2014/main" id="{B6460BD3-5F04-4CD2-95EB-E5EDC97D069D}"/>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9">
            <a:extLst xmlns:a="http://schemas.openxmlformats.org/drawingml/2006/main">
              <a:ext uri="{FF2B5EF4-FFF2-40B4-BE49-F238E27FC236}">
                <a16:creationId xmlns:a16="http://schemas.microsoft.com/office/drawing/2014/main" id="{CE76424A-73D6-40E6-8970-554A22EF335F}"/>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Gunakan skenario penyesuaian yang sama pada setiap nilai penjualan.</a:t>
            </a:r>
          </a:p>
        </p:txBody>
      </p:sp>
      <p:sp>
        <p:nvSpPr>
          <p:cNvPr id="5" name="page-9">
            <a:extLst xmlns:a="http://schemas.openxmlformats.org/drawingml/2006/main">
              <a:ext uri="{FF2B5EF4-FFF2-40B4-BE49-F238E27FC236}">
                <a16:creationId xmlns:a16="http://schemas.microsoft.com/office/drawing/2014/main" id="{4424580A-1641-4195-AEBC-DFECE175F904}"/>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09</a:t>
            </a:r>
          </a:p>
        </p:txBody>
      </p:sp>
      <p:sp>
        <p:nvSpPr>
          <p:cNvPr id="6" name="course-9">
            <a:extLst xmlns:a="http://schemas.openxmlformats.org/drawingml/2006/main">
              <a:ext uri="{FF2B5EF4-FFF2-40B4-BE49-F238E27FC236}">
                <a16:creationId xmlns:a16="http://schemas.microsoft.com/office/drawing/2014/main" id="{8572DE52-4B34-4FD5-B807-4521412F3EB4}"/>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vector-code-background">
            <a:extLst xmlns:a="http://schemas.openxmlformats.org/drawingml/2006/main">
              <a:ext uri="{FF2B5EF4-FFF2-40B4-BE49-F238E27FC236}">
                <a16:creationId xmlns:a16="http://schemas.microsoft.com/office/drawing/2014/main" id="{CB8E4BE2-A68B-43BE-A3A5-F379A6E83E48}"/>
              </a:ext>
            </a:extLst>
          </p:cNvPr>
          <p:cNvSpPr>
            <a:spLocks xmlns:a="http://schemas.openxmlformats.org/drawingml/2006/main" noGrp="1"/>
          </p:cNvSpPr>
          <p:nvPr/>
        </p:nvSpPr>
        <p:spPr>
          <a:xfrm xmlns:a="http://schemas.openxmlformats.org/drawingml/2006/main">
            <a:off x="819150" y="2362200"/>
            <a:ext cx="6667500" cy="2952750"/>
          </a:xfrm>
          <a:prstGeom xmlns:a="http://schemas.openxmlformats.org/drawingml/2006/main" prst="roundRect">
            <a:avLst>
              <a:gd name="adj" fmla="val 3871"/>
            </a:avLst>
          </a:prstGeom>
          <a:solidFill xmlns:a="http://schemas.openxmlformats.org/drawingml/2006/main">
            <a:srgbClr val="111A30"/>
          </a:solidFill>
          <a:ln xmlns:a="http://schemas.openxmlformats.org/drawingml/2006/main" w="9525">
            <a:solidFill>
              <a:srgbClr val="111A30"/>
            </a:solidFill>
            <a:prstDash val="solid"/>
          </a:ln>
        </p:spPr>
      </p:sp>
      <p:sp>
        <p:nvSpPr>
          <p:cNvPr id="8" name="vector-code-dot-red">
            <a:extLst xmlns:a="http://schemas.openxmlformats.org/drawingml/2006/main">
              <a:ext uri="{FF2B5EF4-FFF2-40B4-BE49-F238E27FC236}">
                <a16:creationId xmlns:a16="http://schemas.microsoft.com/office/drawing/2014/main" id="{18D475CF-BD80-486D-9F8B-9BEFEC1E718F}"/>
              </a:ext>
            </a:extLst>
          </p:cNvPr>
          <p:cNvSpPr>
            <a:spLocks xmlns:a="http://schemas.openxmlformats.org/drawingml/2006/main" noGrp="1"/>
          </p:cNvSpPr>
          <p:nvPr/>
        </p:nvSpPr>
        <p:spPr>
          <a:xfrm xmlns:a="http://schemas.openxmlformats.org/drawingml/2006/main">
            <a:off x="1028700" y="2524125"/>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9" name="vector-code-dot-yellow">
            <a:extLst xmlns:a="http://schemas.openxmlformats.org/drawingml/2006/main">
              <a:ext uri="{FF2B5EF4-FFF2-40B4-BE49-F238E27FC236}">
                <a16:creationId xmlns:a16="http://schemas.microsoft.com/office/drawing/2014/main" id="{A31E61F6-759A-4F56-8055-4E60A1BE8535}"/>
              </a:ext>
            </a:extLst>
          </p:cNvPr>
          <p:cNvSpPr>
            <a:spLocks xmlns:a="http://schemas.openxmlformats.org/drawingml/2006/main" noGrp="1"/>
          </p:cNvSpPr>
          <p:nvPr/>
        </p:nvSpPr>
        <p:spPr>
          <a:xfrm xmlns:a="http://schemas.openxmlformats.org/drawingml/2006/main">
            <a:off x="1219200" y="2524125"/>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0" name="vector-code-dot-green">
            <a:extLst xmlns:a="http://schemas.openxmlformats.org/drawingml/2006/main">
              <a:ext uri="{FF2B5EF4-FFF2-40B4-BE49-F238E27FC236}">
                <a16:creationId xmlns:a16="http://schemas.microsoft.com/office/drawing/2014/main" id="{8E3A752F-611F-4418-8642-8AE885D0BFEE}"/>
              </a:ext>
            </a:extLst>
          </p:cNvPr>
          <p:cNvSpPr>
            <a:spLocks xmlns:a="http://schemas.openxmlformats.org/drawingml/2006/main" noGrp="1"/>
          </p:cNvSpPr>
          <p:nvPr/>
        </p:nvSpPr>
        <p:spPr>
          <a:xfrm xmlns:a="http://schemas.openxmlformats.org/drawingml/2006/main">
            <a:off x="1409700" y="2524125"/>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1" name="vector-code-text">
            <a:extLst xmlns:a="http://schemas.openxmlformats.org/drawingml/2006/main">
              <a:ext uri="{FF2B5EF4-FFF2-40B4-BE49-F238E27FC236}">
                <a16:creationId xmlns:a16="http://schemas.microsoft.com/office/drawing/2014/main" id="{33E7DA33-887E-4DFB-A205-5BFEBEAB7A33}"/>
              </a:ext>
            </a:extLst>
          </p:cNvPr>
          <p:cNvSpPr>
            <a:spLocks xmlns:a="http://schemas.openxmlformats.org/drawingml/2006/main" noGrp="1"/>
          </p:cNvSpPr>
          <p:nvPr/>
        </p:nvSpPr>
        <p:spPr>
          <a:xfrm xmlns:a="http://schemas.openxmlformats.org/drawingml/2006/main">
            <a:off x="1085850" y="2809875"/>
            <a:ext cx="617220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FFFFFF"/>
                </a:solidFill>
                <a:latin typeface="SF Mono"/>
                <a:ea typeface="SF Mono"/>
                <a:cs typeface="SF Mono"/>
              </a:defRPr>
            </a:pPr>
            <a:r>
              <a:rPr sz="1500" b="0">
                <a:solidFill>
                  <a:srgbClr val="FFFFFF"/>
                </a:solidFill>
                <a:latin typeface="SF Mono"/>
                <a:ea typeface="SF Mono"/>
                <a:cs typeface="SF Mono"/>
              </a:rPr>
              <a:t>penjualan_diskon = penjualan * 0.95</a:t>
            </a:r>
          </a:p>
          <a:p xmlns:a="http://schemas.openxmlformats.org/drawingml/2006/main">
            <a:pPr algn="l">
              <a:buNone/>
              <a:defRPr sz="1500" b="0">
                <a:solidFill>
                  <a:srgbClr val="FFFFFF"/>
                </a:solidFill>
                <a:latin typeface="SF Mono"/>
                <a:ea typeface="SF Mono"/>
                <a:cs typeface="SF Mono"/>
              </a:defRPr>
            </a:pPr>
            <a:r>
              <a:rPr sz="1500" b="0">
                <a:solidFill>
                  <a:srgbClr val="FFFFFF"/>
                </a:solidFill>
                <a:latin typeface="SF Mono"/>
                <a:ea typeface="SF Mono"/>
                <a:cs typeface="SF Mono"/>
              </a:rPr>
              <a:t>penjualan_skenario = penjualan * 1.05</a:t>
            </a:r>
          </a:p>
          <a:p xmlns:a="http://schemas.openxmlformats.org/drawingml/2006/main">
            <a:r>
              <a:t/>
            </a:r>
          </a:p>
          <a:p xmlns:a="http://schemas.openxmlformats.org/drawingml/2006/main">
            <a:pPr algn="l">
              <a:buNone/>
              <a:defRPr sz="1500" b="0">
                <a:solidFill>
                  <a:srgbClr val="FFFFFF"/>
                </a:solidFill>
                <a:latin typeface="SF Mono"/>
                <a:ea typeface="SF Mono"/>
                <a:cs typeface="SF Mono"/>
              </a:defRPr>
            </a:pPr>
            <a:r>
              <a:rPr sz="1500" b="0">
                <a:solidFill>
                  <a:srgbClr val="FFFFFF"/>
                </a:solidFill>
                <a:latin typeface="SF Mono"/>
                <a:ea typeface="SF Mono"/>
                <a:cs typeface="SF Mono"/>
              </a:rPr>
              <a:t>print(penjualan_skenario)</a:t>
            </a:r>
          </a:p>
        </p:txBody>
      </p:sp>
      <p:sp>
        <p:nvSpPr>
          <p:cNvPr id="12" name="vector-note">
            <a:extLst xmlns:a="http://schemas.openxmlformats.org/drawingml/2006/main">
              <a:ext uri="{FF2B5EF4-FFF2-40B4-BE49-F238E27FC236}">
                <a16:creationId xmlns:a16="http://schemas.microsoft.com/office/drawing/2014/main" id="{12E1F6CB-F40E-48C1-885F-EA8E7DA782D8}"/>
              </a:ext>
            </a:extLst>
          </p:cNvPr>
          <p:cNvSpPr>
            <a:spLocks xmlns:a="http://schemas.openxmlformats.org/drawingml/2006/main" noGrp="1"/>
          </p:cNvSpPr>
          <p:nvPr/>
        </p:nvSpPr>
        <p:spPr>
          <a:xfrm xmlns:a="http://schemas.openxmlformats.org/drawingml/2006/main">
            <a:off x="7953375" y="2571750"/>
            <a:ext cx="3333750" cy="2076450"/>
          </a:xfrm>
          <a:prstGeom xmlns:a="http://schemas.openxmlformats.org/drawingml/2006/main" prst="roundRect">
            <a:avLst>
              <a:gd name="adj" fmla="val 4587"/>
            </a:avLst>
          </a:prstGeom>
          <a:solidFill xmlns:a="http://schemas.openxmlformats.org/drawingml/2006/main">
            <a:srgbClr val="FFF7D6"/>
          </a:solidFill>
          <a:ln xmlns:a="http://schemas.openxmlformats.org/drawingml/2006/main" w="9525">
            <a:solidFill>
              <a:srgbClr val="F5D36A"/>
            </a:solidFill>
            <a:prstDash val="solid"/>
          </a:ln>
        </p:spPr>
      </p:sp>
      <p:sp>
        <p:nvSpPr>
          <p:cNvPr id="13" name="vector-note-title">
            <a:extLst xmlns:a="http://schemas.openxmlformats.org/drawingml/2006/main">
              <a:ext uri="{FF2B5EF4-FFF2-40B4-BE49-F238E27FC236}">
                <a16:creationId xmlns:a16="http://schemas.microsoft.com/office/drawing/2014/main" id="{51493C1F-DD57-4FD4-A49B-2878163DA930}"/>
              </a:ext>
            </a:extLst>
          </p:cNvPr>
          <p:cNvSpPr>
            <a:spLocks xmlns:a="http://schemas.openxmlformats.org/drawingml/2006/main" noGrp="1"/>
          </p:cNvSpPr>
          <p:nvPr/>
        </p:nvSpPr>
        <p:spPr>
          <a:xfrm xmlns:a="http://schemas.openxmlformats.org/drawingml/2006/main">
            <a:off x="8229600" y="285750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A30"/>
                </a:solidFill>
                <a:latin typeface="SF Pro Display"/>
                <a:ea typeface="SF Pro Display"/>
                <a:cs typeface="SF Pro Display"/>
              </a:defRPr>
            </a:pPr>
            <a:r>
              <a:rPr sz="1725" b="1">
                <a:solidFill>
                  <a:srgbClr val="111A30"/>
                </a:solidFill>
                <a:latin typeface="SF Pro Display"/>
                <a:ea typeface="SF Pro Display"/>
                <a:cs typeface="SF Pro Display"/>
              </a:rPr>
              <a:t>Per elemen</a:t>
            </a:r>
          </a:p>
        </p:txBody>
      </p:sp>
      <p:sp>
        <p:nvSpPr>
          <p:cNvPr id="14" name="vector-note-copy">
            <a:extLst xmlns:a="http://schemas.openxmlformats.org/drawingml/2006/main">
              <a:ext uri="{FF2B5EF4-FFF2-40B4-BE49-F238E27FC236}">
                <a16:creationId xmlns:a16="http://schemas.microsoft.com/office/drawing/2014/main" id="{4191226B-DBEE-4247-B9A4-B55348145947}"/>
              </a:ext>
            </a:extLst>
          </p:cNvPr>
          <p:cNvSpPr>
            <a:spLocks xmlns:a="http://schemas.openxmlformats.org/drawingml/2006/main" noGrp="1"/>
          </p:cNvSpPr>
          <p:nvPr/>
        </p:nvSpPr>
        <p:spPr>
          <a:xfrm xmlns:a="http://schemas.openxmlformats.org/drawingml/2006/main">
            <a:off x="8229600" y="3371850"/>
            <a:ext cx="27813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Hasil memiliki shape yang sama.</a:t>
            </a:r>
          </a:p>
          <a:p xmlns:a="http://schemas.openxmlformats.org/drawingml/2006/main">
            <a:r>
              <a:t/>
            </a:r>
          </a:p>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Tidak perlu mengambil setiap nilai satu per satu.</a:t>
            </a:r>
          </a:p>
        </p:txBody>
      </p:sp>
    </p:spTree>
    <p:extLst>
      <p:ext uri="{BB962C8B-B14F-4D97-AF65-F5344CB8AC3E}">
        <p14:creationId xmlns:p14="http://schemas.microsoft.com/office/powerpoint/2010/main" val="19010999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10">
            <a:extLst xmlns:a="http://schemas.openxmlformats.org/drawingml/2006/main">
              <a:ext uri="{FF2B5EF4-FFF2-40B4-BE49-F238E27FC236}">
                <a16:creationId xmlns:a16="http://schemas.microsoft.com/office/drawing/2014/main" id="{2966DDA5-1CF6-4516-A39F-8D4A6D917C36}"/>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BROADCASTING PER BULAN</a:t>
            </a:r>
          </a:p>
        </p:txBody>
      </p:sp>
      <p:sp>
        <p:nvSpPr>
          <p:cNvPr id="2" name="title-10">
            <a:extLst xmlns:a="http://schemas.openxmlformats.org/drawingml/2006/main">
              <a:ext uri="{FF2B5EF4-FFF2-40B4-BE49-F238E27FC236}">
                <a16:creationId xmlns:a16="http://schemas.microsoft.com/office/drawing/2014/main" id="{1C5F9B1C-FA3B-4B75-811D-5CF230930BAC}"/>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Terapkan faktor berbeda pada tiap bulan</a:t>
            </a:r>
          </a:p>
        </p:txBody>
      </p:sp>
      <p:sp>
        <p:nvSpPr>
          <p:cNvPr id="3" name="divider-10">
            <a:extLst xmlns:a="http://schemas.openxmlformats.org/drawingml/2006/main">
              <a:ext uri="{FF2B5EF4-FFF2-40B4-BE49-F238E27FC236}">
                <a16:creationId xmlns:a16="http://schemas.microsoft.com/office/drawing/2014/main" id="{30064CEE-0B47-4126-9CFF-D9D502FAC927}"/>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10">
            <a:extLst xmlns:a="http://schemas.openxmlformats.org/drawingml/2006/main">
              <a:ext uri="{FF2B5EF4-FFF2-40B4-BE49-F238E27FC236}">
                <a16:creationId xmlns:a16="http://schemas.microsoft.com/office/drawing/2014/main" id="{076A4673-EF7D-47D5-84B1-93162FD73B9A}"/>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Faktor bulanan diulang untuk setiap baris cabang.</a:t>
            </a:r>
          </a:p>
        </p:txBody>
      </p:sp>
      <p:sp>
        <p:nvSpPr>
          <p:cNvPr id="5" name="page-10">
            <a:extLst xmlns:a="http://schemas.openxmlformats.org/drawingml/2006/main">
              <a:ext uri="{FF2B5EF4-FFF2-40B4-BE49-F238E27FC236}">
                <a16:creationId xmlns:a16="http://schemas.microsoft.com/office/drawing/2014/main" id="{9776B160-43CB-4769-8DDF-8C90EE154183}"/>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10</a:t>
            </a:r>
          </a:p>
        </p:txBody>
      </p:sp>
      <p:sp>
        <p:nvSpPr>
          <p:cNvPr id="6" name="course-10">
            <a:extLst xmlns:a="http://schemas.openxmlformats.org/drawingml/2006/main">
              <a:ext uri="{FF2B5EF4-FFF2-40B4-BE49-F238E27FC236}">
                <a16:creationId xmlns:a16="http://schemas.microsoft.com/office/drawing/2014/main" id="{ACF6265C-82C6-451B-8FA5-D251C5046649}"/>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broadcast-month-code-background">
            <a:extLst xmlns:a="http://schemas.openxmlformats.org/drawingml/2006/main">
              <a:ext uri="{FF2B5EF4-FFF2-40B4-BE49-F238E27FC236}">
                <a16:creationId xmlns:a16="http://schemas.microsoft.com/office/drawing/2014/main" id="{33D14C36-1484-405B-A7E1-97DBDF2B03F2}"/>
              </a:ext>
            </a:extLst>
          </p:cNvPr>
          <p:cNvSpPr>
            <a:spLocks xmlns:a="http://schemas.openxmlformats.org/drawingml/2006/main" noGrp="1"/>
          </p:cNvSpPr>
          <p:nvPr/>
        </p:nvSpPr>
        <p:spPr>
          <a:xfrm xmlns:a="http://schemas.openxmlformats.org/drawingml/2006/main">
            <a:off x="819150" y="2333625"/>
            <a:ext cx="6572250" cy="3048000"/>
          </a:xfrm>
          <a:prstGeom xmlns:a="http://schemas.openxmlformats.org/drawingml/2006/main" prst="roundRect">
            <a:avLst>
              <a:gd name="adj" fmla="val 3750"/>
            </a:avLst>
          </a:prstGeom>
          <a:solidFill xmlns:a="http://schemas.openxmlformats.org/drawingml/2006/main">
            <a:srgbClr val="111A30"/>
          </a:solidFill>
          <a:ln xmlns:a="http://schemas.openxmlformats.org/drawingml/2006/main" w="9525">
            <a:solidFill>
              <a:srgbClr val="111A30"/>
            </a:solidFill>
            <a:prstDash val="solid"/>
          </a:ln>
        </p:spPr>
      </p:sp>
      <p:sp>
        <p:nvSpPr>
          <p:cNvPr id="8" name="broadcast-month-code-dot-red">
            <a:extLst xmlns:a="http://schemas.openxmlformats.org/drawingml/2006/main">
              <a:ext uri="{FF2B5EF4-FFF2-40B4-BE49-F238E27FC236}">
                <a16:creationId xmlns:a16="http://schemas.microsoft.com/office/drawing/2014/main" id="{A75F3994-0D5F-4A40-8ADF-1333ACC687C1}"/>
              </a:ext>
            </a:extLst>
          </p:cNvPr>
          <p:cNvSpPr>
            <a:spLocks xmlns:a="http://schemas.openxmlformats.org/drawingml/2006/main" noGrp="1"/>
          </p:cNvSpPr>
          <p:nvPr/>
        </p:nvSpPr>
        <p:spPr>
          <a:xfrm xmlns:a="http://schemas.openxmlformats.org/drawingml/2006/main">
            <a:off x="1028700" y="2495550"/>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9" name="broadcast-month-code-dot-yellow">
            <a:extLst xmlns:a="http://schemas.openxmlformats.org/drawingml/2006/main">
              <a:ext uri="{FF2B5EF4-FFF2-40B4-BE49-F238E27FC236}">
                <a16:creationId xmlns:a16="http://schemas.microsoft.com/office/drawing/2014/main" id="{946CB981-602E-4E24-B353-75725ACFEFDF}"/>
              </a:ext>
            </a:extLst>
          </p:cNvPr>
          <p:cNvSpPr>
            <a:spLocks xmlns:a="http://schemas.openxmlformats.org/drawingml/2006/main" noGrp="1"/>
          </p:cNvSpPr>
          <p:nvPr/>
        </p:nvSpPr>
        <p:spPr>
          <a:xfrm xmlns:a="http://schemas.openxmlformats.org/drawingml/2006/main">
            <a:off x="1219200" y="2495550"/>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0" name="broadcast-month-code-dot-green">
            <a:extLst xmlns:a="http://schemas.openxmlformats.org/drawingml/2006/main">
              <a:ext uri="{FF2B5EF4-FFF2-40B4-BE49-F238E27FC236}">
                <a16:creationId xmlns:a16="http://schemas.microsoft.com/office/drawing/2014/main" id="{EB56D162-615B-4896-8C7A-25F8D6D15DA6}"/>
              </a:ext>
            </a:extLst>
          </p:cNvPr>
          <p:cNvSpPr>
            <a:spLocks xmlns:a="http://schemas.openxmlformats.org/drawingml/2006/main" noGrp="1"/>
          </p:cNvSpPr>
          <p:nvPr/>
        </p:nvSpPr>
        <p:spPr>
          <a:xfrm xmlns:a="http://schemas.openxmlformats.org/drawingml/2006/main">
            <a:off x="1409700" y="2495550"/>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1" name="broadcast-month-code-text">
            <a:extLst xmlns:a="http://schemas.openxmlformats.org/drawingml/2006/main">
              <a:ext uri="{FF2B5EF4-FFF2-40B4-BE49-F238E27FC236}">
                <a16:creationId xmlns:a16="http://schemas.microsoft.com/office/drawing/2014/main" id="{B28CF927-30E0-4109-BAE6-2D0F745336E6}"/>
              </a:ext>
            </a:extLst>
          </p:cNvPr>
          <p:cNvSpPr>
            <a:spLocks xmlns:a="http://schemas.openxmlformats.org/drawingml/2006/main" noGrp="1"/>
          </p:cNvSpPr>
          <p:nvPr/>
        </p:nvSpPr>
        <p:spPr>
          <a:xfrm xmlns:a="http://schemas.openxmlformats.org/drawingml/2006/main">
            <a:off x="1085850" y="2781300"/>
            <a:ext cx="607695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faktor_bulan = np.array([1.00, 1.04, 1.08])</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proyeksi_q1 = penjualan * faktor_bulan</a:t>
            </a:r>
          </a:p>
          <a:p xmlns:a="http://schemas.openxmlformats.org/drawingml/2006/main">
            <a:r>
              <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penjualan.shape  # (4, 3)</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faktor_bulan.shape # (3,)</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proyeksi_q1.shape # (4, 3)</a:t>
            </a:r>
          </a:p>
        </p:txBody>
      </p:sp>
      <p:sp>
        <p:nvSpPr>
          <p:cNvPr id="12" name="broadcast-month-shape">
            <a:extLst xmlns:a="http://schemas.openxmlformats.org/drawingml/2006/main">
              <a:ext uri="{FF2B5EF4-FFF2-40B4-BE49-F238E27FC236}">
                <a16:creationId xmlns:a16="http://schemas.microsoft.com/office/drawing/2014/main" id="{2F88021C-E884-4CE4-9553-A19483D52FB2}"/>
              </a:ext>
            </a:extLst>
          </p:cNvPr>
          <p:cNvSpPr>
            <a:spLocks xmlns:a="http://schemas.openxmlformats.org/drawingml/2006/main" noGrp="1"/>
          </p:cNvSpPr>
          <p:nvPr/>
        </p:nvSpPr>
        <p:spPr>
          <a:xfrm xmlns:a="http://schemas.openxmlformats.org/drawingml/2006/main">
            <a:off x="7810500" y="2476500"/>
            <a:ext cx="3476625" cy="2286000"/>
          </a:xfrm>
          <a:prstGeom xmlns:a="http://schemas.openxmlformats.org/drawingml/2006/main" prst="roundRect">
            <a:avLst>
              <a:gd name="adj" fmla="val 4167"/>
            </a:avLst>
          </a:prstGeom>
          <a:solidFill xmlns:a="http://schemas.openxmlformats.org/drawingml/2006/main">
            <a:srgbClr val="EAF6FC"/>
          </a:solidFill>
          <a:ln xmlns:a="http://schemas.openxmlformats.org/drawingml/2006/main" w="9525">
            <a:solidFill>
              <a:srgbClr val="4FB6E8"/>
            </a:solidFill>
            <a:prstDash val="solid"/>
          </a:ln>
        </p:spPr>
      </p:sp>
      <p:sp>
        <p:nvSpPr>
          <p:cNvPr id="13" name="broadcast-month-title">
            <a:extLst xmlns:a="http://schemas.openxmlformats.org/drawingml/2006/main">
              <a:ext uri="{FF2B5EF4-FFF2-40B4-BE49-F238E27FC236}">
                <a16:creationId xmlns:a16="http://schemas.microsoft.com/office/drawing/2014/main" id="{79CBD041-F241-4C47-A2D9-B2BBB96E183A}"/>
              </a:ext>
            </a:extLst>
          </p:cNvPr>
          <p:cNvSpPr>
            <a:spLocks xmlns:a="http://schemas.openxmlformats.org/drawingml/2006/main" noGrp="1"/>
          </p:cNvSpPr>
          <p:nvPr/>
        </p:nvSpPr>
        <p:spPr>
          <a:xfrm xmlns:a="http://schemas.openxmlformats.org/drawingml/2006/main">
            <a:off x="8096250" y="2762250"/>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11A30"/>
                </a:solidFill>
                <a:latin typeface="SF Pro Display"/>
                <a:ea typeface="SF Pro Display"/>
                <a:cs typeface="SF Pro Display"/>
              </a:defRPr>
            </a:pPr>
            <a:r>
              <a:rPr sz="1650" b="1">
                <a:solidFill>
                  <a:srgbClr val="111A30"/>
                </a:solidFill>
                <a:latin typeface="SF Pro Display"/>
                <a:ea typeface="SF Pro Display"/>
                <a:cs typeface="SF Pro Display"/>
              </a:rPr>
              <a:t>Pencocokan dimensi</a:t>
            </a:r>
          </a:p>
        </p:txBody>
      </p:sp>
      <p:sp>
        <p:nvSpPr>
          <p:cNvPr id="14" name="broadcast-month-copy">
            <a:extLst xmlns:a="http://schemas.openxmlformats.org/drawingml/2006/main">
              <a:ext uri="{FF2B5EF4-FFF2-40B4-BE49-F238E27FC236}">
                <a16:creationId xmlns:a16="http://schemas.microsoft.com/office/drawing/2014/main" id="{27EC056F-C8B0-410C-B04F-4DCEB96C0C0F}"/>
              </a:ext>
            </a:extLst>
          </p:cNvPr>
          <p:cNvSpPr>
            <a:spLocks xmlns:a="http://schemas.openxmlformats.org/drawingml/2006/main" noGrp="1"/>
          </p:cNvSpPr>
          <p:nvPr/>
        </p:nvSpPr>
        <p:spPr>
          <a:xfrm xmlns:a="http://schemas.openxmlformats.org/drawingml/2006/main">
            <a:off x="8096250" y="3333750"/>
            <a:ext cx="2857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111A30"/>
                </a:solidFill>
                <a:latin typeface="SF Mono"/>
                <a:ea typeface="SF Mono"/>
                <a:cs typeface="SF Mono"/>
              </a:defRPr>
            </a:pPr>
            <a:r>
              <a:rPr sz="1800" b="0">
                <a:solidFill>
                  <a:srgbClr val="111A30"/>
                </a:solidFill>
                <a:latin typeface="SF Mono"/>
                <a:ea typeface="SF Mono"/>
                <a:cs typeface="SF Mono"/>
              </a:rPr>
              <a:t>(4, 3)</a:t>
            </a:r>
          </a:p>
          <a:p xmlns:a="http://schemas.openxmlformats.org/drawingml/2006/main">
            <a:pPr algn="l">
              <a:buNone/>
              <a:defRPr sz="1800" b="0">
                <a:solidFill>
                  <a:srgbClr val="111A30"/>
                </a:solidFill>
                <a:latin typeface="SF Mono"/>
                <a:ea typeface="SF Mono"/>
                <a:cs typeface="SF Mono"/>
              </a:defRPr>
            </a:pPr>
            <a:r>
              <a:rPr sz="1800" b="0">
                <a:solidFill>
                  <a:srgbClr val="111A30"/>
                </a:solidFill>
                <a:latin typeface="SF Mono"/>
                <a:ea typeface="SF Mono"/>
                <a:cs typeface="SF Mono"/>
              </a:rPr>
              <a:t>     (3,)</a:t>
            </a:r>
          </a:p>
          <a:p xmlns:a="http://schemas.openxmlformats.org/drawingml/2006/main">
            <a:pPr algn="l">
              <a:buNone/>
              <a:defRPr sz="1800" b="0">
                <a:solidFill>
                  <a:srgbClr val="111A30"/>
                </a:solidFill>
                <a:latin typeface="SF Mono"/>
                <a:ea typeface="SF Mono"/>
                <a:cs typeface="SF Mono"/>
              </a:defRPr>
            </a:pPr>
            <a:r>
              <a:rPr sz="1800" b="0">
                <a:solidFill>
                  <a:srgbClr val="111A30"/>
                </a:solidFill>
                <a:latin typeface="SF Mono"/>
                <a:ea typeface="SF Mono"/>
                <a:cs typeface="SF Mono"/>
              </a:rPr>
              <a:t>→ hasil (4, 3)</a:t>
            </a:r>
          </a:p>
        </p:txBody>
      </p:sp>
      <p:sp>
        <p:nvSpPr>
          <p:cNvPr id="15" name="broadcast-month-note">
            <a:extLst xmlns:a="http://schemas.openxmlformats.org/drawingml/2006/main">
              <a:ext uri="{FF2B5EF4-FFF2-40B4-BE49-F238E27FC236}">
                <a16:creationId xmlns:a16="http://schemas.microsoft.com/office/drawing/2014/main" id="{C58F346D-032F-473D-BDDC-A2766BB15526}"/>
              </a:ext>
            </a:extLst>
          </p:cNvPr>
          <p:cNvSpPr>
            <a:spLocks xmlns:a="http://schemas.openxmlformats.org/drawingml/2006/main" noGrp="1"/>
          </p:cNvSpPr>
          <p:nvPr/>
        </p:nvSpPr>
        <p:spPr>
          <a:xfrm xmlns:a="http://schemas.openxmlformats.org/drawingml/2006/main">
            <a:off x="8096250" y="4429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Satu faktor untuk setiap kolom.</a:t>
            </a:r>
          </a:p>
        </p:txBody>
      </p:sp>
    </p:spTree>
    <p:extLst>
      <p:ext uri="{BB962C8B-B14F-4D97-AF65-F5344CB8AC3E}">
        <p14:creationId xmlns:p14="http://schemas.microsoft.com/office/powerpoint/2010/main" val="2443822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11">
            <a:extLst xmlns:a="http://schemas.openxmlformats.org/drawingml/2006/main">
              <a:ext uri="{FF2B5EF4-FFF2-40B4-BE49-F238E27FC236}">
                <a16:creationId xmlns:a16="http://schemas.microsoft.com/office/drawing/2014/main" id="{DB0EDD84-51A4-4452-81A8-0A2390C7235F}"/>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BENTUK ARRAY</a:t>
            </a:r>
          </a:p>
        </p:txBody>
      </p:sp>
      <p:sp>
        <p:nvSpPr>
          <p:cNvPr id="2" name="title-11">
            <a:extLst xmlns:a="http://schemas.openxmlformats.org/drawingml/2006/main">
              <a:ext uri="{FF2B5EF4-FFF2-40B4-BE49-F238E27FC236}">
                <a16:creationId xmlns:a16="http://schemas.microsoft.com/office/drawing/2014/main" id="{37757339-4E65-4BF9-8B43-6998C0D6F293}"/>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Faktor cabang perlu dibentuk sebagai kolom</a:t>
            </a:r>
          </a:p>
        </p:txBody>
      </p:sp>
      <p:sp>
        <p:nvSpPr>
          <p:cNvPr id="3" name="divider-11">
            <a:extLst xmlns:a="http://schemas.openxmlformats.org/drawingml/2006/main">
              <a:ext uri="{FF2B5EF4-FFF2-40B4-BE49-F238E27FC236}">
                <a16:creationId xmlns:a16="http://schemas.microsoft.com/office/drawing/2014/main" id="{5B2CE43B-D3EA-42D2-BBE8-AD81B3D0AB33}"/>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11">
            <a:extLst xmlns:a="http://schemas.openxmlformats.org/drawingml/2006/main">
              <a:ext uri="{FF2B5EF4-FFF2-40B4-BE49-F238E27FC236}">
                <a16:creationId xmlns:a16="http://schemas.microsoft.com/office/drawing/2014/main" id="{5FF82D18-6695-4217-906F-A4FB592EC1F9}"/>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Bentuk faktor menentukan apakah broadcasting cocok dengan matriks.</a:t>
            </a:r>
          </a:p>
        </p:txBody>
      </p:sp>
      <p:sp>
        <p:nvSpPr>
          <p:cNvPr id="5" name="page-11">
            <a:extLst xmlns:a="http://schemas.openxmlformats.org/drawingml/2006/main">
              <a:ext uri="{FF2B5EF4-FFF2-40B4-BE49-F238E27FC236}">
                <a16:creationId xmlns:a16="http://schemas.microsoft.com/office/drawing/2014/main" id="{B97E539E-C661-4FD6-99F0-C1176D5D0420}"/>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11</a:t>
            </a:r>
          </a:p>
        </p:txBody>
      </p:sp>
      <p:sp>
        <p:nvSpPr>
          <p:cNvPr id="6" name="course-11">
            <a:extLst xmlns:a="http://schemas.openxmlformats.org/drawingml/2006/main">
              <a:ext uri="{FF2B5EF4-FFF2-40B4-BE49-F238E27FC236}">
                <a16:creationId xmlns:a16="http://schemas.microsoft.com/office/drawing/2014/main" id="{3ED2CA75-61A6-40AB-8153-4396B06EB083}"/>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broadcast-branch-code-background">
            <a:extLst xmlns:a="http://schemas.openxmlformats.org/drawingml/2006/main">
              <a:ext uri="{FF2B5EF4-FFF2-40B4-BE49-F238E27FC236}">
                <a16:creationId xmlns:a16="http://schemas.microsoft.com/office/drawing/2014/main" id="{4FAB5822-B8B3-4522-A823-07F739B56530}"/>
              </a:ext>
            </a:extLst>
          </p:cNvPr>
          <p:cNvSpPr>
            <a:spLocks xmlns:a="http://schemas.openxmlformats.org/drawingml/2006/main" noGrp="1"/>
          </p:cNvSpPr>
          <p:nvPr/>
        </p:nvSpPr>
        <p:spPr>
          <a:xfrm xmlns:a="http://schemas.openxmlformats.org/drawingml/2006/main">
            <a:off x="819150" y="2305050"/>
            <a:ext cx="6572250" cy="3238500"/>
          </a:xfrm>
          <a:prstGeom xmlns:a="http://schemas.openxmlformats.org/drawingml/2006/main" prst="roundRect">
            <a:avLst>
              <a:gd name="adj" fmla="val 3529"/>
            </a:avLst>
          </a:prstGeom>
          <a:solidFill xmlns:a="http://schemas.openxmlformats.org/drawingml/2006/main">
            <a:srgbClr val="111A30"/>
          </a:solidFill>
          <a:ln xmlns:a="http://schemas.openxmlformats.org/drawingml/2006/main" w="9525">
            <a:solidFill>
              <a:srgbClr val="111A30"/>
            </a:solidFill>
            <a:prstDash val="solid"/>
          </a:ln>
        </p:spPr>
      </p:sp>
      <p:sp>
        <p:nvSpPr>
          <p:cNvPr id="8" name="broadcast-branch-code-dot-red">
            <a:extLst xmlns:a="http://schemas.openxmlformats.org/drawingml/2006/main">
              <a:ext uri="{FF2B5EF4-FFF2-40B4-BE49-F238E27FC236}">
                <a16:creationId xmlns:a16="http://schemas.microsoft.com/office/drawing/2014/main" id="{97CDDDB4-2F30-4CF3-84FE-0AF062C07B3A}"/>
              </a:ext>
            </a:extLst>
          </p:cNvPr>
          <p:cNvSpPr>
            <a:spLocks xmlns:a="http://schemas.openxmlformats.org/drawingml/2006/main" noGrp="1"/>
          </p:cNvSpPr>
          <p:nvPr/>
        </p:nvSpPr>
        <p:spPr>
          <a:xfrm xmlns:a="http://schemas.openxmlformats.org/drawingml/2006/main">
            <a:off x="1028700" y="2466975"/>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9" name="broadcast-branch-code-dot-yellow">
            <a:extLst xmlns:a="http://schemas.openxmlformats.org/drawingml/2006/main">
              <a:ext uri="{FF2B5EF4-FFF2-40B4-BE49-F238E27FC236}">
                <a16:creationId xmlns:a16="http://schemas.microsoft.com/office/drawing/2014/main" id="{6F40319F-9DC9-47FA-9882-CE76D899DB8E}"/>
              </a:ext>
            </a:extLst>
          </p:cNvPr>
          <p:cNvSpPr>
            <a:spLocks xmlns:a="http://schemas.openxmlformats.org/drawingml/2006/main" noGrp="1"/>
          </p:cNvSpPr>
          <p:nvPr/>
        </p:nvSpPr>
        <p:spPr>
          <a:xfrm xmlns:a="http://schemas.openxmlformats.org/drawingml/2006/main">
            <a:off x="1219200" y="2466975"/>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0" name="broadcast-branch-code-dot-green">
            <a:extLst xmlns:a="http://schemas.openxmlformats.org/drawingml/2006/main">
              <a:ext uri="{FF2B5EF4-FFF2-40B4-BE49-F238E27FC236}">
                <a16:creationId xmlns:a16="http://schemas.microsoft.com/office/drawing/2014/main" id="{13FBF01F-1B6E-4935-BBD8-12F17780C2D6}"/>
              </a:ext>
            </a:extLst>
          </p:cNvPr>
          <p:cNvSpPr>
            <a:spLocks xmlns:a="http://schemas.openxmlformats.org/drawingml/2006/main" noGrp="1"/>
          </p:cNvSpPr>
          <p:nvPr/>
        </p:nvSpPr>
        <p:spPr>
          <a:xfrm xmlns:a="http://schemas.openxmlformats.org/drawingml/2006/main">
            <a:off x="1409700" y="2466975"/>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1" name="broadcast-branch-code-text">
            <a:extLst xmlns:a="http://schemas.openxmlformats.org/drawingml/2006/main">
              <a:ext uri="{FF2B5EF4-FFF2-40B4-BE49-F238E27FC236}">
                <a16:creationId xmlns:a16="http://schemas.microsoft.com/office/drawing/2014/main" id="{8D0C353B-5053-4AC8-81BE-A01AFC1BEA69}"/>
              </a:ext>
            </a:extLst>
          </p:cNvPr>
          <p:cNvSpPr>
            <a:spLocks xmlns:a="http://schemas.openxmlformats.org/drawingml/2006/main" noGrp="1"/>
          </p:cNvSpPr>
          <p:nvPr/>
        </p:nvSpPr>
        <p:spPr>
          <a:xfrm xmlns:a="http://schemas.openxmlformats.org/drawingml/2006/main">
            <a:off x="1085850" y="2752725"/>
            <a:ext cx="607695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faktor_cabang = np.array([</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    1.05, 0.98, 1.08, 0.97</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a:t>
            </a:r>
          </a:p>
          <a:p xmlns:a="http://schemas.openxmlformats.org/drawingml/2006/main">
            <a:r>
              <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faktor_kolom = faktor_cabang.reshape(4, 1)</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proyeksi = penjualan * faktor_kolom</a:t>
            </a:r>
          </a:p>
        </p:txBody>
      </p:sp>
      <p:sp>
        <p:nvSpPr>
          <p:cNvPr id="12" name="broadcast-branch-note">
            <a:extLst xmlns:a="http://schemas.openxmlformats.org/drawingml/2006/main">
              <a:ext uri="{FF2B5EF4-FFF2-40B4-BE49-F238E27FC236}">
                <a16:creationId xmlns:a16="http://schemas.microsoft.com/office/drawing/2014/main" id="{12871795-18D8-4BCB-BD57-25CAF9639960}"/>
              </a:ext>
            </a:extLst>
          </p:cNvPr>
          <p:cNvSpPr>
            <a:spLocks xmlns:a="http://schemas.openxmlformats.org/drawingml/2006/main" noGrp="1"/>
          </p:cNvSpPr>
          <p:nvPr/>
        </p:nvSpPr>
        <p:spPr>
          <a:xfrm xmlns:a="http://schemas.openxmlformats.org/drawingml/2006/main">
            <a:off x="7810500" y="2457450"/>
            <a:ext cx="3476625" cy="2667000"/>
          </a:xfrm>
          <a:prstGeom xmlns:a="http://schemas.openxmlformats.org/drawingml/2006/main" prst="roundRect">
            <a:avLst>
              <a:gd name="adj" fmla="val 3571"/>
            </a:avLst>
          </a:prstGeom>
          <a:solidFill xmlns:a="http://schemas.openxmlformats.org/drawingml/2006/main">
            <a:srgbClr val="FFF7D6"/>
          </a:solidFill>
          <a:ln xmlns:a="http://schemas.openxmlformats.org/drawingml/2006/main" w="9525">
            <a:solidFill>
              <a:srgbClr val="F5D36A"/>
            </a:solidFill>
            <a:prstDash val="solid"/>
          </a:ln>
        </p:spPr>
      </p:sp>
      <p:sp>
        <p:nvSpPr>
          <p:cNvPr id="13" name="broadcast-branch-title">
            <a:extLst xmlns:a="http://schemas.openxmlformats.org/drawingml/2006/main">
              <a:ext uri="{FF2B5EF4-FFF2-40B4-BE49-F238E27FC236}">
                <a16:creationId xmlns:a16="http://schemas.microsoft.com/office/drawing/2014/main" id="{5AF45514-852C-4ED3-9E05-2408EDA42D64}"/>
              </a:ext>
            </a:extLst>
          </p:cNvPr>
          <p:cNvSpPr>
            <a:spLocks xmlns:a="http://schemas.openxmlformats.org/drawingml/2006/main" noGrp="1"/>
          </p:cNvSpPr>
          <p:nvPr/>
        </p:nvSpPr>
        <p:spPr>
          <a:xfrm xmlns:a="http://schemas.openxmlformats.org/drawingml/2006/main">
            <a:off x="8096250" y="2743200"/>
            <a:ext cx="2905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11A30"/>
                </a:solidFill>
                <a:latin typeface="SF Pro Display"/>
                <a:ea typeface="SF Pro Display"/>
                <a:cs typeface="SF Pro Display"/>
              </a:defRPr>
            </a:pPr>
            <a:r>
              <a:rPr sz="1650" b="1">
                <a:solidFill>
                  <a:srgbClr val="111A30"/>
                </a:solidFill>
                <a:latin typeface="SF Pro Display"/>
                <a:ea typeface="SF Pro Display"/>
                <a:cs typeface="SF Pro Display"/>
              </a:rPr>
              <a:t>Bandingkan shape</a:t>
            </a:r>
          </a:p>
        </p:txBody>
      </p:sp>
      <p:sp>
        <p:nvSpPr>
          <p:cNvPr id="14" name="broadcast-branch-copy">
            <a:extLst xmlns:a="http://schemas.openxmlformats.org/drawingml/2006/main">
              <a:ext uri="{FF2B5EF4-FFF2-40B4-BE49-F238E27FC236}">
                <a16:creationId xmlns:a16="http://schemas.microsoft.com/office/drawing/2014/main" id="{5E4F45FF-4DF9-4B98-8734-3E54CC553087}"/>
              </a:ext>
            </a:extLst>
          </p:cNvPr>
          <p:cNvSpPr>
            <a:spLocks xmlns:a="http://schemas.openxmlformats.org/drawingml/2006/main" noGrp="1"/>
          </p:cNvSpPr>
          <p:nvPr/>
        </p:nvSpPr>
        <p:spPr>
          <a:xfrm xmlns:a="http://schemas.openxmlformats.org/drawingml/2006/main">
            <a:off x="8096250" y="3286125"/>
            <a:ext cx="29051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111A30"/>
                </a:solidFill>
                <a:latin typeface="SF Mono"/>
                <a:ea typeface="SF Mono"/>
                <a:cs typeface="SF Mono"/>
              </a:defRPr>
            </a:pPr>
            <a:r>
              <a:rPr sz="1350" b="0">
                <a:solidFill>
                  <a:srgbClr val="111A30"/>
                </a:solidFill>
                <a:latin typeface="SF Mono"/>
                <a:ea typeface="SF Mono"/>
                <a:cs typeface="SF Mono"/>
              </a:rPr>
              <a:t>Faktor awal  (4,)</a:t>
            </a:r>
          </a:p>
          <a:p xmlns:a="http://schemas.openxmlformats.org/drawingml/2006/main">
            <a:pPr algn="l">
              <a:buNone/>
              <a:defRPr sz="1350" b="0">
                <a:solidFill>
                  <a:srgbClr val="111A30"/>
                </a:solidFill>
                <a:latin typeface="SF Mono"/>
                <a:ea typeface="SF Mono"/>
                <a:cs typeface="SF Mono"/>
              </a:defRPr>
            </a:pPr>
            <a:r>
              <a:rPr sz="1350" b="0">
                <a:solidFill>
                  <a:srgbClr val="111A30"/>
                </a:solidFill>
                <a:latin typeface="SF Mono"/>
                <a:ea typeface="SF Mono"/>
                <a:cs typeface="SF Mono"/>
              </a:rPr>
              <a:t>Faktor kolom (4, 1)</a:t>
            </a:r>
          </a:p>
          <a:p xmlns:a="http://schemas.openxmlformats.org/drawingml/2006/main">
            <a:pPr algn="l">
              <a:buNone/>
              <a:defRPr sz="1350" b="0">
                <a:solidFill>
                  <a:srgbClr val="111A30"/>
                </a:solidFill>
                <a:latin typeface="SF Mono"/>
                <a:ea typeface="SF Mono"/>
                <a:cs typeface="SF Mono"/>
              </a:defRPr>
            </a:pPr>
            <a:r>
              <a:rPr sz="1350" b="0">
                <a:solidFill>
                  <a:srgbClr val="111A30"/>
                </a:solidFill>
                <a:latin typeface="SF Mono"/>
                <a:ea typeface="SF Mono"/>
                <a:cs typeface="SF Mono"/>
              </a:rPr>
              <a:t>Penjualan    (4, 3)</a:t>
            </a:r>
          </a:p>
          <a:p xmlns:a="http://schemas.openxmlformats.org/drawingml/2006/main">
            <a:pPr algn="l">
              <a:buNone/>
              <a:defRPr sz="1350" b="0">
                <a:solidFill>
                  <a:srgbClr val="111A30"/>
                </a:solidFill>
                <a:latin typeface="SF Mono"/>
                <a:ea typeface="SF Mono"/>
                <a:cs typeface="SF Mono"/>
              </a:defRPr>
            </a:pPr>
            <a:r>
              <a:rPr sz="1350" b="0">
                <a:solidFill>
                  <a:srgbClr val="111A30"/>
                </a:solidFill>
                <a:latin typeface="SF Mono"/>
                <a:ea typeface="SF Mono"/>
                <a:cs typeface="SF Mono"/>
              </a:rPr>
              <a:t>Hasil        (4, 3)</a:t>
            </a:r>
          </a:p>
        </p:txBody>
      </p:sp>
      <p:sp>
        <p:nvSpPr>
          <p:cNvPr id="15" name="broadcast-branch-foot">
            <a:extLst xmlns:a="http://schemas.openxmlformats.org/drawingml/2006/main">
              <a:ext uri="{FF2B5EF4-FFF2-40B4-BE49-F238E27FC236}">
                <a16:creationId xmlns:a16="http://schemas.microsoft.com/office/drawing/2014/main" id="{D44E68D1-3A54-48A6-B9E8-310B137C1B30}"/>
              </a:ext>
            </a:extLst>
          </p:cNvPr>
          <p:cNvSpPr>
            <a:spLocks xmlns:a="http://schemas.openxmlformats.org/drawingml/2006/main" noGrp="1"/>
          </p:cNvSpPr>
          <p:nvPr/>
        </p:nvSpPr>
        <p:spPr>
          <a:xfrm xmlns:a="http://schemas.openxmlformats.org/drawingml/2006/main">
            <a:off x="8096250" y="46291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4B5868"/>
                </a:solidFill>
                <a:latin typeface="SF Pro Text"/>
                <a:ea typeface="SF Pro Text"/>
                <a:cs typeface="SF Pro Text"/>
              </a:defRPr>
            </a:pPr>
            <a:r>
              <a:rPr sz="1275" b="0">
                <a:solidFill>
                  <a:srgbClr val="4B5868"/>
                </a:solidFill>
                <a:latin typeface="SF Pro Text"/>
                <a:ea typeface="SF Pro Text"/>
                <a:cs typeface="SF Pro Text"/>
              </a:rPr>
              <a:t>Satu faktor untuk tiap baris cabang.</a:t>
            </a:r>
          </a:p>
        </p:txBody>
      </p:sp>
    </p:spTree>
    <p:extLst>
      <p:ext uri="{BB962C8B-B14F-4D97-AF65-F5344CB8AC3E}">
        <p14:creationId xmlns:p14="http://schemas.microsoft.com/office/powerpoint/2010/main" val="954488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kicker-12">
            <a:extLst xmlns:a="http://schemas.openxmlformats.org/drawingml/2006/main">
              <a:ext uri="{FF2B5EF4-FFF2-40B4-BE49-F238E27FC236}">
                <a16:creationId xmlns:a16="http://schemas.microsoft.com/office/drawing/2014/main" id="{B42AF180-2C72-4C74-85EC-6564AF6637CE}"/>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BOOLEAN MASK</a:t>
            </a:r>
          </a:p>
        </p:txBody>
      </p:sp>
      <p:sp>
        <p:nvSpPr>
          <p:cNvPr id="2" name="title-12">
            <a:extLst xmlns:a="http://schemas.openxmlformats.org/drawingml/2006/main">
              <a:ext uri="{FF2B5EF4-FFF2-40B4-BE49-F238E27FC236}">
                <a16:creationId xmlns:a16="http://schemas.microsoft.com/office/drawing/2014/main" id="{FD58E307-0590-4D2D-A2B0-45C38DBA3EFF}"/>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Kondisi menghasilkan pilihan data</a:t>
            </a:r>
          </a:p>
        </p:txBody>
      </p:sp>
      <p:sp>
        <p:nvSpPr>
          <p:cNvPr id="3" name="divider-12">
            <a:extLst xmlns:a="http://schemas.openxmlformats.org/drawingml/2006/main">
              <a:ext uri="{FF2B5EF4-FFF2-40B4-BE49-F238E27FC236}">
                <a16:creationId xmlns:a16="http://schemas.microsoft.com/office/drawing/2014/main" id="{E3F89BFD-9DE8-4A46-8B0C-F5BAE267517F}"/>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12">
            <a:extLst xmlns:a="http://schemas.openxmlformats.org/drawingml/2006/main">
              <a:ext uri="{FF2B5EF4-FFF2-40B4-BE49-F238E27FC236}">
                <a16:creationId xmlns:a16="http://schemas.microsoft.com/office/drawing/2014/main" id="{A8B0D181-30ED-41DC-AD15-FB2F5C362DF6}"/>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Bandingkan nilai dengan ambang, lalu pakai hasil perbandingan sebagai mask.</a:t>
            </a:r>
          </a:p>
        </p:txBody>
      </p:sp>
      <p:sp>
        <p:nvSpPr>
          <p:cNvPr id="5" name="page-12">
            <a:extLst xmlns:a="http://schemas.openxmlformats.org/drawingml/2006/main">
              <a:ext uri="{FF2B5EF4-FFF2-40B4-BE49-F238E27FC236}">
                <a16:creationId xmlns:a16="http://schemas.microsoft.com/office/drawing/2014/main" id="{B95FC53A-D9A3-44F4-806A-EB3AA83EF34E}"/>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12</a:t>
            </a:r>
          </a:p>
        </p:txBody>
      </p:sp>
      <p:sp>
        <p:nvSpPr>
          <p:cNvPr id="6" name="course-12">
            <a:extLst xmlns:a="http://schemas.openxmlformats.org/drawingml/2006/main">
              <a:ext uri="{FF2B5EF4-FFF2-40B4-BE49-F238E27FC236}">
                <a16:creationId xmlns:a16="http://schemas.microsoft.com/office/drawing/2014/main" id="{72D7B963-B640-446A-9A1B-D5FCB5B524F7}"/>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mask-code-background">
            <a:extLst xmlns:a="http://schemas.openxmlformats.org/drawingml/2006/main">
              <a:ext uri="{FF2B5EF4-FFF2-40B4-BE49-F238E27FC236}">
                <a16:creationId xmlns:a16="http://schemas.microsoft.com/office/drawing/2014/main" id="{9A89B3E4-6D8A-4E5D-ABE6-10929C5E2AF4}"/>
              </a:ext>
            </a:extLst>
          </p:cNvPr>
          <p:cNvSpPr>
            <a:spLocks xmlns:a="http://schemas.openxmlformats.org/drawingml/2006/main" noGrp="1"/>
          </p:cNvSpPr>
          <p:nvPr/>
        </p:nvSpPr>
        <p:spPr>
          <a:xfrm xmlns:a="http://schemas.openxmlformats.org/drawingml/2006/main">
            <a:off x="819150" y="2305050"/>
            <a:ext cx="6667500" cy="3143250"/>
          </a:xfrm>
          <a:prstGeom xmlns:a="http://schemas.openxmlformats.org/drawingml/2006/main" prst="roundRect">
            <a:avLst>
              <a:gd name="adj" fmla="val 3636"/>
            </a:avLst>
          </a:prstGeom>
          <a:solidFill xmlns:a="http://schemas.openxmlformats.org/drawingml/2006/main">
            <a:srgbClr val="111A30"/>
          </a:solidFill>
          <a:ln xmlns:a="http://schemas.openxmlformats.org/drawingml/2006/main" w="9525">
            <a:solidFill>
              <a:srgbClr val="111A30"/>
            </a:solidFill>
            <a:prstDash val="solid"/>
          </a:ln>
        </p:spPr>
      </p:sp>
      <p:sp>
        <p:nvSpPr>
          <p:cNvPr id="8" name="mask-code-dot-red">
            <a:extLst xmlns:a="http://schemas.openxmlformats.org/drawingml/2006/main">
              <a:ext uri="{FF2B5EF4-FFF2-40B4-BE49-F238E27FC236}">
                <a16:creationId xmlns:a16="http://schemas.microsoft.com/office/drawing/2014/main" id="{D450E2A9-A6CA-48FC-95C0-A57A5D6E36AD}"/>
              </a:ext>
            </a:extLst>
          </p:cNvPr>
          <p:cNvSpPr>
            <a:spLocks xmlns:a="http://schemas.openxmlformats.org/drawingml/2006/main" noGrp="1"/>
          </p:cNvSpPr>
          <p:nvPr/>
        </p:nvSpPr>
        <p:spPr>
          <a:xfrm xmlns:a="http://schemas.openxmlformats.org/drawingml/2006/main">
            <a:off x="1028700" y="2466975"/>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9" name="mask-code-dot-yellow">
            <a:extLst xmlns:a="http://schemas.openxmlformats.org/drawingml/2006/main">
              <a:ext uri="{FF2B5EF4-FFF2-40B4-BE49-F238E27FC236}">
                <a16:creationId xmlns:a16="http://schemas.microsoft.com/office/drawing/2014/main" id="{237AE853-885C-42D1-8EE0-5E9F6E88955B}"/>
              </a:ext>
            </a:extLst>
          </p:cNvPr>
          <p:cNvSpPr>
            <a:spLocks xmlns:a="http://schemas.openxmlformats.org/drawingml/2006/main" noGrp="1"/>
          </p:cNvSpPr>
          <p:nvPr/>
        </p:nvSpPr>
        <p:spPr>
          <a:xfrm xmlns:a="http://schemas.openxmlformats.org/drawingml/2006/main">
            <a:off x="1219200" y="2466975"/>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0" name="mask-code-dot-green">
            <a:extLst xmlns:a="http://schemas.openxmlformats.org/drawingml/2006/main">
              <a:ext uri="{FF2B5EF4-FFF2-40B4-BE49-F238E27FC236}">
                <a16:creationId xmlns:a16="http://schemas.microsoft.com/office/drawing/2014/main" id="{182B7F27-0141-4150-ADC0-B0EF43AAFF23}"/>
              </a:ext>
            </a:extLst>
          </p:cNvPr>
          <p:cNvSpPr>
            <a:spLocks xmlns:a="http://schemas.openxmlformats.org/drawingml/2006/main" noGrp="1"/>
          </p:cNvSpPr>
          <p:nvPr/>
        </p:nvSpPr>
        <p:spPr>
          <a:xfrm xmlns:a="http://schemas.openxmlformats.org/drawingml/2006/main">
            <a:off x="1409700" y="2466975"/>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1" name="mask-code-text">
            <a:extLst xmlns:a="http://schemas.openxmlformats.org/drawingml/2006/main">
              <a:ext uri="{FF2B5EF4-FFF2-40B4-BE49-F238E27FC236}">
                <a16:creationId xmlns:a16="http://schemas.microsoft.com/office/drawing/2014/main" id="{7F7931CB-2EB6-4726-80A0-211255A5E346}"/>
              </a:ext>
            </a:extLst>
          </p:cNvPr>
          <p:cNvSpPr>
            <a:spLocks xmlns:a="http://schemas.openxmlformats.org/drawingml/2006/main" noGrp="1"/>
          </p:cNvSpPr>
          <p:nvPr/>
        </p:nvSpPr>
        <p:spPr>
          <a:xfrm xmlns:a="http://schemas.openxmlformats.org/drawingml/2006/main">
            <a:off x="1085850" y="2752725"/>
            <a:ext cx="617220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mask_januari = penjualan[:, 0] &gt;= 100</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cabang_kuat = cabang[mask_januari]</a:t>
            </a:r>
          </a:p>
          <a:p xmlns:a="http://schemas.openxmlformats.org/drawingml/2006/main">
            <a:r>
              <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mask_bulanan = proyeksi_q1 &gt;= target_bulan</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nilai_di_atas_target = proyeksi_q1[mask_bulanan]</a:t>
            </a:r>
          </a:p>
        </p:txBody>
      </p:sp>
      <p:sp>
        <p:nvSpPr>
          <p:cNvPr id="12" name="mask-note">
            <a:extLst xmlns:a="http://schemas.openxmlformats.org/drawingml/2006/main">
              <a:ext uri="{FF2B5EF4-FFF2-40B4-BE49-F238E27FC236}">
                <a16:creationId xmlns:a16="http://schemas.microsoft.com/office/drawing/2014/main" id="{98159563-83EA-4746-AA84-F46B2C0D0976}"/>
              </a:ext>
            </a:extLst>
          </p:cNvPr>
          <p:cNvSpPr>
            <a:spLocks xmlns:a="http://schemas.openxmlformats.org/drawingml/2006/main" noGrp="1"/>
          </p:cNvSpPr>
          <p:nvPr/>
        </p:nvSpPr>
        <p:spPr>
          <a:xfrm xmlns:a="http://schemas.openxmlformats.org/drawingml/2006/main">
            <a:off x="7905750" y="2514600"/>
            <a:ext cx="3381375" cy="2238375"/>
          </a:xfrm>
          <a:prstGeom xmlns:a="http://schemas.openxmlformats.org/drawingml/2006/main" prst="roundRect">
            <a:avLst>
              <a:gd name="adj" fmla="val 4255"/>
            </a:avLst>
          </a:prstGeom>
          <a:solidFill xmlns:a="http://schemas.openxmlformats.org/drawingml/2006/main">
            <a:srgbClr val="E9F7EE"/>
          </a:solidFill>
          <a:ln xmlns:a="http://schemas.openxmlformats.org/drawingml/2006/main" w="9525">
            <a:solidFill>
              <a:srgbClr val="55B77A"/>
            </a:solidFill>
            <a:prstDash val="solid"/>
          </a:ln>
        </p:spPr>
      </p:sp>
      <p:sp>
        <p:nvSpPr>
          <p:cNvPr id="13" name="mask-note-title">
            <a:extLst xmlns:a="http://schemas.openxmlformats.org/drawingml/2006/main">
              <a:ext uri="{FF2B5EF4-FFF2-40B4-BE49-F238E27FC236}">
                <a16:creationId xmlns:a16="http://schemas.microsoft.com/office/drawing/2014/main" id="{C0C49DC8-4910-4C67-95EC-03DF64136AE4}"/>
              </a:ext>
            </a:extLst>
          </p:cNvPr>
          <p:cNvSpPr>
            <a:spLocks xmlns:a="http://schemas.openxmlformats.org/drawingml/2006/main" noGrp="1"/>
          </p:cNvSpPr>
          <p:nvPr/>
        </p:nvSpPr>
        <p:spPr>
          <a:xfrm xmlns:a="http://schemas.openxmlformats.org/drawingml/2006/main">
            <a:off x="8191500" y="280035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A30"/>
                </a:solidFill>
                <a:latin typeface="SF Pro Display"/>
                <a:ea typeface="SF Pro Display"/>
                <a:cs typeface="SF Pro Display"/>
              </a:defRPr>
            </a:pPr>
            <a:r>
              <a:rPr sz="1725" b="1">
                <a:solidFill>
                  <a:srgbClr val="111A30"/>
                </a:solidFill>
                <a:latin typeface="SF Pro Display"/>
                <a:ea typeface="SF Pro Display"/>
                <a:cs typeface="SF Pro Display"/>
              </a:rPr>
              <a:t>Hasil mask</a:t>
            </a:r>
          </a:p>
        </p:txBody>
      </p:sp>
      <p:sp>
        <p:nvSpPr>
          <p:cNvPr id="14" name="mask-note-copy">
            <a:extLst xmlns:a="http://schemas.openxmlformats.org/drawingml/2006/main">
              <a:ext uri="{FF2B5EF4-FFF2-40B4-BE49-F238E27FC236}">
                <a16:creationId xmlns:a16="http://schemas.microsoft.com/office/drawing/2014/main" id="{4E5F0783-98A0-4117-AEA2-F670E5080FD2}"/>
              </a:ext>
            </a:extLst>
          </p:cNvPr>
          <p:cNvSpPr>
            <a:spLocks xmlns:a="http://schemas.openxmlformats.org/drawingml/2006/main" noGrp="1"/>
          </p:cNvSpPr>
          <p:nvPr/>
        </p:nvSpPr>
        <p:spPr>
          <a:xfrm xmlns:a="http://schemas.openxmlformats.org/drawingml/2006/main">
            <a:off x="8191500" y="3333750"/>
            <a:ext cx="2809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True  → pilih data</a:t>
            </a:r>
          </a:p>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False → lewati data</a:t>
            </a:r>
          </a:p>
          <a:p xmlns:a="http://schemas.openxmlformats.org/drawingml/2006/main">
            <a:r>
              <a:t/>
            </a:r>
          </a:p>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Urutan baris tetap terjaga.</a:t>
            </a:r>
          </a:p>
        </p:txBody>
      </p:sp>
    </p:spTree>
    <p:extLst>
      <p:ext uri="{BB962C8B-B14F-4D97-AF65-F5344CB8AC3E}">
        <p14:creationId xmlns:p14="http://schemas.microsoft.com/office/powerpoint/2010/main" val="88981209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kicker-13">
            <a:extLst xmlns:a="http://schemas.openxmlformats.org/drawingml/2006/main">
              <a:ext uri="{FF2B5EF4-FFF2-40B4-BE49-F238E27FC236}">
                <a16:creationId xmlns:a16="http://schemas.microsoft.com/office/drawing/2014/main" id="{4F53D25B-AB31-4C35-BC04-E822A2CF3147}"/>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KATEGORI DARI KONDISI</a:t>
            </a:r>
          </a:p>
        </p:txBody>
      </p:sp>
      <p:sp>
        <p:nvSpPr>
          <p:cNvPr id="2" name="title-13">
            <a:extLst xmlns:a="http://schemas.openxmlformats.org/drawingml/2006/main">
              <a:ext uri="{FF2B5EF4-FFF2-40B4-BE49-F238E27FC236}">
                <a16:creationId xmlns:a16="http://schemas.microsoft.com/office/drawing/2014/main" id="{E9CD766F-5666-4FD0-9D5A-D76D5BE2BC90}"/>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np.where memberi label pada tiap pengamatan</a:t>
            </a:r>
          </a:p>
        </p:txBody>
      </p:sp>
      <p:sp>
        <p:nvSpPr>
          <p:cNvPr id="3" name="divider-13">
            <a:extLst xmlns:a="http://schemas.openxmlformats.org/drawingml/2006/main">
              <a:ext uri="{FF2B5EF4-FFF2-40B4-BE49-F238E27FC236}">
                <a16:creationId xmlns:a16="http://schemas.microsoft.com/office/drawing/2014/main" id="{75872F33-9770-4581-BD56-26997FEFF0FA}"/>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13">
            <a:extLst xmlns:a="http://schemas.openxmlformats.org/drawingml/2006/main">
              <a:ext uri="{FF2B5EF4-FFF2-40B4-BE49-F238E27FC236}">
                <a16:creationId xmlns:a16="http://schemas.microsoft.com/office/drawing/2014/main" id="{A9658DBA-EFDD-4DFF-A910-BDFFB72435DD}"/>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Hasil label mempertahankan susunan cabang dan bulan.</a:t>
            </a:r>
          </a:p>
        </p:txBody>
      </p:sp>
      <p:sp>
        <p:nvSpPr>
          <p:cNvPr id="5" name="page-13">
            <a:extLst xmlns:a="http://schemas.openxmlformats.org/drawingml/2006/main">
              <a:ext uri="{FF2B5EF4-FFF2-40B4-BE49-F238E27FC236}">
                <a16:creationId xmlns:a16="http://schemas.microsoft.com/office/drawing/2014/main" id="{A40C529A-F58B-413D-9B8C-885D08BCDD55}"/>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13</a:t>
            </a:r>
          </a:p>
        </p:txBody>
      </p:sp>
      <p:sp>
        <p:nvSpPr>
          <p:cNvPr id="6" name="course-13">
            <a:extLst xmlns:a="http://schemas.openxmlformats.org/drawingml/2006/main">
              <a:ext uri="{FF2B5EF4-FFF2-40B4-BE49-F238E27FC236}">
                <a16:creationId xmlns:a16="http://schemas.microsoft.com/office/drawing/2014/main" id="{0004C949-032D-44A0-913B-9961030FF7A0}"/>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where-code-background">
            <a:extLst xmlns:a="http://schemas.openxmlformats.org/drawingml/2006/main">
              <a:ext uri="{FF2B5EF4-FFF2-40B4-BE49-F238E27FC236}">
                <a16:creationId xmlns:a16="http://schemas.microsoft.com/office/drawing/2014/main" id="{FBE85260-E1D6-4C1A-B536-F5DE60F6FF11}"/>
              </a:ext>
            </a:extLst>
          </p:cNvPr>
          <p:cNvSpPr>
            <a:spLocks xmlns:a="http://schemas.openxmlformats.org/drawingml/2006/main" noGrp="1"/>
          </p:cNvSpPr>
          <p:nvPr/>
        </p:nvSpPr>
        <p:spPr>
          <a:xfrm xmlns:a="http://schemas.openxmlformats.org/drawingml/2006/main">
            <a:off x="819150" y="2343150"/>
            <a:ext cx="6667500" cy="3009900"/>
          </a:xfrm>
          <a:prstGeom xmlns:a="http://schemas.openxmlformats.org/drawingml/2006/main" prst="roundRect">
            <a:avLst>
              <a:gd name="adj" fmla="val 3797"/>
            </a:avLst>
          </a:prstGeom>
          <a:solidFill xmlns:a="http://schemas.openxmlformats.org/drawingml/2006/main">
            <a:srgbClr val="111A30"/>
          </a:solidFill>
          <a:ln xmlns:a="http://schemas.openxmlformats.org/drawingml/2006/main" w="9525">
            <a:solidFill>
              <a:srgbClr val="111A30"/>
            </a:solidFill>
            <a:prstDash val="solid"/>
          </a:ln>
        </p:spPr>
      </p:sp>
      <p:sp>
        <p:nvSpPr>
          <p:cNvPr id="8" name="where-code-dot-red">
            <a:extLst xmlns:a="http://schemas.openxmlformats.org/drawingml/2006/main">
              <a:ext uri="{FF2B5EF4-FFF2-40B4-BE49-F238E27FC236}">
                <a16:creationId xmlns:a16="http://schemas.microsoft.com/office/drawing/2014/main" id="{AEFAED75-13D7-40CD-BD5A-B206FD6B6DA8}"/>
              </a:ext>
            </a:extLst>
          </p:cNvPr>
          <p:cNvSpPr>
            <a:spLocks xmlns:a="http://schemas.openxmlformats.org/drawingml/2006/main" noGrp="1"/>
          </p:cNvSpPr>
          <p:nvPr/>
        </p:nvSpPr>
        <p:spPr>
          <a:xfrm xmlns:a="http://schemas.openxmlformats.org/drawingml/2006/main">
            <a:off x="1028700" y="2505075"/>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9" name="where-code-dot-yellow">
            <a:extLst xmlns:a="http://schemas.openxmlformats.org/drawingml/2006/main">
              <a:ext uri="{FF2B5EF4-FFF2-40B4-BE49-F238E27FC236}">
                <a16:creationId xmlns:a16="http://schemas.microsoft.com/office/drawing/2014/main" id="{DF566B9E-793B-4DF1-80F4-E75B5B46BA3F}"/>
              </a:ext>
            </a:extLst>
          </p:cNvPr>
          <p:cNvSpPr>
            <a:spLocks xmlns:a="http://schemas.openxmlformats.org/drawingml/2006/main" noGrp="1"/>
          </p:cNvSpPr>
          <p:nvPr/>
        </p:nvSpPr>
        <p:spPr>
          <a:xfrm xmlns:a="http://schemas.openxmlformats.org/drawingml/2006/main">
            <a:off x="1219200" y="2505075"/>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0" name="where-code-dot-green">
            <a:extLst xmlns:a="http://schemas.openxmlformats.org/drawingml/2006/main">
              <a:ext uri="{FF2B5EF4-FFF2-40B4-BE49-F238E27FC236}">
                <a16:creationId xmlns:a16="http://schemas.microsoft.com/office/drawing/2014/main" id="{96841603-6C9D-4C19-9642-1FDD9FE9BD72}"/>
              </a:ext>
            </a:extLst>
          </p:cNvPr>
          <p:cNvSpPr>
            <a:spLocks xmlns:a="http://schemas.openxmlformats.org/drawingml/2006/main" noGrp="1"/>
          </p:cNvSpPr>
          <p:nvPr/>
        </p:nvSpPr>
        <p:spPr>
          <a:xfrm xmlns:a="http://schemas.openxmlformats.org/drawingml/2006/main">
            <a:off x="1409700" y="2505075"/>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1" name="where-code-text">
            <a:extLst xmlns:a="http://schemas.openxmlformats.org/drawingml/2006/main">
              <a:ext uri="{FF2B5EF4-FFF2-40B4-BE49-F238E27FC236}">
                <a16:creationId xmlns:a16="http://schemas.microsoft.com/office/drawing/2014/main" id="{500A5F28-2D66-4414-B114-C7CD718ED2C4}"/>
              </a:ext>
            </a:extLst>
          </p:cNvPr>
          <p:cNvSpPr>
            <a:spLocks xmlns:a="http://schemas.openxmlformats.org/drawingml/2006/main" noGrp="1"/>
          </p:cNvSpPr>
          <p:nvPr/>
        </p:nvSpPr>
        <p:spPr>
          <a:xfrm xmlns:a="http://schemas.openxmlformats.org/drawingml/2006/main">
            <a:off x="1085850" y="2790825"/>
            <a:ext cx="61722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status = np.where(</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    proyeksi_q1 &gt;= target_bulan,</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    "Mencapai target",</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    "Di bawah target"</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a:t>
            </a:r>
          </a:p>
          <a:p xmlns:a="http://schemas.openxmlformats.org/drawingml/2006/main">
            <a:r>
              <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print(status.shape)</a:t>
            </a:r>
          </a:p>
        </p:txBody>
      </p:sp>
      <p:sp>
        <p:nvSpPr>
          <p:cNvPr id="12" name="where-result">
            <a:extLst xmlns:a="http://schemas.openxmlformats.org/drawingml/2006/main">
              <a:ext uri="{FF2B5EF4-FFF2-40B4-BE49-F238E27FC236}">
                <a16:creationId xmlns:a16="http://schemas.microsoft.com/office/drawing/2014/main" id="{42CCB4FA-866F-4E4B-9055-92B46D51987D}"/>
              </a:ext>
            </a:extLst>
          </p:cNvPr>
          <p:cNvSpPr>
            <a:spLocks xmlns:a="http://schemas.openxmlformats.org/drawingml/2006/main" noGrp="1"/>
          </p:cNvSpPr>
          <p:nvPr/>
        </p:nvSpPr>
        <p:spPr>
          <a:xfrm xmlns:a="http://schemas.openxmlformats.org/drawingml/2006/main">
            <a:off x="7905750" y="2571750"/>
            <a:ext cx="3381375" cy="2095500"/>
          </a:xfrm>
          <a:prstGeom xmlns:a="http://schemas.openxmlformats.org/drawingml/2006/main" prst="roundRect">
            <a:avLst>
              <a:gd name="adj" fmla="val 4545"/>
            </a:avLst>
          </a:prstGeom>
          <a:solidFill xmlns:a="http://schemas.openxmlformats.org/drawingml/2006/main">
            <a:srgbClr val="FFF7D6"/>
          </a:solidFill>
          <a:ln xmlns:a="http://schemas.openxmlformats.org/drawingml/2006/main" w="9525">
            <a:solidFill>
              <a:srgbClr val="F5D36A"/>
            </a:solidFill>
            <a:prstDash val="solid"/>
          </a:ln>
        </p:spPr>
      </p:sp>
      <p:sp>
        <p:nvSpPr>
          <p:cNvPr id="13" name="where-result-title">
            <a:extLst xmlns:a="http://schemas.openxmlformats.org/drawingml/2006/main">
              <a:ext uri="{FF2B5EF4-FFF2-40B4-BE49-F238E27FC236}">
                <a16:creationId xmlns:a16="http://schemas.microsoft.com/office/drawing/2014/main" id="{A20732F7-6D50-40A5-88C2-4F7DDBA21915}"/>
              </a:ext>
            </a:extLst>
          </p:cNvPr>
          <p:cNvSpPr>
            <a:spLocks xmlns:a="http://schemas.openxmlformats.org/drawingml/2006/main" noGrp="1"/>
          </p:cNvSpPr>
          <p:nvPr/>
        </p:nvSpPr>
        <p:spPr>
          <a:xfrm xmlns:a="http://schemas.openxmlformats.org/drawingml/2006/main">
            <a:off x="8191500" y="28575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11A30"/>
                </a:solidFill>
                <a:latin typeface="SF Pro Display"/>
                <a:ea typeface="SF Pro Display"/>
                <a:cs typeface="SF Pro Display"/>
              </a:defRPr>
            </a:pPr>
            <a:r>
              <a:rPr sz="1650" b="1">
                <a:solidFill>
                  <a:srgbClr val="111A30"/>
                </a:solidFill>
                <a:latin typeface="SF Pro Display"/>
                <a:ea typeface="SF Pro Display"/>
                <a:cs typeface="SF Pro Display"/>
              </a:rPr>
              <a:t>Satu label per sel</a:t>
            </a:r>
          </a:p>
        </p:txBody>
      </p:sp>
      <p:sp>
        <p:nvSpPr>
          <p:cNvPr id="14" name="where-result-copy">
            <a:extLst xmlns:a="http://schemas.openxmlformats.org/drawingml/2006/main">
              <a:ext uri="{FF2B5EF4-FFF2-40B4-BE49-F238E27FC236}">
                <a16:creationId xmlns:a16="http://schemas.microsoft.com/office/drawing/2014/main" id="{7223F638-C195-42BF-877A-367AF52FE98D}"/>
              </a:ext>
            </a:extLst>
          </p:cNvPr>
          <p:cNvSpPr>
            <a:spLocks xmlns:a="http://schemas.openxmlformats.org/drawingml/2006/main" noGrp="1"/>
          </p:cNvSpPr>
          <p:nvPr/>
        </p:nvSpPr>
        <p:spPr>
          <a:xfrm xmlns:a="http://schemas.openxmlformats.org/drawingml/2006/main">
            <a:off x="8191500" y="3371850"/>
            <a:ext cx="2809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Masukan: matriks 4 × 3</a:t>
            </a:r>
          </a:p>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Kondisi: True atau False</a:t>
            </a:r>
          </a:p>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Hasil: matriks label 4 × 3</a:t>
            </a:r>
          </a:p>
        </p:txBody>
      </p:sp>
    </p:spTree>
    <p:extLst>
      <p:ext uri="{BB962C8B-B14F-4D97-AF65-F5344CB8AC3E}">
        <p14:creationId xmlns:p14="http://schemas.microsoft.com/office/powerpoint/2010/main" val="17400503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14">
            <a:extLst xmlns:a="http://schemas.openxmlformats.org/drawingml/2006/main">
              <a:ext uri="{FF2B5EF4-FFF2-40B4-BE49-F238E27FC236}">
                <a16:creationId xmlns:a16="http://schemas.microsoft.com/office/drawing/2014/main" id="{68BADDC8-D970-4388-ACBF-0E82FDC369AD}"/>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AGREGASI ARRAY</a:t>
            </a:r>
          </a:p>
        </p:txBody>
      </p:sp>
      <p:sp>
        <p:nvSpPr>
          <p:cNvPr id="2" name="title-14">
            <a:extLst xmlns:a="http://schemas.openxmlformats.org/drawingml/2006/main">
              <a:ext uri="{FF2B5EF4-FFF2-40B4-BE49-F238E27FC236}">
                <a16:creationId xmlns:a16="http://schemas.microsoft.com/office/drawing/2014/main" id="{7CE75D56-6C42-4A7F-B3A3-F06CE953805D}"/>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axis menentukan arah ringkasan</a:t>
            </a:r>
          </a:p>
        </p:txBody>
      </p:sp>
      <p:sp>
        <p:nvSpPr>
          <p:cNvPr id="3" name="divider-14">
            <a:extLst xmlns:a="http://schemas.openxmlformats.org/drawingml/2006/main">
              <a:ext uri="{FF2B5EF4-FFF2-40B4-BE49-F238E27FC236}">
                <a16:creationId xmlns:a16="http://schemas.microsoft.com/office/drawing/2014/main" id="{AC0EE6A1-4C59-4EF5-B4EB-E36B6AAF3944}"/>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14">
            <a:extLst xmlns:a="http://schemas.openxmlformats.org/drawingml/2006/main">
              <a:ext uri="{FF2B5EF4-FFF2-40B4-BE49-F238E27FC236}">
                <a16:creationId xmlns:a16="http://schemas.microsoft.com/office/drawing/2014/main" id="{EE03F6B7-106E-4DB4-9525-2B272B2CC28F}"/>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Pilih sumbu berdasarkan hasil yang ingin dihitung.</a:t>
            </a:r>
          </a:p>
        </p:txBody>
      </p:sp>
      <p:sp>
        <p:nvSpPr>
          <p:cNvPr id="5" name="page-14">
            <a:extLst xmlns:a="http://schemas.openxmlformats.org/drawingml/2006/main">
              <a:ext uri="{FF2B5EF4-FFF2-40B4-BE49-F238E27FC236}">
                <a16:creationId xmlns:a16="http://schemas.microsoft.com/office/drawing/2014/main" id="{F2624C92-61B9-46CA-BE25-CCF882571F70}"/>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14</a:t>
            </a:r>
          </a:p>
        </p:txBody>
      </p:sp>
      <p:sp>
        <p:nvSpPr>
          <p:cNvPr id="6" name="course-14">
            <a:extLst xmlns:a="http://schemas.openxmlformats.org/drawingml/2006/main">
              <a:ext uri="{FF2B5EF4-FFF2-40B4-BE49-F238E27FC236}">
                <a16:creationId xmlns:a16="http://schemas.microsoft.com/office/drawing/2014/main" id="{8FFFA571-B88D-42F2-A456-E5E003A5CCE2}"/>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axis-code-background">
            <a:extLst xmlns:a="http://schemas.openxmlformats.org/drawingml/2006/main">
              <a:ext uri="{FF2B5EF4-FFF2-40B4-BE49-F238E27FC236}">
                <a16:creationId xmlns:a16="http://schemas.microsoft.com/office/drawing/2014/main" id="{ECD7CEDF-285D-4712-8867-78EF528135BE}"/>
              </a:ext>
            </a:extLst>
          </p:cNvPr>
          <p:cNvSpPr>
            <a:spLocks xmlns:a="http://schemas.openxmlformats.org/drawingml/2006/main" noGrp="1"/>
          </p:cNvSpPr>
          <p:nvPr/>
        </p:nvSpPr>
        <p:spPr>
          <a:xfrm xmlns:a="http://schemas.openxmlformats.org/drawingml/2006/main">
            <a:off x="819150" y="2333625"/>
            <a:ext cx="6191250" cy="3238500"/>
          </a:xfrm>
          <a:prstGeom xmlns:a="http://schemas.openxmlformats.org/drawingml/2006/main" prst="roundRect">
            <a:avLst>
              <a:gd name="adj" fmla="val 3529"/>
            </a:avLst>
          </a:prstGeom>
          <a:solidFill xmlns:a="http://schemas.openxmlformats.org/drawingml/2006/main">
            <a:srgbClr val="111A30"/>
          </a:solidFill>
          <a:ln xmlns:a="http://schemas.openxmlformats.org/drawingml/2006/main" w="9525">
            <a:solidFill>
              <a:srgbClr val="111A30"/>
            </a:solidFill>
            <a:prstDash val="solid"/>
          </a:ln>
        </p:spPr>
      </p:sp>
      <p:sp>
        <p:nvSpPr>
          <p:cNvPr id="8" name="axis-code-dot-red">
            <a:extLst xmlns:a="http://schemas.openxmlformats.org/drawingml/2006/main">
              <a:ext uri="{FF2B5EF4-FFF2-40B4-BE49-F238E27FC236}">
                <a16:creationId xmlns:a16="http://schemas.microsoft.com/office/drawing/2014/main" id="{925CFFFE-A7E8-45F3-8B1D-0E2434A11BFC}"/>
              </a:ext>
            </a:extLst>
          </p:cNvPr>
          <p:cNvSpPr>
            <a:spLocks xmlns:a="http://schemas.openxmlformats.org/drawingml/2006/main" noGrp="1"/>
          </p:cNvSpPr>
          <p:nvPr/>
        </p:nvSpPr>
        <p:spPr>
          <a:xfrm xmlns:a="http://schemas.openxmlformats.org/drawingml/2006/main">
            <a:off x="1028700" y="2495550"/>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9" name="axis-code-dot-yellow">
            <a:extLst xmlns:a="http://schemas.openxmlformats.org/drawingml/2006/main">
              <a:ext uri="{FF2B5EF4-FFF2-40B4-BE49-F238E27FC236}">
                <a16:creationId xmlns:a16="http://schemas.microsoft.com/office/drawing/2014/main" id="{A55D8B7D-456C-411E-9A1C-8189DB4EC08F}"/>
              </a:ext>
            </a:extLst>
          </p:cNvPr>
          <p:cNvSpPr>
            <a:spLocks xmlns:a="http://schemas.openxmlformats.org/drawingml/2006/main" noGrp="1"/>
          </p:cNvSpPr>
          <p:nvPr/>
        </p:nvSpPr>
        <p:spPr>
          <a:xfrm xmlns:a="http://schemas.openxmlformats.org/drawingml/2006/main">
            <a:off x="1219200" y="2495550"/>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0" name="axis-code-dot-green">
            <a:extLst xmlns:a="http://schemas.openxmlformats.org/drawingml/2006/main">
              <a:ext uri="{FF2B5EF4-FFF2-40B4-BE49-F238E27FC236}">
                <a16:creationId xmlns:a16="http://schemas.microsoft.com/office/drawing/2014/main" id="{F639CC92-5662-4B1F-B507-B76578A2A194}"/>
              </a:ext>
            </a:extLst>
          </p:cNvPr>
          <p:cNvSpPr>
            <a:spLocks xmlns:a="http://schemas.openxmlformats.org/drawingml/2006/main" noGrp="1"/>
          </p:cNvSpPr>
          <p:nvPr/>
        </p:nvSpPr>
        <p:spPr>
          <a:xfrm xmlns:a="http://schemas.openxmlformats.org/drawingml/2006/main">
            <a:off x="1409700" y="2495550"/>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1" name="axis-code-text">
            <a:extLst xmlns:a="http://schemas.openxmlformats.org/drawingml/2006/main">
              <a:ext uri="{FF2B5EF4-FFF2-40B4-BE49-F238E27FC236}">
                <a16:creationId xmlns:a16="http://schemas.microsoft.com/office/drawing/2014/main" id="{F5AA127E-E8F1-4EC8-A59B-CDB759BB0C90}"/>
              </a:ext>
            </a:extLst>
          </p:cNvPr>
          <p:cNvSpPr>
            <a:spLocks xmlns:a="http://schemas.openxmlformats.org/drawingml/2006/main" noGrp="1"/>
          </p:cNvSpPr>
          <p:nvPr/>
        </p:nvSpPr>
        <p:spPr>
          <a:xfrm xmlns:a="http://schemas.openxmlformats.org/drawingml/2006/main">
            <a:off x="1085850" y="2781300"/>
            <a:ext cx="569595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total_cabang = proyeksi_q1.sum(axis=1)</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total_bulan = proyeksi_q1.sum(axis=0)</a:t>
            </a:r>
          </a:p>
          <a:p xmlns:a="http://schemas.openxmlformats.org/drawingml/2006/main">
            <a:r>
              <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nama_cabang = cabang[np.argmax(total_cabang)]</a:t>
            </a:r>
          </a:p>
          <a:p xmlns:a="http://schemas.openxmlformats.org/drawingml/2006/main">
            <a:pPr algn="l">
              <a:buNone/>
              <a:defRPr sz="1275" b="0">
                <a:solidFill>
                  <a:srgbClr val="FFFFFF"/>
                </a:solidFill>
                <a:latin typeface="SF Mono"/>
                <a:ea typeface="SF Mono"/>
                <a:cs typeface="SF Mono"/>
              </a:defRPr>
            </a:pPr>
            <a:r>
              <a:rPr sz="1275" b="0">
                <a:solidFill>
                  <a:srgbClr val="FFFFFF"/>
                </a:solidFill>
                <a:latin typeface="SF Mono"/>
                <a:ea typeface="SF Mono"/>
                <a:cs typeface="SF Mono"/>
              </a:rPr>
              <a:t>nama_bulan = bulan[np.argmax(total_bulan)]</a:t>
            </a:r>
          </a:p>
        </p:txBody>
      </p:sp>
      <p:sp>
        <p:nvSpPr>
          <p:cNvPr id="12" name="axis-row-panel">
            <a:extLst xmlns:a="http://schemas.openxmlformats.org/drawingml/2006/main">
              <a:ext uri="{FF2B5EF4-FFF2-40B4-BE49-F238E27FC236}">
                <a16:creationId xmlns:a16="http://schemas.microsoft.com/office/drawing/2014/main" id="{81EC6FA7-71AC-4E61-A52A-D7755BFA9746}"/>
              </a:ext>
            </a:extLst>
          </p:cNvPr>
          <p:cNvSpPr>
            <a:spLocks xmlns:a="http://schemas.openxmlformats.org/drawingml/2006/main" noGrp="1"/>
          </p:cNvSpPr>
          <p:nvPr/>
        </p:nvSpPr>
        <p:spPr>
          <a:xfrm xmlns:a="http://schemas.openxmlformats.org/drawingml/2006/main">
            <a:off x="7448550" y="2362200"/>
            <a:ext cx="3867150" cy="1257300"/>
          </a:xfrm>
          <a:prstGeom xmlns:a="http://schemas.openxmlformats.org/drawingml/2006/main" prst="roundRect">
            <a:avLst>
              <a:gd name="adj" fmla="val 7576"/>
            </a:avLst>
          </a:prstGeom>
          <a:solidFill xmlns:a="http://schemas.openxmlformats.org/drawingml/2006/main">
            <a:srgbClr val="EAF6FC"/>
          </a:solidFill>
          <a:ln xmlns:a="http://schemas.openxmlformats.org/drawingml/2006/main" w="9525">
            <a:solidFill>
              <a:srgbClr val="4FB6E8"/>
            </a:solidFill>
            <a:prstDash val="solid"/>
          </a:ln>
        </p:spPr>
      </p:sp>
      <p:sp>
        <p:nvSpPr>
          <p:cNvPr id="13" name="axis-row-title">
            <a:extLst xmlns:a="http://schemas.openxmlformats.org/drawingml/2006/main">
              <a:ext uri="{FF2B5EF4-FFF2-40B4-BE49-F238E27FC236}">
                <a16:creationId xmlns:a16="http://schemas.microsoft.com/office/drawing/2014/main" id="{4F3BA336-A03E-4FE6-A57D-2447247E3C75}"/>
              </a:ext>
            </a:extLst>
          </p:cNvPr>
          <p:cNvSpPr>
            <a:spLocks xmlns:a="http://schemas.openxmlformats.org/drawingml/2006/main" noGrp="1"/>
          </p:cNvSpPr>
          <p:nvPr/>
        </p:nvSpPr>
        <p:spPr>
          <a:xfrm xmlns:a="http://schemas.openxmlformats.org/drawingml/2006/main">
            <a:off x="7715250" y="2571750"/>
            <a:ext cx="3295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111A30"/>
                </a:solidFill>
                <a:latin typeface="SF Pro Display"/>
                <a:ea typeface="SF Pro Display"/>
                <a:cs typeface="SF Pro Display"/>
              </a:defRPr>
            </a:pPr>
            <a:r>
              <a:rPr sz="1500" b="1">
                <a:solidFill>
                  <a:srgbClr val="111A30"/>
                </a:solidFill>
                <a:latin typeface="SF Pro Display"/>
                <a:ea typeface="SF Pro Display"/>
                <a:cs typeface="SF Pro Display"/>
              </a:rPr>
              <a:t>axis=1  →  satu total per cabang</a:t>
            </a:r>
          </a:p>
        </p:txBody>
      </p:sp>
      <p:sp>
        <p:nvSpPr>
          <p:cNvPr id="14" name="axis-row-copy">
            <a:extLst xmlns:a="http://schemas.openxmlformats.org/drawingml/2006/main">
              <a:ext uri="{FF2B5EF4-FFF2-40B4-BE49-F238E27FC236}">
                <a16:creationId xmlns:a16="http://schemas.microsoft.com/office/drawing/2014/main" id="{F1EC0FD9-A0BA-450A-967D-115C7BA411EF}"/>
              </a:ext>
            </a:extLst>
          </p:cNvPr>
          <p:cNvSpPr>
            <a:spLocks xmlns:a="http://schemas.openxmlformats.org/drawingml/2006/main" noGrp="1"/>
          </p:cNvSpPr>
          <p:nvPr/>
        </p:nvSpPr>
        <p:spPr>
          <a:xfrm xmlns:a="http://schemas.openxmlformats.org/drawingml/2006/main">
            <a:off x="7715250" y="2981325"/>
            <a:ext cx="3295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Gabungkan bulan pada tiap baris.</a:t>
            </a:r>
          </a:p>
        </p:txBody>
      </p:sp>
      <p:sp>
        <p:nvSpPr>
          <p:cNvPr id="15" name="axis-column-panel">
            <a:extLst xmlns:a="http://schemas.openxmlformats.org/drawingml/2006/main">
              <a:ext uri="{FF2B5EF4-FFF2-40B4-BE49-F238E27FC236}">
                <a16:creationId xmlns:a16="http://schemas.microsoft.com/office/drawing/2014/main" id="{F4BE6C5B-B62A-4D60-AE3C-32D901175BDA}"/>
              </a:ext>
            </a:extLst>
          </p:cNvPr>
          <p:cNvSpPr>
            <a:spLocks xmlns:a="http://schemas.openxmlformats.org/drawingml/2006/main" noGrp="1"/>
          </p:cNvSpPr>
          <p:nvPr/>
        </p:nvSpPr>
        <p:spPr>
          <a:xfrm xmlns:a="http://schemas.openxmlformats.org/drawingml/2006/main">
            <a:off x="7448550" y="3867150"/>
            <a:ext cx="3867150" cy="1257300"/>
          </a:xfrm>
          <a:prstGeom xmlns:a="http://schemas.openxmlformats.org/drawingml/2006/main" prst="roundRect">
            <a:avLst>
              <a:gd name="adj" fmla="val 7576"/>
            </a:avLst>
          </a:prstGeom>
          <a:solidFill xmlns:a="http://schemas.openxmlformats.org/drawingml/2006/main">
            <a:srgbClr val="FFF7D6"/>
          </a:solidFill>
          <a:ln xmlns:a="http://schemas.openxmlformats.org/drawingml/2006/main" w="9525">
            <a:solidFill>
              <a:srgbClr val="F5D36A"/>
            </a:solidFill>
            <a:prstDash val="solid"/>
          </a:ln>
        </p:spPr>
      </p:sp>
      <p:sp>
        <p:nvSpPr>
          <p:cNvPr id="16" name="axis-column-title">
            <a:extLst xmlns:a="http://schemas.openxmlformats.org/drawingml/2006/main">
              <a:ext uri="{FF2B5EF4-FFF2-40B4-BE49-F238E27FC236}">
                <a16:creationId xmlns:a16="http://schemas.microsoft.com/office/drawing/2014/main" id="{BAFDBA44-A9CB-47DD-88BC-9C0FEEF11786}"/>
              </a:ext>
            </a:extLst>
          </p:cNvPr>
          <p:cNvSpPr>
            <a:spLocks xmlns:a="http://schemas.openxmlformats.org/drawingml/2006/main" noGrp="1"/>
          </p:cNvSpPr>
          <p:nvPr/>
        </p:nvSpPr>
        <p:spPr>
          <a:xfrm xmlns:a="http://schemas.openxmlformats.org/drawingml/2006/main">
            <a:off x="7715250" y="4076700"/>
            <a:ext cx="3295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111A30"/>
                </a:solidFill>
                <a:latin typeface="SF Pro Display"/>
                <a:ea typeface="SF Pro Display"/>
                <a:cs typeface="SF Pro Display"/>
              </a:defRPr>
            </a:pPr>
            <a:r>
              <a:rPr sz="1500" b="1">
                <a:solidFill>
                  <a:srgbClr val="111A30"/>
                </a:solidFill>
                <a:latin typeface="SF Pro Display"/>
                <a:ea typeface="SF Pro Display"/>
                <a:cs typeface="SF Pro Display"/>
              </a:rPr>
              <a:t>axis=0  →  satu total per bulan</a:t>
            </a:r>
          </a:p>
        </p:txBody>
      </p:sp>
      <p:sp>
        <p:nvSpPr>
          <p:cNvPr id="17" name="axis-column-copy">
            <a:extLst xmlns:a="http://schemas.openxmlformats.org/drawingml/2006/main">
              <a:ext uri="{FF2B5EF4-FFF2-40B4-BE49-F238E27FC236}">
                <a16:creationId xmlns:a16="http://schemas.microsoft.com/office/drawing/2014/main" id="{201A503D-633D-4A14-AD45-17749EAC87A8}"/>
              </a:ext>
            </a:extLst>
          </p:cNvPr>
          <p:cNvSpPr>
            <a:spLocks xmlns:a="http://schemas.openxmlformats.org/drawingml/2006/main" noGrp="1"/>
          </p:cNvSpPr>
          <p:nvPr/>
        </p:nvSpPr>
        <p:spPr>
          <a:xfrm xmlns:a="http://schemas.openxmlformats.org/drawingml/2006/main">
            <a:off x="7715250" y="4486275"/>
            <a:ext cx="3295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Gabungkan cabang pada tiap kolom.</a:t>
            </a:r>
          </a:p>
        </p:txBody>
      </p:sp>
    </p:spTree>
    <p:extLst>
      <p:ext uri="{BB962C8B-B14F-4D97-AF65-F5344CB8AC3E}">
        <p14:creationId xmlns:p14="http://schemas.microsoft.com/office/powerpoint/2010/main" val="128724946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kicker-15">
            <a:extLst xmlns:a="http://schemas.openxmlformats.org/drawingml/2006/main">
              <a:ext uri="{FF2B5EF4-FFF2-40B4-BE49-F238E27FC236}">
                <a16:creationId xmlns:a16="http://schemas.microsoft.com/office/drawing/2014/main" id="{319ECBBF-6AA4-4C2A-B595-1BA2B10ADD55}"/>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MENGGABUNGKAN ARRAY</a:t>
            </a:r>
          </a:p>
        </p:txBody>
      </p:sp>
      <p:sp>
        <p:nvSpPr>
          <p:cNvPr id="2" name="title-15">
            <a:extLst xmlns:a="http://schemas.openxmlformats.org/drawingml/2006/main">
              <a:ext uri="{FF2B5EF4-FFF2-40B4-BE49-F238E27FC236}">
                <a16:creationId xmlns:a16="http://schemas.microsoft.com/office/drawing/2014/main" id="{AB3529C6-36BF-4EEC-86EC-6598C1D9C29E}"/>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Tambahkan bulan dengan concatenate</a:t>
            </a:r>
          </a:p>
        </p:txBody>
      </p:sp>
      <p:sp>
        <p:nvSpPr>
          <p:cNvPr id="3" name="divider-15">
            <a:extLst xmlns:a="http://schemas.openxmlformats.org/drawingml/2006/main">
              <a:ext uri="{FF2B5EF4-FFF2-40B4-BE49-F238E27FC236}">
                <a16:creationId xmlns:a16="http://schemas.microsoft.com/office/drawing/2014/main" id="{FC3FFA5C-32EF-4B12-970D-487AD9428F3A}"/>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15">
            <a:extLst xmlns:a="http://schemas.openxmlformats.org/drawingml/2006/main">
              <a:ext uri="{FF2B5EF4-FFF2-40B4-BE49-F238E27FC236}">
                <a16:creationId xmlns:a16="http://schemas.microsoft.com/office/drawing/2014/main" id="{902E0484-1875-4F9D-ACC9-6C49C4D63AED}"/>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Untuk menambah kolom, jumlah baris harus sama.</a:t>
            </a:r>
          </a:p>
        </p:txBody>
      </p:sp>
      <p:sp>
        <p:nvSpPr>
          <p:cNvPr id="5" name="page-15">
            <a:extLst xmlns:a="http://schemas.openxmlformats.org/drawingml/2006/main">
              <a:ext uri="{FF2B5EF4-FFF2-40B4-BE49-F238E27FC236}">
                <a16:creationId xmlns:a16="http://schemas.microsoft.com/office/drawing/2014/main" id="{E204C6F3-3F75-4FD4-AC15-AD998B316175}"/>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15</a:t>
            </a:r>
          </a:p>
        </p:txBody>
      </p:sp>
      <p:sp>
        <p:nvSpPr>
          <p:cNvPr id="6" name="course-15">
            <a:extLst xmlns:a="http://schemas.openxmlformats.org/drawingml/2006/main">
              <a:ext uri="{FF2B5EF4-FFF2-40B4-BE49-F238E27FC236}">
                <a16:creationId xmlns:a16="http://schemas.microsoft.com/office/drawing/2014/main" id="{46C8C235-93E2-4146-BA70-A028457F710D}"/>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concat-code-background">
            <a:extLst xmlns:a="http://schemas.openxmlformats.org/drawingml/2006/main">
              <a:ext uri="{FF2B5EF4-FFF2-40B4-BE49-F238E27FC236}">
                <a16:creationId xmlns:a16="http://schemas.microsoft.com/office/drawing/2014/main" id="{D99431D1-63FB-4989-BE48-D7E232271368}"/>
              </a:ext>
            </a:extLst>
          </p:cNvPr>
          <p:cNvSpPr>
            <a:spLocks xmlns:a="http://schemas.openxmlformats.org/drawingml/2006/main" noGrp="1"/>
          </p:cNvSpPr>
          <p:nvPr/>
        </p:nvSpPr>
        <p:spPr>
          <a:xfrm xmlns:a="http://schemas.openxmlformats.org/drawingml/2006/main">
            <a:off x="819150" y="2324100"/>
            <a:ext cx="6667500" cy="3067050"/>
          </a:xfrm>
          <a:prstGeom xmlns:a="http://schemas.openxmlformats.org/drawingml/2006/main" prst="roundRect">
            <a:avLst>
              <a:gd name="adj" fmla="val 3727"/>
            </a:avLst>
          </a:prstGeom>
          <a:solidFill xmlns:a="http://schemas.openxmlformats.org/drawingml/2006/main">
            <a:srgbClr val="111A30"/>
          </a:solidFill>
          <a:ln xmlns:a="http://schemas.openxmlformats.org/drawingml/2006/main" w="9525">
            <a:solidFill>
              <a:srgbClr val="111A30"/>
            </a:solidFill>
            <a:prstDash val="solid"/>
          </a:ln>
        </p:spPr>
      </p:sp>
      <p:sp>
        <p:nvSpPr>
          <p:cNvPr id="8" name="concat-code-dot-red">
            <a:extLst xmlns:a="http://schemas.openxmlformats.org/drawingml/2006/main">
              <a:ext uri="{FF2B5EF4-FFF2-40B4-BE49-F238E27FC236}">
                <a16:creationId xmlns:a16="http://schemas.microsoft.com/office/drawing/2014/main" id="{D5C2B4DE-001E-4893-93DD-42D4971A23E6}"/>
              </a:ext>
            </a:extLst>
          </p:cNvPr>
          <p:cNvSpPr>
            <a:spLocks xmlns:a="http://schemas.openxmlformats.org/drawingml/2006/main" noGrp="1"/>
          </p:cNvSpPr>
          <p:nvPr/>
        </p:nvSpPr>
        <p:spPr>
          <a:xfrm xmlns:a="http://schemas.openxmlformats.org/drawingml/2006/main">
            <a:off x="1028700" y="2486025"/>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9" name="concat-code-dot-yellow">
            <a:extLst xmlns:a="http://schemas.openxmlformats.org/drawingml/2006/main">
              <a:ext uri="{FF2B5EF4-FFF2-40B4-BE49-F238E27FC236}">
                <a16:creationId xmlns:a16="http://schemas.microsoft.com/office/drawing/2014/main" id="{B7B739D3-0F18-46D0-B513-3556B9FFAD1C}"/>
              </a:ext>
            </a:extLst>
          </p:cNvPr>
          <p:cNvSpPr>
            <a:spLocks xmlns:a="http://schemas.openxmlformats.org/drawingml/2006/main" noGrp="1"/>
          </p:cNvSpPr>
          <p:nvPr/>
        </p:nvSpPr>
        <p:spPr>
          <a:xfrm xmlns:a="http://schemas.openxmlformats.org/drawingml/2006/main">
            <a:off x="1219200" y="2486025"/>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0" name="concat-code-dot-green">
            <a:extLst xmlns:a="http://schemas.openxmlformats.org/drawingml/2006/main">
              <a:ext uri="{FF2B5EF4-FFF2-40B4-BE49-F238E27FC236}">
                <a16:creationId xmlns:a16="http://schemas.microsoft.com/office/drawing/2014/main" id="{BE1D8663-81ED-4CD5-B545-D879C51989F4}"/>
              </a:ext>
            </a:extLst>
          </p:cNvPr>
          <p:cNvSpPr>
            <a:spLocks xmlns:a="http://schemas.openxmlformats.org/drawingml/2006/main" noGrp="1"/>
          </p:cNvSpPr>
          <p:nvPr/>
        </p:nvSpPr>
        <p:spPr>
          <a:xfrm xmlns:a="http://schemas.openxmlformats.org/drawingml/2006/main">
            <a:off x="1409700" y="2486025"/>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1" name="concat-code-text">
            <a:extLst xmlns:a="http://schemas.openxmlformats.org/drawingml/2006/main">
              <a:ext uri="{FF2B5EF4-FFF2-40B4-BE49-F238E27FC236}">
                <a16:creationId xmlns:a16="http://schemas.microsoft.com/office/drawing/2014/main" id="{CA0D9510-A7DD-4C1C-9D54-ECC25A05184C}"/>
              </a:ext>
            </a:extLst>
          </p:cNvPr>
          <p:cNvSpPr>
            <a:spLocks xmlns:a="http://schemas.openxmlformats.org/drawingml/2006/main" noGrp="1"/>
          </p:cNvSpPr>
          <p:nvPr/>
        </p:nvSpPr>
        <p:spPr>
          <a:xfrm xmlns:a="http://schemas.openxmlformats.org/drawingml/2006/main">
            <a:off x="1085850" y="2771775"/>
            <a:ext cx="61722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april = np.array([132, 117, 160, 108])</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april = april.reshape(4, 1)</a:t>
            </a:r>
          </a:p>
          <a:p xmlns:a="http://schemas.openxmlformats.org/drawingml/2006/main">
            <a:r>
              <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penjualan_4bulan = np.concatenate(</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    (penjualan, april), axis=1</a:t>
            </a:r>
          </a:p>
          <a:p xmlns:a="http://schemas.openxmlformats.org/drawingml/2006/main">
            <a:pPr algn="l">
              <a:buNone/>
              <a:defRPr sz="1350" b="0">
                <a:solidFill>
                  <a:srgbClr val="FFFFFF"/>
                </a:solidFill>
                <a:latin typeface="SF Mono"/>
                <a:ea typeface="SF Mono"/>
                <a:cs typeface="SF Mono"/>
              </a:defRPr>
            </a:pPr>
            <a:r>
              <a:rPr sz="1350" b="0">
                <a:solidFill>
                  <a:srgbClr val="FFFFFF"/>
                </a:solidFill>
                <a:latin typeface="SF Mono"/>
                <a:ea typeface="SF Mono"/>
                <a:cs typeface="SF Mono"/>
              </a:rPr>
              <a:t>)</a:t>
            </a:r>
          </a:p>
        </p:txBody>
      </p:sp>
      <p:sp>
        <p:nvSpPr>
          <p:cNvPr id="12" name="concat-note">
            <a:extLst xmlns:a="http://schemas.openxmlformats.org/drawingml/2006/main">
              <a:ext uri="{FF2B5EF4-FFF2-40B4-BE49-F238E27FC236}">
                <a16:creationId xmlns:a16="http://schemas.microsoft.com/office/drawing/2014/main" id="{FDD0EEEB-92E9-49BB-B9B8-C48D59850930}"/>
              </a:ext>
            </a:extLst>
          </p:cNvPr>
          <p:cNvSpPr>
            <a:spLocks xmlns:a="http://schemas.openxmlformats.org/drawingml/2006/main" noGrp="1"/>
          </p:cNvSpPr>
          <p:nvPr/>
        </p:nvSpPr>
        <p:spPr>
          <a:xfrm xmlns:a="http://schemas.openxmlformats.org/drawingml/2006/main">
            <a:off x="7905750" y="2609850"/>
            <a:ext cx="3381375" cy="2095500"/>
          </a:xfrm>
          <a:prstGeom xmlns:a="http://schemas.openxmlformats.org/drawingml/2006/main" prst="roundRect">
            <a:avLst>
              <a:gd name="adj" fmla="val 4545"/>
            </a:avLst>
          </a:prstGeom>
          <a:solidFill xmlns:a="http://schemas.openxmlformats.org/drawingml/2006/main">
            <a:srgbClr val="EAF6FC"/>
          </a:solidFill>
          <a:ln xmlns:a="http://schemas.openxmlformats.org/drawingml/2006/main" w="9525">
            <a:solidFill>
              <a:srgbClr val="4FB6E8"/>
            </a:solidFill>
            <a:prstDash val="solid"/>
          </a:ln>
        </p:spPr>
      </p:sp>
      <p:sp>
        <p:nvSpPr>
          <p:cNvPr id="13" name="concat-note-title">
            <a:extLst xmlns:a="http://schemas.openxmlformats.org/drawingml/2006/main">
              <a:ext uri="{FF2B5EF4-FFF2-40B4-BE49-F238E27FC236}">
                <a16:creationId xmlns:a16="http://schemas.microsoft.com/office/drawing/2014/main" id="{9CFC36BE-38C2-4E4D-951A-6E755E97ABEF}"/>
              </a:ext>
            </a:extLst>
          </p:cNvPr>
          <p:cNvSpPr>
            <a:spLocks xmlns:a="http://schemas.openxmlformats.org/drawingml/2006/main" noGrp="1"/>
          </p:cNvSpPr>
          <p:nvPr/>
        </p:nvSpPr>
        <p:spPr>
          <a:xfrm xmlns:a="http://schemas.openxmlformats.org/drawingml/2006/main">
            <a:off x="8191500" y="28956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11A30"/>
                </a:solidFill>
                <a:latin typeface="SF Pro Display"/>
                <a:ea typeface="SF Pro Display"/>
                <a:cs typeface="SF Pro Display"/>
              </a:defRPr>
            </a:pPr>
            <a:r>
              <a:rPr sz="1650" b="1">
                <a:solidFill>
                  <a:srgbClr val="111A30"/>
                </a:solidFill>
                <a:latin typeface="SF Pro Display"/>
                <a:ea typeface="SF Pro Display"/>
                <a:cs typeface="SF Pro Display"/>
              </a:rPr>
              <a:t>Bentuk array</a:t>
            </a:r>
          </a:p>
        </p:txBody>
      </p:sp>
      <p:sp>
        <p:nvSpPr>
          <p:cNvPr id="14" name="concat-note-copy">
            <a:extLst xmlns:a="http://schemas.openxmlformats.org/drawingml/2006/main">
              <a:ext uri="{FF2B5EF4-FFF2-40B4-BE49-F238E27FC236}">
                <a16:creationId xmlns:a16="http://schemas.microsoft.com/office/drawing/2014/main" id="{02C892F1-3B46-4D57-A6FA-256924F988AB}"/>
              </a:ext>
            </a:extLst>
          </p:cNvPr>
          <p:cNvSpPr>
            <a:spLocks xmlns:a="http://schemas.openxmlformats.org/drawingml/2006/main" noGrp="1"/>
          </p:cNvSpPr>
          <p:nvPr/>
        </p:nvSpPr>
        <p:spPr>
          <a:xfrm xmlns:a="http://schemas.openxmlformats.org/drawingml/2006/main">
            <a:off x="8191500" y="3409950"/>
            <a:ext cx="2809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111A30"/>
                </a:solidFill>
                <a:latin typeface="SF Mono"/>
                <a:ea typeface="SF Mono"/>
                <a:cs typeface="SF Mono"/>
              </a:defRPr>
            </a:pPr>
            <a:r>
              <a:rPr sz="1575" b="0">
                <a:solidFill>
                  <a:srgbClr val="111A30"/>
                </a:solidFill>
                <a:latin typeface="SF Mono"/>
                <a:ea typeface="SF Mono"/>
                <a:cs typeface="SF Mono"/>
              </a:rPr>
              <a:t>(4, 3) + (4, 1)</a:t>
            </a:r>
          </a:p>
          <a:p xmlns:a="http://schemas.openxmlformats.org/drawingml/2006/main">
            <a:pPr algn="l">
              <a:buNone/>
              <a:defRPr sz="1575" b="0">
                <a:solidFill>
                  <a:srgbClr val="111A30"/>
                </a:solidFill>
                <a:latin typeface="SF Mono"/>
                <a:ea typeface="SF Mono"/>
                <a:cs typeface="SF Mono"/>
              </a:defRPr>
            </a:pPr>
            <a:r>
              <a:rPr sz="1575" b="0">
                <a:solidFill>
                  <a:srgbClr val="111A30"/>
                </a:solidFill>
                <a:latin typeface="SF Mono"/>
                <a:ea typeface="SF Mono"/>
                <a:cs typeface="SF Mono"/>
              </a:rPr>
              <a:t>axis=1</a:t>
            </a:r>
          </a:p>
          <a:p xmlns:a="http://schemas.openxmlformats.org/drawingml/2006/main">
            <a:pPr algn="l">
              <a:buNone/>
              <a:defRPr sz="1575" b="0">
                <a:solidFill>
                  <a:srgbClr val="111A30"/>
                </a:solidFill>
                <a:latin typeface="SF Mono"/>
                <a:ea typeface="SF Mono"/>
                <a:cs typeface="SF Mono"/>
              </a:defRPr>
            </a:pPr>
            <a:r>
              <a:rPr sz="1575" b="0">
                <a:solidFill>
                  <a:srgbClr val="111A30"/>
                </a:solidFill>
                <a:latin typeface="SF Mono"/>
                <a:ea typeface="SF Mono"/>
                <a:cs typeface="SF Mono"/>
              </a:rPr>
              <a:t>→ (4, 4)</a:t>
            </a:r>
          </a:p>
        </p:txBody>
      </p:sp>
    </p:spTree>
    <p:extLst>
      <p:ext uri="{BB962C8B-B14F-4D97-AF65-F5344CB8AC3E}">
        <p14:creationId xmlns:p14="http://schemas.microsoft.com/office/powerpoint/2010/main" val="18787859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kicker-16">
            <a:extLst xmlns:a="http://schemas.openxmlformats.org/drawingml/2006/main">
              <a:ext uri="{FF2B5EF4-FFF2-40B4-BE49-F238E27FC236}">
                <a16:creationId xmlns:a16="http://schemas.microsoft.com/office/drawing/2014/main" id="{56289B56-540E-4642-B99E-A305CED92AD2}"/>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PRACTICE AKHIR  •  24 MENIT</a:t>
            </a:r>
          </a:p>
        </p:txBody>
      </p:sp>
      <p:sp>
        <p:nvSpPr>
          <p:cNvPr id="2" name="title-16">
            <a:extLst xmlns:a="http://schemas.openxmlformats.org/drawingml/2006/main">
              <a:ext uri="{FF2B5EF4-FFF2-40B4-BE49-F238E27FC236}">
                <a16:creationId xmlns:a16="http://schemas.microsoft.com/office/drawing/2014/main" id="{3659D906-89A4-4CB2-BF9E-C5979798289E}"/>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Evaluasi skenario penjualan empat bulan</a:t>
            </a:r>
          </a:p>
        </p:txBody>
      </p:sp>
      <p:sp>
        <p:nvSpPr>
          <p:cNvPr id="3" name="divider-16">
            <a:extLst xmlns:a="http://schemas.openxmlformats.org/drawingml/2006/main">
              <a:ext uri="{FF2B5EF4-FFF2-40B4-BE49-F238E27FC236}">
                <a16:creationId xmlns:a16="http://schemas.microsoft.com/office/drawing/2014/main" id="{59FF7CE8-AB00-4510-B0AB-F02BEA53ADF0}"/>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16">
            <a:extLst xmlns:a="http://schemas.openxmlformats.org/drawingml/2006/main">
              <a:ext uri="{FF2B5EF4-FFF2-40B4-BE49-F238E27FC236}">
                <a16:creationId xmlns:a16="http://schemas.microsoft.com/office/drawing/2014/main" id="{84FC2413-7264-4032-A7AA-D382CDB6BE0C}"/>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Gunakan asumsi proyeksi untuk mencari cabang dan bulan yang perlu perhatian.</a:t>
            </a:r>
          </a:p>
        </p:txBody>
      </p:sp>
      <p:sp>
        <p:nvSpPr>
          <p:cNvPr id="5" name="page-16">
            <a:extLst xmlns:a="http://schemas.openxmlformats.org/drawingml/2006/main">
              <a:ext uri="{FF2B5EF4-FFF2-40B4-BE49-F238E27FC236}">
                <a16:creationId xmlns:a16="http://schemas.microsoft.com/office/drawing/2014/main" id="{16AD4083-6149-4CA0-98A2-0872515B5DEF}"/>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16</a:t>
            </a:r>
          </a:p>
        </p:txBody>
      </p:sp>
      <p:sp>
        <p:nvSpPr>
          <p:cNvPr id="6" name="course-16">
            <a:extLst xmlns:a="http://schemas.openxmlformats.org/drawingml/2006/main">
              <a:ext uri="{FF2B5EF4-FFF2-40B4-BE49-F238E27FC236}">
                <a16:creationId xmlns:a16="http://schemas.microsoft.com/office/drawing/2014/main" id="{5773B995-7A12-472E-9CA1-140CFC9F34B8}"/>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practice-end-data-bg">
            <a:extLst xmlns:a="http://schemas.openxmlformats.org/drawingml/2006/main">
              <a:ext uri="{FF2B5EF4-FFF2-40B4-BE49-F238E27FC236}">
                <a16:creationId xmlns:a16="http://schemas.microsoft.com/office/drawing/2014/main" id="{FEA7A6D7-935C-4DBF-BA4A-A967050C43B8}"/>
              </a:ext>
            </a:extLst>
          </p:cNvPr>
          <p:cNvSpPr>
            <a:spLocks xmlns:a="http://schemas.openxmlformats.org/drawingml/2006/main" noGrp="1"/>
          </p:cNvSpPr>
          <p:nvPr/>
        </p:nvSpPr>
        <p:spPr>
          <a:xfrm xmlns:a="http://schemas.openxmlformats.org/drawingml/2006/main">
            <a:off x="685800" y="2238375"/>
            <a:ext cx="4953000" cy="3781425"/>
          </a:xfrm>
          <a:prstGeom xmlns:a="http://schemas.openxmlformats.org/drawingml/2006/main" prst="roundRect">
            <a:avLst>
              <a:gd name="adj" fmla="val 2519"/>
            </a:avLst>
          </a:prstGeom>
          <a:solidFill xmlns:a="http://schemas.openxmlformats.org/drawingml/2006/main">
            <a:srgbClr val="FFF7D6"/>
          </a:solidFill>
          <a:ln xmlns:a="http://schemas.openxmlformats.org/drawingml/2006/main" w="9525">
            <a:solidFill>
              <a:srgbClr val="F5D36A"/>
            </a:solidFill>
            <a:prstDash val="solid"/>
          </a:ln>
        </p:spPr>
      </p:sp>
      <p:sp>
        <p:nvSpPr>
          <p:cNvPr id="8" name="practice-end-data-title">
            <a:extLst xmlns:a="http://schemas.openxmlformats.org/drawingml/2006/main">
              <a:ext uri="{FF2B5EF4-FFF2-40B4-BE49-F238E27FC236}">
                <a16:creationId xmlns:a16="http://schemas.microsoft.com/office/drawing/2014/main" id="{988DD283-47F6-46D0-9D34-0AD09B52B37A}"/>
              </a:ext>
            </a:extLst>
          </p:cNvPr>
          <p:cNvSpPr>
            <a:spLocks xmlns:a="http://schemas.openxmlformats.org/drawingml/2006/main" noGrp="1"/>
          </p:cNvSpPr>
          <p:nvPr/>
        </p:nvSpPr>
        <p:spPr>
          <a:xfrm xmlns:a="http://schemas.openxmlformats.org/drawingml/2006/main">
            <a:off x="952500" y="241935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DATA DAN ASUMSI</a:t>
            </a:r>
          </a:p>
        </p:txBody>
      </p:sp>
      <p:sp>
        <p:nvSpPr>
          <p:cNvPr id="9" name="practice-end-data-code-background">
            <a:extLst xmlns:a="http://schemas.openxmlformats.org/drawingml/2006/main">
              <a:ext uri="{FF2B5EF4-FFF2-40B4-BE49-F238E27FC236}">
                <a16:creationId xmlns:a16="http://schemas.microsoft.com/office/drawing/2014/main" id="{96121192-1D91-459F-B502-6FC2CB8C773C}"/>
              </a:ext>
            </a:extLst>
          </p:cNvPr>
          <p:cNvSpPr>
            <a:spLocks xmlns:a="http://schemas.openxmlformats.org/drawingml/2006/main" noGrp="1"/>
          </p:cNvSpPr>
          <p:nvPr/>
        </p:nvSpPr>
        <p:spPr>
          <a:xfrm xmlns:a="http://schemas.openxmlformats.org/drawingml/2006/main">
            <a:off x="914400" y="2809875"/>
            <a:ext cx="4495800" cy="2543175"/>
          </a:xfrm>
          <a:prstGeom xmlns:a="http://schemas.openxmlformats.org/drawingml/2006/main" prst="roundRect">
            <a:avLst>
              <a:gd name="adj" fmla="val 4494"/>
            </a:avLst>
          </a:prstGeom>
          <a:solidFill xmlns:a="http://schemas.openxmlformats.org/drawingml/2006/main">
            <a:srgbClr val="111A30"/>
          </a:solidFill>
          <a:ln xmlns:a="http://schemas.openxmlformats.org/drawingml/2006/main" w="9525">
            <a:solidFill>
              <a:srgbClr val="111A30"/>
            </a:solidFill>
            <a:prstDash val="solid"/>
          </a:ln>
        </p:spPr>
      </p:sp>
      <p:sp>
        <p:nvSpPr>
          <p:cNvPr id="10" name="practice-end-data-code-dot-red">
            <a:extLst xmlns:a="http://schemas.openxmlformats.org/drawingml/2006/main">
              <a:ext uri="{FF2B5EF4-FFF2-40B4-BE49-F238E27FC236}">
                <a16:creationId xmlns:a16="http://schemas.microsoft.com/office/drawing/2014/main" id="{8AF147C9-9414-4E43-B48D-6B213979AEFE}"/>
              </a:ext>
            </a:extLst>
          </p:cNvPr>
          <p:cNvSpPr>
            <a:spLocks xmlns:a="http://schemas.openxmlformats.org/drawingml/2006/main" noGrp="1"/>
          </p:cNvSpPr>
          <p:nvPr/>
        </p:nvSpPr>
        <p:spPr>
          <a:xfrm xmlns:a="http://schemas.openxmlformats.org/drawingml/2006/main">
            <a:off x="1123950" y="2971800"/>
            <a:ext cx="114300" cy="114300"/>
          </a:xfrm>
          <a:prstGeom xmlns:a="http://schemas.openxmlformats.org/drawingml/2006/main" prst="ellipse">
            <a:avLst/>
          </a:prstGeom>
          <a:solidFill xmlns:a="http://schemas.openxmlformats.org/drawingml/2006/main">
            <a:srgbClr val="E96B6B"/>
          </a:solidFill>
          <a:ln xmlns:a="http://schemas.openxmlformats.org/drawingml/2006/main" w="0">
            <a:solidFill>
              <a:srgbClr val="E96B6B"/>
            </a:solidFill>
            <a:prstDash val="solid"/>
          </a:ln>
        </p:spPr>
      </p:sp>
      <p:sp>
        <p:nvSpPr>
          <p:cNvPr id="11" name="practice-end-data-code-dot-yellow">
            <a:extLst xmlns:a="http://schemas.openxmlformats.org/drawingml/2006/main">
              <a:ext uri="{FF2B5EF4-FFF2-40B4-BE49-F238E27FC236}">
                <a16:creationId xmlns:a16="http://schemas.microsoft.com/office/drawing/2014/main" id="{AC53FA89-CF85-4C67-9EAD-3CFE3C7FD809}"/>
              </a:ext>
            </a:extLst>
          </p:cNvPr>
          <p:cNvSpPr>
            <a:spLocks xmlns:a="http://schemas.openxmlformats.org/drawingml/2006/main" noGrp="1"/>
          </p:cNvSpPr>
          <p:nvPr/>
        </p:nvSpPr>
        <p:spPr>
          <a:xfrm xmlns:a="http://schemas.openxmlformats.org/drawingml/2006/main">
            <a:off x="1314450" y="2971800"/>
            <a:ext cx="114300" cy="114300"/>
          </a:xfrm>
          <a:prstGeom xmlns:a="http://schemas.openxmlformats.org/drawingml/2006/main" prst="ellipse">
            <a:avLst/>
          </a:prstGeom>
          <a:solidFill xmlns:a="http://schemas.openxmlformats.org/drawingml/2006/main">
            <a:srgbClr val="F5D36A"/>
          </a:solidFill>
          <a:ln xmlns:a="http://schemas.openxmlformats.org/drawingml/2006/main" w="0">
            <a:solidFill>
              <a:srgbClr val="F5D36A"/>
            </a:solidFill>
            <a:prstDash val="solid"/>
          </a:ln>
        </p:spPr>
      </p:sp>
      <p:sp>
        <p:nvSpPr>
          <p:cNvPr id="12" name="practice-end-data-code-dot-green">
            <a:extLst xmlns:a="http://schemas.openxmlformats.org/drawingml/2006/main">
              <a:ext uri="{FF2B5EF4-FFF2-40B4-BE49-F238E27FC236}">
                <a16:creationId xmlns:a16="http://schemas.microsoft.com/office/drawing/2014/main" id="{88A94741-4B8A-468A-9775-36301991453E}"/>
              </a:ext>
            </a:extLst>
          </p:cNvPr>
          <p:cNvSpPr>
            <a:spLocks xmlns:a="http://schemas.openxmlformats.org/drawingml/2006/main" noGrp="1"/>
          </p:cNvSpPr>
          <p:nvPr/>
        </p:nvSpPr>
        <p:spPr>
          <a:xfrm xmlns:a="http://schemas.openxmlformats.org/drawingml/2006/main">
            <a:off x="1504950" y="2971800"/>
            <a:ext cx="114300" cy="114300"/>
          </a:xfrm>
          <a:prstGeom xmlns:a="http://schemas.openxmlformats.org/drawingml/2006/main" prst="ellipse">
            <a:avLst/>
          </a:prstGeom>
          <a:solidFill xmlns:a="http://schemas.openxmlformats.org/drawingml/2006/main">
            <a:srgbClr val="55B77A"/>
          </a:solidFill>
          <a:ln xmlns:a="http://schemas.openxmlformats.org/drawingml/2006/main" w="0">
            <a:solidFill>
              <a:srgbClr val="55B77A"/>
            </a:solidFill>
            <a:prstDash val="solid"/>
          </a:ln>
        </p:spPr>
      </p:sp>
      <p:sp>
        <p:nvSpPr>
          <p:cNvPr id="13" name="practice-end-data-code-text">
            <a:extLst xmlns:a="http://schemas.openxmlformats.org/drawingml/2006/main">
              <a:ext uri="{FF2B5EF4-FFF2-40B4-BE49-F238E27FC236}">
                <a16:creationId xmlns:a16="http://schemas.microsoft.com/office/drawing/2014/main" id="{9D93DBD4-E100-4C0F-8D90-C78EF3384318}"/>
              </a:ext>
            </a:extLst>
          </p:cNvPr>
          <p:cNvSpPr>
            <a:spLocks xmlns:a="http://schemas.openxmlformats.org/drawingml/2006/main" noGrp="1"/>
          </p:cNvSpPr>
          <p:nvPr/>
        </p:nvSpPr>
        <p:spPr>
          <a:xfrm xmlns:a="http://schemas.openxmlformats.org/drawingml/2006/main">
            <a:off x="1181100" y="3257550"/>
            <a:ext cx="4000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FFFFFF"/>
                </a:solidFill>
                <a:latin typeface="SF Mono"/>
                <a:ea typeface="SF Mono"/>
                <a:cs typeface="SF Mono"/>
              </a:defRPr>
            </a:pPr>
            <a:r>
              <a:rPr sz="1200" b="0">
                <a:solidFill>
                  <a:srgbClr val="FFFFFF"/>
                </a:solidFill>
                <a:latin typeface="SF Mono"/>
                <a:ea typeface="SF Mono"/>
                <a:cs typeface="SF Mono"/>
              </a:rPr>
              <a:t>april = [132, 117, 160, 108]</a:t>
            </a:r>
          </a:p>
          <a:p xmlns:a="http://schemas.openxmlformats.org/drawingml/2006/main">
            <a:pPr algn="l">
              <a:buNone/>
              <a:defRPr sz="1200" b="0">
                <a:solidFill>
                  <a:srgbClr val="FFFFFF"/>
                </a:solidFill>
                <a:latin typeface="SF Mono"/>
                <a:ea typeface="SF Mono"/>
                <a:cs typeface="SF Mono"/>
              </a:defRPr>
            </a:pPr>
            <a:r>
              <a:rPr sz="1200" b="0">
                <a:solidFill>
                  <a:srgbClr val="FFFFFF"/>
                </a:solidFill>
                <a:latin typeface="SF Mono"/>
                <a:ea typeface="SF Mono"/>
                <a:cs typeface="SF Mono"/>
              </a:rPr>
              <a:t>faktor = [1.00, 1.04, 1.08, 1.10]</a:t>
            </a:r>
          </a:p>
          <a:p xmlns:a="http://schemas.openxmlformats.org/drawingml/2006/main">
            <a:r>
              <a:t/>
            </a:r>
          </a:p>
          <a:p xmlns:a="http://schemas.openxmlformats.org/drawingml/2006/main">
            <a:pPr algn="l">
              <a:buNone/>
              <a:defRPr sz="1200" b="0">
                <a:solidFill>
                  <a:srgbClr val="FFFFFF"/>
                </a:solidFill>
                <a:latin typeface="SF Mono"/>
                <a:ea typeface="SF Mono"/>
                <a:cs typeface="SF Mono"/>
              </a:defRPr>
            </a:pPr>
            <a:r>
              <a:rPr sz="1200" b="0">
                <a:solidFill>
                  <a:srgbClr val="FFFFFF"/>
                </a:solidFill>
                <a:latin typeface="SF Mono"/>
                <a:ea typeface="SF Mono"/>
                <a:cs typeface="SF Mono"/>
              </a:rPr>
              <a:t>target_cabang = [540, 450,</a:t>
            </a:r>
          </a:p>
          <a:p xmlns:a="http://schemas.openxmlformats.org/drawingml/2006/main">
            <a:pPr algn="l">
              <a:buNone/>
              <a:defRPr sz="1200" b="0">
                <a:solidFill>
                  <a:srgbClr val="FFFFFF"/>
                </a:solidFill>
                <a:latin typeface="SF Mono"/>
                <a:ea typeface="SF Mono"/>
                <a:cs typeface="SF Mono"/>
              </a:defRPr>
            </a:pPr>
            <a:r>
              <a:rPr sz="1200" b="0">
                <a:solidFill>
                  <a:srgbClr val="FFFFFF"/>
                </a:solidFill>
                <a:latin typeface="SF Mono"/>
                <a:ea typeface="SF Mono"/>
                <a:cs typeface="SF Mono"/>
              </a:rPr>
              <a:t>                 620, 420]</a:t>
            </a:r>
          </a:p>
          <a:p xmlns:a="http://schemas.openxmlformats.org/drawingml/2006/main">
            <a:pPr algn="l">
              <a:buNone/>
              <a:defRPr sz="1200" b="0">
                <a:solidFill>
                  <a:srgbClr val="FFFFFF"/>
                </a:solidFill>
                <a:latin typeface="SF Mono"/>
                <a:ea typeface="SF Mono"/>
                <a:cs typeface="SF Mono"/>
              </a:defRPr>
            </a:pPr>
            <a:r>
              <a:rPr sz="1200" b="0">
                <a:solidFill>
                  <a:srgbClr val="FFFFFF"/>
                </a:solidFill>
                <a:latin typeface="SF Mono"/>
                <a:ea typeface="SF Mono"/>
                <a:cs typeface="SF Mono"/>
              </a:rPr>
              <a:t>target_bulan = [110, 115,</a:t>
            </a:r>
          </a:p>
          <a:p xmlns:a="http://schemas.openxmlformats.org/drawingml/2006/main">
            <a:pPr algn="l">
              <a:buNone/>
              <a:defRPr sz="1200" b="0">
                <a:solidFill>
                  <a:srgbClr val="FFFFFF"/>
                </a:solidFill>
                <a:latin typeface="SF Mono"/>
                <a:ea typeface="SF Mono"/>
                <a:cs typeface="SF Mono"/>
              </a:defRPr>
            </a:pPr>
            <a:r>
              <a:rPr sz="1200" b="0">
                <a:solidFill>
                  <a:srgbClr val="FFFFFF"/>
                </a:solidFill>
                <a:latin typeface="SF Mono"/>
                <a:ea typeface="SF Mono"/>
                <a:cs typeface="SF Mono"/>
              </a:rPr>
              <a:t>                120, 130]</a:t>
            </a:r>
          </a:p>
        </p:txBody>
      </p:sp>
      <p:sp>
        <p:nvSpPr>
          <p:cNvPr id="14" name="practice-end-unit">
            <a:extLst xmlns:a="http://schemas.openxmlformats.org/drawingml/2006/main">
              <a:ext uri="{FF2B5EF4-FFF2-40B4-BE49-F238E27FC236}">
                <a16:creationId xmlns:a16="http://schemas.microsoft.com/office/drawing/2014/main" id="{D10A0DC9-2A77-4CB0-90C1-7F320AAB5541}"/>
              </a:ext>
            </a:extLst>
          </p:cNvPr>
          <p:cNvSpPr>
            <a:spLocks xmlns:a="http://schemas.openxmlformats.org/drawingml/2006/main" noGrp="1"/>
          </p:cNvSpPr>
          <p:nvPr/>
        </p:nvSpPr>
        <p:spPr>
          <a:xfrm xmlns:a="http://schemas.openxmlformats.org/drawingml/2006/main">
            <a:off x="952500" y="55245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11A30"/>
                </a:solidFill>
                <a:latin typeface="SF Pro Text"/>
                <a:ea typeface="SF Pro Text"/>
                <a:cs typeface="SF Pro Text"/>
              </a:defRPr>
            </a:pPr>
            <a:r>
              <a:rPr sz="1275" b="0">
                <a:solidFill>
                  <a:srgbClr val="111A30"/>
                </a:solidFill>
                <a:latin typeface="SF Pro Text"/>
                <a:ea typeface="SF Pro Text"/>
                <a:cs typeface="SF Pro Text"/>
              </a:rPr>
              <a:t>Angka dinyatakan dalam juta rupiah.</a:t>
            </a:r>
          </a:p>
        </p:txBody>
      </p:sp>
      <p:sp>
        <p:nvSpPr>
          <p:cNvPr id="15" name="practice-end-task-bg">
            <a:extLst xmlns:a="http://schemas.openxmlformats.org/drawingml/2006/main">
              <a:ext uri="{FF2B5EF4-FFF2-40B4-BE49-F238E27FC236}">
                <a16:creationId xmlns:a16="http://schemas.microsoft.com/office/drawing/2014/main" id="{4C2DF8A7-C369-4454-B352-6040BEA252A0}"/>
              </a:ext>
            </a:extLst>
          </p:cNvPr>
          <p:cNvSpPr>
            <a:spLocks xmlns:a="http://schemas.openxmlformats.org/drawingml/2006/main" noGrp="1"/>
          </p:cNvSpPr>
          <p:nvPr/>
        </p:nvSpPr>
        <p:spPr>
          <a:xfrm xmlns:a="http://schemas.openxmlformats.org/drawingml/2006/main">
            <a:off x="5924550" y="2238375"/>
            <a:ext cx="5581650" cy="3781425"/>
          </a:xfrm>
          <a:prstGeom xmlns:a="http://schemas.openxmlformats.org/drawingml/2006/main" prst="roundRect">
            <a:avLst>
              <a:gd name="adj" fmla="val 2519"/>
            </a:avLst>
          </a:prstGeom>
          <a:solidFill xmlns:a="http://schemas.openxmlformats.org/drawingml/2006/main">
            <a:srgbClr val="EAF6FC"/>
          </a:solidFill>
          <a:ln xmlns:a="http://schemas.openxmlformats.org/drawingml/2006/main" w="9525">
            <a:solidFill>
              <a:srgbClr val="4FB6E8"/>
            </a:solidFill>
            <a:prstDash val="solid"/>
          </a:ln>
        </p:spPr>
      </p:sp>
      <p:sp>
        <p:nvSpPr>
          <p:cNvPr id="16" name="practice-end-task-title">
            <a:extLst xmlns:a="http://schemas.openxmlformats.org/drawingml/2006/main">
              <a:ext uri="{FF2B5EF4-FFF2-40B4-BE49-F238E27FC236}">
                <a16:creationId xmlns:a16="http://schemas.microsoft.com/office/drawing/2014/main" id="{E0EACE17-C488-48A6-B0DC-ECF8F4D88889}"/>
              </a:ext>
            </a:extLst>
          </p:cNvPr>
          <p:cNvSpPr>
            <a:spLocks xmlns:a="http://schemas.openxmlformats.org/drawingml/2006/main" noGrp="1"/>
          </p:cNvSpPr>
          <p:nvPr/>
        </p:nvSpPr>
        <p:spPr>
          <a:xfrm xmlns:a="http://schemas.openxmlformats.org/drawingml/2006/main">
            <a:off x="6210300" y="24384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A30"/>
                </a:solidFill>
                <a:latin typeface="SF Pro Display"/>
                <a:ea typeface="SF Pro Display"/>
                <a:cs typeface="SF Pro Display"/>
              </a:defRPr>
            </a:pPr>
            <a:r>
              <a:rPr sz="1725" b="1">
                <a:solidFill>
                  <a:srgbClr val="111A30"/>
                </a:solidFill>
                <a:latin typeface="SF Pro Display"/>
                <a:ea typeface="SF Pro Display"/>
                <a:cs typeface="SF Pro Display"/>
              </a:rPr>
              <a:t>Tugas</a:t>
            </a:r>
          </a:p>
        </p:txBody>
      </p:sp>
      <p:sp>
        <p:nvSpPr>
          <p:cNvPr id="17" name="practice-end-tasks">
            <a:extLst xmlns:a="http://schemas.openxmlformats.org/drawingml/2006/main">
              <a:ext uri="{FF2B5EF4-FFF2-40B4-BE49-F238E27FC236}">
                <a16:creationId xmlns:a16="http://schemas.microsoft.com/office/drawing/2014/main" id="{3483F572-F46D-4331-912F-5AEE0343A431}"/>
              </a:ext>
            </a:extLst>
          </p:cNvPr>
          <p:cNvSpPr>
            <a:spLocks xmlns:a="http://schemas.openxmlformats.org/drawingml/2006/main" noGrp="1"/>
          </p:cNvSpPr>
          <p:nvPr/>
        </p:nvSpPr>
        <p:spPr>
          <a:xfrm xmlns:a="http://schemas.openxmlformats.org/drawingml/2006/main">
            <a:off x="6210300" y="2895600"/>
            <a:ext cx="495300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1  Tambahkan April ke matriks.</a:t>
            </a:r>
          </a:p>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2  Terapkan faktor tiap bulan.</a:t>
            </a:r>
          </a:p>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3  Hitung total per cabang dan bulan.</a:t>
            </a:r>
          </a:p>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4  Tandai target yang tercapai.</a:t>
            </a:r>
          </a:p>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5  Cari cabang dan bulan tertinggi.</a:t>
            </a:r>
          </a:p>
          <a:p xmlns:a="http://schemas.openxmlformats.org/drawingml/2006/main">
            <a:pPr algn="l">
              <a:buNone/>
              <a:defRPr sz="1350" b="0">
                <a:solidFill>
                  <a:srgbClr val="4B5868"/>
                </a:solidFill>
                <a:latin typeface="SF Pro Text"/>
                <a:ea typeface="SF Pro Text"/>
                <a:cs typeface="SF Pro Text"/>
              </a:defRPr>
            </a:pPr>
            <a:r>
              <a:rPr sz="1350" b="0">
                <a:solidFill>
                  <a:srgbClr val="4B5868"/>
                </a:solidFill>
                <a:latin typeface="SF Pro Text"/>
                <a:ea typeface="SF Pro Text"/>
                <a:cs typeface="SF Pro Text"/>
              </a:rPr>
              <a:t>6  Tulis rekomendasi dengan angka.</a:t>
            </a:r>
          </a:p>
        </p:txBody>
      </p:sp>
      <p:sp>
        <p:nvSpPr>
          <p:cNvPr id="18" name="practice-end-note">
            <a:extLst xmlns:a="http://schemas.openxmlformats.org/drawingml/2006/main">
              <a:ext uri="{FF2B5EF4-FFF2-40B4-BE49-F238E27FC236}">
                <a16:creationId xmlns:a16="http://schemas.microsoft.com/office/drawing/2014/main" id="{378A10B3-6E4D-4092-8143-0AFDF4AECB61}"/>
              </a:ext>
            </a:extLst>
          </p:cNvPr>
          <p:cNvSpPr>
            <a:spLocks xmlns:a="http://schemas.openxmlformats.org/drawingml/2006/main" noGrp="1"/>
          </p:cNvSpPr>
          <p:nvPr/>
        </p:nvSpPr>
        <p:spPr>
          <a:xfrm xmlns:a="http://schemas.openxmlformats.org/drawingml/2006/main">
            <a:off x="6210300" y="5410200"/>
            <a:ext cx="4953000" cy="409575"/>
          </a:xfrm>
          <a:prstGeom xmlns:a="http://schemas.openxmlformats.org/drawingml/2006/main" prst="roundRect">
            <a:avLst>
              <a:gd name="adj" fmla="val 18605"/>
            </a:avLst>
          </a:prstGeom>
          <a:solidFill xmlns:a="http://schemas.openxmlformats.org/drawingml/2006/main">
            <a:srgbClr val="FFF7D6"/>
          </a:solidFill>
          <a:ln xmlns:a="http://schemas.openxmlformats.org/drawingml/2006/main" w="9525">
            <a:solidFill>
              <a:srgbClr val="F5D36A"/>
            </a:solidFill>
            <a:prstDash val="solid"/>
          </a:ln>
        </p:spPr>
      </p:sp>
      <p:sp>
        <p:nvSpPr>
          <p:cNvPr id="19" name="practice-end-note-text">
            <a:extLst xmlns:a="http://schemas.openxmlformats.org/drawingml/2006/main">
              <a:ext uri="{FF2B5EF4-FFF2-40B4-BE49-F238E27FC236}">
                <a16:creationId xmlns:a16="http://schemas.microsoft.com/office/drawing/2014/main" id="{599B94E0-A1CA-4D96-A629-DF5B7490F602}"/>
              </a:ext>
            </a:extLst>
          </p:cNvPr>
          <p:cNvSpPr>
            <a:spLocks xmlns:a="http://schemas.openxmlformats.org/drawingml/2006/main" noGrp="1"/>
          </p:cNvSpPr>
          <p:nvPr/>
        </p:nvSpPr>
        <p:spPr>
          <a:xfrm xmlns:a="http://schemas.openxmlformats.org/drawingml/2006/main">
            <a:off x="6381750" y="5514975"/>
            <a:ext cx="459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111A30"/>
                </a:solidFill>
                <a:latin typeface="SF Pro Text"/>
                <a:ea typeface="SF Pro Text"/>
                <a:cs typeface="SF Pro Text"/>
              </a:defRPr>
            </a:pPr>
            <a:r>
              <a:rPr sz="1200" b="1">
                <a:solidFill>
                  <a:srgbClr val="111A30"/>
                </a:solidFill>
                <a:latin typeface="SF Pro Text"/>
                <a:ea typeface="SF Pro Text"/>
                <a:cs typeface="SF Pro Text"/>
              </a:rPr>
              <a:t>Sertakan satu bukti numerik pada kesimpulan.</a:t>
            </a:r>
          </a:p>
        </p:txBody>
      </p:sp>
    </p:spTree>
    <p:extLst>
      <p:ext uri="{BB962C8B-B14F-4D97-AF65-F5344CB8AC3E}">
        <p14:creationId xmlns:p14="http://schemas.microsoft.com/office/powerpoint/2010/main" val="2125894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icker-17">
            <a:extLst xmlns:a="http://schemas.openxmlformats.org/drawingml/2006/main">
              <a:ext uri="{FF2B5EF4-FFF2-40B4-BE49-F238E27FC236}">
                <a16:creationId xmlns:a16="http://schemas.microsoft.com/office/drawing/2014/main" id="{28B204A6-B57C-4539-BAD5-F04934355920}"/>
              </a:ext>
            </a:extLst>
          </p:cNvPr>
          <p:cNvSpPr>
            <a:spLocks xmlns:a="http://schemas.openxmlformats.org/drawingml/2006/main" noGrp="1"/>
          </p:cNvSpPr>
          <p:nvPr/>
        </p:nvSpPr>
        <p:spPr>
          <a:xfrm xmlns:a="http://schemas.openxmlformats.org/drawingml/2006/main">
            <a:off x="685800" y="285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96B9B"/>
                </a:solidFill>
                <a:latin typeface="SF Pro Text"/>
                <a:ea typeface="SF Pro Text"/>
                <a:cs typeface="SF Pro Text"/>
              </a:defRPr>
            </a:pPr>
            <a:r>
              <a:rPr sz="1125" b="1">
                <a:solidFill>
                  <a:srgbClr val="196B9B"/>
                </a:solidFill>
                <a:latin typeface="SF Pro Text"/>
                <a:ea typeface="SF Pro Text"/>
                <a:cs typeface="SF Pro Text"/>
              </a:rPr>
              <a:t>RINGKASAN</a:t>
            </a:r>
          </a:p>
        </p:txBody>
      </p:sp>
      <p:sp>
        <p:nvSpPr>
          <p:cNvPr id="2" name="title-17">
            <a:extLst xmlns:a="http://schemas.openxmlformats.org/drawingml/2006/main">
              <a:ext uri="{FF2B5EF4-FFF2-40B4-BE49-F238E27FC236}">
                <a16:creationId xmlns:a16="http://schemas.microsoft.com/office/drawing/2014/main" id="{ACF02EA5-531A-49C7-8ACD-4FE048A124A3}"/>
              </a:ext>
            </a:extLst>
          </p:cNvPr>
          <p:cNvSpPr>
            <a:spLocks xmlns:a="http://schemas.openxmlformats.org/drawingml/2006/main" noGrp="1"/>
          </p:cNvSpPr>
          <p:nvPr/>
        </p:nvSpPr>
        <p:spPr>
          <a:xfrm xmlns:a="http://schemas.openxmlformats.org/drawingml/2006/main">
            <a:off x="685800" y="590550"/>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A30"/>
                </a:solidFill>
                <a:latin typeface="SF Pro Display"/>
                <a:ea typeface="SF Pro Display"/>
                <a:cs typeface="SF Pro Display"/>
              </a:defRPr>
            </a:pPr>
            <a:r>
              <a:rPr sz="3000" b="1">
                <a:solidFill>
                  <a:srgbClr val="111A30"/>
                </a:solidFill>
                <a:latin typeface="SF Pro Display"/>
                <a:ea typeface="SF Pro Display"/>
                <a:cs typeface="SF Pro Display"/>
              </a:rPr>
              <a:t>Dari shape menuju kesimpulan bisnis</a:t>
            </a:r>
          </a:p>
        </p:txBody>
      </p:sp>
      <p:sp>
        <p:nvSpPr>
          <p:cNvPr id="3" name="divider-17">
            <a:extLst xmlns:a="http://schemas.openxmlformats.org/drawingml/2006/main">
              <a:ext uri="{FF2B5EF4-FFF2-40B4-BE49-F238E27FC236}">
                <a16:creationId xmlns:a16="http://schemas.microsoft.com/office/drawing/2014/main" id="{123D8B50-3789-42E5-9B81-CCF050BDB9BB}"/>
              </a:ext>
            </a:extLst>
          </p:cNvPr>
          <p:cNvSpPr>
            <a:spLocks xmlns:a="http://schemas.openxmlformats.org/drawingml/2006/main" noGrp="1"/>
          </p:cNvSpPr>
          <p:nvPr/>
        </p:nvSpPr>
        <p:spPr>
          <a:xfrm xmlns:a="http://schemas.openxmlformats.org/drawingml/2006/main">
            <a:off x="685800" y="1381125"/>
            <a:ext cx="10820400" cy="28575"/>
          </a:xfrm>
          <a:prstGeom xmlns:a="http://schemas.openxmlformats.org/drawingml/2006/main" prst="rect">
            <a:avLst/>
          </a:prstGeom>
          <a:solidFill xmlns:a="http://schemas.openxmlformats.org/drawingml/2006/main">
            <a:srgbClr val="E7EAEE"/>
          </a:solidFill>
          <a:ln xmlns:a="http://schemas.openxmlformats.org/drawingml/2006/main" w="0">
            <a:solidFill>
              <a:srgbClr val="E7EAEE"/>
            </a:solidFill>
            <a:prstDash val="solid"/>
          </a:ln>
        </p:spPr>
      </p:sp>
      <p:sp>
        <p:nvSpPr>
          <p:cNvPr id="4" name="subtitle-17">
            <a:extLst xmlns:a="http://schemas.openxmlformats.org/drawingml/2006/main">
              <a:ext uri="{FF2B5EF4-FFF2-40B4-BE49-F238E27FC236}">
                <a16:creationId xmlns:a16="http://schemas.microsoft.com/office/drawing/2014/main" id="{E13C2AA8-71ED-4F68-BE67-F1F951DE84D2}"/>
              </a:ext>
            </a:extLst>
          </p:cNvPr>
          <p:cNvSpPr>
            <a:spLocks xmlns:a="http://schemas.openxmlformats.org/drawingml/2006/main" noGrp="1"/>
          </p:cNvSpPr>
          <p:nvPr/>
        </p:nvSpPr>
        <p:spPr>
          <a:xfrm xmlns:a="http://schemas.openxmlformats.org/drawingml/2006/main">
            <a:off x="685800" y="15811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4B5868"/>
                </a:solidFill>
                <a:latin typeface="SF Pro Text"/>
                <a:ea typeface="SF Pro Text"/>
                <a:cs typeface="SF Pro Text"/>
              </a:defRPr>
            </a:pPr>
            <a:r>
              <a:rPr sz="1575" b="0">
                <a:solidFill>
                  <a:srgbClr val="4B5868"/>
                </a:solidFill>
                <a:latin typeface="SF Pro Text"/>
                <a:ea typeface="SF Pro Text"/>
                <a:cs typeface="SF Pro Text"/>
              </a:rPr>
              <a:t>Array membantu menjaga susunan data saat kita menghitung dan memfilter banyak nilai.</a:t>
            </a:r>
          </a:p>
        </p:txBody>
      </p:sp>
      <p:sp>
        <p:nvSpPr>
          <p:cNvPr id="5" name="page-17">
            <a:extLst xmlns:a="http://schemas.openxmlformats.org/drawingml/2006/main">
              <a:ext uri="{FF2B5EF4-FFF2-40B4-BE49-F238E27FC236}">
                <a16:creationId xmlns:a16="http://schemas.microsoft.com/office/drawing/2014/main" id="{24D551D6-1CB0-44B4-AFC2-831F3E9CF28D}"/>
              </a:ext>
            </a:extLst>
          </p:cNvPr>
          <p:cNvSpPr>
            <a:spLocks xmlns:a="http://schemas.openxmlformats.org/drawingml/2006/main" noGrp="1"/>
          </p:cNvSpPr>
          <p:nvPr/>
        </p:nvSpPr>
        <p:spPr>
          <a:xfrm xmlns:a="http://schemas.openxmlformats.org/drawingml/2006/main">
            <a:off x="685800" y="6572250"/>
            <a:ext cx="1905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Slide 17</a:t>
            </a:r>
          </a:p>
        </p:txBody>
      </p:sp>
      <p:sp>
        <p:nvSpPr>
          <p:cNvPr id="6" name="course-17">
            <a:extLst xmlns:a="http://schemas.openxmlformats.org/drawingml/2006/main">
              <a:ext uri="{FF2B5EF4-FFF2-40B4-BE49-F238E27FC236}">
                <a16:creationId xmlns:a16="http://schemas.microsoft.com/office/drawing/2014/main" id="{A6251A1A-F89C-49E5-AFE4-7171FF699D86}"/>
              </a:ext>
            </a:extLst>
          </p:cNvPr>
          <p:cNvSpPr>
            <a:spLocks xmlns:a="http://schemas.openxmlformats.org/drawingml/2006/main" noGrp="1"/>
          </p:cNvSpPr>
          <p:nvPr/>
        </p:nvSpPr>
        <p:spPr>
          <a:xfrm xmlns:a="http://schemas.openxmlformats.org/drawingml/2006/main">
            <a:off x="9763125" y="6572250"/>
            <a:ext cx="17430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7D8793"/>
                </a:solidFill>
                <a:latin typeface="SF Pro Text"/>
                <a:ea typeface="SF Pro Text"/>
                <a:cs typeface="SF Pro Text"/>
              </a:defRPr>
            </a:pPr>
            <a:r>
              <a:rPr sz="975" b="0">
                <a:solidFill>
                  <a:srgbClr val="7D8793"/>
                </a:solidFill>
                <a:latin typeface="SF Pro Text"/>
                <a:ea typeface="SF Pro Text"/>
                <a:cs typeface="SF Pro Text"/>
              </a:rPr>
              <a:t>EKA / PYTHON</a:t>
            </a:r>
          </a:p>
        </p:txBody>
      </p:sp>
      <p:sp>
        <p:nvSpPr>
          <p:cNvPr id="7" name="summary-points">
            <a:extLst xmlns:a="http://schemas.openxmlformats.org/drawingml/2006/main">
              <a:ext uri="{FF2B5EF4-FFF2-40B4-BE49-F238E27FC236}">
                <a16:creationId xmlns:a16="http://schemas.microsoft.com/office/drawing/2014/main" id="{BA7490D7-A6C5-478D-B581-8D5F938E0DB6}"/>
              </a:ext>
            </a:extLst>
          </p:cNvPr>
          <p:cNvSpPr>
            <a:spLocks xmlns:a="http://schemas.openxmlformats.org/drawingml/2006/main" noGrp="1"/>
          </p:cNvSpPr>
          <p:nvPr/>
        </p:nvSpPr>
        <p:spPr>
          <a:xfrm xmlns:a="http://schemas.openxmlformats.org/drawingml/2006/main">
            <a:off x="857250" y="2362200"/>
            <a:ext cx="619125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111A30"/>
                </a:solidFill>
                <a:latin typeface="SF Pro Text"/>
                <a:ea typeface="SF Pro Text"/>
                <a:cs typeface="SF Pro Text"/>
              </a:defRPr>
            </a:pPr>
            <a:r>
              <a:rPr sz="1575" b="0">
                <a:solidFill>
                  <a:srgbClr val="111A30"/>
                </a:solidFill>
                <a:latin typeface="SF Pro Text"/>
                <a:ea typeface="SF Pro Text"/>
                <a:cs typeface="SF Pro Text"/>
              </a:rPr>
              <a:t>• `shape` menjelaskan susunan baris dan kolom.</a:t>
            </a:r>
          </a:p>
          <a:p xmlns:a="http://schemas.openxmlformats.org/drawingml/2006/main">
            <a:r>
              <a:t/>
            </a:r>
          </a:p>
          <a:p xmlns:a="http://schemas.openxmlformats.org/drawingml/2006/main">
            <a:pPr algn="l">
              <a:buNone/>
              <a:defRPr sz="1575" b="0">
                <a:solidFill>
                  <a:srgbClr val="111A30"/>
                </a:solidFill>
                <a:latin typeface="SF Pro Text"/>
                <a:ea typeface="SF Pro Text"/>
                <a:cs typeface="SF Pro Text"/>
              </a:defRPr>
            </a:pPr>
            <a:r>
              <a:rPr sz="1575" b="0">
                <a:solidFill>
                  <a:srgbClr val="111A30"/>
                </a:solidFill>
                <a:latin typeface="SF Pro Text"/>
                <a:ea typeface="SF Pro Text"/>
                <a:cs typeface="SF Pro Text"/>
              </a:rPr>
              <a:t>• Broadcasting menerapkan faktor sesuai bentuk array.</a:t>
            </a:r>
          </a:p>
          <a:p xmlns:a="http://schemas.openxmlformats.org/drawingml/2006/main">
            <a:r>
              <a:t/>
            </a:r>
          </a:p>
          <a:p xmlns:a="http://schemas.openxmlformats.org/drawingml/2006/main">
            <a:pPr algn="l">
              <a:buNone/>
              <a:defRPr sz="1575" b="0">
                <a:solidFill>
                  <a:srgbClr val="111A30"/>
                </a:solidFill>
                <a:latin typeface="SF Pro Text"/>
                <a:ea typeface="SF Pro Text"/>
                <a:cs typeface="SF Pro Text"/>
              </a:defRPr>
            </a:pPr>
            <a:r>
              <a:rPr sz="1575" b="0">
                <a:solidFill>
                  <a:srgbClr val="111A30"/>
                </a:solidFill>
                <a:latin typeface="SF Pro Text"/>
                <a:ea typeface="SF Pro Text"/>
                <a:cs typeface="SF Pro Text"/>
              </a:rPr>
              <a:t>• Mask dan `np.where` memilih atau memberi label pada data.</a:t>
            </a:r>
          </a:p>
          <a:p xmlns:a="http://schemas.openxmlformats.org/drawingml/2006/main">
            <a:r>
              <a:t/>
            </a:r>
          </a:p>
          <a:p xmlns:a="http://schemas.openxmlformats.org/drawingml/2006/main">
            <a:pPr algn="l">
              <a:buNone/>
              <a:defRPr sz="1575" b="0">
                <a:solidFill>
                  <a:srgbClr val="111A30"/>
                </a:solidFill>
                <a:latin typeface="SF Pro Text"/>
                <a:ea typeface="SF Pro Text"/>
                <a:cs typeface="SF Pro Text"/>
              </a:defRPr>
            </a:pPr>
            <a:r>
              <a:rPr sz="1575" b="0">
                <a:solidFill>
                  <a:srgbClr val="111A30"/>
                </a:solidFill>
                <a:latin typeface="SF Pro Text"/>
                <a:ea typeface="SF Pro Text"/>
                <a:cs typeface="SF Pro Text"/>
              </a:rPr>
              <a:t>• `axis` menentukan apakah ringkasan dibuat per baris atau kolom.</a:t>
            </a:r>
          </a:p>
        </p:txBody>
      </p:sp>
      <p:sp>
        <p:nvSpPr>
          <p:cNvPr id="8" name="exit-ticket-panel">
            <a:extLst xmlns:a="http://schemas.openxmlformats.org/drawingml/2006/main">
              <a:ext uri="{FF2B5EF4-FFF2-40B4-BE49-F238E27FC236}">
                <a16:creationId xmlns:a16="http://schemas.microsoft.com/office/drawing/2014/main" id="{29B8CB41-367D-4F83-A710-F8DFE17C35FC}"/>
              </a:ext>
            </a:extLst>
          </p:cNvPr>
          <p:cNvSpPr>
            <a:spLocks xmlns:a="http://schemas.openxmlformats.org/drawingml/2006/main" noGrp="1"/>
          </p:cNvSpPr>
          <p:nvPr/>
        </p:nvSpPr>
        <p:spPr>
          <a:xfrm xmlns:a="http://schemas.openxmlformats.org/drawingml/2006/main">
            <a:off x="7524750" y="2400300"/>
            <a:ext cx="3762375" cy="2619375"/>
          </a:xfrm>
          <a:prstGeom xmlns:a="http://schemas.openxmlformats.org/drawingml/2006/main" prst="roundRect">
            <a:avLst>
              <a:gd name="adj" fmla="val 3636"/>
            </a:avLst>
          </a:prstGeom>
          <a:solidFill xmlns:a="http://schemas.openxmlformats.org/drawingml/2006/main">
            <a:srgbClr val="FFF7D6"/>
          </a:solidFill>
          <a:ln xmlns:a="http://schemas.openxmlformats.org/drawingml/2006/main" w="9525">
            <a:solidFill>
              <a:srgbClr val="F5D36A"/>
            </a:solidFill>
            <a:prstDash val="solid"/>
          </a:ln>
        </p:spPr>
      </p:sp>
      <p:sp>
        <p:nvSpPr>
          <p:cNvPr id="9" name="exit-ticket-title">
            <a:extLst xmlns:a="http://schemas.openxmlformats.org/drawingml/2006/main">
              <a:ext uri="{FF2B5EF4-FFF2-40B4-BE49-F238E27FC236}">
                <a16:creationId xmlns:a16="http://schemas.microsoft.com/office/drawing/2014/main" id="{7D79A6E6-E0C3-4FF3-BEDD-96FD624A32BB}"/>
              </a:ext>
            </a:extLst>
          </p:cNvPr>
          <p:cNvSpPr>
            <a:spLocks xmlns:a="http://schemas.openxmlformats.org/drawingml/2006/main" noGrp="1"/>
          </p:cNvSpPr>
          <p:nvPr/>
        </p:nvSpPr>
        <p:spPr>
          <a:xfrm xmlns:a="http://schemas.openxmlformats.org/drawingml/2006/main">
            <a:off x="7810500" y="2686050"/>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A30"/>
                </a:solidFill>
                <a:latin typeface="SF Pro Display"/>
                <a:ea typeface="SF Pro Display"/>
                <a:cs typeface="SF Pro Display"/>
              </a:defRPr>
            </a:pPr>
            <a:r>
              <a:rPr sz="1725" b="1">
                <a:solidFill>
                  <a:srgbClr val="111A30"/>
                </a:solidFill>
                <a:latin typeface="SF Pro Display"/>
                <a:ea typeface="SF Pro Display"/>
                <a:cs typeface="SF Pro Display"/>
              </a:rPr>
              <a:t>Exit ticket</a:t>
            </a:r>
          </a:p>
        </p:txBody>
      </p:sp>
      <p:sp>
        <p:nvSpPr>
          <p:cNvPr id="10" name="exit-ticket-copy">
            <a:extLst xmlns:a="http://schemas.openxmlformats.org/drawingml/2006/main">
              <a:ext uri="{FF2B5EF4-FFF2-40B4-BE49-F238E27FC236}">
                <a16:creationId xmlns:a16="http://schemas.microsoft.com/office/drawing/2014/main" id="{6A0B92ED-0CA8-41EE-9558-1BA79E95CD01}"/>
              </a:ext>
            </a:extLst>
          </p:cNvPr>
          <p:cNvSpPr>
            <a:spLocks xmlns:a="http://schemas.openxmlformats.org/drawingml/2006/main" noGrp="1"/>
          </p:cNvSpPr>
          <p:nvPr/>
        </p:nvSpPr>
        <p:spPr>
          <a:xfrm xmlns:a="http://schemas.openxmlformats.org/drawingml/2006/main">
            <a:off x="7810500" y="3209925"/>
            <a:ext cx="3143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Apa arti `axis=1` pada data ini?</a:t>
            </a:r>
          </a:p>
          <a:p xmlns:a="http://schemas.openxmlformats.org/drawingml/2006/main">
            <a:r>
              <a:t/>
            </a:r>
          </a:p>
          <a:p xmlns:a="http://schemas.openxmlformats.org/drawingml/2006/main">
            <a:pPr algn="l">
              <a:buNone/>
              <a:defRPr sz="1425" b="0">
                <a:solidFill>
                  <a:srgbClr val="4B5868"/>
                </a:solidFill>
                <a:latin typeface="SF Pro Text"/>
                <a:ea typeface="SF Pro Text"/>
                <a:cs typeface="SF Pro Text"/>
              </a:defRPr>
            </a:pPr>
            <a:r>
              <a:rPr sz="1425" b="0">
                <a:solidFill>
                  <a:srgbClr val="4B5868"/>
                </a:solidFill>
                <a:latin typeface="SF Pro Text"/>
                <a:ea typeface="SF Pro Text"/>
                <a:cs typeface="SF Pro Text"/>
              </a:rPr>
              <a:t>Mengapa faktor per cabang perlu dibentuk sebagai kolom?</a:t>
            </a:r>
          </a:p>
        </p:txBody>
      </p:sp>
    </p:spTree>
    <p:extLst>
      <p:ext uri="{BB962C8B-B14F-4D97-AF65-F5344CB8AC3E}">
        <p14:creationId xmlns:p14="http://schemas.microsoft.com/office/powerpoint/2010/main" val="5806706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2026-09-25T08:09:59.4310000Z</dcterms:created>
  <dcterms:modified xsi:type="dcterms:W3CDTF">2026-09-25T08:09:59.4310000Z</dcterms:modified>
</coreProperties>
</file>