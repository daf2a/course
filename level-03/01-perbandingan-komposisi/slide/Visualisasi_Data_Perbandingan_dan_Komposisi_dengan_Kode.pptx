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extendedCharts/chart.xml" ContentType="application/vnd.ms-office.chartex+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8.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5759db1f194805" /><Relationship Type="http://schemas.openxmlformats.org/officeDocument/2006/relationships/extended-properties" Target="/docProps/app.xml" Id="Ra0254a9631ee40b7" /><Relationship Type="http://schemas.openxmlformats.org/officeDocument/2006/relationships/officeDocument" Target="/ppt/presentation.xml" Id="Rf71c3f02d3cc4881" /></Relationships>
</file>

<file path=ppt/presentation.xml><?xml version="1.0" encoding="utf-8"?>
<p:presentation xmlns:p="http://schemas.openxmlformats.org/presentationml/2006/main" xmlns:r="http://schemas.openxmlformats.org/officeDocument/2006/relationships">
  <p:sldMasterIdLst>
    <p:sldMasterId id="2147483648" r:id="Rf430015eb5184171"/>
  </p:sldMasterIdLst>
  <p:notesMasterIdLst>
    <p:notesMasterId r:id="R5514139064364300"/>
  </p:notesMasterIdLst>
  <p:sldIdLst>
    <p:sldId id="256" r:id="Rfb2e26ce5bef41c2"/>
    <p:sldId id="257" r:id="R22c628670a5144c5"/>
    <p:sldId id="258" r:id="R3848a212627c4afd"/>
    <p:sldId id="259" r:id="Rdf29cf09b99e4b01"/>
    <p:sldId id="270" r:id="RcourseCode15"/>
    <p:sldId id="260" r:id="R548fcece61cc4205"/>
    <p:sldId id="271" r:id="RcourseCode16"/>
    <p:sldId id="261" r:id="Rc99e34cd7f164c05"/>
    <p:sldId id="272" r:id="RcourseCode17"/>
    <p:sldId id="262" r:id="R7058c2b1c6214e16"/>
    <p:sldId id="263" r:id="R615688363d664f29"/>
    <p:sldId id="273" r:id="RcourseCode18"/>
    <p:sldId id="264" r:id="Rbcffca3492fa49e5"/>
    <p:sldId id="274" r:id="RcourseCode19"/>
    <p:sldId id="265" r:id="R4e698e345f12433d"/>
    <p:sldId id="275" r:id="RcourseCode20"/>
    <p:sldId id="266" r:id="R1c0e790e3acc45ad"/>
    <p:sldId id="276" r:id="RcourseCode21"/>
    <p:sldId id="267" r:id="R5b3bc6f3183e4552"/>
    <p:sldId id="268" r:id="R776e0a21db65428f"/>
    <p:sldId id="269" r:id="R008bc52c930445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ns0:Relationships xmlns:ns0="http://schemas.openxmlformats.org/package/2006/relationships"><ns0:Relationship Type="http://schemas.openxmlformats.org/officeDocument/2006/relationships/theme" Target="/ppt/theme/theme1.xml" Id="R870ad80e8d9142e1" /><ns0:Relationship Type="http://schemas.openxmlformats.org/officeDocument/2006/relationships/slideMaster" Target="/ppt/slideMasters/slideMaster1.xml" Id="Rf430015eb5184171" /><ns0:Relationship Type="http://schemas.openxmlformats.org/officeDocument/2006/relationships/notesMaster" Target="/ppt/notesMasters/notesMaster1.xml" Id="R5514139064364300" /><ns0:Relationship Type="http://schemas.openxmlformats.org/officeDocument/2006/relationships/presProps" Target="/ppt/presProps.xml" Id="R83c2abdb61c448b3" /><ns0:Relationship Type="http://schemas.openxmlformats.org/officeDocument/2006/relationships/tableStyles" Target="/ppt/tableStyles.xml" Id="R6ccde546180141ff" /><ns0:Relationship Type="http://schemas.openxmlformats.org/officeDocument/2006/relationships/slide" Target="/ppt/slides/slide1.xml" Id="Rfb2e26ce5bef41c2" /><ns0:Relationship Type="http://schemas.openxmlformats.org/officeDocument/2006/relationships/slide" Target="/ppt/slides/slide2.xml" Id="R22c628670a5144c5" /><ns0:Relationship Type="http://schemas.openxmlformats.org/officeDocument/2006/relationships/slide" Target="/ppt/slides/slide3.xml" Id="R3848a212627c4afd" /><ns0:Relationship Type="http://schemas.openxmlformats.org/officeDocument/2006/relationships/slide" Target="/ppt/slides/slide4.xml" Id="Rdf29cf09b99e4b01" /><ns0:Relationship Type="http://schemas.openxmlformats.org/officeDocument/2006/relationships/slide" Target="/ppt/slides/slide5.xml" Id="R548fcece61cc4205" /><ns0:Relationship Type="http://schemas.openxmlformats.org/officeDocument/2006/relationships/slide" Target="/ppt/slides/slide6.xml" Id="Rc99e34cd7f164c05" /><ns0:Relationship Type="http://schemas.openxmlformats.org/officeDocument/2006/relationships/slide" Target="/ppt/slides/slide7.xml" Id="R7058c2b1c6214e16" /><ns0:Relationship Type="http://schemas.openxmlformats.org/officeDocument/2006/relationships/slide" Target="/ppt/slides/slide8.xml" Id="R615688363d664f29" /><ns0:Relationship Type="http://schemas.openxmlformats.org/officeDocument/2006/relationships/slide" Target="/ppt/slides/slide9.xml" Id="Rbcffca3492fa49e5" /><ns0:Relationship Type="http://schemas.openxmlformats.org/officeDocument/2006/relationships/slide" Target="/ppt/slides/slide10.xml" Id="R4e698e345f12433d" /><ns0:Relationship Type="http://schemas.openxmlformats.org/officeDocument/2006/relationships/slide" Target="/ppt/slides/slide11.xml" Id="R1c0e790e3acc45ad" /><ns0:Relationship Type="http://schemas.openxmlformats.org/officeDocument/2006/relationships/slide" Target="/ppt/slides/slide12.xml" Id="R5b3bc6f3183e4552" /><ns0:Relationship Type="http://schemas.openxmlformats.org/officeDocument/2006/relationships/slide" Target="/ppt/slides/slide13.xml" Id="R776e0a21db65428f" /><ns0:Relationship Type="http://schemas.openxmlformats.org/officeDocument/2006/relationships/slide" Target="/ppt/slides/slide14.xml" Id="R008bc52c9304451e" /><ns0:Relationship Type="http://schemas.openxmlformats.org/officeDocument/2006/relationships/slide" Target="/ppt/slides/slide15.xml" Id="RcourseCode15" /><ns0:Relationship Type="http://schemas.openxmlformats.org/officeDocument/2006/relationships/slide" Target="/ppt/slides/slide16.xml" Id="RcourseCode16" /><ns0:Relationship Type="http://schemas.openxmlformats.org/officeDocument/2006/relationships/slide" Target="/ppt/slides/slide17.xml" Id="RcourseCode17" /><ns0:Relationship Type="http://schemas.openxmlformats.org/officeDocument/2006/relationships/slide" Target="/ppt/slides/slide18.xml" Id="RcourseCode18" /><ns0:Relationship Type="http://schemas.openxmlformats.org/officeDocument/2006/relationships/slide" Target="/ppt/slides/slide19.xml" Id="RcourseCode19" /><ns0:Relationship Type="http://schemas.openxmlformats.org/officeDocument/2006/relationships/slide" Target="/ppt/slides/slide20.xml" Id="RcourseCode20" /><ns0:Relationship Type="http://schemas.openxmlformats.org/officeDocument/2006/relationships/slide" Target="/ppt/slides/slide21.xml" Id="RcourseCode21" /></ns0: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05d227657f42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cae5f3e0c34aba" /><Relationship Type="http://schemas.openxmlformats.org/officeDocument/2006/relationships/notesMaster" Target="/ppt/notesMasters/notesMaster1.xml" Id="Re02570e148964c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25ec09da434d1c" /><Relationship Type="http://schemas.openxmlformats.org/officeDocument/2006/relationships/notesMaster" Target="/ppt/notesMasters/notesMaster1.xml" Id="Rddee8faab1bf4b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fef1e2f95c4d9e" /><Relationship Type="http://schemas.openxmlformats.org/officeDocument/2006/relationships/notesMaster" Target="/ppt/notesMasters/notesMaster1.xml" Id="Rcaa311e397a84b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1a1ab055e445a8" /><Relationship Type="http://schemas.openxmlformats.org/officeDocument/2006/relationships/notesMaster" Target="/ppt/notesMasters/notesMaster1.xml" Id="R4845446a219848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b40ef74c1d4e0e" /><Relationship Type="http://schemas.openxmlformats.org/officeDocument/2006/relationships/notesMaster" Target="/ppt/notesMasters/notesMaster1.xml" Id="R195bdf2b46b244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a091ae2f7d4e87" /><Relationship Type="http://schemas.openxmlformats.org/officeDocument/2006/relationships/notesMaster" Target="/ppt/notesMasters/notesMaster1.xml" Id="R6c583b97dfd140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50d01f0c844f2e" /><Relationship Type="http://schemas.openxmlformats.org/officeDocument/2006/relationships/notesMaster" Target="/ppt/notesMasters/notesMaster1.xml" Id="R0edce63b4f5841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9420dfaf0d40bb" /><Relationship Type="http://schemas.openxmlformats.org/officeDocument/2006/relationships/notesMaster" Target="/ppt/notesMasters/notesMaster1.xml" Id="R845559b7749142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4ad77c3536343d5" /><Relationship Type="http://schemas.openxmlformats.org/officeDocument/2006/relationships/notesMaster" Target="/ppt/notesMasters/notesMaster1.xml" Id="Ra7045327cafd455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44dc83501e94950" /><Relationship Type="http://schemas.openxmlformats.org/officeDocument/2006/relationships/notesMaster" Target="/ppt/notesMasters/notesMaster1.xml" Id="Rff186a86e2494ea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2af34e57e794314" /><Relationship Type="http://schemas.openxmlformats.org/officeDocument/2006/relationships/notesMaster" Target="/ppt/notesMasters/notesMaster1.xml" Id="R6224808bdfb0493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2c0dc73972746a6" /><Relationship Type="http://schemas.openxmlformats.org/officeDocument/2006/relationships/notesMaster" Target="/ppt/notesMasters/notesMaster1.xml" Id="Re4c9620bb3bd490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3466fd2d6c482c" /><Relationship Type="http://schemas.openxmlformats.org/officeDocument/2006/relationships/notesMaster" Target="/ppt/notesMasters/notesMaster1.xml" Id="Raa71631cdb0946e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c133cc7d4644dab" /><Relationship Type="http://schemas.openxmlformats.org/officeDocument/2006/relationships/notesMaster" Target="/ppt/notesMasters/notesMaster1.xml" Id="Rb9d6e00cab224c8e" /></Relationships>
</file>

<file path=ppt/notesSlides/_rels/notesSlide15.xml.rels><?xml version='1.0' encoding='utf-8'?>
<ns0:Relationships xmlns:ns0="http://schemas.openxmlformats.org/package/2006/relationships"><ns0:Relationship Type="http://schemas.openxmlformats.org/officeDocument/2006/relationships/slide" Target="/ppt/slides/slide15.xml" Id="Rebb1caa7887945e3" /><ns0:Relationship Type="http://schemas.openxmlformats.org/officeDocument/2006/relationships/notesMaster" Target="/ppt/notesMasters/notesMaster1.xml" Id="Ra0ac0320d1d04a0a" /></ns0:Relationships>
</file>

<file path=ppt/notesSlides/_rels/notesSlide16.xml.rels><?xml version='1.0' encoding='utf-8'?>
<ns0:Relationships xmlns:ns0="http://schemas.openxmlformats.org/package/2006/relationships"><ns0:Relationship Type="http://schemas.openxmlformats.org/officeDocument/2006/relationships/slide" Target="/ppt/slides/slide16.xml" Id="R451db99ddbe54063" /><ns0:Relationship Type="http://schemas.openxmlformats.org/officeDocument/2006/relationships/notesMaster" Target="/ppt/notesMasters/notesMaster1.xml" Id="R4357a585ac5a4aae" /></ns0:Relationships>
</file>

<file path=ppt/notesSlides/_rels/notesSlide17.xml.rels><?xml version='1.0' encoding='utf-8'?>
<ns0:Relationships xmlns:ns0="http://schemas.openxmlformats.org/package/2006/relationships"><ns0:Relationship Type="http://schemas.openxmlformats.org/officeDocument/2006/relationships/slide" Target="/ppt/slides/slide17.xml" Id="R0613e77a84e54e23" /><ns0:Relationship Type="http://schemas.openxmlformats.org/officeDocument/2006/relationships/notesMaster" Target="/ppt/notesMasters/notesMaster1.xml" Id="R756e1f3211304e4c" /></ns0:Relationships>
</file>

<file path=ppt/notesSlides/_rels/notesSlide18.xml.rels><?xml version='1.0' encoding='utf-8'?>
<ns0:Relationships xmlns:ns0="http://schemas.openxmlformats.org/package/2006/relationships"><ns0:Relationship Type="http://schemas.openxmlformats.org/officeDocument/2006/relationships/slide" Target="/ppt/slides/slide18.xml" Id="R1536d942229d4e80" /><ns0:Relationship Type="http://schemas.openxmlformats.org/officeDocument/2006/relationships/notesMaster" Target="/ppt/notesMasters/notesMaster1.xml" Id="R8d15c9c11bfa4071" /></ns0:Relationships>
</file>

<file path=ppt/notesSlides/_rels/notesSlide19.xml.rels><?xml version='1.0' encoding='utf-8'?>
<ns0:Relationships xmlns:ns0="http://schemas.openxmlformats.org/package/2006/relationships"><ns0:Relationship Type="http://schemas.openxmlformats.org/officeDocument/2006/relationships/slide" Target="/ppt/slides/slide19.xml" Id="Re39882e6caa74e69" /><ns0:Relationship Type="http://schemas.openxmlformats.org/officeDocument/2006/relationships/notesMaster" Target="/ppt/notesMasters/notesMaster1.xml" Id="R717c50b8a4b043ee" /></ns0:Relationships>
</file>

<file path=ppt/notesSlides/_rels/notesSlide20.xml.rels><?xml version='1.0' encoding='utf-8'?>
<ns0:Relationships xmlns:ns0="http://schemas.openxmlformats.org/package/2006/relationships"><ns0:Relationship Type="http://schemas.openxmlformats.org/officeDocument/2006/relationships/slide" Target="/ppt/slides/slide20.xml" Id="R0b705794a9c740f1" /><ns0:Relationship Type="http://schemas.openxmlformats.org/officeDocument/2006/relationships/notesMaster" Target="/ppt/notesMasters/notesMaster1.xml" Id="Ra44cedc7136e4fbb" /></ns0:Relationships>
</file>

<file path=ppt/notesSlides/_rels/notesSlide21.xml.rels><?xml version='1.0' encoding='utf-8'?>
<ns0:Relationships xmlns:ns0="http://schemas.openxmlformats.org/package/2006/relationships"><ns0:Relationship Type="http://schemas.openxmlformats.org/officeDocument/2006/relationships/slide" Target="/ppt/slides/slide21.xml" Id="Re97adba29f1c4f68" /><ns0:Relationship Type="http://schemas.openxmlformats.org/officeDocument/2006/relationships/notesMaster" Target="/ppt/notesMasters/notesMaster1.xml" Id="R40fadca2a4234782" /></ns0: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 Visualisasi Data, Perbandingan dan Komposisi</a:t>
            </a:r>
          </a:p>
          <a:p xmlns:a="http://schemas.openxmlformats.org/drawingml/2006/main">
            <a:r>
              <a:t/>
            </a:r>
          </a:p>
          <a:p xmlns:a="http://schemas.openxmlformats.org/drawingml/2006/main">
            <a:r>
              <a:t>Tujuan: siswa membedakan membandingkan nilai, menghitung pengamatan, dan membaca bagian dari total.</a:t>
            </a:r>
          </a:p>
          <a:p xmlns:a="http://schemas.openxmlformats.org/drawingml/2006/main">
            <a:r>
              <a:t/>
            </a:r>
          </a:p>
          <a:p xmlns:a="http://schemas.openxmlformats.org/drawingml/2006/main">
            <a:r>
              <a:t>Kalimat pembuka:</a:t>
            </a:r>
          </a:p>
          <a:p xmlns:a="http://schemas.openxmlformats.org/drawingml/2006/main">
            <a:r>
              <a:t/>
            </a:r>
          </a:p>
          <a:p xmlns:a="http://schemas.openxmlformats.org/drawingml/2006/main">
            <a:r>
              <a:t>&gt; Hari ini kita memakai data penjualan festival. Ada pertanyaan tentang produk paling laku, perbedaan antar cabang, dan bagian setiap produk dari total penjualan. Kita akan memilih grafik berdasarkan pertanyaannya.</a:t>
            </a:r>
          </a:p>
          <a:p xmlns:a="http://schemas.openxmlformats.org/drawingml/2006/main">
            <a:r>
              <a:t/>
            </a:r>
          </a:p>
          <a:p xmlns:a="http://schemas.openxmlformats.org/drawingml/2006/main">
            <a:r>
              <a:t>Cara menyampaikan: tawarkan tiga pertanyaan itu sebelum menyebutkan nama grafik. Minta siswa menebak apakah semuanya dapat dijawab dengan satu tampilan yang sama.</a:t>
            </a:r>
          </a:p>
          <a:p xmlns:a="http://schemas.openxmlformats.org/drawingml/2006/main">
            <a:r>
              <a:t/>
            </a:r>
          </a:p>
          <a:p xmlns:a="http://schemas.openxmlformats.org/drawingml/2006/main">
            <a:r>
              <a:t>Pertanyaan kelas: “Kalau saya bilang paling laku, apa yang perlu kita pastikan?”</a:t>
            </a:r>
          </a:p>
          <a:p xmlns:a="http://schemas.openxmlformats.org/drawingml/2006/main">
            <a:r>
              <a:t/>
            </a:r>
          </a:p>
          <a:p xmlns:a="http://schemas.openxmlformats.org/drawingml/2006/main">
            <a:r>
              <a:t>Jawaban acuan: ukuran yang dipakai, misalnya unit terjual, jumlah pesanan, atau pendapatan. Dataset ini memiliki unit terjual. Harga dan laba tidak tersedia.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2: Data penjualan festival sekolah</a:t>
            </a:r>
          </a:p>
          <a:p xmlns:a="http://schemas.openxmlformats.org/drawingml/2006/main">
            <a:r>
              <a:t/>
            </a:r>
          </a:p>
          <a:p xmlns:a="http://schemas.openxmlformats.org/drawingml/2006/main">
            <a:r>
              <a:t>Notebook: blok 1. Satu baris adalah ringkasan satu kategori pada satu cabang. Lima kategori dikalikan tiga cabang menghasilkan 15 baris. Satu baris bukan satu transaksi.</a:t>
            </a:r>
          </a:p>
          <a:p xmlns:a="http://schemas.openxmlformats.org/drawingml/2006/main">
            <a:r>
              <a:t/>
            </a:r>
          </a:p>
          <a:p xmlns:a="http://schemas.openxmlformats.org/drawingml/2006/main">
            <a:r>
              <a:t>Kalimat pengajar:</a:t>
            </a:r>
          </a:p>
          <a:p xmlns:a="http://schemas.openxmlformats.org/drawingml/2006/main">
            <a:r>
              <a:t/>
            </a:r>
          </a:p>
          <a:p xmlns:a="http://schemas.openxmlformats.org/drawingml/2006/main">
            <a:r>
              <a:t>&gt; Baris Utara, Buku, 32 berarti 32 unit buku terjual di cabang Utara. Saat membaca data, pertanyaan pertama saya adalah: satu baris mewakili apa? Jawabannya menentukan apakah nanti kita menjumlahkan unit atau menghitung baris.</a:t>
            </a:r>
          </a:p>
          <a:p xmlns:a="http://schemas.openxmlformats.org/drawingml/2006/main">
            <a:r>
              <a:t/>
            </a:r>
          </a:p>
          <a:p xmlns:a="http://schemas.openxmlformats.org/drawingml/2006/main">
            <a:r>
              <a:t>Pahami kode awal:</a:t>
            </a:r>
          </a:p>
          <a:p xmlns:a="http://schemas.openxmlformats.org/drawingml/2006/main">
            <a:r>
              <a:t/>
            </a:r>
          </a:p>
          <a:p xmlns:a="http://schemas.openxmlformats.org/drawingml/2006/main">
            <a:r>
              <a:t>- `numpy as np` dipakai untuk membuat sudut pada radar.</a:t>
            </a:r>
          </a:p>
          <a:p xmlns:a="http://schemas.openxmlformats.org/drawingml/2006/main">
            <a:r>
              <a:t>- `pandas as pd` membuat dan mengolah tabel.</a:t>
            </a:r>
          </a:p>
          <a:p xmlns:a="http://schemas.openxmlformats.org/drawingml/2006/main">
            <a:r>
              <a:t>- `matplotlib.pyplot as plt` membuat grafik bar, pie, dan radar.</a:t>
            </a:r>
          </a:p>
          <a:p xmlns:a="http://schemas.openxmlformats.org/drawingml/2006/main">
            <a:r>
              <a:t>- `plotly.express as px` membuat treemap interaktif.</a:t>
            </a:r>
          </a:p>
          <a:p xmlns:a="http://schemas.openxmlformats.org/drawingml/2006/main">
            <a:r>
              <a:t>- `pd.DataFrame([...], columns=["Cabang", "Kategori", "Unit"])` menyusun tuple menjadi tabel dengan tiga kolom bernama.</a:t>
            </a:r>
          </a:p>
          <a:p xmlns:a="http://schemas.openxmlformats.org/drawingml/2006/main">
            <a:r>
              <a:t>- `penjualan.head()` menampilkan lima baris awal. Ini pemeriksaan singkat, bukan seluruh dataset.</a:t>
            </a:r>
          </a:p>
          <a:p xmlns:a="http://schemas.openxmlformats.org/drawingml/2006/main">
            <a:r>
              <a:t>- `len(penjualan)` menghitung baris, hasilnya 15.</a:t>
            </a:r>
          </a:p>
          <a:p xmlns:a="http://schemas.openxmlformats.org/drawingml/2006/main">
            <a:r>
              <a:t>- `f"Jumlah baris: {len(penjualan)}"` menyisipkan hasil perhitungan ke dalam teks.</a:t>
            </a:r>
          </a:p>
          <a:p xmlns:a="http://schemas.openxmlformats.org/drawingml/2006/main">
            <a:r>
              <a:t/>
            </a:r>
          </a:p>
          <a:p xmlns:a="http://schemas.openxmlformats.org/drawingml/2006/main">
            <a:r>
              <a:t>Demo: jalankan blok 1, tunjuk satu baris, lalu minta siswa membacanya dengan satu kalimat.</a:t>
            </a:r>
          </a:p>
          <a:p xmlns:a="http://schemas.openxmlformats.org/drawingml/2006/main">
            <a:r>
              <a:t/>
            </a:r>
          </a:p>
          <a:p xmlns:a="http://schemas.openxmlformats.org/drawingml/2006/main">
            <a:r>
              <a:t>Pertanyaan: “Kalau setiap kategori muncul tiga kali, apakah penjualan semua kategori sama?”</a:t>
            </a:r>
          </a:p>
          <a:p xmlns:a="http://schemas.openxmlformats.org/drawingml/2006/main">
            <a:r>
              <a:t/>
            </a:r>
          </a:p>
          <a:p xmlns:a="http://schemas.openxmlformats.org/drawingml/2006/main">
            <a:r>
              <a:t>Jawaban: jumlah baris per kategori sama, tetapi nilai `Unit` berbeda. Kita harus menjumlahkan kolom `Unit`.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Aturan pemilihan grafik merangkum bentuk data dan pertanyaan latihan.</a:t>
            </a:r>
          </a:p>
          <a:p xmlns:a="http://schemas.openxmlformats.org/drawingml/2006/main">
            <a:r>
              <a:t>API agregasi Pandas: https://pandas.pydata.org/docs/reference/api/pandas.DataFrame.groupby.html</a:t>
            </a:r>
          </a:p>
          <a:p xmlns:a="http://schemas.openxmlformats.org/drawingml/2006/main">
            <a:r>
              <a:t>API tabel pivot Pandas: https://pandas.pydata.org/docs/reference/api/pandas.DataFrame.pivot.html</a:t>
            </a:r>
          </a:p>
          <a:p xmlns:a="http://schemas.openxmlformats.org/drawingml/2006/main">
            <a:r>
              <a:t/>
            </a:r>
          </a:p>
          <a:p xmlns:a="http://schemas.openxmlformats.org/drawingml/2006/main">
            <a:r>
              <a:t>### Slide 3: Bentuk data memberi petunjuk awal</a:t>
            </a:r>
          </a:p>
          <a:p xmlns:a="http://schemas.openxmlformats.org/drawingml/2006/main">
            <a:r>
              <a:t/>
            </a:r>
          </a:p>
          <a:p xmlns:a="http://schemas.openxmlformats.org/drawingml/2006/main">
            <a:r>
              <a:t>Kalimat pengajar:</a:t>
            </a:r>
          </a:p>
          <a:p xmlns:a="http://schemas.openxmlformats.org/drawingml/2006/main">
            <a:r>
              <a:t/>
            </a:r>
          </a:p>
          <a:p xmlns:a="http://schemas.openxmlformats.org/drawingml/2006/main">
            <a:r>
              <a:t>&gt; Kita mulai dari pertanyaan dan bentuk data. Satu nilai per kategori dapat dibandingkan dengan bar. Jawaban mentah satu per siswa dapat dihitung frekuensinya. Bagian yang membentuk total membutuhkan grafik komposisi.</a:t>
            </a:r>
          </a:p>
          <a:p xmlns:a="http://schemas.openxmlformats.org/drawingml/2006/main">
            <a:r>
              <a:t/>
            </a:r>
          </a:p>
          <a:p xmlns:a="http://schemas.openxmlformats.org/drawingml/2006/main">
            <a:r>
              <a:t>Cara menyampaikan: baca satu baris tabel pemilihan grafik, lalu minta siswa memberi contoh pertanyaan nyata. Jangan langsung masuk ke sintaks.</a:t>
            </a:r>
          </a:p>
          <a:p xmlns:a="http://schemas.openxmlformats.org/drawingml/2006/main">
            <a:r>
              <a:t/>
            </a:r>
          </a:p>
          <a:p xmlns:a="http://schemas.openxmlformats.org/drawingml/2006/main">
            <a:r>
              <a:t>| Pertanyaan | Pengolahan awal | Grafik |</a:t>
            </a:r>
          </a:p>
          <a:p xmlns:a="http://schemas.openxmlformats.org/drawingml/2006/main">
            <a:r>
              <a:t>|---|---|---|</a:t>
            </a:r>
          </a:p>
          <a:p xmlns:a="http://schemas.openxmlformats.org/drawingml/2006/main">
            <a:r>
              <a:t>| Kategori mana paling banyak unitnya? | Jumlahkan unit per kategori | Bar |</a:t>
            </a:r>
          </a:p>
          <a:p xmlns:a="http://schemas.openxmlformats.org/drawingml/2006/main">
            <a:r>
              <a:t>| Pilihan mana paling sering muncul? | Hitung frekuensi jawaban | Count plot |</a:t>
            </a:r>
          </a:p>
          <a:p xmlns:a="http://schemas.openxmlformats.org/drawingml/2006/main">
            <a:r>
              <a:t>| Bagaimana kategori berbeda antar cabang? | Susun kategori × cabang | Grouped bar |</a:t>
            </a:r>
          </a:p>
          <a:p xmlns:a="http://schemas.openxmlformats.org/drawingml/2006/main">
            <a:r>
              <a:t>| Bagian apa yang membentuk total? | Kelompokkan komponen total | Stacked bar, pie, donut |</a:t>
            </a:r>
          </a:p>
          <a:p xmlns:a="http://schemas.openxmlformats.org/drawingml/2006/main">
            <a:r>
              <a:t>| Bagaimana komposisi relatif antar cabang? | Hitung persen per cabang | 100% stacked bar |</a:t>
            </a:r>
          </a:p>
          <a:p xmlns:a="http://schemas.openxmlformats.org/drawingml/2006/main">
            <a:r>
              <a:t>| Bagaimana bagian tersusun bertingkat? | Tentukan hierarki dan ukuran | Treemap |</a:t>
            </a:r>
          </a:p>
          <a:p xmlns:a="http://schemas.openxmlformats.org/drawingml/2006/main">
            <a:r>
              <a:t>| Bagaimana profil beberapa kelompok? | Samakan kategori dan skala | Radar |</a:t>
            </a:r>
          </a:p>
          <a:p xmlns:a="http://schemas.openxmlformats.org/drawingml/2006/main">
            <a:r>
              <a:t/>
            </a:r>
          </a:p>
          <a:p xmlns:a="http://schemas.openxmlformats.org/drawingml/2006/main">
            <a:r>
              <a:t>Pertanyaan: “Mengapa kita perlu memikirkan satuan pada sumbu?”</a:t>
            </a:r>
          </a:p>
          <a:p xmlns:a="http://schemas.openxmlformats.org/drawingml/2006/main">
            <a:r>
              <a:t/>
            </a:r>
          </a:p>
          <a:p xmlns:a="http://schemas.openxmlformats.org/drawingml/2006/main">
            <a:r>
              <a:t>Jawaban: angka 30 bisa berarti 30 unit, 30 siswa, atau 30 persen. Kesimpulannya berbeda.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Contoh API agregasi menggunakan Pandas DataFrame.groupby dan sum.</a:t>
            </a:r>
          </a:p>
          <a:p xmlns:a="http://schemas.openxmlformats.org/drawingml/2006/main">
            <a:r>
              <a:t>https://pandas.pydata.org/docs/reference/api/pandas.DataFrame.groupby.html</a:t>
            </a:r>
          </a:p>
          <a:p xmlns:a="http://schemas.openxmlformats.org/drawingml/2006/main">
            <a:r>
              <a:t>Matplotlib bar chart: https://matplotlib.org/stable/api/_as_gen/matplotlib.pyplot.bar.html</a:t>
            </a:r>
          </a:p>
          <a:p xmlns:a="http://schemas.openxmlformats.org/drawingml/2006/main">
            <a:r>
              <a:t/>
            </a:r>
          </a:p>
          <a:p xmlns:a="http://schemas.openxmlformats.org/drawingml/2006/main">
            <a:r>
              <a:t>### Slide 4: Bar chart membandingkan kategori</a:t>
            </a:r>
          </a:p>
          <a:p xmlns:a="http://schemas.openxmlformats.org/drawingml/2006/main">
            <a:r>
              <a:t/>
            </a:r>
          </a:p>
          <a:p xmlns:a="http://schemas.openxmlformats.org/drawingml/2006/main">
            <a:r>
              <a:t>Grafik di slide memakai bar horizontal. Notebook blok 3 menunjukkan versi vertikal dan horizontal dari nilai yang sama.</a:t>
            </a:r>
          </a:p>
          <a:p xmlns:a="http://schemas.openxmlformats.org/drawingml/2006/main">
            <a:r>
              <a:t/>
            </a:r>
          </a:p>
          <a:p xmlns:a="http://schemas.openxmlformats.org/drawingml/2006/main">
            <a:r>
              <a:t>Cuplikan pendek pada slide grafik asli menggunakan nama generik `data`. Pada notebook dan slide kode berikutnya, tabel tersebut bernama `penjualan`. Gunakan nama `penjualan` saat menjalankan contoh di Colab.</a:t>
            </a:r>
          </a:p>
          <a:p xmlns:a="http://schemas.openxmlformats.org/drawingml/2006/main">
            <a:r>
              <a:t/>
            </a:r>
          </a:p>
          <a:p xmlns:a="http://schemas.openxmlformats.org/drawingml/2006/main">
            <a:r>
              <a:t>Kalimat pengajar:</a:t>
            </a:r>
          </a:p>
          <a:p xmlns:a="http://schemas.openxmlformats.org/drawingml/2006/main">
            <a:r>
              <a:t/>
            </a:r>
          </a:p>
          <a:p xmlns:a="http://schemas.openxmlformats.org/drawingml/2006/main">
            <a:r>
              <a:t>&gt; Panjang batang menunjukkan jumlah unit. Makanan berada pada 119 unit, sedangkan Aksesori 64 unit. Kita sudah menjumlahkan penjualan tiga cabang, sehingga setiap kategori memiliki satu nilai.</a:t>
            </a:r>
          </a:p>
          <a:p xmlns:a="http://schemas.openxmlformats.org/drawingml/2006/main">
            <a:r>
              <a:t/>
            </a:r>
          </a:p>
          <a:p xmlns:a="http://schemas.openxmlformats.org/drawingml/2006/main">
            <a:r>
              <a:t>Angka untuk memeriksa hasil:</a:t>
            </a:r>
          </a:p>
          <a:p xmlns:a="http://schemas.openxmlformats.org/drawingml/2006/main">
            <a:r>
              <a:t/>
            </a:r>
          </a:p>
          <a:p xmlns:a="http://schemas.openxmlformats.org/drawingml/2006/main">
            <a:r>
              <a:t>| Kategori | Total unit |</a:t>
            </a:r>
          </a:p>
          <a:p xmlns:a="http://schemas.openxmlformats.org/drawingml/2006/main">
            <a:r>
              <a:t>|---|---:|</a:t>
            </a:r>
          </a:p>
          <a:p xmlns:a="http://schemas.openxmlformats.org/drawingml/2006/main">
            <a:r>
              <a:t>| Makanan | 119 |</a:t>
            </a:r>
          </a:p>
          <a:p xmlns:a="http://schemas.openxmlformats.org/drawingml/2006/main">
            <a:r>
              <a:t>| Minuman | 92 |</a:t>
            </a:r>
          </a:p>
          <a:p xmlns:a="http://schemas.openxmlformats.org/drawingml/2006/main">
            <a:r>
              <a:t>| Alat Tulis | 87 |</a:t>
            </a:r>
          </a:p>
          <a:p xmlns:a="http://schemas.openxmlformats.org/drawingml/2006/main">
            <a:r>
              <a:t>| Buku | 80 |</a:t>
            </a:r>
          </a:p>
          <a:p xmlns:a="http://schemas.openxmlformats.org/drawingml/2006/main">
            <a:r>
              <a:t>| Aksesori | 64 |</a:t>
            </a:r>
          </a:p>
          <a:p xmlns:a="http://schemas.openxmlformats.org/drawingml/2006/main">
            <a:r>
              <a:t>| Total | 442 |</a:t>
            </a:r>
          </a:p>
          <a:p xmlns:a="http://schemas.openxmlformats.org/drawingml/2006/main">
            <a:r>
              <a:t/>
            </a:r>
          </a:p>
          <a:p xmlns:a="http://schemas.openxmlformats.org/drawingml/2006/main">
            <a:r>
              <a:t>Cara menyampaikan: tunjuk sumbu angka, lalu dua batang. Minta siswa membandingkan dengan angka, misalnya Makanan lebih banyak 55 unit daripada Aksesori.</a:t>
            </a:r>
          </a:p>
          <a:p xmlns:a="http://schemas.openxmlformats.org/drawingml/2006/main">
            <a:r>
              <a:t/>
            </a:r>
          </a:p>
          <a:p xmlns:a="http://schemas.openxmlformats.org/drawingml/2006/main">
            <a:r>
              <a:t>Pertanyaan: “Mengapa memakai batang horizontal?”</a:t>
            </a:r>
          </a:p>
          <a:p xmlns:a="http://schemas.openxmlformats.org/drawingml/2006/main">
            <a:r>
              <a:t/>
            </a:r>
          </a:p>
          <a:p xmlns:a="http://schemas.openxmlformats.org/drawingml/2006/main">
            <a:r>
              <a:t>Jawaban: label kategori yang panjang lebih mudah dibaca. Nilai dan makna datanya sama dengan versi vertikal.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 plot menghitung observasi mentah per kategori.</a:t>
            </a:r>
          </a:p>
          <a:p xmlns:a="http://schemas.openxmlformats.org/drawingml/2006/main">
            <a:r>
              <a:t>Pandas Series.value_counts: https://pandas.pydata.org/docs/reference/api/pandas.Series.value_counts.html</a:t>
            </a:r>
          </a:p>
          <a:p xmlns:a="http://schemas.openxmlformats.org/drawingml/2006/main">
            <a:r>
              <a:t/>
            </a:r>
          </a:p>
          <a:p xmlns:a="http://schemas.openxmlformats.org/drawingml/2006/main">
            <a:r>
              <a:t>### Slide 6: Count plot menghitung banyaknya pengamatan</a:t>
            </a:r>
          </a:p>
          <a:p xmlns:a="http://schemas.openxmlformats.org/drawingml/2006/main">
            <a:r>
              <a:t/>
            </a:r>
          </a:p>
          <a:p xmlns:a="http://schemas.openxmlformats.org/drawingml/2006/main">
            <a:r>
              <a:t>Notebook: blok 4. Data contoh ini adalah 21 pesanan, masing-masing diwakili satu nama kategori.</a:t>
            </a:r>
          </a:p>
          <a:p xmlns:a="http://schemas.openxmlformats.org/drawingml/2006/main">
            <a:r>
              <a:t/>
            </a:r>
          </a:p>
          <a:p xmlns:a="http://schemas.openxmlformats.org/drawingml/2006/main">
            <a:r>
              <a:t>Kalimat pengajar:</a:t>
            </a:r>
          </a:p>
          <a:p xmlns:a="http://schemas.openxmlformats.org/drawingml/2006/main">
            <a:r>
              <a:t/>
            </a:r>
          </a:p>
          <a:p xmlns:a="http://schemas.openxmlformats.org/drawingml/2006/main">
            <a:r>
              <a:t>&gt; Pada contoh sebelumnya kita menjumlahkan unit dari tabel ringkasan. Sekarang setiap elemen daftar adalah satu pesanan. Kita menghitung berapa kali kategori muncul. Makanan muncul tujuh kali, jadi ada tujuh pesanan Makanan pada contoh ini.</a:t>
            </a:r>
          </a:p>
          <a:p xmlns:a="http://schemas.openxmlformats.org/drawingml/2006/main">
            <a:r>
              <a:t/>
            </a:r>
          </a:p>
          <a:p xmlns:a="http://schemas.openxmlformats.org/drawingml/2006/main">
            <a:r>
              <a:t>| Kategori | Jumlah pesanan |</a:t>
            </a:r>
          </a:p>
          <a:p xmlns:a="http://schemas.openxmlformats.org/drawingml/2006/main">
            <a:r>
              <a:t>|---|---:|</a:t>
            </a:r>
          </a:p>
          <a:p xmlns:a="http://schemas.openxmlformats.org/drawingml/2006/main">
            <a:r>
              <a:t>| Makanan | 7 |</a:t>
            </a:r>
          </a:p>
          <a:p xmlns:a="http://schemas.openxmlformats.org/drawingml/2006/main">
            <a:r>
              <a:t>| Alat Tulis | 5 |</a:t>
            </a:r>
          </a:p>
          <a:p xmlns:a="http://schemas.openxmlformats.org/drawingml/2006/main">
            <a:r>
              <a:t>| Buku | 4 |</a:t>
            </a:r>
          </a:p>
          <a:p xmlns:a="http://schemas.openxmlformats.org/drawingml/2006/main">
            <a:r>
              <a:t>| Minuman | 3 |</a:t>
            </a:r>
          </a:p>
          <a:p xmlns:a="http://schemas.openxmlformats.org/drawingml/2006/main">
            <a:r>
              <a:t>| Aksesori | 2 |</a:t>
            </a:r>
          </a:p>
          <a:p xmlns:a="http://schemas.openxmlformats.org/drawingml/2006/main">
            <a:r>
              <a:t>| Total | 21 |</a:t>
            </a:r>
          </a:p>
          <a:p xmlns:a="http://schemas.openxmlformats.org/drawingml/2006/main">
            <a:r>
              <a:t/>
            </a:r>
          </a:p>
          <a:p xmlns:a="http://schemas.openxmlformats.org/drawingml/2006/main">
            <a:r>
              <a:t>Perlu dijelaskan: data pesanan dan data unit penjualan merupakan dua contoh terpisah. Kita tidak memiliki hubungan transaksi yang menghubungkan keduanya, sehingga tidak dapat menghitung rata-rata unit per pesanan dari kedua tabel ini.</a:t>
            </a:r>
          </a:p>
          <a:p xmlns:a="http://schemas.openxmlformats.org/drawingml/2006/main">
            <a:r>
              <a:t/>
            </a:r>
          </a:p>
          <a:p xmlns:a="http://schemas.openxmlformats.org/drawingml/2006/main">
            <a:r>
              <a:t>Pertanyaan: “Tujuh pesanan Makanan berarti tujuh unit Makanan?”</a:t>
            </a:r>
          </a:p>
          <a:p xmlns:a="http://schemas.openxmlformats.org/drawingml/2006/main">
            <a:r>
              <a:t/>
            </a:r>
          </a:p>
          <a:p xmlns:a="http://schemas.openxmlformats.org/drawingml/2006/main">
            <a:r>
              <a:t>Jawaban: belum tentu. Satu pesanan bisa berisi beberapa unit. Contoh ini hanya menyimpan kategori pesanan.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Pandas DataFrame.pivot menyusun ulang data tanpa agregasi karena setiap pasangan cabang dan kategori unik.</a:t>
            </a:r>
          </a:p>
          <a:p xmlns:a="http://schemas.openxmlformats.org/drawingml/2006/main">
            <a:r>
              <a:t>https://pandas.pydata.org/docs/reference/api/pandas.DataFrame.pivot.html</a:t>
            </a:r>
          </a:p>
          <a:p xmlns:a="http://schemas.openxmlformats.org/drawingml/2006/main">
            <a:r>
              <a:t/>
            </a:r>
          </a:p>
          <a:p xmlns:a="http://schemas.openxmlformats.org/drawingml/2006/main">
            <a:r>
              <a:t>### Slide 8: Grouped bar membandingkan beberapa kelompok</a:t>
            </a:r>
          </a:p>
          <a:p xmlns:a="http://schemas.openxmlformats.org/drawingml/2006/main">
            <a:r>
              <a:t/>
            </a:r>
          </a:p>
          <a:p xmlns:a="http://schemas.openxmlformats.org/drawingml/2006/main">
            <a:r>
              <a:t>Notebook: blok 5. Ada beberapa batang untuk setiap kategori karena nilai cabang tetap dipisahkan.</a:t>
            </a:r>
          </a:p>
          <a:p xmlns:a="http://schemas.openxmlformats.org/drawingml/2006/main">
            <a:r>
              <a:t/>
            </a:r>
          </a:p>
          <a:p xmlns:a="http://schemas.openxmlformats.org/drawingml/2006/main">
            <a:r>
              <a:t>Kalimat pengajar:</a:t>
            </a:r>
          </a:p>
          <a:p xmlns:a="http://schemas.openxmlformats.org/drawingml/2006/main">
            <a:r>
              <a:t/>
            </a:r>
          </a:p>
          <a:p xmlns:a="http://schemas.openxmlformats.org/drawingml/2006/main">
            <a:r>
              <a:t>&gt; Pada bar total, kita menggabungkan cabang. Sekarang kita ingin melihat perbedaannya, jadi nilai Utara, Tengah, dan Selatan tetap berdiri sendiri. Bandingkan ketiga batang Makanan, lalu bacalah legenda untuk mengetahui cabangnya.</a:t>
            </a:r>
          </a:p>
          <a:p xmlns:a="http://schemas.openxmlformats.org/drawingml/2006/main">
            <a:r>
              <a:t/>
            </a:r>
          </a:p>
          <a:p xmlns:a="http://schemas.openxmlformats.org/drawingml/2006/main">
            <a:r>
              <a:t>Jawaban acuan: Makanan: Utara 40, Tengah 35, Selatan 44 unit. Alat Tulis: Utara 25, Tengah 34, Selatan 28 unit.</a:t>
            </a:r>
          </a:p>
          <a:p xmlns:a="http://schemas.openxmlformats.org/drawingml/2006/main">
            <a:r>
              <a:t/>
            </a:r>
          </a:p>
          <a:p xmlns:a="http://schemas.openxmlformats.org/drawingml/2006/main">
            <a:r>
              <a:t>Pertanyaan: “Apakah cabang dengan Makanan terbanyak juga pasti memiliki Buku terbanyak?”</a:t>
            </a:r>
          </a:p>
          <a:p xmlns:a="http://schemas.openxmlformats.org/drawingml/2006/main">
            <a:r>
              <a:t/>
            </a:r>
          </a:p>
          <a:p xmlns:a="http://schemas.openxmlformats.org/drawingml/2006/main">
            <a:r>
              <a:t>Jawaban: tidak. Makanan terbesar di Selatan, sedangkan Buku terbesar di Utara, sebanyak 32 unit.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10: Practice Tengah, pilihan ekstrakurikuler</a:t>
            </a:r>
          </a:p>
          <a:p xmlns:a="http://schemas.openxmlformats.org/drawingml/2006/main">
            <a:r>
              <a:t/>
            </a:r>
          </a:p>
          <a:p xmlns:a="http://schemas.openxmlformats.org/drawingml/2006/main">
            <a:r>
              <a:t>Notebook: blok 6 adalah data 26 jawaban siswa, blok 7 adalah tempat latihan atau solusi editorial. Satu baris mewakili satu jawaban siswa.</a:t>
            </a:r>
          </a:p>
          <a:p xmlns:a="http://schemas.openxmlformats.org/drawingml/2006/main">
            <a:r>
              <a:t/>
            </a:r>
          </a:p>
          <a:p xmlns:a="http://schemas.openxmlformats.org/drawingml/2006/main">
            <a:r>
              <a:t>Instruksi pengajar: minta siswa membuat frekuensi total, grouped bar per kelas, lalu menyebutkan pilihan terbanyak. Beri petunjuk bentuk data sebelum menunjukkan solusi.</a:t>
            </a:r>
          </a:p>
          <a:p xmlns:a="http://schemas.openxmlformats.org/drawingml/2006/main">
            <a:r>
              <a:t/>
            </a:r>
          </a:p>
          <a:p xmlns:a="http://schemas.openxmlformats.org/drawingml/2006/main">
            <a:r>
              <a:t>Kalimat pengajar:</a:t>
            </a:r>
          </a:p>
          <a:p xmlns:a="http://schemas.openxmlformats.org/drawingml/2006/main">
            <a:r>
              <a:t/>
            </a:r>
          </a:p>
          <a:p xmlns:a="http://schemas.openxmlformats.org/drawingml/2006/main">
            <a:r>
              <a:t>&gt; Data ini masih berupa jawaban satu per siswa. Untuk pilihan total, hitung frekuensi. Untuk perbandingan kelas, kita membutuhkan tabel yang memperlihatkan jumlah jawaban pada setiap kombinasi kegiatan dan kelas.</a:t>
            </a:r>
          </a:p>
          <a:p xmlns:a="http://schemas.openxmlformats.org/drawingml/2006/main">
            <a:r>
              <a:t/>
            </a:r>
          </a:p>
          <a:p xmlns:a="http://schemas.openxmlformats.org/drawingml/2006/main">
            <a:r>
              <a:t>Bagian inti solusi editorial:</a:t>
            </a:r>
          </a:p>
          <a:p xmlns:a="http://schemas.openxmlformats.org/drawingml/2006/main">
            <a:r>
              <a:t/>
            </a:r>
          </a:p>
          <a:p xmlns:a="http://schemas.openxmlformats.org/drawingml/2006/main">
            <a:r>
              <a:t>frekuensi_pilihan = pilihan_siswa["Ekstrakurikuler"].value_counts()</a:t>
            </a:r>
          </a:p>
          <a:p xmlns:a="http://schemas.openxmlformats.org/drawingml/2006/main">
            <a:r>
              <a:t>pilihan_per_kelas = pd.crosstab(</a:t>
            </a:r>
          </a:p>
          <a:p xmlns:a="http://schemas.openxmlformats.org/drawingml/2006/main">
            <a:r>
              <a:t>    pilihan_siswa["Ekstrakurikuler"], pilihan_siswa["Kelas"]</a:t>
            </a:r>
          </a:p>
          <a:p xmlns:a="http://schemas.openxmlformats.org/drawingml/2006/main">
            <a:r>
              <a:t>)</a:t>
            </a:r>
          </a:p>
          <a:p xmlns:a="http://schemas.openxmlformats.org/drawingml/2006/main">
            <a:r>
              <a:t>frekuensi_pilihan.plot(kind="bar")</a:t>
            </a:r>
          </a:p>
          <a:p xmlns:a="http://schemas.openxmlformats.org/drawingml/2006/main">
            <a:r>
              <a:t>plt.show()</a:t>
            </a:r>
          </a:p>
          <a:p xmlns:a="http://schemas.openxmlformats.org/drawingml/2006/main">
            <a:r>
              <a:t>pilihan_per_kelas.plot(kind="bar")</a:t>
            </a:r>
          </a:p>
          <a:p xmlns:a="http://schemas.openxmlformats.org/drawingml/2006/main">
            <a:r>
              <a:t>plt.show()</a:t>
            </a:r>
          </a:p>
          <a:p xmlns:a="http://schemas.openxmlformats.org/drawingml/2006/main">
            <a:r>
              <a:t>pilihan_teratas = frekuensi_pilihan.idxmax()</a:t>
            </a:r>
          </a:p>
          <a:p xmlns:a="http://schemas.openxmlformats.org/drawingml/2006/main">
            <a:r>
              <a:t>jumlah_teratas = int(frekuensi_pilihan.max())</a:t>
            </a:r>
          </a:p>
          <a:p xmlns:a="http://schemas.openxmlformats.org/drawingml/2006/main">
            <a:r>
              <a:t>print(pilihan_teratas, jumlah_teratas)</a:t>
            </a:r>
          </a:p>
          <a:p xmlns:a="http://schemas.openxmlformats.org/drawingml/2006/main">
            <a:r>
              <a:t/>
            </a:r>
          </a:p>
          <a:p xmlns:a="http://schemas.openxmlformats.org/drawingml/2006/main">
            <a:r>
              <a:t/>
            </a:r>
          </a:p>
          <a:p xmlns:a="http://schemas.openxmlformats.org/drawingml/2006/main">
            <a:r>
              <a:t>`crosstab()` membuat tabel frekuensi silang. Argumen pertama menjadi baris, argumen kedua menjadi kolom. `idxmax()` mengambil label dengan nilai terbesar, `max()` mengambil angkanya, dan `int()` mengubahnya ke integer Python untuk dicetak.</a:t>
            </a:r>
          </a:p>
          <a:p xmlns:a="http://schemas.openxmlformats.org/drawingml/2006/main">
            <a:r>
              <a:t/>
            </a:r>
          </a:p>
          <a:p xmlns:a="http://schemas.openxmlformats.org/drawingml/2006/main">
            <a:r>
              <a:t>| Kegiatan | X | XI | XII | Total |</a:t>
            </a:r>
          </a:p>
          <a:p xmlns:a="http://schemas.openxmlformats.org/drawingml/2006/main">
            <a:r>
              <a:t>|---|---:|---:|---:|---:|</a:t>
            </a:r>
          </a:p>
          <a:p xmlns:a="http://schemas.openxmlformats.org/drawingml/2006/main">
            <a:r>
              <a:t>| Sains | 4 | 5 | 2 | 11 |</a:t>
            </a:r>
          </a:p>
          <a:p xmlns:a="http://schemas.openxmlformats.org/drawingml/2006/main">
            <a:r>
              <a:t>| Seni | 2 | 3 | 4 | 9 |</a:t>
            </a:r>
          </a:p>
          <a:p xmlns:a="http://schemas.openxmlformats.org/drawingml/2006/main">
            <a:r>
              <a:t>| Olahraga | 1 | 2 | 3 | 6 |</a:t>
            </a:r>
          </a:p>
          <a:p xmlns:a="http://schemas.openxmlformats.org/drawingml/2006/main">
            <a:r>
              <a:t>| Jumlah jawaban | 7 | 10 | 9 | 26 |</a:t>
            </a:r>
          </a:p>
          <a:p xmlns:a="http://schemas.openxmlformats.org/drawingml/2006/main">
            <a:r>
              <a:t/>
            </a:r>
          </a:p>
          <a:p xmlns:a="http://schemas.openxmlformats.org/drawingml/2006/main">
            <a:r>
              <a:t>Jawaban akhir: Sains, 11 siswa.</a:t>
            </a:r>
          </a:p>
          <a:p xmlns:a="http://schemas.openxmlformats.org/drawingml/2006/main">
            <a:r>
              <a:t/>
            </a:r>
          </a:p>
          <a:p xmlns:a="http://schemas.openxmlformats.org/drawingml/2006/main">
            <a:r>
              <a:t>Pertanyaan lanjutan: “Kelas XI punya lima pemilih Sains dan kelas X punya empat. Apakah persentase peminat Sains lebih besar di XI?”</a:t>
            </a:r>
          </a:p>
          <a:p xmlns:a="http://schemas.openxmlformats.org/drawingml/2006/main">
            <a:r>
              <a:t/>
            </a:r>
          </a:p>
          <a:p xmlns:a="http://schemas.openxmlformats.org/drawingml/2006/main">
            <a:r>
              <a:t>Jawaban: tidak. XI `5/10 = 50%`, sedangkan X `4/7 ≈ 57,14%`. Jumlah responden tiap kelas berbeda. Ini pengantar yang baik menuju komposisi relatif.</a:t>
            </a:r>
          </a:p>
          <a:p xmlns:a="http://schemas.openxmlformats.org/drawingml/2006/main">
            <a:r>
              <a:t/>
            </a:r>
          </a:p>
          <a:p xmlns:a="http://schemas.openxmlformats.org/drawingml/2006/main">
            <a:r>
              <a:t>Semantik tabel frekuensi silang mengacu pada [dokumentasi Pandas crosstab](https://pandas.pydata.org/docs/reference/api/pandas.crosstab.html).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11: Stacked bar menunjukkan komposisi</a:t>
            </a:r>
          </a:p>
          <a:p xmlns:a="http://schemas.openxmlformats.org/drawingml/2006/main">
            <a:r>
              <a:t/>
            </a:r>
          </a:p>
          <a:p xmlns:a="http://schemas.openxmlformats.org/drawingml/2006/main">
            <a:r>
              <a:t>Notebook: blok 8. Grafik kiri menunjukkan total unit dan komponennya. Grafik kanan menunjukkan persentase komponen, dengan tinggi setiap batang 100%.</a:t>
            </a:r>
          </a:p>
          <a:p xmlns:a="http://schemas.openxmlformats.org/drawingml/2006/main">
            <a:r>
              <a:t/>
            </a:r>
          </a:p>
          <a:p xmlns:a="http://schemas.openxmlformats.org/drawingml/2006/main">
            <a:r>
              <a:t>Kalimat pengajar:</a:t>
            </a:r>
          </a:p>
          <a:p xmlns:a="http://schemas.openxmlformats.org/drawingml/2006/main">
            <a:r>
              <a:t/>
            </a:r>
          </a:p>
          <a:p xmlns:a="http://schemas.openxmlformats.org/drawingml/2006/main">
            <a:r>
              <a:t>&gt; Batang kiri menumpuk unit tiap kategori. Tinggi total Selatan adalah 150 unit, Utara 148, Tengah 144. Pada grafik kanan, setiap cabang dinormalisasi menjadi 100 persen sehingga kita membandingkan komposisinya.</a:t>
            </a:r>
          </a:p>
          <a:p xmlns:a="http://schemas.openxmlformats.org/drawingml/2006/main">
            <a:r>
              <a:t/>
            </a:r>
          </a:p>
          <a:p xmlns:a="http://schemas.openxmlformats.org/drawingml/2006/main">
            <a:r>
              <a:t>Contoh: Makanan Utara `40/148 × 100 ≈ 27,03%`. Makanan Selatan `44/150 × 100 ≈ 29,33%`.</a:t>
            </a:r>
          </a:p>
          <a:p xmlns:a="http://schemas.openxmlformats.org/drawingml/2006/main">
            <a:r>
              <a:t/>
            </a:r>
          </a:p>
          <a:p xmlns:a="http://schemas.openxmlformats.org/drawingml/2006/main">
            <a:r>
              <a:t>Pertanyaan: “Kalau semua batang grafik kanan sama tinggi, apakah penjualan cabang sama?”</a:t>
            </a:r>
          </a:p>
          <a:p xmlns:a="http://schemas.openxmlformats.org/drawingml/2006/main">
            <a:r>
              <a:t/>
            </a:r>
          </a:p>
          <a:p xmlns:a="http://schemas.openxmlformats.org/drawingml/2006/main">
            <a:r>
              <a:t>Jawaban: tidak. Tingginya sama karena setiap total dijadikan 100%. Grafik kanan tidak memperlihatkan perbedaan total unit.</a:t>
            </a:r>
          </a:p>
          <a:p xmlns:a="http://schemas.openxmlformats.org/drawingml/2006/main">
            <a:r>
              <a:t/>
            </a:r>
          </a:p>
          <a:p xmlns:a="http://schemas.openxmlformats.org/drawingml/2006/main">
            <a:r>
              <a:t>Catatan membaca: segmen yang berada di tengah tumpukan lebih sulit dibandingkan secara presisi karena posisi awalnya berbeda. Gunakan grouped bar jika fokusnya selisih angka kategori tertentu antar cabang.</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13: Pie chart dan donut chart</a:t>
            </a:r>
          </a:p>
          <a:p xmlns:a="http://schemas.openxmlformats.org/drawingml/2006/main">
            <a:r>
              <a:t/>
            </a:r>
          </a:p>
          <a:p xmlns:a="http://schemas.openxmlformats.org/drawingml/2006/main">
            <a:r>
              <a:t>Notebook: blok 9. Keduanya memakai komposisi cabang Utara, dengan total 148 unit.</a:t>
            </a:r>
          </a:p>
          <a:p xmlns:a="http://schemas.openxmlformats.org/drawingml/2006/main">
            <a:r>
              <a:t/>
            </a:r>
          </a:p>
          <a:p xmlns:a="http://schemas.openxmlformats.org/drawingml/2006/main">
            <a:r>
              <a:t>Kalimat pengajar:</a:t>
            </a:r>
          </a:p>
          <a:p xmlns:a="http://schemas.openxmlformats.org/drawingml/2006/main">
            <a:r>
              <a:t/>
            </a:r>
          </a:p>
          <a:p xmlns:a="http://schemas.openxmlformats.org/drawingml/2006/main">
            <a:r>
              <a:t>&gt; Satu lingkaran mewakili seluruh penjualan Utara. Irisan Makanan mewakili 40 dari 148 unit, sekitar 27 persen. Donut memakai data yang sama, hanya bagian tengahnya diberi lubang.</a:t>
            </a:r>
          </a:p>
          <a:p xmlns:a="http://schemas.openxmlformats.org/drawingml/2006/main">
            <a:r>
              <a:t/>
            </a:r>
          </a:p>
          <a:p xmlns:a="http://schemas.openxmlformats.org/drawingml/2006/main">
            <a:r>
              <a:t>| Kategori Utara | Unit | Persentase, satu desimal |</a:t>
            </a:r>
          </a:p>
          <a:p xmlns:a="http://schemas.openxmlformats.org/drawingml/2006/main">
            <a:r>
              <a:t>|---|---:|---:|</a:t>
            </a:r>
          </a:p>
          <a:p xmlns:a="http://schemas.openxmlformats.org/drawingml/2006/main">
            <a:r>
              <a:t>| Buku | 32 | 21,6% |</a:t>
            </a:r>
          </a:p>
          <a:p xmlns:a="http://schemas.openxmlformats.org/drawingml/2006/main">
            <a:r>
              <a:t>| Alat Tulis | 25 | 16,9% |</a:t>
            </a:r>
          </a:p>
          <a:p xmlns:a="http://schemas.openxmlformats.org/drawingml/2006/main">
            <a:r>
              <a:t>| Makanan | 40 | 27,0% |</a:t>
            </a:r>
          </a:p>
          <a:p xmlns:a="http://schemas.openxmlformats.org/drawingml/2006/main">
            <a:r>
              <a:t>| Minuman | 33 | 22,3% |</a:t>
            </a:r>
          </a:p>
          <a:p xmlns:a="http://schemas.openxmlformats.org/drawingml/2006/main">
            <a:r>
              <a:t>| Aksesori | 18 | 12,2% |</a:t>
            </a:r>
          </a:p>
          <a:p xmlns:a="http://schemas.openxmlformats.org/drawingml/2006/main">
            <a:r>
              <a:t/>
            </a:r>
          </a:p>
          <a:p xmlns:a="http://schemas.openxmlformats.org/drawingml/2006/main">
            <a:r>
              <a:t>Pertanyaan: “Apakah donut memberi angka yang berbeda dari pie?”</a:t>
            </a:r>
          </a:p>
          <a:p xmlns:a="http://schemas.openxmlformats.org/drawingml/2006/main">
            <a:r>
              <a:t/>
            </a:r>
          </a:p>
          <a:p xmlns:a="http://schemas.openxmlformats.org/drawingml/2006/main">
            <a:r>
              <a:t>Jawaban: tidak. Keduanya menggambarkan bagian dari total yang sama.</a:t>
            </a:r>
          </a:p>
          <a:p xmlns:a="http://schemas.openxmlformats.org/drawingml/2006/main">
            <a:r>
              <a:t/>
            </a:r>
          </a:p>
          <a:p xmlns:a="http://schemas.openxmlformats.org/drawingml/2006/main">
            <a:r>
              <a:t>Cara menyampaikan: sebutkan total lingkarannya terlebih dulu. Batasi kategori agar label masih terbaca. Untuk membandingkan nilai yang dekat, gunakan bar chart.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Treemap merepresentasikan data bertingkat sebagai persegi panjang bersarang.</a:t>
            </a:r>
          </a:p>
          <a:p xmlns:a="http://schemas.openxmlformats.org/drawingml/2006/main">
            <a:r>
              <a:t>Dokumentasi Plotly Express: https://plotly.com/python/treemaps/</a:t>
            </a:r>
          </a:p>
          <a:p xmlns:a="http://schemas.openxmlformats.org/drawingml/2006/main">
            <a:r>
              <a:t/>
            </a:r>
          </a:p>
          <a:p xmlns:a="http://schemas.openxmlformats.org/drawingml/2006/main">
            <a:r>
              <a:t>### Slide 15: Treemap menampilkan kategori bertingkat</a:t>
            </a:r>
          </a:p>
          <a:p xmlns:a="http://schemas.openxmlformats.org/drawingml/2006/main">
            <a:r>
              <a:t/>
            </a:r>
          </a:p>
          <a:p xmlns:a="http://schemas.openxmlformats.org/drawingml/2006/main">
            <a:r>
              <a:t>Kalimat pengajar:</a:t>
            </a:r>
          </a:p>
          <a:p xmlns:a="http://schemas.openxmlformats.org/drawingml/2006/main">
            <a:r>
              <a:t/>
            </a:r>
          </a:p>
          <a:p xmlns:a="http://schemas.openxmlformats.org/drawingml/2006/main">
            <a:r>
              <a:t>&gt; Treemap memakai luas kotak untuk menunjukkan unit. Pada slide, kategori menjadi kelompok besar dan cabang menjadi bagian di dalamnya. Kotak Makanan paling luas karena totalnya 119 unit. Di dalam Makanan, Selatan menyumbang 44 unit.</a:t>
            </a:r>
          </a:p>
          <a:p xmlns:a="http://schemas.openxmlformats.org/drawingml/2006/main">
            <a:r>
              <a:t/>
            </a:r>
          </a:p>
          <a:p xmlns:a="http://schemas.openxmlformats.org/drawingml/2006/main">
            <a:r>
              <a:t>Cara menyampaikan: tunjuk kotak besar terlebih dulu, baru kotak anaknya. Pastikan siswa membedakan luas kotak dan warna.</a:t>
            </a:r>
          </a:p>
          <a:p xmlns:a="http://schemas.openxmlformats.org/drawingml/2006/main">
            <a:r>
              <a:t/>
            </a:r>
          </a:p>
          <a:p xmlns:a="http://schemas.openxmlformats.org/drawingml/2006/main">
            <a:r>
              <a:t>Perbedaan yang perlu disampaikan saat beralih ke notebook:</a:t>
            </a:r>
          </a:p>
          <a:p xmlns:a="http://schemas.openxmlformats.org/drawingml/2006/main">
            <a:r>
              <a:t/>
            </a:r>
          </a:p>
          <a:p xmlns:a="http://schemas.openxmlformats.org/drawingml/2006/main">
            <a:r>
              <a:t>- Slide memakai hierarki Kategori → Cabang, dengan warna membedakan kategori. Slide kode berikut memberi contoh hierarki ini.</a:t>
            </a:r>
          </a:p>
          <a:p xmlns:a="http://schemas.openxmlformats.org/drawingml/2006/main">
            <a:r>
              <a:t>- Notebook blok 10 memakai Semua Penjualan → Cabang → Kategori, dengan gradasi biru berdasarkan `Unit`.</a:t>
            </a:r>
          </a:p>
          <a:p xmlns:a="http://schemas.openxmlformats.org/drawingml/2006/main">
            <a:r>
              <a:t>- Nilai unit sumbernya sama. Susunan kelompok dan arti warnanya berbeda karena argumen `path` dan `color` berbeda.</a:t>
            </a:r>
          </a:p>
          <a:p xmlns:a="http://schemas.openxmlformats.org/drawingml/2006/main">
            <a:r>
              <a:t/>
            </a:r>
          </a:p>
          <a:p xmlns:a="http://schemas.openxmlformats.org/drawingml/2006/main">
            <a:r>
              <a:t>Pertanyaan: “Kalau kotak lebih gelap pada notebook, apakah itu kategori berbeda?”</a:t>
            </a:r>
          </a:p>
          <a:p xmlns:a="http://schemas.openxmlformats.org/drawingml/2006/main">
            <a:r>
              <a:t/>
            </a:r>
          </a:p>
          <a:p xmlns:a="http://schemas.openxmlformats.org/drawingml/2006/main">
            <a:r>
              <a:t>Jawaban: pada notebook, warna ditentukan oleh angka `Unit`. Pada slide, warna membedakan nama kategori. Makna warna harus dibaca dari pengaturan grafiknya.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17: Radar chart membandingkan profil beberapa kelompok</a:t>
            </a:r>
          </a:p>
          <a:p xmlns:a="http://schemas.openxmlformats.org/drawingml/2006/main">
            <a:r>
              <a:t/>
            </a:r>
          </a:p>
          <a:p xmlns:a="http://schemas.openxmlformats.org/drawingml/2006/main">
            <a:r>
              <a:t>Notebook: blok 11. Dua cabang yang dibandingkan adalah Utara dan Tengah. Semua sumbu menggunakan persentase, dengan kategori yang sama untuk kedua cabang.</a:t>
            </a:r>
          </a:p>
          <a:p xmlns:a="http://schemas.openxmlformats.org/drawingml/2006/main">
            <a:r>
              <a:t/>
            </a:r>
          </a:p>
          <a:p xmlns:a="http://schemas.openxmlformats.org/drawingml/2006/main">
            <a:r>
              <a:t>Kalimat pengajar:</a:t>
            </a:r>
          </a:p>
          <a:p xmlns:a="http://schemas.openxmlformats.org/drawingml/2006/main">
            <a:r>
              <a:t/>
            </a:r>
          </a:p>
          <a:p xmlns:a="http://schemas.openxmlformats.org/drawingml/2006/main">
            <a:r>
              <a:t>&gt; Setiap arah adalah satu kategori. Semakin jauh titik dari pusat, semakin besar persentase kategori itu pada cabangnya. Radar membantu melihat profil. Utara memiliki persentase Buku sekitar 21,62 persen, Tengah sekitar 18,06 persen.</a:t>
            </a:r>
          </a:p>
          <a:p xmlns:a="http://schemas.openxmlformats.org/drawingml/2006/main">
            <a:r>
              <a:t/>
            </a:r>
          </a:p>
          <a:p xmlns:a="http://schemas.openxmlformats.org/drawingml/2006/main">
            <a:r>
              <a:t>Contoh kedua: Alat Tulis Utara sekitar 16,89%, Tengah 23,61%.</a:t>
            </a:r>
          </a:p>
          <a:p xmlns:a="http://schemas.openxmlformats.org/drawingml/2006/main">
            <a:r>
              <a:t/>
            </a:r>
          </a:p>
          <a:p xmlns:a="http://schemas.openxmlformats.org/drawingml/2006/main">
            <a:r>
              <a:t>Pertanyaan: “Apakah bentuk yang terlihat lebih luas berarti total penjualan lebih besar?”</a:t>
            </a:r>
          </a:p>
          <a:p xmlns:a="http://schemas.openxmlformats.org/drawingml/2006/main">
            <a:r>
              <a:t/>
            </a:r>
          </a:p>
          <a:p xmlns:a="http://schemas.openxmlformats.org/drawingml/2006/main">
            <a:r>
              <a:t>Jawaban: tidak. Grafik ini memakai persentase dan bentuknya dipengaruhi urutan kategori. Untuk membandingkan total unit, lihat data total atau bar chart.</a:t>
            </a:r>
          </a:p>
          <a:p xmlns:a="http://schemas.openxmlformats.org/drawingml/2006/main">
            <a:r>
              <a:t/>
            </a:r>
          </a:p>
          <a:p xmlns:a="http://schemas.openxmlformats.org/drawingml/2006/main">
            <a:r>
              <a:t>Cara menyampaikan: baca satu sumbu untuk dua cabang, baru lihat pola keseluruhan. Jangan menyimpulkan salah satu cabang “lebih baik” tanpa ukuran tujuan yang jelas.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19: Practice Akhir, komposisi penjualan bazar</a:t>
            </a:r>
          </a:p>
          <a:p xmlns:a="http://schemas.openxmlformats.org/drawingml/2006/main">
            <a:r>
              <a:t/>
            </a:r>
          </a:p>
          <a:p xmlns:a="http://schemas.openxmlformats.org/drawingml/2006/main">
            <a:r>
              <a:t>Notebook: blok 12 menyiapkan 24 baris data, blok 13 adalah latihan atau solusi editorial. Satu baris merangkum satu produk pada satu stan. Setiap kelompok memiliki dua produk.</a:t>
            </a:r>
          </a:p>
          <a:p xmlns:a="http://schemas.openxmlformats.org/drawingml/2006/main">
            <a:r>
              <a:t/>
            </a:r>
          </a:p>
          <a:p xmlns:a="http://schemas.openxmlformats.org/drawingml/2006/main">
            <a:r>
              <a:t>Kalimat pengajar:</a:t>
            </a:r>
          </a:p>
          <a:p xmlns:a="http://schemas.openxmlformats.org/drawingml/2006/main">
            <a:r>
              <a:t/>
            </a:r>
          </a:p>
          <a:p xmlns:a="http://schemas.openxmlformats.org/drawingml/2006/main">
            <a:r>
              <a:t>&gt; Kita memakai data baru agar pemilihan grafiknya benar-benar dipahami. Sekarang ada stan, kelompok, produk, dan unit. Sebelum membuat grafik, tentukan level detail yang dibutuhkan. Untuk membandingkan kelompok per stan, dua produk dalam kelompok yang sama harus dijumlahkan.</a:t>
            </a:r>
          </a:p>
          <a:p xmlns:a="http://schemas.openxmlformats.org/drawingml/2006/main">
            <a:r>
              <a:t/>
            </a:r>
          </a:p>
          <a:p xmlns:a="http://schemas.openxmlformats.org/drawingml/2006/main">
            <a:r>
              <a:t>Urutan membimbing: susun tabel kelompok per stan, periksa hasilnya, buat grouped bar dan dua stacked bar, ambil satu stan untuk pie/donut, ringkas produk untuk treemap, lalu bandingkan dua profil persentase dengan radar.</a:t>
            </a:r>
          </a:p>
          <a:p xmlns:a="http://schemas.openxmlformats.org/drawingml/2006/main">
            <a:r>
              <a:t/>
            </a:r>
          </a:p>
          <a:p xmlns:a="http://schemas.openxmlformats.org/drawingml/2006/main">
            <a:r>
              <a:t>Inti pengolahan dalam editorial:</a:t>
            </a:r>
          </a:p>
          <a:p xmlns:a="http://schemas.openxmlformats.org/drawingml/2006/main">
            <a:r>
              <a:t/>
            </a:r>
          </a:p>
          <a:p xmlns:a="http://schemas.openxmlformats.org/drawingml/2006/main">
            <a:r>
              <a:t>total_per_kelompok = bazar.groupby("Kelompok")["Unit"].sum()</a:t>
            </a:r>
          </a:p>
          <a:p xmlns:a="http://schemas.openxmlformats.org/drawingml/2006/main">
            <a:r>
              <a:t>tabel_bazar = bazar.pivot_table(</a:t>
            </a:r>
          </a:p>
          <a:p xmlns:a="http://schemas.openxmlformats.org/drawingml/2006/main">
            <a:r>
              <a:t>    index="Stan", columns="Kelompok", values="Unit", aggfunc="sum"</a:t>
            </a:r>
          </a:p>
          <a:p xmlns:a="http://schemas.openxmlformats.org/drawingml/2006/main">
            <a:r>
              <a:t>)</a:t>
            </a:r>
          </a:p>
          <a:p xmlns:a="http://schemas.openxmlformats.org/drawingml/2006/main">
            <a:r>
              <a:t>persen_bazar = tabel_bazar.div(tabel_bazar.sum(axis=1), axis=0) * 100</a:t>
            </a:r>
          </a:p>
          <a:p xmlns:a="http://schemas.openxmlformats.org/drawingml/2006/main">
            <a:r>
              <a:t>unit_aula = tabel_bazar.loc["Aula"]</a:t>
            </a:r>
          </a:p>
          <a:p xmlns:a="http://schemas.openxmlformats.org/drawingml/2006/main">
            <a:r>
              <a:t>rincian_produk = bazar.groupby(</a:t>
            </a:r>
          </a:p>
          <a:p xmlns:a="http://schemas.openxmlformats.org/drawingml/2006/main">
            <a:r>
              <a:t>    ["Kelompok", "Produk"], as_index=False</a:t>
            </a:r>
          </a:p>
          <a:p xmlns:a="http://schemas.openxmlformats.org/drawingml/2006/main">
            <a:r>
              <a:t>)["Unit"].sum()</a:t>
            </a:r>
          </a:p>
          <a:p xmlns:a="http://schemas.openxmlformats.org/drawingml/2006/main">
            <a:r>
              <a:t/>
            </a:r>
          </a:p>
          <a:p xmlns:a="http://schemas.openxmlformats.org/drawingml/2006/main">
            <a:r>
              <a:t/>
            </a:r>
          </a:p>
          <a:p xmlns:a="http://schemas.openxmlformats.org/drawingml/2006/main">
            <a:r>
              <a:t>Mengapa `pivot_table`, bukan `pivot`: Aula + Buku memiliki baris Komik dan Ensiklopedia. Kedua nilai harus digabung menjadi `18 + 12 = 30`. `aggfunc="sum"` menentukan penggabungan tersebut. Default agregasi `pivot_table` adalah rata-rata, jadi menghilangkan `aggfunc="sum"` menghasilkan jawaban berbeda.</a:t>
            </a:r>
          </a:p>
          <a:p xmlns:a="http://schemas.openxmlformats.org/drawingml/2006/main">
            <a:r>
              <a:t/>
            </a:r>
          </a:p>
          <a:p xmlns:a="http://schemas.openxmlformats.org/drawingml/2006/main">
            <a:r>
              <a:t>| Stan | Alat Tulis | Buku | Makanan | Minuman | Total |</a:t>
            </a:r>
          </a:p>
          <a:p xmlns:a="http://schemas.openxmlformats.org/drawingml/2006/main">
            <a:r>
              <a:t>|---|---:|---:|---:|---:|---:|</a:t>
            </a:r>
          </a:p>
          <a:p xmlns:a="http://schemas.openxmlformats.org/drawingml/2006/main">
            <a:r>
              <a:t>| Aula | 26 | 30 | 32 | 30 | 118 |</a:t>
            </a:r>
          </a:p>
          <a:p xmlns:a="http://schemas.openxmlformats.org/drawingml/2006/main">
            <a:r>
              <a:t>| Lapangan | 30 | 30 | 39 | 36 | 135 |</a:t>
            </a:r>
          </a:p>
          <a:p xmlns:a="http://schemas.openxmlformats.org/drawingml/2006/main">
            <a:r>
              <a:t>| Taman | 34 | 22 | 30 | 30 | 116 |</a:t>
            </a:r>
          </a:p>
          <a:p xmlns:a="http://schemas.openxmlformats.org/drawingml/2006/main">
            <a:r>
              <a:t>| Total | 90 | 82 | 101 | 96 | 369 |</a:t>
            </a:r>
          </a:p>
          <a:p xmlns:a="http://schemas.openxmlformats.org/drawingml/2006/main">
            <a:r>
              <a:t/>
            </a:r>
          </a:p>
          <a:p xmlns:a="http://schemas.openxmlformats.org/drawingml/2006/main">
            <a:r>
              <a:t>Bagian menggambar pada blok 13:</a:t>
            </a:r>
          </a:p>
          <a:p xmlns:a="http://schemas.openxmlformats.org/drawingml/2006/main">
            <a:r>
              <a:t/>
            </a:r>
          </a:p>
          <a:p xmlns:a="http://schemas.openxmlformats.org/drawingml/2006/main">
            <a:r>
              <a:t>- `tabel_bazar.T.plot(kind="bar")`: baris menjadi kelompok produk dan seri menjadi stan.</a:t>
            </a:r>
          </a:p>
          <a:p xmlns:a="http://schemas.openxmlformats.org/drawingml/2006/main">
            <a:r>
              <a:t>- `tabel_bazar.plot(kind="bar", stacked=True)`: batang adalah stan, segmen adalah kelompok produk.</a:t>
            </a:r>
          </a:p>
          <a:p xmlns:a="http://schemas.openxmlformats.org/drawingml/2006/main">
            <a:r>
              <a:t>- `persen_bazar.plot(kind="bar", stacked=True)`: bentuk yang sama dengan angka persentase.</a:t>
            </a:r>
          </a:p>
          <a:p xmlns:a="http://schemas.openxmlformats.org/drawingml/2006/main">
            <a:r>
              <a:t>- `tabel_bazar.loc["Aula"]`: ambil baris Aula untuk pie dan donut. Pada data festival, `tabel_cabang["Utara"]` mengambil kolom Utara. Pilihan sintaks mengikuti posisi label pada tabel.</a:t>
            </a:r>
          </a:p>
          <a:p xmlns:a="http://schemas.openxmlformats.org/drawingml/2006/main">
            <a:r>
              <a:t>- `groupby(["Kelompok", "Produk"])`: jumlahkan produk yang sama dari semua stan. Treemap memakai hierarki Semua Produk → Kelompok → Produk. Grafik ini tidak lagi memisahkan stan.</a:t>
            </a:r>
          </a:p>
          <a:p xmlns:a="http://schemas.openxmlformats.org/drawingml/2006/main">
            <a:r>
              <a:t>- Radar mengulang pola blok 11 menggunakan `persen_bazar`, empat kelompok, dan stan Aula serta Taman. Setelah titik penutup, ada lima titik per profil.</a:t>
            </a:r>
          </a:p>
          <a:p xmlns:a="http://schemas.openxmlformats.org/drawingml/2006/main">
            <a:r>
              <a:t>- `total_per_kelompok.idxmax()` memberi nama Makanan, `max()` memberi 101.</a:t>
            </a:r>
          </a:p>
          <a:p xmlns:a="http://schemas.openxmlformats.org/drawingml/2006/main">
            <a:r>
              <a:t/>
            </a:r>
          </a:p>
          <a:p xmlns:a="http://schemas.openxmlformats.org/drawingml/2006/main">
            <a:r>
              <a:t>Kunci angka komposisi:</a:t>
            </a:r>
          </a:p>
          <a:p xmlns:a="http://schemas.openxmlformats.org/drawingml/2006/main">
            <a:r>
              <a:t/>
            </a:r>
          </a:p>
          <a:p xmlns:a="http://schemas.openxmlformats.org/drawingml/2006/main">
            <a:r>
              <a:t>| Stan | Alat Tulis | Buku | Makanan | Minuman |</a:t>
            </a:r>
          </a:p>
          <a:p xmlns:a="http://schemas.openxmlformats.org/drawingml/2006/main">
            <a:r>
              <a:t>|---|---:|---:|---:|---:|</a:t>
            </a:r>
          </a:p>
          <a:p xmlns:a="http://schemas.openxmlformats.org/drawingml/2006/main">
            <a:r>
              <a:t>| Aula | 22,03% | 25,42% | 27,12% | 25,42% |</a:t>
            </a:r>
          </a:p>
          <a:p xmlns:a="http://schemas.openxmlformats.org/drawingml/2006/main">
            <a:r>
              <a:t>| Lapangan | 22,22% | 22,22% | 28,89% | 26,67% |</a:t>
            </a:r>
          </a:p>
          <a:p xmlns:a="http://schemas.openxmlformats.org/drawingml/2006/main">
            <a:r>
              <a:t>| Taman | 29,31% | 18,97% | 25,86% | 25,86% |</a:t>
            </a:r>
          </a:p>
          <a:p xmlns:a="http://schemas.openxmlformats.org/drawingml/2006/main">
            <a:r>
              <a:t/>
            </a:r>
          </a:p>
          <a:p xmlns:a="http://schemas.openxmlformats.org/drawingml/2006/main">
            <a:r>
              <a:t>Persentase yang sudah dibulatkan mungkin tidak tepat berjumlah 100 pada tampilan. Periksa jumlah menggunakan nilai asli.</a:t>
            </a:r>
          </a:p>
          <a:p xmlns:a="http://schemas.openxmlformats.org/drawingml/2006/main">
            <a:r>
              <a:t/>
            </a:r>
          </a:p>
          <a:p xmlns:a="http://schemas.openxmlformats.org/drawingml/2006/main">
            <a:r>
              <a:t>Kunci treemap produk: Komik 46, Ensiklopedia 36, Pensil 49, Buku Catatan 41, Roti 61, Kue 40, Air Mineral 48, dan Jus 48 unit.</a:t>
            </a:r>
          </a:p>
          <a:p xmlns:a="http://schemas.openxmlformats.org/drawingml/2006/main">
            <a:r>
              <a:t/>
            </a:r>
          </a:p>
          <a:p xmlns:a="http://schemas.openxmlformats.org/drawingml/2006/main">
            <a:r>
              <a:t>Jawaban kesimpulan: Makanan memiliki total tertinggi, 101 unit. Lapangan memiliki total stan tertinggi, 135 unit. Data unit belum cukup untuk menentukan stan dengan laba terbesar.</a:t>
            </a:r>
          </a:p>
          <a:p xmlns:a="http://schemas.openxmlformats.org/drawingml/2006/main">
            <a:r>
              <a:t/>
            </a:r>
          </a:p>
          <a:p xmlns:a="http://schemas.openxmlformats.org/drawingml/2006/main">
            <a:r>
              <a:t>Pertanyaan pemahaman: “Mengapa pie Aula membagi nilai Makanan dengan 118, bukan 369?”</a:t>
            </a:r>
          </a:p>
          <a:p xmlns:a="http://schemas.openxmlformats.org/drawingml/2006/main">
            <a:r>
              <a:t/>
            </a:r>
          </a:p>
          <a:p xmlns:a="http://schemas.openxmlformats.org/drawingml/2006/main">
            <a:r>
              <a:t>Jawaban: lingkaran tersebut mewakili total Aula. Angka 369 adalah total semua stan, yang menjawab pertanyaan lain.</a:t>
            </a:r>
          </a:p>
          <a:p xmlns:a="http://schemas.openxmlformats.org/drawingml/2006/main">
            <a:r>
              <a:t/>
            </a:r>
          </a:p>
          <a:p xmlns:a="http://schemas.openxmlformats.org/drawingml/2006/main">
            <a:r>
              <a:t>Agregasi dan default rata-rata mengacu pada [dokumentasi Pandas pivot_table](https://pandas.pydata.org/docs/reference/api/pandas.DataFrame.pivot_table.html).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20: Ringkasan pemilihan grafik</a:t>
            </a:r>
          </a:p>
          <a:p xmlns:a="http://schemas.openxmlformats.org/drawingml/2006/main">
            <a:r>
              <a:t/>
            </a:r>
          </a:p>
          <a:p xmlns:a="http://schemas.openxmlformats.org/drawingml/2006/main">
            <a:r>
              <a:t>Kalimat pengajar:</a:t>
            </a:r>
          </a:p>
          <a:p xmlns:a="http://schemas.openxmlformats.org/drawingml/2006/main">
            <a:r>
              <a:t/>
            </a:r>
          </a:p>
          <a:p xmlns:a="http://schemas.openxmlformats.org/drawingml/2006/main">
            <a:r>
              <a:t>&gt; Kita sudah mencoba beberapa grafik. Saat menerima data baru, jangan mulai dari nama grafik. Tulis pertanyaannya, tentukan satuan dan bentuk datanya, lalu pilih tampilan yang memudahkan membaca jawaban.</a:t>
            </a:r>
          </a:p>
          <a:p xmlns:a="http://schemas.openxmlformats.org/drawingml/2006/main">
            <a:r>
              <a:t/>
            </a:r>
          </a:p>
          <a:p xmlns:a="http://schemas.openxmlformats.org/drawingml/2006/main">
            <a:r>
              <a:t>Cara menyampaikan: minta siswa menyebutkan grafik dan alasan untuk tiga kasus: total unit tiap kategori, jumlah pilihan siswa tiap kelas, dan komposisi relatif antar stan.</a:t>
            </a:r>
          </a:p>
          <a:p xmlns:a="http://schemas.openxmlformats.org/drawingml/2006/main">
            <a:r>
              <a:t/>
            </a:r>
          </a:p>
          <a:p xmlns:a="http://schemas.openxmlformats.org/drawingml/2006/main">
            <a:r>
              <a:t>Jawaban acuan: bar untuk total kategori, grouped bar dari crosstab untuk pilihan per kelas, dan 100% stacked bar untuk komposisi relatif.</a:t>
            </a:r>
          </a:p>
          <a:p xmlns:a="http://schemas.openxmlformats.org/drawingml/2006/main">
            <a:r>
              <a:t/>
            </a:r>
          </a:p>
          <a:p xmlns:a="http://schemas.openxmlformats.org/drawingml/2006/main">
            <a:r>
              <a:t>Pesan terakhir tentang grafik: pastikan label, legenda, dan satuan jelas. Gunakan nilai tabel untuk memeriksa kesimpulan angka yang presisi.</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21: Cek pemahaman</a:t>
            </a:r>
          </a:p>
          <a:p xmlns:a="http://schemas.openxmlformats.org/drawingml/2006/main">
            <a:r>
              <a:t/>
            </a:r>
          </a:p>
          <a:p xmlns:a="http://schemas.openxmlformats.org/drawingml/2006/main">
            <a:r>
              <a:t>Gunakan pertanyaan pada slide sebagai penutup. Minta alasan pemilihan grafik dan pengolahan data yang diperlukan, bukan hanya nama grafik.</a:t>
            </a:r>
          </a:p>
          <a:p xmlns:a="http://schemas.openxmlformats.org/drawingml/2006/main">
            <a:r>
              <a:t/>
            </a:r>
          </a:p>
          <a:p xmlns:a="http://schemas.openxmlformats.org/drawingml/2006/main">
            <a:r>
              <a:t>| Pertanyaan slide | Jawaban dan alasan |</a:t>
            </a:r>
          </a:p>
          <a:p xmlns:a="http://schemas.openxmlformats.org/drawingml/2006/main">
            <a:r>
              <a:t>|---|---|</a:t>
            </a:r>
          </a:p>
          <a:p xmlns:a="http://schemas.openxmlformats.org/drawingml/2006/main">
            <a:r>
              <a:t>| Kategori minuman mana yang paling banyak dibeli? | Bar dari total unit per kategori jika “dibeli” berarti unit. Jika maksudnya jumlah pesanan, hitung frekuensi pesanan terlebih dulu. Dataset festival hanya memiliki satu kategori bernama Minuman dan tidak memisahkan jenis minuman. |</a:t>
            </a:r>
          </a:p>
          <a:p xmlns:a="http://schemas.openxmlformats.org/drawingml/2006/main">
            <a:r>
              <a:t>| Bagaimana pilihan kegiatan berbeda antar kelas? | Grouped bar dari crosstab kegiatan × kelas. Bandingkan proporsi jika ukuran kelas berbeda. |</a:t>
            </a:r>
          </a:p>
          <a:p xmlns:a="http://schemas.openxmlformats.org/drawingml/2006/main">
            <a:r>
              <a:t>| Bagaimana bagian produk membentuk total pada satu stan? | Pie/donut untuk komposisi satu stan dengan sedikit kategori, atau stacked bar untuk komponen yang ditumpuk. |</a:t>
            </a:r>
          </a:p>
          <a:p xmlns:a="http://schemas.openxmlformats.org/drawingml/2006/main">
            <a:r>
              <a:t>| Produk mana saja yang membentuk kelompok bertingkat? | Treemap dengan path Kelompok → Produk dan values Unit. |</a:t>
            </a:r>
          </a:p>
          <a:p xmlns:a="http://schemas.openxmlformats.org/drawingml/2006/main">
            <a:r>
              <a:t/>
            </a:r>
          </a:p>
          <a:p xmlns:a="http://schemas.openxmlformats.org/drawingml/2006/main">
            <a:r>
              <a:t>Kalimat penutup:</a:t>
            </a:r>
          </a:p>
          <a:p xmlns:a="http://schemas.openxmlformats.org/drawingml/2006/main">
            <a:r>
              <a:t/>
            </a:r>
          </a:p>
          <a:p xmlns:a="http://schemas.openxmlformats.org/drawingml/2006/main">
            <a:r>
              <a:t>&gt; Sebutkan dulu apa yang dihitung: unit, pesanan, siswa, atau persen. Setelah itu, jelaskan mengapa grafik pilihan kalian membantu menjawab pertanyaannya.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5: Kode bar chart</a:t>
            </a:r>
          </a:p>
          <a:p xmlns:a="http://schemas.openxmlformats.org/drawingml/2006/main">
            <a:r>
              <a:t/>
            </a:r>
          </a:p>
          <a:p xmlns:a="http://schemas.openxmlformats.org/drawingml/2006/main">
            <a:r>
              <a:t>Notebook: blok 2–3. Jalankan setelah data `penjualan` dibuat.</a:t>
            </a:r>
          </a:p>
          <a:p xmlns:a="http://schemas.openxmlformats.org/drawingml/2006/main">
            <a:r>
              <a:t/>
            </a:r>
          </a:p>
          <a:p xmlns:a="http://schemas.openxmlformats.org/drawingml/2006/main">
            <a:r>
              <a:t>total_kategori = (</a:t>
            </a:r>
          </a:p>
          <a:p xmlns:a="http://schemas.openxmlformats.org/drawingml/2006/main">
            <a:r>
              <a:t>    penjualan.groupby("Kategori", as_index=False)["Unit"]</a:t>
            </a:r>
          </a:p>
          <a:p xmlns:a="http://schemas.openxmlformats.org/drawingml/2006/main">
            <a:r>
              <a:t>    .sum()</a:t>
            </a:r>
          </a:p>
          <a:p xmlns:a="http://schemas.openxmlformats.org/drawingml/2006/main">
            <a:r>
              <a:t>    .sort_values("Unit", ascending=False)</a:t>
            </a:r>
          </a:p>
          <a:p xmlns:a="http://schemas.openxmlformats.org/drawingml/2006/main">
            <a:r>
              <a:t>)</a:t>
            </a:r>
          </a:p>
          <a:p xmlns:a="http://schemas.openxmlformats.org/drawingml/2006/main">
            <a:r>
              <a:t>urut = total_kategori.sort_values("Unit")</a:t>
            </a:r>
          </a:p>
          <a:p xmlns:a="http://schemas.openxmlformats.org/drawingml/2006/main">
            <a:r>
              <a:t>fig, ax = plt.subplots(figsize=(8, 4))</a:t>
            </a:r>
          </a:p>
          <a:p xmlns:a="http://schemas.openxmlformats.org/drawingml/2006/main">
            <a:r>
              <a:t>ax.barh(urut["Kategori"], urut["Unit"], color="#4FB6E8")</a:t>
            </a:r>
          </a:p>
          <a:p xmlns:a="http://schemas.openxmlformats.org/drawingml/2006/main">
            <a:r>
              <a:t>ax.set_xlabel("Unit terjual")</a:t>
            </a:r>
          </a:p>
          <a:p xmlns:a="http://schemas.openxmlformats.org/drawingml/2006/main">
            <a:r>
              <a:t>ax.set_ylabel("Kategori")</a:t>
            </a:r>
          </a:p>
          <a:p xmlns:a="http://schemas.openxmlformats.org/drawingml/2006/main">
            <a:r>
              <a:t>plt.tight_layout()</a:t>
            </a:r>
          </a:p>
          <a:p xmlns:a="http://schemas.openxmlformats.org/drawingml/2006/main">
            <a:r>
              <a:t>plt.show()</a:t>
            </a:r>
          </a:p>
          <a:p xmlns:a="http://schemas.openxmlformats.org/drawingml/2006/main">
            <a:r>
              <a:t/>
            </a:r>
          </a:p>
          <a:p xmlns:a="http://schemas.openxmlformats.org/drawingml/2006/main">
            <a:r>
              <a:t/>
            </a:r>
          </a:p>
          <a:p xmlns:a="http://schemas.openxmlformats.org/drawingml/2006/main">
            <a:r>
              <a:t>Baca kode dengan urutan data → ringkasan → grafik:</a:t>
            </a:r>
          </a:p>
          <a:p xmlns:a="http://schemas.openxmlformats.org/drawingml/2006/main">
            <a:r>
              <a:t/>
            </a:r>
          </a:p>
          <a:p xmlns:a="http://schemas.openxmlformats.org/drawingml/2006/main">
            <a:r>
              <a:t>1. `groupby("Kategori")` mengumpulkan baris dengan kategori yang sama.</a:t>
            </a:r>
          </a:p>
          <a:p xmlns:a="http://schemas.openxmlformats.org/drawingml/2006/main">
            <a:r>
              <a:t>2. `["Unit"].sum()` menjumlahkan unit di setiap kumpulan. Makanan: `40 + 35 + 44 = 119`.</a:t>
            </a:r>
          </a:p>
          <a:p xmlns:a="http://schemas.openxmlformats.org/drawingml/2006/main">
            <a:r>
              <a:t>3. `as_index=False` membuat `Kategori` tetap menjadi kolom hasil sehingga dapat diambil dengan `total_kategori["Kategori"]`.</a:t>
            </a:r>
          </a:p>
          <a:p xmlns:a="http://schemas.openxmlformats.org/drawingml/2006/main">
            <a:r>
              <a:t>4. `ascending=False` mengurutkan dari terbesar. Variabel `urut` mengurutkan naik untuk bar horizontal sehingga nilai terbesar berada di atas.</a:t>
            </a:r>
          </a:p>
          <a:p xmlns:a="http://schemas.openxmlformats.org/drawingml/2006/main">
            <a:r>
              <a:t>5. `plt.subplots()` membuat tempat gambar `fig` dan bidang grafik `ax`. `barh()` memakai kategori pada sumbu vertikal dan unit pada sumbu horizontal.</a:t>
            </a:r>
          </a:p>
          <a:p xmlns:a="http://schemas.openxmlformats.org/drawingml/2006/main">
            <a:r>
              <a:t>6. `tight_layout()` mengatur jarak elemen. `show()` menampilkan gambar.</a:t>
            </a:r>
          </a:p>
          <a:p xmlns:a="http://schemas.openxmlformats.org/drawingml/2006/main">
            <a:r>
              <a:t/>
            </a:r>
          </a:p>
          <a:p xmlns:a="http://schemas.openxmlformats.org/drawingml/2006/main">
            <a:r>
              <a:t>Notebook menggunakan `plt.subplots(1, 2, figsize=(12, 4))`: satu baris, dua bidang grafik. `axes[0]` membuat bar vertikal dengan `.bar()`, `axes[1]` membuat bar horizontal dengan `.barh()`. `figsize` memakai inci. `tick_params(axis="x", rotation=25)` memiringkan label sumbu x.</a:t>
            </a:r>
          </a:p>
          <a:p xmlns:a="http://schemas.openxmlformats.org/drawingml/2006/main">
            <a:r>
              <a:t/>
            </a:r>
          </a:p>
          <a:p xmlns:a="http://schemas.openxmlformats.org/drawingml/2006/main">
            <a:r>
              <a:t>Kalimat pengajar:</a:t>
            </a:r>
          </a:p>
          <a:p xmlns:a="http://schemas.openxmlformats.org/drawingml/2006/main">
            <a:r>
              <a:t/>
            </a:r>
          </a:p>
          <a:p xmlns:a="http://schemas.openxmlformats.org/drawingml/2006/main">
            <a:r>
              <a:t>&gt; Saya pisahkan pengolahan datanya dari menggambar. Kita periksa tabel total lebih dulu. Kalau tabelnya salah, grafik yang rapi tetap akan memberikan kesimpulan yang salah.</a:t>
            </a:r>
          </a:p>
          <a:p xmlns:a="http://schemas.openxmlformats.org/drawingml/2006/main">
            <a:r>
              <a:t/>
            </a:r>
          </a:p>
          <a:p xmlns:a="http://schemas.openxmlformats.org/drawingml/2006/main">
            <a:r>
              <a:t>Demo: tampilkan `total_kategori` sebelum grafik. Minta siswa menghitung satu kategori secara manual.</a:t>
            </a:r>
          </a:p>
          <a:p xmlns:a="http://schemas.openxmlformats.org/drawingml/2006/main">
            <a:r>
              <a:t/>
            </a:r>
          </a:p>
          <a:p xmlns:a="http://schemas.openxmlformats.org/drawingml/2006/main">
            <a:r>
              <a:t>Pertanyaan: “Apakah `.count()` bisa menggantikan `.sum()` di sini?”</a:t>
            </a:r>
          </a:p>
          <a:p xmlns:a="http://schemas.openxmlformats.org/drawingml/2006/main">
            <a:r>
              <a:t/>
            </a:r>
          </a:p>
          <a:p xmlns:a="http://schemas.openxmlformats.org/drawingml/2006/main">
            <a:r>
              <a:t>Jawaban: `.count()` menghitung nilai yang tidak kosong, sehingga hasil tiap kategori menjadi 3. Yang diminta adalah unit terjual, jadi gunakan `.sum()`.</a:t>
            </a:r>
          </a:p>
          <a:p xmlns:a="http://schemas.openxmlformats.org/drawingml/2006/main">
            <a:r>
              <a:t/>
            </a:r>
          </a:p>
          <a:p xmlns:a="http://schemas.openxmlformats.org/drawingml/2006/main">
            <a:r>
              <a:t>Semantik pengelompokan dan `as_index` mengacu pada [dokumentasi Pandas groupby](https://pandas.pydata.org/docs/reference/api/pandas.DataFrame.groupby.html).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7: Kode count plot</a:t>
            </a:r>
          </a:p>
          <a:p xmlns:a="http://schemas.openxmlformats.org/drawingml/2006/main">
            <a:r>
              <a:t/>
            </a:r>
          </a:p>
          <a:p xmlns:a="http://schemas.openxmlformats.org/drawingml/2006/main">
            <a:r>
              <a:t>Daftar `kategori_pesanan` sudah disediakan pada blok 4. Slide menampilkan daftar itu agar sumber hitungannya terlihat.</a:t>
            </a:r>
          </a:p>
          <a:p xmlns:a="http://schemas.openxmlformats.org/drawingml/2006/main">
            <a:r>
              <a:t/>
            </a:r>
          </a:p>
          <a:p xmlns:a="http://schemas.openxmlformats.org/drawingml/2006/main">
            <a:r>
              <a:t>frekuensi = pd.Series(kategori_pesanan).value_counts()</a:t>
            </a:r>
          </a:p>
          <a:p xmlns:a="http://schemas.openxmlformats.org/drawingml/2006/main">
            <a:r>
              <a:t>print(frekuensi)</a:t>
            </a:r>
          </a:p>
          <a:p xmlns:a="http://schemas.openxmlformats.org/drawingml/2006/main">
            <a:r>
              <a:t>ax = frekuensi.plot(kind="bar", color="#F5D36A", figsize=(7, 4))</a:t>
            </a:r>
          </a:p>
          <a:p xmlns:a="http://schemas.openxmlformats.org/drawingml/2006/main">
            <a:r>
              <a:t>ax.set_xlabel("Kategori")</a:t>
            </a:r>
          </a:p>
          <a:p xmlns:a="http://schemas.openxmlformats.org/drawingml/2006/main">
            <a:r>
              <a:t>ax.set_ylabel("Jumlah pesanan")</a:t>
            </a:r>
          </a:p>
          <a:p xmlns:a="http://schemas.openxmlformats.org/drawingml/2006/main">
            <a:r>
              <a:t>plt.xticks(rotation=25, ha="right")</a:t>
            </a:r>
          </a:p>
          <a:p xmlns:a="http://schemas.openxmlformats.org/drawingml/2006/main">
            <a:r>
              <a:t>plt.tight_layout()</a:t>
            </a:r>
          </a:p>
          <a:p xmlns:a="http://schemas.openxmlformats.org/drawingml/2006/main">
            <a:r>
              <a:t>plt.show()</a:t>
            </a:r>
          </a:p>
          <a:p xmlns:a="http://schemas.openxmlformats.org/drawingml/2006/main">
            <a:r>
              <a:t/>
            </a:r>
          </a:p>
          <a:p xmlns:a="http://schemas.openxmlformats.org/drawingml/2006/main">
            <a:r>
              <a:t/>
            </a:r>
          </a:p>
          <a:p xmlns:a="http://schemas.openxmlformats.org/drawingml/2006/main">
            <a:r>
              <a:t>Penjelasan: `pd.Series(...)` mengubah daftar menjadi struktur satu kolom. `value_counts()` menghitung kemunculan setiap nilai. Hasilnya berupa Series dengan kategori sebagai label dan frekuensi sebagai nilai. `.plot(kind="bar")` menggambar hasil hitungan tersebut. `ha="right"` meratakan teks label ke kanan setelah diputar.</a:t>
            </a:r>
          </a:p>
          <a:p xmlns:a="http://schemas.openxmlformats.org/drawingml/2006/main">
            <a:r>
              <a:t/>
            </a:r>
          </a:p>
          <a:p xmlns:a="http://schemas.openxmlformats.org/drawingml/2006/main">
            <a:r>
              <a:t>Kalimat pengajar:</a:t>
            </a:r>
          </a:p>
          <a:p xmlns:a="http://schemas.openxmlformats.org/drawingml/2006/main">
            <a:r>
              <a:t/>
            </a:r>
          </a:p>
          <a:p xmlns:a="http://schemas.openxmlformats.org/drawingml/2006/main">
            <a:r>
              <a:t>&gt; Count plot tetap terlihat seperti bar chart. Perbedaannya terletak pada nilai yang dihitung: frekuensi pengamatan. Bentuk gambar saja belum cukup untuk mengetahui arti angkanya.</a:t>
            </a:r>
          </a:p>
          <a:p xmlns:a="http://schemas.openxmlformats.org/drawingml/2006/main">
            <a:r>
              <a:t/>
            </a:r>
          </a:p>
          <a:p xmlns:a="http://schemas.openxmlformats.org/drawingml/2006/main">
            <a:r>
              <a:t>Demo: minta siswa menghitung tiga kemunculan Minuman pada daftar, lalu periksa hasil `value_counts()`.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9: Kode grouped bar</a:t>
            </a:r>
          </a:p>
          <a:p xmlns:a="http://schemas.openxmlformats.org/drawingml/2006/main">
            <a:r>
              <a:t/>
            </a:r>
          </a:p>
          <a:p xmlns:a="http://schemas.openxmlformats.org/drawingml/2006/main">
            <a:r>
              <a:t>tabel_cabang = penjualan.pivot(</a:t>
            </a:r>
          </a:p>
          <a:p xmlns:a="http://schemas.openxmlformats.org/drawingml/2006/main">
            <a:r>
              <a:t>    index="Kategori", columns="Cabang", values="Unit"</a:t>
            </a:r>
          </a:p>
          <a:p xmlns:a="http://schemas.openxmlformats.org/drawingml/2006/main">
            <a:r>
              <a:t>)</a:t>
            </a:r>
          </a:p>
          <a:p xmlns:a="http://schemas.openxmlformats.org/drawingml/2006/main">
            <a:r>
              <a:t>print(tabel_cabang)</a:t>
            </a:r>
          </a:p>
          <a:p xmlns:a="http://schemas.openxmlformats.org/drawingml/2006/main">
            <a:r>
              <a:t>ax = tabel_cabang.plot(kind="bar", figsize=(9, 4))</a:t>
            </a:r>
          </a:p>
          <a:p xmlns:a="http://schemas.openxmlformats.org/drawingml/2006/main">
            <a:r>
              <a:t>ax.set_xlabel("Kategori")</a:t>
            </a:r>
          </a:p>
          <a:p xmlns:a="http://schemas.openxmlformats.org/drawingml/2006/main">
            <a:r>
              <a:t>ax.set_ylabel("Unit terjual")</a:t>
            </a:r>
          </a:p>
          <a:p xmlns:a="http://schemas.openxmlformats.org/drawingml/2006/main">
            <a:r>
              <a:t>ax.legend(title="Cabang")</a:t>
            </a:r>
          </a:p>
          <a:p xmlns:a="http://schemas.openxmlformats.org/drawingml/2006/main">
            <a:r>
              <a:t>plt.xticks(rotation=20, ha="right")</a:t>
            </a:r>
          </a:p>
          <a:p xmlns:a="http://schemas.openxmlformats.org/drawingml/2006/main">
            <a:r>
              <a:t>plt.tight_layout()</a:t>
            </a:r>
          </a:p>
          <a:p xmlns:a="http://schemas.openxmlformats.org/drawingml/2006/main">
            <a:r>
              <a:t>plt.show()</a:t>
            </a:r>
          </a:p>
          <a:p xmlns:a="http://schemas.openxmlformats.org/drawingml/2006/main">
            <a:r>
              <a:t/>
            </a:r>
          </a:p>
          <a:p xmlns:a="http://schemas.openxmlformats.org/drawingml/2006/main">
            <a:r>
              <a:t/>
            </a:r>
          </a:p>
          <a:p xmlns:a="http://schemas.openxmlformats.org/drawingml/2006/main">
            <a:r>
              <a:t>Penjelasan: `pivot()` menyusun ulang tabel, tanpa menjumlahkan data. `index` menentukan baris, `columns` menentukan kolom, dan `values` menentukan isi sel. Hasilnya lima kategori × tiga cabang. Saat DataFrame digambar sebagai bar, baris menjadi kelompok pada sumbu x dan kolom menjadi seri pada legenda.</a:t>
            </a:r>
          </a:p>
          <a:p xmlns:a="http://schemas.openxmlformats.org/drawingml/2006/main">
            <a:r>
              <a:t/>
            </a:r>
          </a:p>
          <a:p xmlns:a="http://schemas.openxmlformats.org/drawingml/2006/main">
            <a:r>
              <a:t>Hasil pivot notebook berurutan seperti ini:</a:t>
            </a:r>
          </a:p>
          <a:p xmlns:a="http://schemas.openxmlformats.org/drawingml/2006/main">
            <a:r>
              <a:t/>
            </a:r>
          </a:p>
          <a:p xmlns:a="http://schemas.openxmlformats.org/drawingml/2006/main">
            <a:r>
              <a:t>| Kategori | Selatan | Tengah | Utara |</a:t>
            </a:r>
          </a:p>
          <a:p xmlns:a="http://schemas.openxmlformats.org/drawingml/2006/main">
            <a:r>
              <a:t>|---|---:|---:|---:|</a:t>
            </a:r>
          </a:p>
          <a:p xmlns:a="http://schemas.openxmlformats.org/drawingml/2006/main">
            <a:r>
              <a:t>| Aksesori | 25 | 21 | 18 |</a:t>
            </a:r>
          </a:p>
          <a:p xmlns:a="http://schemas.openxmlformats.org/drawingml/2006/main">
            <a:r>
              <a:t>| Alat Tulis | 28 | 34 | 25 |</a:t>
            </a:r>
          </a:p>
          <a:p xmlns:a="http://schemas.openxmlformats.org/drawingml/2006/main">
            <a:r>
              <a:t>| Buku | 22 | 26 | 32 |</a:t>
            </a:r>
          </a:p>
          <a:p xmlns:a="http://schemas.openxmlformats.org/drawingml/2006/main">
            <a:r>
              <a:t>| Makanan | 44 | 35 | 40 |</a:t>
            </a:r>
          </a:p>
          <a:p xmlns:a="http://schemas.openxmlformats.org/drawingml/2006/main">
            <a:r>
              <a:t>| Minuman | 31 | 28 | 33 |</a:t>
            </a:r>
          </a:p>
          <a:p xmlns:a="http://schemas.openxmlformats.org/drawingml/2006/main">
            <a:r>
              <a:t/>
            </a:r>
          </a:p>
          <a:p xmlns:a="http://schemas.openxmlformats.org/drawingml/2006/main">
            <a:r>
              <a:t>Kalimat pengajar:</a:t>
            </a:r>
          </a:p>
          <a:p xmlns:a="http://schemas.openxmlformats.org/drawingml/2006/main">
            <a:r>
              <a:t/>
            </a:r>
          </a:p>
          <a:p xmlns:a="http://schemas.openxmlformats.org/drawingml/2006/main">
            <a:r>
              <a:t>&gt; Saya ingin setiap kategori menjadi satu kelompok batang. Karena itu kategori menjadi baris, cabang menjadi kolom. Cara membaca tabel pivot sama dengan cara membaca grafiknya.</a:t>
            </a:r>
          </a:p>
          <a:p xmlns:a="http://schemas.openxmlformats.org/drawingml/2006/main">
            <a:r>
              <a:t/>
            </a:r>
          </a:p>
          <a:p xmlns:a="http://schemas.openxmlformats.org/drawingml/2006/main">
            <a:r>
              <a:t>Demo: tunjuk sel baris Makanan, kolom Selatan, lalu cari batang yang bernilai 44.</a:t>
            </a:r>
          </a:p>
          <a:p xmlns:a="http://schemas.openxmlformats.org/drawingml/2006/main">
            <a:r>
              <a:t/>
            </a:r>
          </a:p>
          <a:p xmlns:a="http://schemas.openxmlformats.org/drawingml/2006/main">
            <a:r>
              <a:t>Catatan warna dan urutan: slide asli memakai urutan label tertentu. Notebook mengikuti urutan hasil pivot dan urutan daftar warna. Warna biru pada notebook grouped bar mewakili Selatan karena kolom pertama adalah Selatan. Selalu baca legenda, warna bukan identitas cabang yang berlaku otomatis di semua grafik.</a:t>
            </a:r>
          </a:p>
          <a:p xmlns:a="http://schemas.openxmlformats.org/drawingml/2006/main">
            <a:r>
              <a:t/>
            </a:r>
          </a:p>
          <a:p xmlns:a="http://schemas.openxmlformats.org/drawingml/2006/main">
            <a:r>
              <a:t>Pertanyaan: “Apa yang terjadi kalau ada dua baris untuk kombinasi kategori dan cabang yang sama?”</a:t>
            </a:r>
          </a:p>
          <a:p xmlns:a="http://schemas.openxmlformats.org/drawingml/2006/main">
            <a:r>
              <a:t/>
            </a:r>
          </a:p>
          <a:p xmlns:a="http://schemas.openxmlformats.org/drawingml/2006/main">
            <a:r>
              <a:t>Jawaban: `pivot()` tidak bisa memilih satu nilai dan akan memberi error duplikasi. Jika kedua baris perlu dijumlahkan, gunakan `pivot_table(..., aggfunc="sum")`. Lihat latihan akhir.</a:t>
            </a:r>
          </a:p>
          <a:p xmlns:a="http://schemas.openxmlformats.org/drawingml/2006/main">
            <a:r>
              <a:t/>
            </a:r>
          </a:p>
          <a:p xmlns:a="http://schemas.openxmlformats.org/drawingml/2006/main">
            <a:r>
              <a:t>Perbedaan menyusun ulang data dan agregasi mengacu pada [dokumentasi Pandas pivot](https://pandas.pydata.org/docs/reference/api/pandas.DataFrame.pivot.html).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12: Kode stacked bar dan 100% stacked bar</a:t>
            </a:r>
          </a:p>
          <a:p xmlns:a="http://schemas.openxmlformats.org/drawingml/2006/main">
            <a:r>
              <a:t/>
            </a:r>
          </a:p>
          <a:p xmlns:a="http://schemas.openxmlformats.org/drawingml/2006/main">
            <a:r>
              <a:t>per_cabang = tabel_cabang.T</a:t>
            </a:r>
          </a:p>
          <a:p xmlns:a="http://schemas.openxmlformats.org/drawingml/2006/main">
            <a:r>
              <a:t>total_cabang = per_cabang.sum(axis=1)</a:t>
            </a:r>
          </a:p>
          <a:p xmlns:a="http://schemas.openxmlformats.org/drawingml/2006/main">
            <a:r>
              <a:t>persentase = per_cabang.div(total_cabang, axis=0) * 100</a:t>
            </a:r>
          </a:p>
          <a:p xmlns:a="http://schemas.openxmlformats.org/drawingml/2006/main">
            <a:r>
              <a:t>fig, axes = plt.subplots(1, 2, figsize=(12, 4))</a:t>
            </a:r>
          </a:p>
          <a:p xmlns:a="http://schemas.openxmlformats.org/drawingml/2006/main">
            <a:r>
              <a:t>per_cabang.plot(kind="bar", stacked=True, ax=axes[0])</a:t>
            </a:r>
          </a:p>
          <a:p xmlns:a="http://schemas.openxmlformats.org/drawingml/2006/main">
            <a:r>
              <a:t>persentase.plot(kind="bar", stacked=True, ax=axes[1])</a:t>
            </a:r>
          </a:p>
          <a:p xmlns:a="http://schemas.openxmlformats.org/drawingml/2006/main">
            <a:r>
              <a:t>axes[0].set_ylabel("Unit terjual")</a:t>
            </a:r>
          </a:p>
          <a:p xmlns:a="http://schemas.openxmlformats.org/drawingml/2006/main">
            <a:r>
              <a:t>axes[1].set_ylabel("Bagian dari total cabang (%)")</a:t>
            </a:r>
          </a:p>
          <a:p xmlns:a="http://schemas.openxmlformats.org/drawingml/2006/main">
            <a:r>
              <a:t>axes[1].set_ylim(0, 100)</a:t>
            </a:r>
          </a:p>
          <a:p xmlns:a="http://schemas.openxmlformats.org/drawingml/2006/main">
            <a:r>
              <a:t>plt.tight_layout()</a:t>
            </a:r>
          </a:p>
          <a:p xmlns:a="http://schemas.openxmlformats.org/drawingml/2006/main">
            <a:r>
              <a:t>plt.show()</a:t>
            </a:r>
          </a:p>
          <a:p xmlns:a="http://schemas.openxmlformats.org/drawingml/2006/main">
            <a:r>
              <a:t/>
            </a:r>
          </a:p>
          <a:p xmlns:a="http://schemas.openxmlformats.org/drawingml/2006/main">
            <a:r>
              <a:t/>
            </a:r>
          </a:p>
          <a:p xmlns:a="http://schemas.openxmlformats.org/drawingml/2006/main">
            <a:r>
              <a:t>Cuplikan slide memecah rumus dan menempatkan grafik berdampingan. Notebook menggambar dua grafik secara terpisah dengan rumus setara:</a:t>
            </a:r>
          </a:p>
          <a:p xmlns:a="http://schemas.openxmlformats.org/drawingml/2006/main">
            <a:r>
              <a:t/>
            </a:r>
          </a:p>
          <a:p xmlns:a="http://schemas.openxmlformats.org/drawingml/2006/main">
            <a:r>
              <a:t>persentase = tabel_cabang.T.div(tabel_cabang.T.sum(axis=1), axis=0) * 100</a:t>
            </a:r>
          </a:p>
          <a:p xmlns:a="http://schemas.openxmlformats.org/drawingml/2006/main">
            <a:r>
              <a:t/>
            </a:r>
          </a:p>
          <a:p xmlns:a="http://schemas.openxmlformats.org/drawingml/2006/main">
            <a:r>
              <a:t/>
            </a:r>
          </a:p>
          <a:p xmlns:a="http://schemas.openxmlformats.org/drawingml/2006/main">
            <a:r>
              <a:t>Bagian yang paling perlu dipahami:</a:t>
            </a:r>
          </a:p>
          <a:p xmlns:a="http://schemas.openxmlformats.org/drawingml/2006/main">
            <a:r>
              <a:t/>
            </a:r>
          </a:p>
          <a:p xmlns:a="http://schemas.openxmlformats.org/drawingml/2006/main">
            <a:r>
              <a:t>1. `.T` adalah transpose: baris dan kolom bertukar. Tabel lima kategori × tiga cabang menjadi tiga cabang × lima kategori. Cabang sekarang menjadi batang, kategori menjadi segmen.</a:t>
            </a:r>
          </a:p>
          <a:p xmlns:a="http://schemas.openxmlformats.org/drawingml/2006/main">
            <a:r>
              <a:t>2. `sum(axis=1)` menjumlahkan kolom-kolom pada setiap baris. Hasilnya satu total untuk setiap cabang: Selatan 150, Tengah 144, Utara 148.</a:t>
            </a:r>
          </a:p>
          <a:p xmlns:a="http://schemas.openxmlformats.org/drawingml/2006/main">
            <a:r>
              <a:t>3. `div(total_cabang, axis=0)` mencocokkan label Series total dengan label baris. Seluruh nilai pada baris Utara dibagi 148.</a:t>
            </a:r>
          </a:p>
          <a:p xmlns:a="http://schemas.openxmlformats.org/drawingml/2006/main">
            <a:r>
              <a:t>4. `* 100` mengubah pecahan menjadi persen.</a:t>
            </a:r>
          </a:p>
          <a:p xmlns:a="http://schemas.openxmlformats.org/drawingml/2006/main">
            <a:r>
              <a:t>5. `stacked=True` menumpuk seri, `set_ylim(0, 100)` menetapkan rentang sumbu persentase.</a:t>
            </a:r>
          </a:p>
          <a:p xmlns:a="http://schemas.openxmlformats.org/drawingml/2006/main">
            <a:r>
              <a:t/>
            </a:r>
          </a:p>
          <a:p xmlns:a="http://schemas.openxmlformats.org/drawingml/2006/main">
            <a:r>
              <a:t>`axis=1` pada `sum` memilih arah penjumlahan. `axis=0` pada `div` memilih arah penyelarasan label pembagi. Keduanya melakukan operasi berbeda, jadi jangan menghafalnya sebagai satu aturan “axis selalu berarti ini”.</a:t>
            </a:r>
          </a:p>
          <a:p xmlns:a="http://schemas.openxmlformats.org/drawingml/2006/main">
            <a:r>
              <a:t/>
            </a:r>
          </a:p>
          <a:p xmlns:a="http://schemas.openxmlformats.org/drawingml/2006/main">
            <a:r>
              <a:t>Kalimat pengajar:</a:t>
            </a:r>
          </a:p>
          <a:p xmlns:a="http://schemas.openxmlformats.org/drawingml/2006/main">
            <a:r>
              <a:t/>
            </a:r>
          </a:p>
          <a:p xmlns:a="http://schemas.openxmlformats.org/drawingml/2006/main">
            <a:r>
              <a:t>&gt; Kita balik tabel supaya satu baris menjadi satu cabang. Lalu hitung total tiap baris. Persentase setiap kategori dihitung terhadap total cabang yang sama, sehingga satu batang berjumlah 100 persen.</a:t>
            </a:r>
          </a:p>
          <a:p xmlns:a="http://schemas.openxmlformats.org/drawingml/2006/main">
            <a:r>
              <a:t/>
            </a:r>
          </a:p>
          <a:p xmlns:a="http://schemas.openxmlformats.org/drawingml/2006/main">
            <a:r>
              <a:t>Demo tanpa grafik tambahan: tampilkan `per_cabang`, `total_cabang`, dan `persentase.round(2)`. Periksa `persentase.sum(axis=1)`, hasil tiap cabang mendekati 100. Pecahan komputer bisa menghasilkan selisih pembulatan yang sangat kecil.</a:t>
            </a:r>
          </a:p>
          <a:p xmlns:a="http://schemas.openxmlformats.org/drawingml/2006/main">
            <a:r>
              <a:t/>
            </a:r>
          </a:p>
          <a:p xmlns:a="http://schemas.openxmlformats.org/drawingml/2006/main">
            <a:r>
              <a:t>Penyelarasan pembagi berdasarkan label baris mengacu pada [dokumentasi Pandas div](https://pandas.pydata.org/docs/reference/api/pandas.DataFrame.div.html).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14: Kode pie chart dan donut chart</a:t>
            </a:r>
          </a:p>
          <a:p xmlns:a="http://schemas.openxmlformats.org/drawingml/2006/main">
            <a:r>
              <a:t/>
            </a:r>
          </a:p>
          <a:p xmlns:a="http://schemas.openxmlformats.org/drawingml/2006/main">
            <a:r>
              <a:t>utara = tabel_cabang["Utara"]</a:t>
            </a:r>
          </a:p>
          <a:p xmlns:a="http://schemas.openxmlformats.org/drawingml/2006/main">
            <a:r>
              <a:t>fig, axes = plt.subplots(1, 2, figsize=(11, 4))</a:t>
            </a:r>
          </a:p>
          <a:p xmlns:a="http://schemas.openxmlformats.org/drawingml/2006/main">
            <a:r>
              <a:t>axes[0].pie(utara, labels=utara.index,</a:t>
            </a:r>
          </a:p>
          <a:p xmlns:a="http://schemas.openxmlformats.org/drawingml/2006/main">
            <a:r>
              <a:t>            autopct="%1.1f%%", startangle=90)</a:t>
            </a:r>
          </a:p>
          <a:p xmlns:a="http://schemas.openxmlformats.org/drawingml/2006/main">
            <a:r>
              <a:t>axes[1].pie(utara, labels=utara.index,</a:t>
            </a:r>
          </a:p>
          <a:p xmlns:a="http://schemas.openxmlformats.org/drawingml/2006/main">
            <a:r>
              <a:t>            autopct="%1.1f%%", startangle=90,</a:t>
            </a:r>
          </a:p>
          <a:p xmlns:a="http://schemas.openxmlformats.org/drawingml/2006/main">
            <a:r>
              <a:t>            wedgeprops={"width": 0.42})</a:t>
            </a:r>
          </a:p>
          <a:p xmlns:a="http://schemas.openxmlformats.org/drawingml/2006/main">
            <a:r>
              <a:t>axes[0].set_title("Pie: cabang Utara")</a:t>
            </a:r>
          </a:p>
          <a:p xmlns:a="http://schemas.openxmlformats.org/drawingml/2006/main">
            <a:r>
              <a:t>axes[1].set_title("Donut: cabang Utara")</a:t>
            </a:r>
          </a:p>
          <a:p xmlns:a="http://schemas.openxmlformats.org/drawingml/2006/main">
            <a:r>
              <a:t>plt.tight_layout()</a:t>
            </a:r>
          </a:p>
          <a:p xmlns:a="http://schemas.openxmlformats.org/drawingml/2006/main">
            <a:r>
              <a:t>plt.show()</a:t>
            </a:r>
          </a:p>
          <a:p xmlns:a="http://schemas.openxmlformats.org/drawingml/2006/main">
            <a:r>
              <a:t/>
            </a:r>
          </a:p>
          <a:p xmlns:a="http://schemas.openxmlformats.org/drawingml/2006/main">
            <a:r>
              <a:t/>
            </a:r>
          </a:p>
          <a:p xmlns:a="http://schemas.openxmlformats.org/drawingml/2006/main">
            <a:r>
              <a:t>Penjelasan: `["Utara"]` mengambil kolom Utara dari tabel pivot dan menghasilkan Series. `utara.index` berisi nama kategori. `pie()` membagi setiap nilai dengan jumlah semua nilai untuk menentukan besar irisannya. `autopct="%1.1f%%"` menampilkan satu angka di belakang koma dan tanda persen. `startangle=90` memutar titik awal gambar, tanpa mengubah nilai.</a:t>
            </a:r>
          </a:p>
          <a:p xmlns:a="http://schemas.openxmlformats.org/drawingml/2006/main">
            <a:r>
              <a:t/>
            </a:r>
          </a:p>
          <a:p xmlns:a="http://schemas.openxmlformats.org/drawingml/2006/main">
            <a:r>
              <a:t>`wedgeprops={"width": 0.42}` mengatur tebal cincin donut. Nilai itu merupakan pengaturan bentuk irisan, bukan persentase data. Notebook menambahkan judul yang lebih panjang tetapi memakai parameter inti yang sama.</a:t>
            </a:r>
          </a:p>
          <a:p xmlns:a="http://schemas.openxmlformats.org/drawingml/2006/main">
            <a:r>
              <a:t/>
            </a:r>
          </a:p>
          <a:p xmlns:a="http://schemas.openxmlformats.org/drawingml/2006/main">
            <a:r>
              <a:t>Demo: cetak `utara.sum()`, hasilnya 148. Hitung `utara["Makanan"] / utara.sum() * 100` sebelum menjalankan grafik.</a:t>
            </a:r>
          </a:p>
          <a:p xmlns:a="http://schemas.openxmlformats.org/drawingml/2006/main">
            <a:r>
              <a:t/>
            </a:r>
          </a:p>
          <a:p xmlns:a="http://schemas.openxmlformats.org/drawingml/2006/main">
            <a:r>
              <a:t>Normalisasi irisan dan parameter label mengacu pada [dokumentasi Matplotlib pie](https://matplotlib.org/stable/api/_as_gen/matplotlib.pyplot.pie.html).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16: Kode treemap</a:t>
            </a:r>
          </a:p>
          <a:p xmlns:a="http://schemas.openxmlformats.org/drawingml/2006/main">
            <a:r>
              <a:t/>
            </a:r>
          </a:p>
          <a:p xmlns:a="http://schemas.openxmlformats.org/drawingml/2006/main">
            <a:r>
              <a:t>Contoh mengikuti hierarki slide:</a:t>
            </a:r>
          </a:p>
          <a:p xmlns:a="http://schemas.openxmlformats.org/drawingml/2006/main">
            <a:r>
              <a:t/>
            </a:r>
          </a:p>
          <a:p xmlns:a="http://schemas.openxmlformats.org/drawingml/2006/main">
            <a:r>
              <a:t>fig = px.treemap(</a:t>
            </a:r>
          </a:p>
          <a:p xmlns:a="http://schemas.openxmlformats.org/drawingml/2006/main">
            <a:r>
              <a:t>    penjualan,</a:t>
            </a:r>
          </a:p>
          <a:p xmlns:a="http://schemas.openxmlformats.org/drawingml/2006/main">
            <a:r>
              <a:t>    path=["Kategori", "Cabang"],</a:t>
            </a:r>
          </a:p>
          <a:p xmlns:a="http://schemas.openxmlformats.org/drawingml/2006/main">
            <a:r>
              <a:t>    values="Unit",</a:t>
            </a:r>
          </a:p>
          <a:p xmlns:a="http://schemas.openxmlformats.org/drawingml/2006/main">
            <a:r>
              <a:t>    color="Kategori",</a:t>
            </a:r>
          </a:p>
          <a:p xmlns:a="http://schemas.openxmlformats.org/drawingml/2006/main">
            <a:r>
              <a:t>    title="Unit terjual menurut kategori dan cabang",</a:t>
            </a:r>
          </a:p>
          <a:p xmlns:a="http://schemas.openxmlformats.org/drawingml/2006/main">
            <a:r>
              <a:t>)</a:t>
            </a:r>
          </a:p>
          <a:p xmlns:a="http://schemas.openxmlformats.org/drawingml/2006/main">
            <a:r>
              <a:t>fig.show()</a:t>
            </a:r>
          </a:p>
          <a:p xmlns:a="http://schemas.openxmlformats.org/drawingml/2006/main">
            <a:r>
              <a:t/>
            </a:r>
          </a:p>
          <a:p xmlns:a="http://schemas.openxmlformats.org/drawingml/2006/main">
            <a:r>
              <a:t/>
            </a:r>
          </a:p>
          <a:p xmlns:a="http://schemas.openxmlformats.org/drawingml/2006/main">
            <a:r>
              <a:t>Kode yang sudah ada pada notebook blok 10:</a:t>
            </a:r>
          </a:p>
          <a:p xmlns:a="http://schemas.openxmlformats.org/drawingml/2006/main">
            <a:r>
              <a:t/>
            </a:r>
          </a:p>
          <a:p xmlns:a="http://schemas.openxmlformats.org/drawingml/2006/main">
            <a:r>
              <a:t>fig = px.treemap(</a:t>
            </a:r>
          </a:p>
          <a:p xmlns:a="http://schemas.openxmlformats.org/drawingml/2006/main">
            <a:r>
              <a:t>    penjualan,</a:t>
            </a:r>
          </a:p>
          <a:p xmlns:a="http://schemas.openxmlformats.org/drawingml/2006/main">
            <a:r>
              <a:t>    path=[px.Constant("Semua Penjualan"), "Cabang", "Kategori"],</a:t>
            </a:r>
          </a:p>
          <a:p xmlns:a="http://schemas.openxmlformats.org/drawingml/2006/main">
            <a:r>
              <a:t>    values="Unit",</a:t>
            </a:r>
          </a:p>
          <a:p xmlns:a="http://schemas.openxmlformats.org/drawingml/2006/main">
            <a:r>
              <a:t>    color="Unit",</a:t>
            </a:r>
          </a:p>
          <a:p xmlns:a="http://schemas.openxmlformats.org/drawingml/2006/main">
            <a:r>
              <a:t>    color_continuous_scale="Blues",</a:t>
            </a:r>
          </a:p>
          <a:p xmlns:a="http://schemas.openxmlformats.org/drawingml/2006/main">
            <a:r>
              <a:t>    title="Unit terjual menurut cabang dan kategori",</a:t>
            </a:r>
          </a:p>
          <a:p xmlns:a="http://schemas.openxmlformats.org/drawingml/2006/main">
            <a:r>
              <a:t>)</a:t>
            </a:r>
          </a:p>
          <a:p xmlns:a="http://schemas.openxmlformats.org/drawingml/2006/main">
            <a:r>
              <a:t>fig.show()</a:t>
            </a:r>
          </a:p>
          <a:p xmlns:a="http://schemas.openxmlformats.org/drawingml/2006/main">
            <a:r>
              <a:t/>
            </a:r>
          </a:p>
          <a:p xmlns:a="http://schemas.openxmlformats.org/drawingml/2006/main">
            <a:r>
              <a:t/>
            </a:r>
          </a:p>
          <a:p xmlns:a="http://schemas.openxmlformats.org/drawingml/2006/main">
            <a:r>
              <a:t>Penjelasan: `path` dibaca dari induk ke anak. `px.Constant(...)` menambahkan satu akar untuk seluruh data. `values="Unit"` menentukan luas kotak. `color="Kategori"` memberi warna kategori, sedangkan `color="Unit"` memakai skala angka. `color_continuous_scale="Blues"` memilih palet gradasi biru. `fig.show()` milik objek Plotly, berbeda dari `plt.show()` pada Matplotlib.</a:t>
            </a:r>
          </a:p>
          <a:p xmlns:a="http://schemas.openxmlformats.org/drawingml/2006/main">
            <a:r>
              <a:t/>
            </a:r>
          </a:p>
          <a:p xmlns:a="http://schemas.openxmlformats.org/drawingml/2006/main">
            <a:r>
              <a:t>Kalimat pengajar:</a:t>
            </a:r>
          </a:p>
          <a:p xmlns:a="http://schemas.openxmlformats.org/drawingml/2006/main">
            <a:r>
              <a:t/>
            </a:r>
          </a:p>
          <a:p xmlns:a="http://schemas.openxmlformats.org/drawingml/2006/main">
            <a:r>
              <a:t>&gt; Hierarki adalah keputusan analisis. Jika kita ingin menelusuri kategori lalu cabang, urutannya Kategori, Cabang. Jika pertanyaannya komposisi tiap cabang, kita dapat menaruh Cabang lebih dulu, seperti notebook.</a:t>
            </a:r>
          </a:p>
          <a:p xmlns:a="http://schemas.openxmlformats.org/drawingml/2006/main">
            <a:r>
              <a:t/>
            </a:r>
          </a:p>
          <a:p xmlns:a="http://schemas.openxmlformats.org/drawingml/2006/main">
            <a:r>
              <a:t>Demo: jalankan kode notebook dan gunakan hover untuk melihat label serta unit. Jika mencoba varian slide, ganti `path` dan `color` bersama, lalu jelaskan dua perubahan itu. Tata letak dan palet persisnya dapat berbeda dari gambar PowerPoint.</a:t>
            </a:r>
          </a:p>
          <a:p xmlns:a="http://schemas.openxmlformats.org/drawingml/2006/main">
            <a:r>
              <a:t/>
            </a:r>
          </a:p>
          <a:p xmlns:a="http://schemas.openxmlformats.org/drawingml/2006/main">
            <a:r>
              <a:t>Penggunaan `path`, `values`, dan warna mengacu pada [dokumentasi Plotly treemap](https://plotly.com/python/treemaps/).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18: Kode radar chart</a:t>
            </a:r>
          </a:p>
          <a:p xmlns:a="http://schemas.openxmlformats.org/drawingml/2006/main">
            <a:r>
              <a:t/>
            </a:r>
          </a:p>
          <a:p xmlns:a="http://schemas.openxmlformats.org/drawingml/2006/main">
            <a:r>
              <a:t>pangsa = tabel_cabang.T.div(tabel_cabang.T.sum(axis=1), axis=0) * 100</a:t>
            </a:r>
          </a:p>
          <a:p xmlns:a="http://schemas.openxmlformats.org/drawingml/2006/main">
            <a:r>
              <a:t>kategori = pangsa.columns.tolist()</a:t>
            </a:r>
          </a:p>
          <a:p xmlns:a="http://schemas.openxmlformats.org/drawingml/2006/main">
            <a:r>
              <a:t>sudut = np.linspace(0, 2 * np.pi, len(kategori), endpoint=False).tolist()</a:t>
            </a:r>
          </a:p>
          <a:p xmlns:a="http://schemas.openxmlformats.org/drawingml/2006/main">
            <a:r>
              <a:t>sudut_tutup = sudut + sudut[:1]</a:t>
            </a:r>
          </a:p>
          <a:p xmlns:a="http://schemas.openxmlformats.org/drawingml/2006/main">
            <a:r>
              <a:t>fig, ax = plt.subplots(figsize=(7, 6), subplot_kw={"polar": True})</a:t>
            </a:r>
          </a:p>
          <a:p xmlns:a="http://schemas.openxmlformats.org/drawingml/2006/main">
            <a:r>
              <a:t>for cabang in ["Utara", "Tengah"]:</a:t>
            </a:r>
          </a:p>
          <a:p xmlns:a="http://schemas.openxmlformats.org/drawingml/2006/main">
            <a:r>
              <a:t>    nilai = pangsa.loc[cabang].tolist()</a:t>
            </a:r>
          </a:p>
          <a:p xmlns:a="http://schemas.openxmlformats.org/drawingml/2006/main">
            <a:r>
              <a:t>    nilai_tutup = nilai + nilai[:1]</a:t>
            </a:r>
          </a:p>
          <a:p xmlns:a="http://schemas.openxmlformats.org/drawingml/2006/main">
            <a:r>
              <a:t>    ax.plot(sudut_tutup, nilai_tutup, linewidth=2, label=cabang)</a:t>
            </a:r>
          </a:p>
          <a:p xmlns:a="http://schemas.openxmlformats.org/drawingml/2006/main">
            <a:r>
              <a:t>    ax.fill(sudut_tutup, nilai_tutup, alpha=0.12)</a:t>
            </a:r>
          </a:p>
          <a:p xmlns:a="http://schemas.openxmlformats.org/drawingml/2006/main">
            <a:r>
              <a:t>ax.set_xticks(sudut)</a:t>
            </a:r>
          </a:p>
          <a:p xmlns:a="http://schemas.openxmlformats.org/drawingml/2006/main">
            <a:r>
              <a:t>ax.set_xticklabels(kategori)</a:t>
            </a:r>
          </a:p>
          <a:p xmlns:a="http://schemas.openxmlformats.org/drawingml/2006/main">
            <a:r>
              <a:t>ax.set_ylim(0, 40)</a:t>
            </a:r>
          </a:p>
          <a:p xmlns:a="http://schemas.openxmlformats.org/drawingml/2006/main">
            <a:r>
              <a:t>ax.legend()</a:t>
            </a:r>
          </a:p>
          <a:p xmlns:a="http://schemas.openxmlformats.org/drawingml/2006/main">
            <a:r>
              <a:t>plt.tight_layout()</a:t>
            </a:r>
          </a:p>
          <a:p xmlns:a="http://schemas.openxmlformats.org/drawingml/2006/main">
            <a:r>
              <a:t>plt.show()</a:t>
            </a:r>
          </a:p>
          <a:p xmlns:a="http://schemas.openxmlformats.org/drawingml/2006/main">
            <a:r>
              <a:t/>
            </a:r>
          </a:p>
          <a:p xmlns:a="http://schemas.openxmlformats.org/drawingml/2006/main">
            <a:r>
              <a:t/>
            </a:r>
          </a:p>
          <a:p xmlns:a="http://schemas.openxmlformats.org/drawingml/2006/main">
            <a:r>
              <a:t>Baca dalam tiga langkah:</a:t>
            </a:r>
          </a:p>
          <a:p xmlns:a="http://schemas.openxmlformats.org/drawingml/2006/main">
            <a:r>
              <a:t/>
            </a:r>
          </a:p>
          <a:p xmlns:a="http://schemas.openxmlformats.org/drawingml/2006/main">
            <a:r>
              <a:t>1. Siapkan nilai: hitung persentase dan ambil nama kategori dalam urutan kolom. `pangsa.loc[cabang]` memilih baris berdasarkan nama cabang.</a:t>
            </a:r>
          </a:p>
          <a:p xmlns:a="http://schemas.openxmlformats.org/drawingml/2006/main">
            <a:r>
              <a:t>2. Siapkan sudut: satu lingkaran adalah `2 * np.pi` radian. Lima kategori mendapat lima sudut berjarak sama. `endpoint=False` tidak memasukkan sudut akhir 2π yang sama arahnya dengan 0.</a:t>
            </a:r>
          </a:p>
          <a:p xmlns:a="http://schemas.openxmlformats.org/drawingml/2006/main">
            <a:r>
              <a:t>3. Gambar dan tutup: tambahkan sudut pertama dan nilai pertama di akhir daftar. Titik terakhir tersambung kembali ke titik pertama.</a:t>
            </a:r>
          </a:p>
          <a:p xmlns:a="http://schemas.openxmlformats.org/drawingml/2006/main">
            <a:r>
              <a:t/>
            </a:r>
          </a:p>
          <a:p xmlns:a="http://schemas.openxmlformats.org/drawingml/2006/main">
            <a:r>
              <a:t>`.tolist()` menghasilkan list Python. Karena itu `sudut + sudut[:1]` menyambung daftar, bukan menjumlahkan sudut satu per satu. `[:1]` mengambil daftar berisi elemen pertama. Array NumPy memakai perilaku penambahan berbeda.</a:t>
            </a:r>
          </a:p>
          <a:p xmlns:a="http://schemas.openxmlformats.org/drawingml/2006/main">
            <a:r>
              <a:t/>
            </a:r>
          </a:p>
          <a:p xmlns:a="http://schemas.openxmlformats.org/drawingml/2006/main">
            <a:r>
              <a:t>`subplot_kw={"polar": True}` memakai bidang koordinat sudut dan radius. `ax.plot()` menggambar garis, `ax.fill(..., alpha=0.12)` mengisi area transparan, dan `set_xticklabels()` memberi nama kategori pada arah sudut. Rentang `0–40` berarti 0–40 persen untuk data contoh ini. Jika data baru melewati 40%, batasnya harus disesuaikan supaya titik tidak terpotong.</a:t>
            </a:r>
          </a:p>
          <a:p xmlns:a="http://schemas.openxmlformats.org/drawingml/2006/main">
            <a:r>
              <a:t/>
            </a:r>
          </a:p>
          <a:p xmlns:a="http://schemas.openxmlformats.org/drawingml/2006/main">
            <a:r>
              <a:t>Kalimat pengajar:</a:t>
            </a:r>
          </a:p>
          <a:p xmlns:a="http://schemas.openxmlformats.org/drawingml/2006/main">
            <a:r>
              <a:t/>
            </a:r>
          </a:p>
          <a:p xmlns:a="http://schemas.openxmlformats.org/drawingml/2006/main">
            <a:r>
              <a:t>&gt; Kita menggunakan dua daftar dengan panjang yang sama: daftar sudut dan daftar nilai. Setelah titik awal ditambahkan di akhir keduanya, garis dapat menutup menjadi profil radar.</a:t>
            </a:r>
          </a:p>
          <a:p xmlns:a="http://schemas.openxmlformats.org/drawingml/2006/main">
            <a:r>
              <a:t/>
            </a:r>
          </a:p>
          <a:p xmlns:a="http://schemas.openxmlformats.org/drawingml/2006/main">
            <a:r>
              <a:t>Demo tanpa grafik tambahan: cetak `kategori`, `len(sudut)`, dan `len(sudut_tutup)`, hasilnya lima kategori, lima sudut, dan enam titik penutup. Seluruh cabang harus memakai urutan kategori yang sama. Urutan dan posisi awal pada notebook dapat berbeda dari slide.</a:t>
            </a:r>
          </a:p>
          <a:p xmlns:a="http://schemas.openxmlformats.org/drawingml/2006/main">
            <a:r>
              <a:t/>
            </a:r>
          </a:p>
          <a:p xmlns:a="http://schemas.openxmlformats.org/drawingml/2006/main">
            <a:r>
              <a:t>Pengaturan titik akhir mengacu pada [dokumentasi NumPy linspace](https://numpy.org/doc/stable/reference/generated/numpy.linspace.html).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dd491dca27402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18f879f37f14f2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5c9ca8e65348e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3f1ff075a0545f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2ef4348dd1549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a2d8ab70f124b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5418F9-63E6-4E6E-9DCA-51A431B8D74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BA0D8A6-EE3B-482C-932D-68A35571C76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FA3BD6C-5F0D-4B73-B148-D40B7E277C2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72223E-5CC9-4312-9C5E-BAC04C8CA0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ED16EF1-1B71-4B3C-80B1-0F7C3F1182B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B1BCD64-3ED1-4D7A-9862-5697DCC61FA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5EAC51B-6831-4B47-AE9C-6C9D05CECF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6841630-144B-4EFB-9A09-9F7AA5F8961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27B050-740C-4081-89F8-0965972F06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18577B5-0AAB-4CAA-A457-C76D60A32A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9adc3197c94348" /><Relationship Type="http://schemas.openxmlformats.org/officeDocument/2006/relationships/slideLayout" Target="/ppt/slideLayouts/slideLayout1.xml" Id="R1159b44dd6b54acd" /><Relationship Type="http://schemas.openxmlformats.org/officeDocument/2006/relationships/slideLayout" Target="/ppt/slideLayouts/slideLayout2.xml" Id="R551114920e3d40d4" /><Relationship Type="http://schemas.openxmlformats.org/officeDocument/2006/relationships/slideLayout" Target="/ppt/slideLayouts/slideLayout3.xml" Id="R4607cadb906f4ff5" /><Relationship Type="http://schemas.openxmlformats.org/officeDocument/2006/relationships/slideLayout" Target="/ppt/slideLayouts/slideLayout4.xml" Id="Ra244546b96984e85" /><Relationship Type="http://schemas.openxmlformats.org/officeDocument/2006/relationships/slideLayout" Target="/ppt/slideLayouts/slideLayout5.xml" Id="R7304bcef251d4077" /><Relationship Type="http://schemas.openxmlformats.org/officeDocument/2006/relationships/slideLayout" Target="/ppt/slideLayouts/slideLayout6.xml" Id="R3d0251439c174a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59b44dd6b54acd"/>
    <p:sldLayoutId xmlns:r="http://schemas.openxmlformats.org/officeDocument/2006/relationships" id="2147483650" r:id="R551114920e3d40d4"/>
    <p:sldLayoutId xmlns:r="http://schemas.openxmlformats.org/officeDocument/2006/relationships" id="2147483651" r:id="R4607cadb906f4ff5"/>
    <p:sldLayoutId xmlns:r="http://schemas.openxmlformats.org/officeDocument/2006/relationships" id="2147483652" r:id="Ra244546b96984e85"/>
    <p:sldLayoutId xmlns:r="http://schemas.openxmlformats.org/officeDocument/2006/relationships" id="2147483653" r:id="R7304bcef251d4077"/>
    <p:sldLayoutId xmlns:r="http://schemas.openxmlformats.org/officeDocument/2006/relationships" id="2147483654" r:id="R3d0251439c174a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d2ed7f1a2d74bd4" /><Relationship Type="http://schemas.openxmlformats.org/officeDocument/2006/relationships/image" Target="/ppt/media/image.png" Id="R91077625d83d4bff" /><Relationship Type="http://schemas.openxmlformats.org/officeDocument/2006/relationships/notesSlide" Target="/ppt/notesSlides/notesSlide1.xml" Id="R4e8137e2110943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7e797ab2b9344b6" /><Relationship Type="http://schemas.openxmlformats.org/officeDocument/2006/relationships/notesSlide" Target="/ppt/notesSlides/notesSlide2.xml" Id="R0fed1834408a4b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a17c466b2a84d08" /><Relationship Type="http://schemas.openxmlformats.org/officeDocument/2006/relationships/notesSlide" Target="/ppt/notesSlides/notesSlide3.xml" Id="R7c3c70966e4846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65567aa66e641af" /><Relationship Type="http://schemas.openxmlformats.org/officeDocument/2006/relationships/chart" Target="/ppt/slides/charts/chart1.xml" Id="R3c624e8ccd3c4fb0" /><Relationship Type="http://schemas.openxmlformats.org/officeDocument/2006/relationships/notesSlide" Target="/ppt/notesSlides/notesSlide4.xml" Id="R61dfaa05bd8544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c1fae905cfc477e" /><Relationship Type="http://schemas.openxmlformats.org/officeDocument/2006/relationships/chart" Target="/ppt/slides/charts/chart2.xml" Id="R08ef67db4de74382" /><Relationship Type="http://schemas.openxmlformats.org/officeDocument/2006/relationships/notesSlide" Target="/ppt/notesSlides/notesSlide5.xml" Id="R66182fbb9f3b47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6239a61a8354910" /><Relationship Type="http://schemas.openxmlformats.org/officeDocument/2006/relationships/chart" Target="/ppt/slides/charts/chart3.xml" Id="Racc0717c7db64ccb" /><Relationship Type="http://schemas.openxmlformats.org/officeDocument/2006/relationships/notesSlide" Target="/ppt/notesSlides/notesSlide6.xml" Id="Rc7c2b2f2d9a746f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ae92f6602474d8a" /><Relationship Type="http://schemas.openxmlformats.org/officeDocument/2006/relationships/notesSlide" Target="/ppt/notesSlides/notesSlide7.xml" Id="Rc5f05c41e1ca41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366e54e369c4e68" /><Relationship Type="http://schemas.openxmlformats.org/officeDocument/2006/relationships/chart" Target="/ppt/slides/charts/chart4.xml" Id="Rf73b6d20cce84b0d" /><Relationship Type="http://schemas.openxmlformats.org/officeDocument/2006/relationships/chart" Target="/ppt/slides/charts/chart5.xml" Id="Ra1a05d7be6e644ab" /><Relationship Type="http://schemas.openxmlformats.org/officeDocument/2006/relationships/notesSlide" Target="/ppt/notesSlides/notesSlide8.xml" Id="Rff0b9f911e9b438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b6bc1ee71ba463f" /><Relationship Type="http://schemas.openxmlformats.org/officeDocument/2006/relationships/chart" Target="/ppt/slides/charts/chart6.xml" Id="Rc12723244d724bbd" /><Relationship Type="http://schemas.openxmlformats.org/officeDocument/2006/relationships/chart" Target="/ppt/slides/charts/chart7.xml" Id="Rc3ed12be01f04214" /><Relationship Type="http://schemas.openxmlformats.org/officeDocument/2006/relationships/notesSlide" Target="/ppt/notesSlides/notesSlide9.xml" Id="Reca561e2b2014aa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5120d5a3e154053" /><Relationship Type="http://schemas.microsoft.com/office/2014/relationships/chartEx" Target="/ppt/slides/extendedCharts/chart.xml" Id="R37def3e122e441bc" /><Relationship Type="http://schemas.openxmlformats.org/officeDocument/2006/relationships/image" Target="/ppt/media/image2.png" Id="R228d11d21ea34dc9" /><Relationship Type="http://schemas.openxmlformats.org/officeDocument/2006/relationships/notesSlide" Target="/ppt/notesSlides/notesSlide10.xml" Id="Re64e5a8ff37e4d0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75baa5e78ce47c4" /><Relationship Type="http://schemas.openxmlformats.org/officeDocument/2006/relationships/chart" Target="/ppt/slides/charts/chart8.xml" Id="R122caa0ef64d442a" /><Relationship Type="http://schemas.openxmlformats.org/officeDocument/2006/relationships/notesSlide" Target="/ppt/notesSlides/notesSlide11.xml" Id="R6644c5b872894de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e0d07ed7573471e" /><Relationship Type="http://schemas.openxmlformats.org/officeDocument/2006/relationships/notesSlide" Target="/ppt/notesSlides/notesSlide12.xml" Id="R8fb7c3d46f93420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6326ec1e1f54ceb" /><Relationship Type="http://schemas.openxmlformats.org/officeDocument/2006/relationships/notesSlide" Target="/ppt/notesSlides/notesSlide13.xml" Id="Ra1e39fddf791480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71eaf5f3c354088" /><Relationship Type="http://schemas.openxmlformats.org/officeDocument/2006/relationships/notesSlide" Target="/ppt/notesSlides/notesSlide14.xml" Id="R2fb7dde4278f47f8" /></Relationships>
</file>

<file path=ppt/slides/_rels/slide15.xml.rels><?xml version='1.0' encoding='utf-8'?>
<ns0:Relationships xmlns:ns0="http://schemas.openxmlformats.org/package/2006/relationships"><ns0:Relationship Type="http://schemas.openxmlformats.org/officeDocument/2006/relationships/slideLayout" Target="/ppt/slideLayouts/slideLayout6.xml" Id="R4c4438caaee34ccd" /><ns0:Relationship Type="http://schemas.openxmlformats.org/officeDocument/2006/relationships/notesSlide" Target="/ppt/notesSlides/notesSlide15.xml" Id="R55f2d6bf450a4305" /></ns0:Relationships>
</file>

<file path=ppt/slides/_rels/slide16.xml.rels><?xml version='1.0' encoding='utf-8'?>
<ns0:Relationships xmlns:ns0="http://schemas.openxmlformats.org/package/2006/relationships"><ns0:Relationship Type="http://schemas.openxmlformats.org/officeDocument/2006/relationships/slideLayout" Target="/ppt/slideLayouts/slideLayout6.xml" Id="R97937857e5f54cdd" /><ns0:Relationship Type="http://schemas.openxmlformats.org/officeDocument/2006/relationships/notesSlide" Target="/ppt/notesSlides/notesSlide16.xml" Id="Rff212d8003b94060" /></ns0:Relationships>
</file>

<file path=ppt/slides/_rels/slide17.xml.rels><?xml version='1.0' encoding='utf-8'?>
<ns0:Relationships xmlns:ns0="http://schemas.openxmlformats.org/package/2006/relationships"><ns0:Relationship Type="http://schemas.openxmlformats.org/officeDocument/2006/relationships/slideLayout" Target="/ppt/slideLayouts/slideLayout6.xml" Id="R5cd6354e82be42e4" /><ns0:Relationship Type="http://schemas.openxmlformats.org/officeDocument/2006/relationships/notesSlide" Target="/ppt/notesSlides/notesSlide17.xml" Id="R39a7cb2dd04c48f5" /></ns0:Relationships>
</file>

<file path=ppt/slides/_rels/slide18.xml.rels><?xml version='1.0' encoding='utf-8'?>
<ns0:Relationships xmlns:ns0="http://schemas.openxmlformats.org/package/2006/relationships"><ns0:Relationship Type="http://schemas.openxmlformats.org/officeDocument/2006/relationships/slideLayout" Target="/ppt/slideLayouts/slideLayout6.xml" Id="R4c4d3d3a487c4990" /><ns0:Relationship Type="http://schemas.openxmlformats.org/officeDocument/2006/relationships/notesSlide" Target="/ppt/notesSlides/notesSlide18.xml" Id="Rbee5601e4c604cb5" /></ns0:Relationships>
</file>

<file path=ppt/slides/_rels/slide19.xml.rels><?xml version='1.0' encoding='utf-8'?>
<ns0:Relationships xmlns:ns0="http://schemas.openxmlformats.org/package/2006/relationships"><ns0:Relationship Type="http://schemas.openxmlformats.org/officeDocument/2006/relationships/slideLayout" Target="/ppt/slideLayouts/slideLayout6.xml" Id="R67a6baaf20e94c6f" /><ns0:Relationship Type="http://schemas.openxmlformats.org/officeDocument/2006/relationships/notesSlide" Target="/ppt/notesSlides/notesSlide19.xml" Id="R0dd5818175d84da7" /></ns0:Relationships>
</file>

<file path=ppt/slides/_rels/slide20.xml.rels><?xml version='1.0' encoding='utf-8'?>
<ns0:Relationships xmlns:ns0="http://schemas.openxmlformats.org/package/2006/relationships"><ns0:Relationship Type="http://schemas.openxmlformats.org/officeDocument/2006/relationships/slideLayout" Target="/ppt/slideLayouts/slideLayout6.xml" Id="Rb0254450c0bc411b" /><ns0:Relationship Type="http://schemas.openxmlformats.org/officeDocument/2006/relationships/notesSlide" Target="/ppt/notesSlides/notesSlide20.xml" Id="R9b68f4728d614910" /></ns0:Relationships>
</file>

<file path=ppt/slides/_rels/slide21.xml.rels><?xml version='1.0' encoding='utf-8'?>
<ns0:Relationships xmlns:ns0="http://schemas.openxmlformats.org/package/2006/relationships"><ns0:Relationship Type="http://schemas.openxmlformats.org/officeDocument/2006/relationships/slideLayout" Target="/ppt/slideLayouts/slideLayout6.xml" Id="Rc78751cfc211409c" /><ns0:Relationship Type="http://schemas.openxmlformats.org/officeDocument/2006/relationships/notesSlide" Target="/ppt/notesSlides/notesSlide21.xml" Id="R48c40ae839364d48" /></ns0: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11A30"/>
                </a:solidFill>
                <a:latin typeface="SF Pro Text"/>
                <a:ea typeface="SF Pro Text"/>
                <a:cs typeface="SF Pro Text"/>
              </a:rPr>
              <a:t>Total unit per kategori</a:t>
            </a:r>
          </a:p>
        </c:rich>
      </c:tx>
      <c:overlay val="0"/>
      <c:txPr>
        <a:bodyPr xmlns:a="http://schemas.openxmlformats.org/drawingml/2006/main" anchorCtr="1"/>
        <a:lstStyle xmlns:a="http://schemas.openxmlformats.org/drawingml/2006/main"/>
        <a:p xmlns:a="http://schemas.openxmlformats.org/drawingml/2006/main">
          <a:pPr>
            <a:defRPr sz="1350" b="1">
              <a:solidFill>
                <a:srgbClr val="111A30"/>
              </a:solidFill>
              <a:latin typeface="SF Pro Text"/>
              <a:ea typeface="SF Pro Text"/>
              <a:cs typeface="SF Pro Text"/>
            </a:defRPr>
          </a:pPr>
        </a:p>
      </c:txPr>
    </c:title>
    <c:plotArea>
      <c:barChart>
        <c:barDir val="bar"/>
        <c:grouping val="clustered"/>
        <c:varyColors val="0"/>
        <c:ser>
          <c:idx val="0"/>
          <c:order val="0"/>
          <c:tx>
            <c:v>Unit</c:v>
          </c:tx>
          <c:spPr>
            <a:solidFill xmlns:a="http://schemas.openxmlformats.org/drawingml/2006/main">
              <a:srgbClr val="4FB6E8"/>
            </a:solidFill>
          </c:spPr>
          <c:cat>
            <c:strRef>
              <c:f>'Chart Data'!$A$2:$A$6</c:f>
              <c:strCache>
                <c:ptCount val="5"/>
                <c:pt idx="0">
                  <c:v>Makanan</c:v>
                </c:pt>
                <c:pt idx="1">
                  <c:v>Minuman</c:v>
                </c:pt>
                <c:pt idx="2">
                  <c:v>Alat Tulis</c:v>
                </c:pt>
                <c:pt idx="3">
                  <c:v>Buku</c:v>
                </c:pt>
                <c:pt idx="4">
                  <c:v>Aksesori</c:v>
                </c:pt>
              </c:strCache>
            </c:strRef>
          </c:cat>
          <c:val>
            <c:numRef>
              <c:f>'Chart Data'!$B$2:$B$6</c:f>
              <c:numCache>
                <c:formatCode>General</c:formatCode>
                <c:ptCount val="5"/>
                <c:pt idx="0">
                  <c:v>119</c:v>
                </c:pt>
                <c:pt idx="1">
                  <c:v>92</c:v>
                </c:pt>
                <c:pt idx="2">
                  <c:v>87</c:v>
                </c:pt>
                <c:pt idx="3">
                  <c:v>80</c:v>
                </c:pt>
                <c:pt idx="4">
                  <c:v>64</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11A30"/>
                  </a:solidFill>
                  <a:latin typeface="SF Pro Text"/>
                  <a:ea typeface="SF Pro Text"/>
                  <a:cs typeface="SF Pro Text"/>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E7EAEE"/>
              </a:solidFill>
              <a:prstDash val="solid"/>
            </a:ln>
          </c:spPr>
        </c:majorGridlines>
        <c:title>
          <c:tx>
            <c:rich>
              <a:bodyPr xmlns:a="http://schemas.openxmlformats.org/drawingml/2006/main"/>
              <a:lstStyle xmlns:a="http://schemas.openxmlformats.org/drawingml/2006/main"/>
              <a:p xmlns:a="http://schemas.openxmlformats.org/drawingml/2006/main">
                <a:r>
                  <a:rPr>
                    <a:latin typeface="SF Pro Text"/>
                    <a:ea typeface="SF Pro Text"/>
                    <a:cs typeface="SF Pro Text"/>
                  </a:rPr>
                  <a:t>Unit terjual</a:t>
                </a:r>
              </a:p>
            </c:rich>
          </c:tx>
          <c:overlay val="0"/>
          <c:txPr>
            <a:bodyPr xmlns:a="http://schemas.openxmlformats.org/drawingml/2006/main" anchorCtr="1"/>
            <a:lstStyle xmlns:a="http://schemas.openxmlformats.org/drawingml/2006/main"/>
            <a:p xmlns:a="http://schemas.openxmlformats.org/drawingml/2006/main">
              <a:pPr>
                <a:defRPr>
                  <a:latin typeface="SF Pro Text"/>
                  <a:ea typeface="SF Pro Text"/>
                  <a:cs typeface="SF Pro T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4B5868"/>
                </a:solidFill>
                <a:latin typeface="SF Pro Text"/>
                <a:ea typeface="SF Pro Text"/>
                <a:cs typeface="SF Pro Text"/>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4B5868"/>
                </a:solidFill>
                <a:latin typeface="SF Pro Text"/>
                <a:ea typeface="SF Pro Text"/>
                <a:cs typeface="SF Pro Text"/>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11A30"/>
                </a:solidFill>
                <a:latin typeface="SF Pro Text"/>
                <a:ea typeface="SF Pro Text"/>
                <a:cs typeface="SF Pro Text"/>
              </a:rPr>
              <a:t>Jumlah pesanan per kategori</a:t>
            </a:r>
          </a:p>
        </c:rich>
      </c:tx>
      <c:overlay val="0"/>
      <c:txPr>
        <a:bodyPr xmlns:a="http://schemas.openxmlformats.org/drawingml/2006/main" anchorCtr="1"/>
        <a:lstStyle xmlns:a="http://schemas.openxmlformats.org/drawingml/2006/main"/>
        <a:p xmlns:a="http://schemas.openxmlformats.org/drawingml/2006/main">
          <a:pPr>
            <a:defRPr sz="1350" b="1">
              <a:solidFill>
                <a:srgbClr val="111A30"/>
              </a:solidFill>
              <a:latin typeface="SF Pro Text"/>
              <a:ea typeface="SF Pro Text"/>
              <a:cs typeface="SF Pro Text"/>
            </a:defRPr>
          </a:pPr>
        </a:p>
      </c:txPr>
    </c:title>
    <c:plotArea>
      <c:barChart>
        <c:barDir val="col"/>
        <c:grouping val="clustered"/>
        <c:varyColors val="0"/>
        <c:ser>
          <c:idx val="0"/>
          <c:order val="0"/>
          <c:tx>
            <c:v>Pesanan</c:v>
          </c:tx>
          <c:spPr>
            <a:solidFill xmlns:a="http://schemas.openxmlformats.org/drawingml/2006/main">
              <a:srgbClr val="F5D36A"/>
            </a:solidFill>
          </c:spPr>
          <c:cat>
            <c:strRef>
              <c:f>'Chart Data'!$A$2:$A$6</c:f>
              <c:strCache>
                <c:ptCount val="5"/>
                <c:pt idx="0">
                  <c:v>Buku</c:v>
                </c:pt>
                <c:pt idx="1">
                  <c:v>Alat Tulis</c:v>
                </c:pt>
                <c:pt idx="2">
                  <c:v>Makanan</c:v>
                </c:pt>
                <c:pt idx="3">
                  <c:v>Minuman</c:v>
                </c:pt>
                <c:pt idx="4">
                  <c:v>Aksesori</c:v>
                </c:pt>
              </c:strCache>
            </c:strRef>
          </c:cat>
          <c:val>
            <c:numRef>
              <c:f>'Chart Data'!$B$2:$B$6</c:f>
              <c:numCache>
                <c:formatCode>General</c:formatCode>
                <c:ptCount val="5"/>
                <c:pt idx="0">
                  <c:v>4</c:v>
                </c:pt>
                <c:pt idx="1">
                  <c:v>5</c:v>
                </c:pt>
                <c:pt idx="2">
                  <c:v>7</c:v>
                </c:pt>
                <c:pt idx="3">
                  <c:v>3</c:v>
                </c:pt>
                <c:pt idx="4">
                  <c:v>2</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11A30"/>
                  </a:solidFill>
                  <a:latin typeface="SF Pro Text"/>
                  <a:ea typeface="SF Pro Text"/>
                  <a:cs typeface="SF Pro Text"/>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4B5868"/>
                </a:solidFill>
                <a:latin typeface="SF Pro Text"/>
                <a:ea typeface="SF Pro Text"/>
                <a:cs typeface="SF Pro Text"/>
              </a:defRPr>
            </a:pPr>
          </a:p>
        </c:txPr>
        <c:crossAx val="48672768"/>
      </c:catAx>
      <c:valAx>
        <c:axId val="48672768"/>
        <c:scaling>
          <c:orientation val="minMax"/>
          <c:min val="0"/>
        </c:scaling>
        <c:delete val="0"/>
        <c:axPos val="l"/>
        <c:majorGridlines>
          <c:spPr>
            <a:ln xmlns:a="http://schemas.openxmlformats.org/drawingml/2006/main" w="9525">
              <a:solidFill>
                <a:srgbClr val="E7EAEE"/>
              </a:solidFill>
              <a:prstDash val="solid"/>
            </a:ln>
          </c:spPr>
        </c:majorGridlines>
        <c:title>
          <c:tx>
            <c:rich>
              <a:bodyPr xmlns:a="http://schemas.openxmlformats.org/drawingml/2006/main"/>
              <a:lstStyle xmlns:a="http://schemas.openxmlformats.org/drawingml/2006/main"/>
              <a:p xmlns:a="http://schemas.openxmlformats.org/drawingml/2006/main">
                <a:r>
                  <a:rPr>
                    <a:latin typeface="SF Pro Text"/>
                    <a:ea typeface="SF Pro Text"/>
                    <a:cs typeface="SF Pro Text"/>
                  </a:rPr>
                  <a:t>Jumlah pesanan</a:t>
                </a:r>
              </a:p>
            </c:rich>
          </c:tx>
          <c:overlay val="0"/>
          <c:txPr>
            <a:bodyPr xmlns:a="http://schemas.openxmlformats.org/drawingml/2006/main" anchorCtr="1"/>
            <a:lstStyle xmlns:a="http://schemas.openxmlformats.org/drawingml/2006/main"/>
            <a:p xmlns:a="http://schemas.openxmlformats.org/drawingml/2006/main">
              <a:pPr>
                <a:defRPr>
                  <a:latin typeface="SF Pro Text"/>
                  <a:ea typeface="SF Pro Text"/>
                  <a:cs typeface="SF Pro T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4B5868"/>
                </a:solidFill>
                <a:latin typeface="SF Pro Text"/>
                <a:ea typeface="SF Pro Text"/>
                <a:cs typeface="SF Pro Text"/>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11A30"/>
                </a:solidFill>
                <a:latin typeface="SF Pro Text"/>
                <a:ea typeface="SF Pro Text"/>
                <a:cs typeface="SF Pro Text"/>
              </a:rPr>
              <a:t>Unit terjual per kategori dan cabang</a:t>
            </a:r>
          </a:p>
        </c:rich>
      </c:tx>
      <c:overlay val="0"/>
      <c:txPr>
        <a:bodyPr xmlns:a="http://schemas.openxmlformats.org/drawingml/2006/main" anchorCtr="1"/>
        <a:lstStyle xmlns:a="http://schemas.openxmlformats.org/drawingml/2006/main"/>
        <a:p xmlns:a="http://schemas.openxmlformats.org/drawingml/2006/main">
          <a:pPr>
            <a:defRPr sz="1350" b="1">
              <a:solidFill>
                <a:srgbClr val="111A30"/>
              </a:solidFill>
              <a:latin typeface="SF Pro Text"/>
              <a:ea typeface="SF Pro Text"/>
              <a:cs typeface="SF Pro Text"/>
            </a:defRPr>
          </a:pPr>
        </a:p>
      </c:txPr>
    </c:title>
    <c:plotArea>
      <c:barChart>
        <c:barDir val="col"/>
        <c:grouping val="clustered"/>
        <c:varyColors val="0"/>
        <c:ser>
          <c:idx val="0"/>
          <c:order val="0"/>
          <c:tx>
            <c:v>Utara</c:v>
          </c:tx>
          <c:spPr>
            <a:solidFill xmlns:a="http://schemas.openxmlformats.org/drawingml/2006/main">
              <a:srgbClr val="4FB6E8"/>
            </a:solidFill>
          </c:spPr>
          <c:cat>
            <c:strRef>
              <c:f>'Chart Data'!$A$2:$A$6</c:f>
              <c:strCache>
                <c:ptCount val="5"/>
                <c:pt idx="0">
                  <c:v>Buku</c:v>
                </c:pt>
                <c:pt idx="1">
                  <c:v>Alat Tulis</c:v>
                </c:pt>
                <c:pt idx="2">
                  <c:v>Makanan</c:v>
                </c:pt>
                <c:pt idx="3">
                  <c:v>Minuman</c:v>
                </c:pt>
                <c:pt idx="4">
                  <c:v>Aksesori</c:v>
                </c:pt>
              </c:strCache>
            </c:strRef>
          </c:cat>
          <c:val>
            <c:numRef>
              <c:f>'Chart Data'!$B$2:$B$6</c:f>
              <c:numCache>
                <c:formatCode>General</c:formatCode>
                <c:ptCount val="5"/>
                <c:pt idx="0">
                  <c:v>32</c:v>
                </c:pt>
                <c:pt idx="1">
                  <c:v>25</c:v>
                </c:pt>
                <c:pt idx="2">
                  <c:v>40</c:v>
                </c:pt>
                <c:pt idx="3">
                  <c:v>33</c:v>
                </c:pt>
                <c:pt idx="4">
                  <c:v>18</c:v>
                </c:pt>
              </c:numCache>
            </c:numRef>
          </c:val>
        </c:ser>
        <c:ser>
          <c:idx val="1"/>
          <c:order val="1"/>
          <c:tx>
            <c:v>Tengah</c:v>
          </c:tx>
          <c:spPr>
            <a:solidFill xmlns:a="http://schemas.openxmlformats.org/drawingml/2006/main">
              <a:srgbClr val="F5D36A"/>
            </a:solidFill>
          </c:spPr>
          <c:cat>
            <c:strRef>
              <c:f>'Chart Data'!$C$2:$C$6</c:f>
              <c:strCache>
                <c:ptCount val="5"/>
                <c:pt idx="0">
                  <c:v>Buku</c:v>
                </c:pt>
                <c:pt idx="1">
                  <c:v>Alat Tulis</c:v>
                </c:pt>
                <c:pt idx="2">
                  <c:v>Makanan</c:v>
                </c:pt>
                <c:pt idx="3">
                  <c:v>Minuman</c:v>
                </c:pt>
                <c:pt idx="4">
                  <c:v>Aksesori</c:v>
                </c:pt>
              </c:strCache>
            </c:strRef>
          </c:cat>
          <c:val>
            <c:numRef>
              <c:f>'Chart Data'!$D$2:$D$6</c:f>
              <c:numCache>
                <c:formatCode>General</c:formatCode>
                <c:ptCount val="5"/>
                <c:pt idx="0">
                  <c:v>26</c:v>
                </c:pt>
                <c:pt idx="1">
                  <c:v>34</c:v>
                </c:pt>
                <c:pt idx="2">
                  <c:v>35</c:v>
                </c:pt>
                <c:pt idx="3">
                  <c:v>28</c:v>
                </c:pt>
                <c:pt idx="4">
                  <c:v>21</c:v>
                </c:pt>
              </c:numCache>
            </c:numRef>
          </c:val>
        </c:ser>
        <c:ser>
          <c:idx val="2"/>
          <c:order val="2"/>
          <c:tx>
            <c:v>Selatan</c:v>
          </c:tx>
          <c:spPr>
            <a:solidFill xmlns:a="http://schemas.openxmlformats.org/drawingml/2006/main">
              <a:srgbClr val="55B77A"/>
            </a:solidFill>
          </c:spPr>
          <c:cat>
            <c:strRef>
              <c:f>'Chart Data'!$E$2:$E$6</c:f>
              <c:strCache>
                <c:ptCount val="5"/>
                <c:pt idx="0">
                  <c:v>Buku</c:v>
                </c:pt>
                <c:pt idx="1">
                  <c:v>Alat Tulis</c:v>
                </c:pt>
                <c:pt idx="2">
                  <c:v>Makanan</c:v>
                </c:pt>
                <c:pt idx="3">
                  <c:v>Minuman</c:v>
                </c:pt>
                <c:pt idx="4">
                  <c:v>Aksesori</c:v>
                </c:pt>
              </c:strCache>
            </c:strRef>
          </c:cat>
          <c:val>
            <c:numRef>
              <c:f>'Chart Data'!$F$2:$F$6</c:f>
              <c:numCache>
                <c:formatCode>General</c:formatCode>
                <c:ptCount val="5"/>
                <c:pt idx="0">
                  <c:v>22</c:v>
                </c:pt>
                <c:pt idx="1">
                  <c:v>28</c:v>
                </c:pt>
                <c:pt idx="2">
                  <c:v>44</c:v>
                </c:pt>
                <c:pt idx="3">
                  <c:v>31</c:v>
                </c:pt>
                <c:pt idx="4">
                  <c:v>25</c:v>
                </c:pt>
              </c:numCache>
            </c:numRef>
          </c:val>
        </c:ser>
        <c:dLbls>
          <c:txPr>
            <a:bodyPr xmlns:a="http://schemas.openxmlformats.org/drawingml/2006/main" anchorCtr="1"/>
            <a:lstStyle xmlns:a="http://schemas.openxmlformats.org/drawingml/2006/main"/>
            <a:p xmlns:a="http://schemas.openxmlformats.org/drawingml/2006/main">
              <a:pPr>
                <a:defRPr>
                  <a:latin typeface="SF Pro Text"/>
                  <a:ea typeface="SF Pro Text"/>
                  <a:cs typeface="SF Pro Text"/>
                </a:defRPr>
              </a:pPr>
            </a:p>
          </c:txPr>
          <c:showLegendKey val="0"/>
          <c:showVal val="0"/>
          <c:showCatName val="0"/>
          <c:showSerName val="0"/>
          <c:showPercent val="0"/>
          <c:showBubbleSize val="0"/>
          <c:showLeaderLines val="0"/>
        </c:dLbls>
        <c:gapWidth val="85"/>
        <c:overlap val="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SF Pro Text"/>
                    <a:ea typeface="SF Pro Text"/>
                    <a:cs typeface="SF Pro Text"/>
                  </a:rPr>
                  <a:t>Kategori</a:t>
                </a:r>
              </a:p>
            </c:rich>
          </c:tx>
          <c:overlay val="0"/>
          <c:txPr>
            <a:bodyPr xmlns:a="http://schemas.openxmlformats.org/drawingml/2006/main" anchorCtr="1"/>
            <a:lstStyle xmlns:a="http://schemas.openxmlformats.org/drawingml/2006/main"/>
            <a:p xmlns:a="http://schemas.openxmlformats.org/drawingml/2006/main">
              <a:pPr>
                <a:defRPr>
                  <a:latin typeface="SF Pro Text"/>
                  <a:ea typeface="SF Pro Text"/>
                  <a:cs typeface="SF Pro T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4B5868"/>
                </a:solidFill>
                <a:latin typeface="SF Pro Text"/>
                <a:ea typeface="SF Pro Text"/>
                <a:cs typeface="SF Pro Text"/>
              </a:defRPr>
            </a:pPr>
          </a:p>
        </c:txPr>
        <c:crossAx val="48672768"/>
      </c:catAx>
      <c:valAx>
        <c:axId val="48672768"/>
        <c:scaling>
          <c:orientation val="minMax"/>
          <c:min val="0"/>
        </c:scaling>
        <c:delete val="0"/>
        <c:axPos val="l"/>
        <c:majorGridlines>
          <c:spPr>
            <a:ln xmlns:a="http://schemas.openxmlformats.org/drawingml/2006/main" w="9525">
              <a:solidFill>
                <a:srgbClr val="E7EAEE"/>
              </a:solidFill>
              <a:prstDash val="solid"/>
            </a:ln>
          </c:spPr>
        </c:majorGridlines>
        <c:title>
          <c:tx>
            <c:rich>
              <a:bodyPr xmlns:a="http://schemas.openxmlformats.org/drawingml/2006/main"/>
              <a:lstStyle xmlns:a="http://schemas.openxmlformats.org/drawingml/2006/main"/>
              <a:p xmlns:a="http://schemas.openxmlformats.org/drawingml/2006/main">
                <a:r>
                  <a:rPr>
                    <a:latin typeface="SF Pro Text"/>
                    <a:ea typeface="SF Pro Text"/>
                    <a:cs typeface="SF Pro Text"/>
                  </a:rPr>
                  <a:t>Unit terjual</a:t>
                </a:r>
              </a:p>
            </c:rich>
          </c:tx>
          <c:overlay val="0"/>
          <c:txPr>
            <a:bodyPr xmlns:a="http://schemas.openxmlformats.org/drawingml/2006/main" anchorCtr="1"/>
            <a:lstStyle xmlns:a="http://schemas.openxmlformats.org/drawingml/2006/main"/>
            <a:p xmlns:a="http://schemas.openxmlformats.org/drawingml/2006/main">
              <a:pPr>
                <a:defRPr>
                  <a:latin typeface="SF Pro Text"/>
                  <a:ea typeface="SF Pro Text"/>
                  <a:cs typeface="SF Pro T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4B5868"/>
                </a:solidFill>
                <a:latin typeface="SF Pro Text"/>
                <a:ea typeface="SF Pro Text"/>
                <a:cs typeface="SF Pro Text"/>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4B5868"/>
              </a:solidFill>
              <a:latin typeface="SF Pro Text"/>
              <a:ea typeface="SF Pro Text"/>
              <a:cs typeface="SF Pro Text"/>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11A30"/>
                </a:solidFill>
                <a:latin typeface="SF Pro Text"/>
                <a:ea typeface="SF Pro Text"/>
                <a:cs typeface="SF Pro Text"/>
              </a:rPr>
              <a:t>Stacked bar: jumlah unit</a:t>
            </a:r>
          </a:p>
        </c:rich>
      </c:tx>
      <c:overlay val="0"/>
      <c:txPr>
        <a:bodyPr xmlns:a="http://schemas.openxmlformats.org/drawingml/2006/main" anchorCtr="1"/>
        <a:lstStyle xmlns:a="http://schemas.openxmlformats.org/drawingml/2006/main"/>
        <a:p xmlns:a="http://schemas.openxmlformats.org/drawingml/2006/main">
          <a:pPr>
            <a:defRPr sz="1350" b="1">
              <a:solidFill>
                <a:srgbClr val="111A30"/>
              </a:solidFill>
              <a:latin typeface="SF Pro Text"/>
              <a:ea typeface="SF Pro Text"/>
              <a:cs typeface="SF Pro Text"/>
            </a:defRPr>
          </a:pPr>
        </a:p>
      </c:txPr>
    </c:title>
    <c:plotArea>
      <c:barChart>
        <c:barDir val="col"/>
        <c:grouping val="stacked"/>
        <c:varyColors val="0"/>
        <c:ser>
          <c:idx val="0"/>
          <c:order val="0"/>
          <c:tx>
            <c:v>Buku</c:v>
          </c:tx>
          <c:spPr>
            <a:solidFill xmlns:a="http://schemas.openxmlformats.org/drawingml/2006/main">
              <a:srgbClr val="4FB6E8"/>
            </a:solidFill>
          </c:spPr>
          <c:cat>
            <c:strRef>
              <c:f>'Chart Data'!$A$2:$A$4</c:f>
              <c:strCache>
                <c:ptCount val="3"/>
                <c:pt idx="0">
                  <c:v>Utara</c:v>
                </c:pt>
                <c:pt idx="1">
                  <c:v>Tengah</c:v>
                </c:pt>
                <c:pt idx="2">
                  <c:v>Selatan</c:v>
                </c:pt>
              </c:strCache>
            </c:strRef>
          </c:cat>
          <c:val>
            <c:numRef>
              <c:f>'Chart Data'!$B$2:$B$4</c:f>
              <c:numCache>
                <c:formatCode>General</c:formatCode>
                <c:ptCount val="3"/>
                <c:pt idx="0">
                  <c:v>32</c:v>
                </c:pt>
                <c:pt idx="1">
                  <c:v>26</c:v>
                </c:pt>
                <c:pt idx="2">
                  <c:v>22</c:v>
                </c:pt>
              </c:numCache>
            </c:numRef>
          </c:val>
        </c:ser>
        <c:ser>
          <c:idx val="1"/>
          <c:order val="1"/>
          <c:tx>
            <c:v>Alat Tulis</c:v>
          </c:tx>
          <c:spPr>
            <a:solidFill xmlns:a="http://schemas.openxmlformats.org/drawingml/2006/main">
              <a:srgbClr val="F5D36A"/>
            </a:solidFill>
          </c:spPr>
          <c:cat>
            <c:strRef>
              <c:f>'Chart Data'!$C$2:$C$4</c:f>
              <c:strCache>
                <c:ptCount val="3"/>
                <c:pt idx="0">
                  <c:v>Utara</c:v>
                </c:pt>
                <c:pt idx="1">
                  <c:v>Tengah</c:v>
                </c:pt>
                <c:pt idx="2">
                  <c:v>Selatan</c:v>
                </c:pt>
              </c:strCache>
            </c:strRef>
          </c:cat>
          <c:val>
            <c:numRef>
              <c:f>'Chart Data'!$D$2:$D$4</c:f>
              <c:numCache>
                <c:formatCode>General</c:formatCode>
                <c:ptCount val="3"/>
                <c:pt idx="0">
                  <c:v>25</c:v>
                </c:pt>
                <c:pt idx="1">
                  <c:v>34</c:v>
                </c:pt>
                <c:pt idx="2">
                  <c:v>28</c:v>
                </c:pt>
              </c:numCache>
            </c:numRef>
          </c:val>
        </c:ser>
        <c:ser>
          <c:idx val="2"/>
          <c:order val="2"/>
          <c:tx>
            <c:v>Makanan</c:v>
          </c:tx>
          <c:spPr>
            <a:solidFill xmlns:a="http://schemas.openxmlformats.org/drawingml/2006/main">
              <a:srgbClr val="55B77A"/>
            </a:solidFill>
          </c:spPr>
          <c:cat>
            <c:strRef>
              <c:f>'Chart Data'!$E$2:$E$4</c:f>
              <c:strCache>
                <c:ptCount val="3"/>
                <c:pt idx="0">
                  <c:v>Utara</c:v>
                </c:pt>
                <c:pt idx="1">
                  <c:v>Tengah</c:v>
                </c:pt>
                <c:pt idx="2">
                  <c:v>Selatan</c:v>
                </c:pt>
              </c:strCache>
            </c:strRef>
          </c:cat>
          <c:val>
            <c:numRef>
              <c:f>'Chart Data'!$F$2:$F$4</c:f>
              <c:numCache>
                <c:formatCode>General</c:formatCode>
                <c:ptCount val="3"/>
                <c:pt idx="0">
                  <c:v>40</c:v>
                </c:pt>
                <c:pt idx="1">
                  <c:v>35</c:v>
                </c:pt>
                <c:pt idx="2">
                  <c:v>44</c:v>
                </c:pt>
              </c:numCache>
            </c:numRef>
          </c:val>
        </c:ser>
        <c:ser>
          <c:idx val="3"/>
          <c:order val="3"/>
          <c:tx>
            <c:v>Minuman</c:v>
          </c:tx>
          <c:spPr>
            <a:solidFill xmlns:a="http://schemas.openxmlformats.org/drawingml/2006/main">
              <a:srgbClr val="196B9B"/>
            </a:solidFill>
          </c:spPr>
          <c:cat>
            <c:strRef>
              <c:f>'Chart Data'!$G$2:$G$4</c:f>
              <c:strCache>
                <c:ptCount val="3"/>
                <c:pt idx="0">
                  <c:v>Utara</c:v>
                </c:pt>
                <c:pt idx="1">
                  <c:v>Tengah</c:v>
                </c:pt>
                <c:pt idx="2">
                  <c:v>Selatan</c:v>
                </c:pt>
              </c:strCache>
            </c:strRef>
          </c:cat>
          <c:val>
            <c:numRef>
              <c:f>'Chart Data'!$H$2:$H$4</c:f>
              <c:numCache>
                <c:formatCode>General</c:formatCode>
                <c:ptCount val="3"/>
                <c:pt idx="0">
                  <c:v>33</c:v>
                </c:pt>
                <c:pt idx="1">
                  <c:v>28</c:v>
                </c:pt>
                <c:pt idx="2">
                  <c:v>31</c:v>
                </c:pt>
              </c:numCache>
            </c:numRef>
          </c:val>
        </c:ser>
        <c:ser>
          <c:idx val="4"/>
          <c:order val="4"/>
          <c:tx>
            <c:v>Aksesori</c:v>
          </c:tx>
          <c:spPr>
            <a:solidFill xmlns:a="http://schemas.openxmlformats.org/drawingml/2006/main">
              <a:srgbClr val="D99A37"/>
            </a:solidFill>
          </c:spPr>
          <c:cat>
            <c:strRef>
              <c:f>'Chart Data'!$I$2:$I$4</c:f>
              <c:strCache>
                <c:ptCount val="3"/>
                <c:pt idx="0">
                  <c:v>Utara</c:v>
                </c:pt>
                <c:pt idx="1">
                  <c:v>Tengah</c:v>
                </c:pt>
                <c:pt idx="2">
                  <c:v>Selatan</c:v>
                </c:pt>
              </c:strCache>
            </c:strRef>
          </c:cat>
          <c:val>
            <c:numRef>
              <c:f>'Chart Data'!$J$2:$J$4</c:f>
              <c:numCache>
                <c:formatCode>General</c:formatCode>
                <c:ptCount val="3"/>
                <c:pt idx="0">
                  <c:v>18</c:v>
                </c:pt>
                <c:pt idx="1">
                  <c:v>21</c:v>
                </c:pt>
                <c:pt idx="2">
                  <c:v>25</c:v>
                </c:pt>
              </c:numCache>
            </c:numRef>
          </c:val>
        </c:ser>
        <c:dLbls>
          <c:txPr>
            <a:bodyPr xmlns:a="http://schemas.openxmlformats.org/drawingml/2006/main" anchorCtr="1"/>
            <a:lstStyle xmlns:a="http://schemas.openxmlformats.org/drawingml/2006/main"/>
            <a:p xmlns:a="http://schemas.openxmlformats.org/drawingml/2006/main">
              <a:pPr>
                <a:defRPr>
                  <a:latin typeface="SF Pro Text"/>
                  <a:ea typeface="SF Pro Text"/>
                  <a:cs typeface="SF Pro Text"/>
                </a:defRPr>
              </a:pPr>
            </a:p>
          </c:txPr>
          <c:showLegendKey val="0"/>
          <c:showVal val="0"/>
          <c:showCatName val="0"/>
          <c:showSerName val="0"/>
          <c:showPercent val="0"/>
          <c:showBubbleSize val="0"/>
          <c:showLeaderLines val="0"/>
        </c:dLbls>
        <c:gapWidth val="100"/>
        <c:overlap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SF Pro Text"/>
                    <a:ea typeface="SF Pro Text"/>
                    <a:cs typeface="SF Pro Text"/>
                  </a:rPr>
                  <a:t>Cabang</a:t>
                </a:r>
              </a:p>
            </c:rich>
          </c:tx>
          <c:overlay val="0"/>
          <c:txPr>
            <a:bodyPr xmlns:a="http://schemas.openxmlformats.org/drawingml/2006/main" anchorCtr="1"/>
            <a:lstStyle xmlns:a="http://schemas.openxmlformats.org/drawingml/2006/main"/>
            <a:p xmlns:a="http://schemas.openxmlformats.org/drawingml/2006/main">
              <a:pPr>
                <a:defRPr>
                  <a:latin typeface="SF Pro Text"/>
                  <a:ea typeface="SF Pro Text"/>
                  <a:cs typeface="SF Pro T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4B5868"/>
                </a:solidFill>
                <a:latin typeface="SF Pro Text"/>
                <a:ea typeface="SF Pro Text"/>
                <a:cs typeface="SF Pro Text"/>
              </a:defRPr>
            </a:pPr>
          </a:p>
        </c:txPr>
        <c:crossAx val="48672768"/>
      </c:catAx>
      <c:valAx>
        <c:axId val="48672768"/>
        <c:scaling>
          <c:orientation val="minMax"/>
          <c:min val="0"/>
        </c:scaling>
        <c:delete val="0"/>
        <c:axPos val="l"/>
        <c:majorGridlines>
          <c:spPr>
            <a:ln xmlns:a="http://schemas.openxmlformats.org/drawingml/2006/main" w="9525">
              <a:solidFill>
                <a:srgbClr val="E7EAEE"/>
              </a:solidFill>
              <a:prstDash val="solid"/>
            </a:ln>
          </c:spPr>
        </c:majorGridlines>
        <c:title>
          <c:tx>
            <c:rich>
              <a:bodyPr xmlns:a="http://schemas.openxmlformats.org/drawingml/2006/main"/>
              <a:lstStyle xmlns:a="http://schemas.openxmlformats.org/drawingml/2006/main"/>
              <a:p xmlns:a="http://schemas.openxmlformats.org/drawingml/2006/main">
                <a:r>
                  <a:rPr>
                    <a:latin typeface="SF Pro Text"/>
                    <a:ea typeface="SF Pro Text"/>
                    <a:cs typeface="SF Pro Text"/>
                  </a:rPr>
                  <a:t>Unit terjual</a:t>
                </a:r>
              </a:p>
            </c:rich>
          </c:tx>
          <c:overlay val="0"/>
          <c:txPr>
            <a:bodyPr xmlns:a="http://schemas.openxmlformats.org/drawingml/2006/main" anchorCtr="1"/>
            <a:lstStyle xmlns:a="http://schemas.openxmlformats.org/drawingml/2006/main"/>
            <a:p xmlns:a="http://schemas.openxmlformats.org/drawingml/2006/main">
              <a:pPr>
                <a:defRPr>
                  <a:latin typeface="SF Pro Text"/>
                  <a:ea typeface="SF Pro Text"/>
                  <a:cs typeface="SF Pro T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4B5868"/>
                </a:solidFill>
                <a:latin typeface="SF Pro Text"/>
                <a:ea typeface="SF Pro Text"/>
                <a:cs typeface="SF Pro Text"/>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4B5868"/>
              </a:solidFill>
              <a:latin typeface="SF Pro Text"/>
              <a:ea typeface="SF Pro Text"/>
              <a:cs typeface="SF Pro Text"/>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11A30"/>
                </a:solidFill>
                <a:latin typeface="SF Pro Text"/>
                <a:ea typeface="SF Pro Text"/>
                <a:cs typeface="SF Pro Text"/>
              </a:rPr>
              <a:t>100% stacked bar: persentase</a:t>
            </a:r>
          </a:p>
        </c:rich>
      </c:tx>
      <c:overlay val="0"/>
      <c:txPr>
        <a:bodyPr xmlns:a="http://schemas.openxmlformats.org/drawingml/2006/main" anchorCtr="1"/>
        <a:lstStyle xmlns:a="http://schemas.openxmlformats.org/drawingml/2006/main"/>
        <a:p xmlns:a="http://schemas.openxmlformats.org/drawingml/2006/main">
          <a:pPr>
            <a:defRPr sz="1350" b="1">
              <a:solidFill>
                <a:srgbClr val="111A30"/>
              </a:solidFill>
              <a:latin typeface="SF Pro Text"/>
              <a:ea typeface="SF Pro Text"/>
              <a:cs typeface="SF Pro Text"/>
            </a:defRPr>
          </a:pPr>
        </a:p>
      </c:txPr>
    </c:title>
    <c:plotArea>
      <c:barChart>
        <c:barDir val="col"/>
        <c:grouping val="stacked"/>
        <c:varyColors val="0"/>
        <c:ser>
          <c:idx val="0"/>
          <c:order val="0"/>
          <c:tx>
            <c:v>Buku</c:v>
          </c:tx>
          <c:spPr>
            <a:solidFill xmlns:a="http://schemas.openxmlformats.org/drawingml/2006/main">
              <a:srgbClr val="4FB6E8"/>
            </a:solidFill>
          </c:spPr>
          <c:cat>
            <c:strRef>
              <c:f>'Chart Data'!$A$2:$A$4</c:f>
              <c:strCache>
                <c:ptCount val="3"/>
                <c:pt idx="0">
                  <c:v>Utara</c:v>
                </c:pt>
                <c:pt idx="1">
                  <c:v>Tengah</c:v>
                </c:pt>
                <c:pt idx="2">
                  <c:v>Selatan</c:v>
                </c:pt>
              </c:strCache>
            </c:strRef>
          </c:cat>
          <c:val>
            <c:numRef>
              <c:f>'Chart Data'!$B$2:$B$4</c:f>
              <c:numCache>
                <c:formatCode>0</c:formatCode>
                <c:ptCount val="3"/>
                <c:pt idx="0">
                  <c:v>21.6</c:v>
                </c:pt>
                <c:pt idx="1">
                  <c:v>18.1</c:v>
                </c:pt>
                <c:pt idx="2">
                  <c:v>14.7</c:v>
                </c:pt>
              </c:numCache>
            </c:numRef>
          </c:val>
        </c:ser>
        <c:ser>
          <c:idx val="1"/>
          <c:order val="1"/>
          <c:tx>
            <c:v>Alat Tulis</c:v>
          </c:tx>
          <c:spPr>
            <a:solidFill xmlns:a="http://schemas.openxmlformats.org/drawingml/2006/main">
              <a:srgbClr val="F5D36A"/>
            </a:solidFill>
          </c:spPr>
          <c:cat>
            <c:strRef>
              <c:f>'Chart Data'!$C$2:$C$4</c:f>
              <c:strCache>
                <c:ptCount val="3"/>
                <c:pt idx="0">
                  <c:v>Utara</c:v>
                </c:pt>
                <c:pt idx="1">
                  <c:v>Tengah</c:v>
                </c:pt>
                <c:pt idx="2">
                  <c:v>Selatan</c:v>
                </c:pt>
              </c:strCache>
            </c:strRef>
          </c:cat>
          <c:val>
            <c:numRef>
              <c:f>'Chart Data'!$D$2:$D$4</c:f>
              <c:numCache>
                <c:formatCode>0</c:formatCode>
                <c:ptCount val="3"/>
                <c:pt idx="0">
                  <c:v>16.9</c:v>
                </c:pt>
                <c:pt idx="1">
                  <c:v>23.6</c:v>
                </c:pt>
                <c:pt idx="2">
                  <c:v>18.7</c:v>
                </c:pt>
              </c:numCache>
            </c:numRef>
          </c:val>
        </c:ser>
        <c:ser>
          <c:idx val="2"/>
          <c:order val="2"/>
          <c:tx>
            <c:v>Makanan</c:v>
          </c:tx>
          <c:spPr>
            <a:solidFill xmlns:a="http://schemas.openxmlformats.org/drawingml/2006/main">
              <a:srgbClr val="55B77A"/>
            </a:solidFill>
          </c:spPr>
          <c:cat>
            <c:strRef>
              <c:f>'Chart Data'!$E$2:$E$4</c:f>
              <c:strCache>
                <c:ptCount val="3"/>
                <c:pt idx="0">
                  <c:v>Utara</c:v>
                </c:pt>
                <c:pt idx="1">
                  <c:v>Tengah</c:v>
                </c:pt>
                <c:pt idx="2">
                  <c:v>Selatan</c:v>
                </c:pt>
              </c:strCache>
            </c:strRef>
          </c:cat>
          <c:val>
            <c:numRef>
              <c:f>'Chart Data'!$F$2:$F$4</c:f>
              <c:numCache>
                <c:formatCode>0</c:formatCode>
                <c:ptCount val="3"/>
                <c:pt idx="0">
                  <c:v>27</c:v>
                </c:pt>
                <c:pt idx="1">
                  <c:v>24.3</c:v>
                </c:pt>
                <c:pt idx="2">
                  <c:v>29.3</c:v>
                </c:pt>
              </c:numCache>
            </c:numRef>
          </c:val>
        </c:ser>
        <c:ser>
          <c:idx val="3"/>
          <c:order val="3"/>
          <c:tx>
            <c:v>Minuman</c:v>
          </c:tx>
          <c:spPr>
            <a:solidFill xmlns:a="http://schemas.openxmlformats.org/drawingml/2006/main">
              <a:srgbClr val="196B9B"/>
            </a:solidFill>
          </c:spPr>
          <c:cat>
            <c:strRef>
              <c:f>'Chart Data'!$G$2:$G$4</c:f>
              <c:strCache>
                <c:ptCount val="3"/>
                <c:pt idx="0">
                  <c:v>Utara</c:v>
                </c:pt>
                <c:pt idx="1">
                  <c:v>Tengah</c:v>
                </c:pt>
                <c:pt idx="2">
                  <c:v>Selatan</c:v>
                </c:pt>
              </c:strCache>
            </c:strRef>
          </c:cat>
          <c:val>
            <c:numRef>
              <c:f>'Chart Data'!$H$2:$H$4</c:f>
              <c:numCache>
                <c:formatCode>0</c:formatCode>
                <c:ptCount val="3"/>
                <c:pt idx="0">
                  <c:v>22.3</c:v>
                </c:pt>
                <c:pt idx="1">
                  <c:v>19.4</c:v>
                </c:pt>
                <c:pt idx="2">
                  <c:v>20.7</c:v>
                </c:pt>
              </c:numCache>
            </c:numRef>
          </c:val>
        </c:ser>
        <c:ser>
          <c:idx val="4"/>
          <c:order val="4"/>
          <c:tx>
            <c:v>Aksesori</c:v>
          </c:tx>
          <c:spPr>
            <a:solidFill xmlns:a="http://schemas.openxmlformats.org/drawingml/2006/main">
              <a:srgbClr val="D99A37"/>
            </a:solidFill>
          </c:spPr>
          <c:cat>
            <c:strRef>
              <c:f>'Chart Data'!$I$2:$I$4</c:f>
              <c:strCache>
                <c:ptCount val="3"/>
                <c:pt idx="0">
                  <c:v>Utara</c:v>
                </c:pt>
                <c:pt idx="1">
                  <c:v>Tengah</c:v>
                </c:pt>
                <c:pt idx="2">
                  <c:v>Selatan</c:v>
                </c:pt>
              </c:strCache>
            </c:strRef>
          </c:cat>
          <c:val>
            <c:numRef>
              <c:f>'Chart Data'!$J$2:$J$4</c:f>
              <c:numCache>
                <c:formatCode>0</c:formatCode>
                <c:ptCount val="3"/>
                <c:pt idx="0">
                  <c:v>12.2</c:v>
                </c:pt>
                <c:pt idx="1">
                  <c:v>14.6</c:v>
                </c:pt>
                <c:pt idx="2">
                  <c:v>16.7</c:v>
                </c:pt>
              </c:numCache>
            </c:numRef>
          </c:val>
        </c:ser>
        <c:dLbls>
          <c:txPr>
            <a:bodyPr xmlns:a="http://schemas.openxmlformats.org/drawingml/2006/main" anchorCtr="1"/>
            <a:lstStyle xmlns:a="http://schemas.openxmlformats.org/drawingml/2006/main"/>
            <a:p xmlns:a="http://schemas.openxmlformats.org/drawingml/2006/main">
              <a:pPr>
                <a:defRPr>
                  <a:latin typeface="SF Pro Text"/>
                  <a:ea typeface="SF Pro Text"/>
                  <a:cs typeface="SF Pro Text"/>
                </a:defRPr>
              </a:pPr>
            </a:p>
          </c:txPr>
          <c:showLegendKey val="0"/>
          <c:showVal val="0"/>
          <c:showCatName val="0"/>
          <c:showSerName val="0"/>
          <c:showPercent val="0"/>
          <c:showBubbleSize val="0"/>
          <c:showLeaderLines val="0"/>
        </c:dLbls>
        <c:gapWidth val="100"/>
        <c:overlap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SF Pro Text"/>
                    <a:ea typeface="SF Pro Text"/>
                    <a:cs typeface="SF Pro Text"/>
                  </a:rPr>
                  <a:t>Cabang</a:t>
                </a:r>
              </a:p>
            </c:rich>
          </c:tx>
          <c:overlay val="0"/>
          <c:txPr>
            <a:bodyPr xmlns:a="http://schemas.openxmlformats.org/drawingml/2006/main" anchorCtr="1"/>
            <a:lstStyle xmlns:a="http://schemas.openxmlformats.org/drawingml/2006/main"/>
            <a:p xmlns:a="http://schemas.openxmlformats.org/drawingml/2006/main">
              <a:pPr>
                <a:defRPr>
                  <a:latin typeface="SF Pro Text"/>
                  <a:ea typeface="SF Pro Text"/>
                  <a:cs typeface="SF Pro T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4B5868"/>
                </a:solidFill>
                <a:latin typeface="SF Pro Text"/>
                <a:ea typeface="SF Pro Text"/>
                <a:cs typeface="SF Pro Text"/>
              </a:defRPr>
            </a:pPr>
          </a:p>
        </c:txPr>
        <c:crossAx val="48672768"/>
      </c:catAx>
      <c:valAx>
        <c:axId val="48672768"/>
        <c:scaling>
          <c:orientation val="minMax"/>
          <c:max val="100"/>
          <c:min val="0"/>
        </c:scaling>
        <c:delete val="0"/>
        <c:axPos val="l"/>
        <c:majorGridlines>
          <c:spPr>
            <a:ln xmlns:a="http://schemas.openxmlformats.org/drawingml/2006/main" w="9525">
              <a:solidFill>
                <a:srgbClr val="E7EAEE"/>
              </a:solidFill>
              <a:prstDash val="solid"/>
            </a:ln>
          </c:spPr>
        </c:majorGridlines>
        <c:title>
          <c:tx>
            <c:rich>
              <a:bodyPr xmlns:a="http://schemas.openxmlformats.org/drawingml/2006/main"/>
              <a:lstStyle xmlns:a="http://schemas.openxmlformats.org/drawingml/2006/main"/>
              <a:p xmlns:a="http://schemas.openxmlformats.org/drawingml/2006/main">
                <a:r>
                  <a:rPr>
                    <a:latin typeface="SF Pro Text"/>
                    <a:ea typeface="SF Pro Text"/>
                    <a:cs typeface="SF Pro Text"/>
                  </a:rPr>
                  <a:t>Bagian dari total cabang</a:t>
                </a:r>
              </a:p>
            </c:rich>
          </c:tx>
          <c:overlay val="0"/>
          <c:txPr>
            <a:bodyPr xmlns:a="http://schemas.openxmlformats.org/drawingml/2006/main" anchorCtr="1"/>
            <a:lstStyle xmlns:a="http://schemas.openxmlformats.org/drawingml/2006/main"/>
            <a:p xmlns:a="http://schemas.openxmlformats.org/drawingml/2006/main">
              <a:pPr>
                <a:defRPr>
                  <a:latin typeface="SF Pro Text"/>
                  <a:ea typeface="SF Pro Text"/>
                  <a:cs typeface="SF Pro Text"/>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4B5868"/>
                </a:solidFill>
                <a:latin typeface="SF Pro Text"/>
                <a:ea typeface="SF Pro Text"/>
                <a:cs typeface="SF Pro Text"/>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4B5868"/>
              </a:solidFill>
              <a:latin typeface="SF Pro Text"/>
              <a:ea typeface="SF Pro Text"/>
              <a:cs typeface="SF Pro Text"/>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11A30"/>
                </a:solidFill>
                <a:latin typeface="SF Pro Text"/>
                <a:ea typeface="SF Pro Text"/>
                <a:cs typeface="SF Pro Text"/>
              </a:rPr>
              <a:t>Pie chart: cabang Utara</a:t>
            </a:r>
          </a:p>
        </c:rich>
      </c:tx>
      <c:overlay val="0"/>
      <c:txPr>
        <a:bodyPr xmlns:a="http://schemas.openxmlformats.org/drawingml/2006/main" anchorCtr="1"/>
        <a:lstStyle xmlns:a="http://schemas.openxmlformats.org/drawingml/2006/main"/>
        <a:p xmlns:a="http://schemas.openxmlformats.org/drawingml/2006/main">
          <a:pPr>
            <a:defRPr sz="1350" b="1">
              <a:solidFill>
                <a:srgbClr val="111A30"/>
              </a:solidFill>
              <a:latin typeface="SF Pro Text"/>
              <a:ea typeface="SF Pro Text"/>
              <a:cs typeface="SF Pro Text"/>
            </a:defRPr>
          </a:pPr>
        </a:p>
      </c:txPr>
    </c:title>
    <c:plotArea>
      <c:pieChart>
        <c:ser>
          <c:idx val="0"/>
          <c:order val="0"/>
          <c:tx>
            <c:v>Unit</c:v>
          </c:tx>
          <c:spPr>
            <a:solidFill xmlns:a="http://schemas.openxmlformats.org/drawingml/2006/main">
              <a:srgbClr val="4FB6E8"/>
            </a:solidFill>
          </c:spPr>
          <c:cat>
            <c:strRef>
              <c:f>'Chart Data'!$A$2:$A$6</c:f>
              <c:strCache>
                <c:ptCount val="5"/>
                <c:pt idx="0">
                  <c:v>Buku</c:v>
                </c:pt>
                <c:pt idx="1">
                  <c:v>Alat Tulis</c:v>
                </c:pt>
                <c:pt idx="2">
                  <c:v>Makanan</c:v>
                </c:pt>
                <c:pt idx="3">
                  <c:v>Minuman</c:v>
                </c:pt>
                <c:pt idx="4">
                  <c:v>Aksesori</c:v>
                </c:pt>
              </c:strCache>
            </c:strRef>
          </c:cat>
          <c:val>
            <c:numRef>
              <c:f>'Chart Data'!$B$2:$B$6</c:f>
              <c:numCache>
                <c:formatCode>General</c:formatCode>
                <c:ptCount val="5"/>
                <c:pt idx="0">
                  <c:v>32</c:v>
                </c:pt>
                <c:pt idx="1">
                  <c:v>25</c:v>
                </c:pt>
                <c:pt idx="2">
                  <c:v>40</c:v>
                </c:pt>
                <c:pt idx="3">
                  <c:v>33</c:v>
                </c:pt>
                <c:pt idx="4">
                  <c:v>18</c:v>
                </c:pt>
              </c:numCache>
            </c:numRef>
          </c:val>
        </c:ser>
        <c:dLbls>
          <c:txPr>
            <a:bodyPr xmlns:a="http://schemas.openxmlformats.org/drawingml/2006/main" anchorCtr="1"/>
            <a:lstStyle xmlns:a="http://schemas.openxmlformats.org/drawingml/2006/main"/>
            <a:p xmlns:a="http://schemas.openxmlformats.org/drawingml/2006/main">
              <a:pPr>
                <a:defRPr sz="1050">
                  <a:solidFill>
                    <a:srgbClr val="111A30"/>
                  </a:solidFill>
                  <a:latin typeface="SF Pro Text"/>
                  <a:ea typeface="SF Pro Text"/>
                  <a:cs typeface="SF Pro Text"/>
                </a:defRPr>
              </a:pPr>
            </a:p>
          </c:txPr>
          <c:showLegendKey val="0"/>
          <c:showVal val="0"/>
          <c:showCatName val="0"/>
          <c:showSerName val="0"/>
          <c:showPercent val="1"/>
          <c:showBubbleSize val="0"/>
          <c:showLeaderLines val="0"/>
        </c:dLbls>
      </c:pieChart>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4B5868"/>
              </a:solidFill>
              <a:latin typeface="SF Pro Text"/>
              <a:ea typeface="SF Pro Text"/>
              <a:cs typeface="SF Pro Text"/>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11A30"/>
                </a:solidFill>
                <a:latin typeface="SF Pro Text"/>
                <a:ea typeface="SF Pro Text"/>
                <a:cs typeface="SF Pro Text"/>
              </a:rPr>
              <a:t>Donut chart: cabang Utara</a:t>
            </a:r>
          </a:p>
        </c:rich>
      </c:tx>
      <c:overlay val="0"/>
      <c:txPr>
        <a:bodyPr xmlns:a="http://schemas.openxmlformats.org/drawingml/2006/main" anchorCtr="1"/>
        <a:lstStyle xmlns:a="http://schemas.openxmlformats.org/drawingml/2006/main"/>
        <a:p xmlns:a="http://schemas.openxmlformats.org/drawingml/2006/main">
          <a:pPr>
            <a:defRPr sz="1350" b="1">
              <a:solidFill>
                <a:srgbClr val="111A30"/>
              </a:solidFill>
              <a:latin typeface="SF Pro Text"/>
              <a:ea typeface="SF Pro Text"/>
              <a:cs typeface="SF Pro Text"/>
            </a:defRPr>
          </a:pPr>
        </a:p>
      </c:txPr>
    </c:title>
    <c:plotArea>
      <c:doughnutChart>
        <c:ser>
          <c:idx val="0"/>
          <c:order val="0"/>
          <c:tx>
            <c:v>Unit</c:v>
          </c:tx>
          <c:spPr>
            <a:solidFill xmlns:a="http://schemas.openxmlformats.org/drawingml/2006/main">
              <a:srgbClr val="4FB6E8"/>
            </a:solidFill>
          </c:spPr>
          <c:cat>
            <c:strRef>
              <c:f>'Chart Data'!$A$2:$A$6</c:f>
              <c:strCache>
                <c:ptCount val="5"/>
                <c:pt idx="0">
                  <c:v>Buku</c:v>
                </c:pt>
                <c:pt idx="1">
                  <c:v>Alat Tulis</c:v>
                </c:pt>
                <c:pt idx="2">
                  <c:v>Makanan</c:v>
                </c:pt>
                <c:pt idx="3">
                  <c:v>Minuman</c:v>
                </c:pt>
                <c:pt idx="4">
                  <c:v>Aksesori</c:v>
                </c:pt>
              </c:strCache>
            </c:strRef>
          </c:cat>
          <c:val>
            <c:numRef>
              <c:f>'Chart Data'!$B$2:$B$6</c:f>
              <c:numCache>
                <c:formatCode>General</c:formatCode>
                <c:ptCount val="5"/>
                <c:pt idx="0">
                  <c:v>32</c:v>
                </c:pt>
                <c:pt idx="1">
                  <c:v>25</c:v>
                </c:pt>
                <c:pt idx="2">
                  <c:v>40</c:v>
                </c:pt>
                <c:pt idx="3">
                  <c:v>33</c:v>
                </c:pt>
                <c:pt idx="4">
                  <c:v>18</c:v>
                </c:pt>
              </c:numCache>
            </c:numRef>
          </c:val>
        </c:ser>
        <c:dLbls>
          <c:txPr>
            <a:bodyPr xmlns:a="http://schemas.openxmlformats.org/drawingml/2006/main" anchorCtr="1"/>
            <a:lstStyle xmlns:a="http://schemas.openxmlformats.org/drawingml/2006/main"/>
            <a:p xmlns:a="http://schemas.openxmlformats.org/drawingml/2006/main">
              <a:pPr>
                <a:defRPr sz="1050">
                  <a:solidFill>
                    <a:srgbClr val="111A30"/>
                  </a:solidFill>
                  <a:latin typeface="SF Pro Text"/>
                  <a:ea typeface="SF Pro Text"/>
                  <a:cs typeface="SF Pro Text"/>
                </a:defRPr>
              </a:pPr>
            </a:p>
          </c:txPr>
          <c:showLegendKey val="0"/>
          <c:showVal val="0"/>
          <c:showCatName val="0"/>
          <c:showSerName val="0"/>
          <c:showPercent val="1"/>
          <c:showBubbleSize val="0"/>
          <c:showLeaderLines val="0"/>
        </c:dLbls>
        <c:holeSize val="52"/>
      </c:doughnutChart>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4B5868"/>
              </a:solidFill>
              <a:latin typeface="SF Pro Text"/>
              <a:ea typeface="SF Pro Text"/>
              <a:cs typeface="SF Pro Text"/>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11A30"/>
                </a:solidFill>
                <a:latin typeface="SF Pro Text"/>
                <a:ea typeface="SF Pro Text"/>
                <a:cs typeface="SF Pro Text"/>
              </a:rPr>
              <a:t>Persentase komposisi per cabang</a:t>
            </a:r>
          </a:p>
        </c:rich>
      </c:tx>
      <c:overlay val="0"/>
      <c:txPr>
        <a:bodyPr xmlns:a="http://schemas.openxmlformats.org/drawingml/2006/main" anchorCtr="1"/>
        <a:lstStyle xmlns:a="http://schemas.openxmlformats.org/drawingml/2006/main"/>
        <a:p xmlns:a="http://schemas.openxmlformats.org/drawingml/2006/main">
          <a:pPr>
            <a:defRPr sz="1350" b="1">
              <a:solidFill>
                <a:srgbClr val="111A30"/>
              </a:solidFill>
              <a:latin typeface="SF Pro Text"/>
              <a:ea typeface="SF Pro Text"/>
              <a:cs typeface="SF Pro Text"/>
            </a:defRPr>
          </a:pPr>
        </a:p>
      </c:txPr>
    </c:title>
    <c:plotArea>
      <c:radarChart>
        <c:radarStyle val="marker"/>
        <c:varyColors val="1"/>
        <c:ser>
          <c:idx val="0"/>
          <c:order val="0"/>
          <c:tx>
            <c:v>Utara</c:v>
          </c:tx>
          <c:spPr>
            <a:ln xmlns:a="http://schemas.openxmlformats.org/drawingml/2006/main" w="28575">
              <a:solidFill>
                <a:srgbClr val="196B9B"/>
              </a:solidFill>
              <a:prstDash val="solid"/>
            </a:ln>
          </c:spPr>
          <c:marker>
            <c:symbol val="circle"/>
            <c:size val="6"/>
            <c:spPr>
              <a:solidFill xmlns:a="http://schemas.openxmlformats.org/drawingml/2006/main">
                <a:srgbClr val="196B9B"/>
              </a:solidFill>
            </c:spPr>
          </c:marker>
          <c:cat>
            <c:strRef>
              <c:f>'Chart Data'!$A$2:$A$6</c:f>
              <c:strCache>
                <c:ptCount val="5"/>
                <c:pt idx="0">
                  <c:v>Buku</c:v>
                </c:pt>
                <c:pt idx="1">
                  <c:v>Alat Tulis</c:v>
                </c:pt>
                <c:pt idx="2">
                  <c:v>Makanan</c:v>
                </c:pt>
                <c:pt idx="3">
                  <c:v>Minuman</c:v>
                </c:pt>
                <c:pt idx="4">
                  <c:v>Aksesori</c:v>
                </c:pt>
              </c:strCache>
            </c:strRef>
          </c:cat>
          <c:val>
            <c:numRef>
              <c:f>'Chart Data'!$B$2:$B$6</c:f>
              <c:numCache>
                <c:formatCode>General</c:formatCode>
                <c:ptCount val="5"/>
                <c:pt idx="0">
                  <c:v>21.6</c:v>
                </c:pt>
                <c:pt idx="1">
                  <c:v>16.9</c:v>
                </c:pt>
                <c:pt idx="2">
                  <c:v>27</c:v>
                </c:pt>
                <c:pt idx="3">
                  <c:v>22.3</c:v>
                </c:pt>
                <c:pt idx="4">
                  <c:v>12.2</c:v>
                </c:pt>
              </c:numCache>
            </c:numRef>
          </c:val>
        </c:ser>
        <c:ser>
          <c:idx val="1"/>
          <c:order val="1"/>
          <c:tx>
            <c:v>Tengah</c:v>
          </c:tx>
          <c:spPr>
            <a:ln xmlns:a="http://schemas.openxmlformats.org/drawingml/2006/main" w="28575">
              <a:solidFill>
                <a:srgbClr val="D99A37"/>
              </a:solidFill>
              <a:prstDash val="solid"/>
            </a:ln>
          </c:spPr>
          <c:marker>
            <c:symbol val="circle"/>
            <c:size val="6"/>
            <c:spPr>
              <a:solidFill xmlns:a="http://schemas.openxmlformats.org/drawingml/2006/main">
                <a:srgbClr val="D99A37"/>
              </a:solidFill>
            </c:spPr>
          </c:marker>
          <c:cat>
            <c:strRef>
              <c:f>'Chart Data'!$C$2:$C$6</c:f>
              <c:strCache>
                <c:ptCount val="5"/>
                <c:pt idx="0">
                  <c:v>Buku</c:v>
                </c:pt>
                <c:pt idx="1">
                  <c:v>Alat Tulis</c:v>
                </c:pt>
                <c:pt idx="2">
                  <c:v>Makanan</c:v>
                </c:pt>
                <c:pt idx="3">
                  <c:v>Minuman</c:v>
                </c:pt>
                <c:pt idx="4">
                  <c:v>Aksesori</c:v>
                </c:pt>
              </c:strCache>
            </c:strRef>
          </c:cat>
          <c:val>
            <c:numRef>
              <c:f>'Chart Data'!$D$2:$D$6</c:f>
              <c:numCache>
                <c:formatCode>General</c:formatCode>
                <c:ptCount val="5"/>
                <c:pt idx="0">
                  <c:v>18.1</c:v>
                </c:pt>
                <c:pt idx="1">
                  <c:v>23.6</c:v>
                </c:pt>
                <c:pt idx="2">
                  <c:v>24.3</c:v>
                </c:pt>
                <c:pt idx="3">
                  <c:v>19.4</c:v>
                </c:pt>
                <c:pt idx="4">
                  <c:v>14.6</c:v>
                </c:pt>
              </c:numCache>
            </c:numRef>
          </c:val>
        </c:ser>
        <c:dLbls>
          <c:txPr>
            <a:bodyPr xmlns:a="http://schemas.openxmlformats.org/drawingml/2006/main" anchorCtr="1"/>
            <a:lstStyle xmlns:a="http://schemas.openxmlformats.org/drawingml/2006/main"/>
            <a:p xmlns:a="http://schemas.openxmlformats.org/drawingml/2006/main">
              <a:pPr>
                <a:defRPr>
                  <a:latin typeface="SF Pro Text"/>
                  <a:ea typeface="SF Pro Text"/>
                  <a:cs typeface="SF Pro Text"/>
                </a:defRPr>
              </a:pPr>
            </a:p>
          </c:txPr>
          <c:showLegendKey val="0"/>
          <c:showVal val="0"/>
          <c:showCatName val="0"/>
          <c:showSerName val="0"/>
          <c:showPercent val="0"/>
          <c:showBubbleSize val="0"/>
          <c:showLeaderLines val="0"/>
        </c:dLbls>
        <c:axId val="48650112"/>
        <c:axId val="48672768"/>
      </c:rad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SF Pro Text"/>
                <a:ea typeface="SF Pro Text"/>
                <a:cs typeface="SF Pro Text"/>
              </a:defRPr>
            </a:pPr>
          </a:p>
        </c:txPr>
        <c:crossAx val="48672768"/>
      </c:catAx>
      <c:valAx>
        <c:axId val="48672768"/>
        <c:scaling>
          <c:orientation val="minMax"/>
          <c:max val="40"/>
          <c:min val="0"/>
        </c:scaling>
        <c:delete val="0"/>
        <c:axPos val="l"/>
        <c:majorGridlines>
          <c:spPr>
            <a:ln xmlns:a="http://schemas.openxmlformats.org/drawingml/2006/main" w="9525">
              <a:solidFill>
                <a:srgbClr val="E7EAEE"/>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4B5868"/>
                </a:solidFill>
                <a:latin typeface="SF Pro Text"/>
                <a:ea typeface="SF Pro Text"/>
                <a:cs typeface="SF Pro Text"/>
              </a:defRPr>
            </a:pPr>
          </a:p>
        </c:txPr>
        <c:crossAx val="48650112"/>
        <c:crossBetween val="between"/>
        <c:majorUnit val="10"/>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4B5868"/>
              </a:solidFill>
              <a:latin typeface="SF Pro Text"/>
              <a:ea typeface="SF Pro Text"/>
              <a:cs typeface="SF Pro Text"/>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extendedCharts/chart.xml><?xml version="1.0" encoding="utf-8"?>
<cx:chartSpace xmlns:cx="http://schemas.microsoft.com/office/drawing/2014/chartex">
  <cx:chartData>
    <cx:data id="0">
      <cx:strDim type="cat">
        <cx:lvl ptCount="15">
          <cx:pt idx="0">Penjualan</cx:pt>
          <cx:pt idx="1">Penjualan</cx:pt>
          <cx:pt idx="2">Penjualan</cx:pt>
          <cx:pt idx="3">Penjualan</cx:pt>
          <cx:pt idx="4">Penjualan</cx:pt>
          <cx:pt idx="5">Penjualan</cx:pt>
          <cx:pt idx="6">Penjualan</cx:pt>
          <cx:pt idx="7">Penjualan</cx:pt>
          <cx:pt idx="8">Penjualan</cx:pt>
          <cx:pt idx="9">Penjualan</cx:pt>
          <cx:pt idx="10">Penjualan</cx:pt>
          <cx:pt idx="11">Penjualan</cx:pt>
          <cx:pt idx="12">Penjualan</cx:pt>
          <cx:pt idx="13">Penjualan</cx:pt>
          <cx:pt idx="14">Penjualan</cx:pt>
        </cx:lvl>
        <cx:lvl ptCount="15">
          <cx:pt idx="0">Utara</cx:pt>
          <cx:pt idx="1">Utara</cx:pt>
          <cx:pt idx="2">Utara</cx:pt>
          <cx:pt idx="3">Utara</cx:pt>
          <cx:pt idx="4">Utara</cx:pt>
          <cx:pt idx="5">Tengah</cx:pt>
          <cx:pt idx="6">Tengah</cx:pt>
          <cx:pt idx="7">Tengah</cx:pt>
          <cx:pt idx="8">Tengah</cx:pt>
          <cx:pt idx="9">Tengah</cx:pt>
          <cx:pt idx="10">Selatan</cx:pt>
          <cx:pt idx="11">Selatan</cx:pt>
          <cx:pt idx="12">Selatan</cx:pt>
          <cx:pt idx="13">Selatan</cx:pt>
          <cx:pt idx="14">Selatan</cx:pt>
        </cx:lvl>
        <cx:lvl ptCount="15">
          <cx:pt idx="0">Buku</cx:pt>
          <cx:pt idx="1">Alat Tulis</cx:pt>
          <cx:pt idx="2">Makanan</cx:pt>
          <cx:pt idx="3">Minuman</cx:pt>
          <cx:pt idx="4">Aksesori</cx:pt>
          <cx:pt idx="5">Buku</cx:pt>
          <cx:pt idx="6">Alat Tulis</cx:pt>
          <cx:pt idx="7">Makanan</cx:pt>
          <cx:pt idx="8">Minuman</cx:pt>
          <cx:pt idx="9">Aksesori</cx:pt>
          <cx:pt idx="10">Buku</cx:pt>
          <cx:pt idx="11">Alat Tulis</cx:pt>
          <cx:pt idx="12">Makanan</cx:pt>
          <cx:pt idx="13">Minuman</cx:pt>
          <cx:pt idx="14">Aksesori</cx:pt>
        </cx:lvl>
      </cx:strDim>
      <cx:numDim type="size">
        <cx:lvl ptCount="15">
          <cx:pt idx="0">32</cx:pt>
          <cx:pt idx="1">25</cx:pt>
          <cx:pt idx="2">40</cx:pt>
          <cx:pt idx="3">33</cx:pt>
          <cx:pt idx="4">18</cx:pt>
          <cx:pt idx="5">26</cx:pt>
          <cx:pt idx="6">34</cx:pt>
          <cx:pt idx="7">35</cx:pt>
          <cx:pt idx="8">28</cx:pt>
          <cx:pt idx="9">21</cx:pt>
          <cx:pt idx="10">22</cx:pt>
          <cx:pt idx="11">28</cx:pt>
          <cx:pt idx="12">44</cx:pt>
          <cx:pt idx="13">31</cx:pt>
          <cx:pt idx="14">25</cx:pt>
        </cx:lvl>
      </cx:numDim>
    </cx:data>
  </cx:chartData>
  <cx:chart>
    <cx:title overlay="0">
      <cx:tx>
        <cx:txData>
          <cx:v>Unit terjual menurut cabang dan kategori</cx:v>
        </cx:txData>
      </cx:tx>
      <cx:txPr>
        <a:bodyPr xmlns:a="http://schemas.openxmlformats.org/drawingml/2006/main"/>
        <a:lstStyle xmlns:a="http://schemas.openxmlformats.org/drawingml/2006/main"/>
        <a:p xmlns:a="http://schemas.openxmlformats.org/drawingml/2006/main">
          <a:pPr>
            <a:defRPr sz="1350" b="1">
              <a:solidFill>
                <a:srgbClr val="111A30"/>
              </a:solidFill>
              <a:latin typeface="SF Pro Text"/>
              <a:ea typeface="SF Pro Text"/>
              <a:cs typeface="SF Pro Text"/>
            </a:defRPr>
          </a:pPr>
          <a:r>
            <a:rPr sz="1350" b="1">
              <a:solidFill>
                <a:srgbClr val="111A30"/>
              </a:solidFill>
              <a:latin typeface="SF Pro Text"/>
              <a:ea typeface="SF Pro Text"/>
              <a:cs typeface="SF Pro Text"/>
            </a:rPr>
            <a:t>Unit terjual menurut cabang dan kategori</a:t>
          </a:r>
        </a:p>
      </cx:txPr>
    </cx:title>
    <cx:plotArea>
      <cx:plotAreaRegion>
        <cx:series layoutId="treemap">
          <cx:tx>
            <cx:txData>
              <cx:v>Unit</cx:v>
            </cx:txData>
          </cx:tx>
          <cx:spPr>
            <a:solidFill xmlns:a="http://schemas.openxmlformats.org/drawingml/2006/main">
              <a:srgbClr val="4FB6E8"/>
            </a:solidFill>
          </cx:spPr>
          <cx:dataLabels pos="ctr">
            <cx:txPr>
              <a:bodyPr xmlns:a="http://schemas.openxmlformats.org/drawingml/2006/main"/>
              <a:lstStyle xmlns:a="http://schemas.openxmlformats.org/drawingml/2006/main"/>
              <a:p xmlns:a="http://schemas.openxmlformats.org/drawingml/2006/main">
                <a:pPr>
                  <a:defRPr sz="975">
                    <a:solidFill>
                      <a:srgbClr val="111A30"/>
                    </a:solidFill>
                    <a:latin typeface="SF Pro Text"/>
                    <a:ea typeface="SF Pro Text"/>
                    <a:cs typeface="SF Pro Text"/>
                  </a:defRPr>
                </a:pPr>
              </a:p>
            </cx:txPr>
            <cx:visibility seriesName="0" categoryName="1" value="1"/>
          </cx:dataLabels>
          <cx:dataId val="0"/>
          <cx:layoutPr>
            <cx:parentLabelLayout val="banner"/>
          </cx:layoutPr>
        </cx:series>
      </cx:plotAreaRegion>
      <cx:spPr>
        <a:solidFill xmlns:a="http://schemas.openxmlformats.org/drawingml/2006/main">
          <a:srgbClr val="FFFFFF"/>
        </a:solidFill>
        <a:ln xmlns:a="http://schemas.openxmlformats.org/drawingml/2006/main" w="0">
          <a:noFill/>
          <a:prstDash val="solid"/>
        </a:ln>
      </cx:spPr>
    </cx:plotArea>
  </cx:chart>
</cx: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58C1D0AA-4D1C-43C6-96BE-E4A2789392F5}"/>
              </a:ext>
            </a:extLst>
          </p:cNvPr>
          <p:cNvPicPr>
            <a:picLocks xmlns:a="http://schemas.openxmlformats.org/drawingml/2006/main" noChangeAspect="1"/>
          </p:cNvPicPr>
          <p:nvPr/>
        </p:nvPicPr>
        <p:blipFill>
          <a:blip xmlns:r="http://schemas.openxmlformats.org/officeDocument/2006/relationships" xmlns:a="http://schemas.openxmlformats.org/drawingml/2006/main" r:embed="R91077625d83d4bff"/>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5D0EDE2-B1DF-4E69-801B-CE3BABDAFAE4}"/>
              </a:ext>
            </a:extLst>
          </p:cNvPr>
          <p:cNvSpPr>
            <a:spLocks xmlns:a="http://schemas.openxmlformats.org/drawingml/2006/main" noGrp="1"/>
          </p:cNvSpPr>
          <p:nvPr/>
        </p:nvSpPr>
        <p:spPr>
          <a:xfrm xmlns:a="http://schemas.openxmlformats.org/drawingml/2006/main">
            <a:off x="742950" y="2171700"/>
            <a:ext cx="4476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900" b="1">
                <a:solidFill>
                  <a:srgbClr val="111A30"/>
                </a:solidFill>
                <a:latin typeface="SF Pro Display"/>
                <a:ea typeface="SF Pro Display"/>
                <a:cs typeface="SF Pro Display"/>
              </a:defRPr>
            </a:defPPr>
          </a:lstStyle>
          <a:p xmlns:a="http://schemas.openxmlformats.org/drawingml/2006/main">
            <a:pPr algn="l">
              <a:lnSpc>
                <a:spcPct val="106000"/>
              </a:lnSpc>
              <a:buNone/>
              <a:defRPr sz="3900" b="1">
                <a:solidFill>
                  <a:srgbClr val="111A30"/>
                </a:solidFill>
                <a:latin typeface="SF Pro Display"/>
                <a:ea typeface="SF Pro Display"/>
                <a:cs typeface="SF Pro Display"/>
              </a:defRPr>
            </a:pPr>
            <a:r>
              <a:rPr sz="3900" b="1">
                <a:solidFill>
                  <a:srgbClr val="111A30"/>
                </a:solidFill>
                <a:latin typeface="SF Pro Display"/>
                <a:ea typeface="SF Pro Display"/>
                <a:cs typeface="SF Pro Display"/>
              </a:rPr>
              <a:t>Visualisasi Data</a:t>
            </a:r>
          </a:p>
          <a:p xmlns:a="http://schemas.openxmlformats.org/drawingml/2006/main">
            <a:pPr algn="l">
              <a:lnSpc>
                <a:spcPct val="106000"/>
              </a:lnSpc>
              <a:buNone/>
              <a:defRPr sz="3900" b="1">
                <a:solidFill>
                  <a:srgbClr val="111A30"/>
                </a:solidFill>
                <a:latin typeface="SF Pro Display"/>
                <a:ea typeface="SF Pro Display"/>
                <a:cs typeface="SF Pro Display"/>
              </a:defRPr>
            </a:pPr>
            <a:r>
              <a:rPr sz="3900" b="1">
                <a:solidFill>
                  <a:srgbClr val="111A30"/>
                </a:solidFill>
                <a:latin typeface="SF Pro Display"/>
                <a:ea typeface="SF Pro Display"/>
                <a:cs typeface="SF Pro Display"/>
              </a:rPr>
              <a:t>Perbandingan dan Komposisi</a:t>
            </a:r>
          </a:p>
        </p:txBody>
      </p:sp>
    </p:spTree>
    <p:extLst>
      <p:ext uri="{BB962C8B-B14F-4D97-AF65-F5344CB8AC3E}">
        <p14:creationId xmlns:p14="http://schemas.microsoft.com/office/powerpoint/2010/main" val="21016145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6F4178-12B7-4F7F-BC50-E4C165C008DB}"/>
              </a:ext>
            </a:extLst>
          </p:cNvPr>
          <p:cNvSpPr>
            <a:spLocks xmlns:a="http://schemas.openxmlformats.org/drawingml/2006/main" noGrp="1"/>
          </p:cNvSpPr>
          <p:nvPr/>
        </p:nvSpPr>
        <p:spPr>
          <a:xfrm xmlns:a="http://schemas.openxmlformats.org/drawingml/2006/main">
            <a:off x="685800" y="4191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11A30"/>
                </a:solidFill>
                <a:latin typeface="SF Pro Display"/>
                <a:ea typeface="SF Pro Display"/>
                <a:cs typeface="SF Pro Display"/>
              </a:defRPr>
            </a:defPPr>
          </a:lstStyle>
          <a:p xmlns:a="http://schemas.openxmlformats.org/drawingml/2006/main">
            <a:pPr algn="l">
              <a:lnSpc>
                <a:spcPct val="106000"/>
              </a:lnSpc>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Data penjualan festival sekolah</a:t>
            </a:r>
          </a:p>
        </p:txBody>
      </p:sp>
      <p:sp>
        <p:nvSpPr>
          <p:cNvPr id="2" name="">
            <a:extLst xmlns:a="http://schemas.openxmlformats.org/drawingml/2006/main">
              <a:ext uri="{FF2B5EF4-FFF2-40B4-BE49-F238E27FC236}">
                <a16:creationId xmlns:a16="http://schemas.microsoft.com/office/drawing/2014/main" id="{CA89CD65-EF01-46E1-B241-63480F6A6EA9}"/>
              </a:ext>
            </a:extLst>
          </p:cNvPr>
          <p:cNvSpPr>
            <a:spLocks xmlns:a="http://schemas.openxmlformats.org/drawingml/2006/main" noGrp="1"/>
          </p:cNvSpPr>
          <p:nvPr/>
        </p:nvSpPr>
        <p:spPr>
          <a:xfrm xmlns:a="http://schemas.openxmlformats.org/drawingml/2006/main">
            <a:off x="685800" y="10096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4B5868"/>
                </a:solidFill>
                <a:latin typeface="SF Pro Text"/>
                <a:ea typeface="SF Pro Text"/>
                <a:cs typeface="SF Pro Text"/>
              </a:defRPr>
            </a:defPPr>
          </a:lstStyle>
          <a:p xmlns:a="http://schemas.openxmlformats.org/drawingml/2006/main">
            <a:pPr algn="l">
              <a:lnSpc>
                <a:spcPct val="106000"/>
              </a:lnSpc>
              <a:buNone/>
              <a:defRPr sz="1500" b="0">
                <a:solidFill>
                  <a:srgbClr val="4B5868"/>
                </a:solidFill>
                <a:latin typeface="SF Pro Text"/>
                <a:ea typeface="SF Pro Text"/>
                <a:cs typeface="SF Pro Text"/>
              </a:defRPr>
            </a:pPr>
            <a:r>
              <a:rPr sz="1500" b="0">
                <a:solidFill>
                  <a:srgbClr val="4B5868"/>
                </a:solidFill>
                <a:latin typeface="SF Pro Text"/>
                <a:ea typeface="SF Pro Text"/>
                <a:cs typeface="SF Pro Text"/>
              </a:rPr>
              <a:t>Setiap baris merangkum unit terjual pada satu cabang dan satu kategori</a:t>
            </a:r>
          </a:p>
        </p:txBody>
      </p:sp>
      <p:sp>
        <p:nvSpPr>
          <p:cNvPr id="3" name="">
            <a:extLst xmlns:a="http://schemas.openxmlformats.org/drawingml/2006/main">
              <a:ext uri="{FF2B5EF4-FFF2-40B4-BE49-F238E27FC236}">
                <a16:creationId xmlns:a16="http://schemas.microsoft.com/office/drawing/2014/main" id="{637F0956-FB18-45EE-B835-BF03BD4F5002}"/>
              </a:ext>
            </a:extLst>
          </p:cNvPr>
          <p:cNvSpPr>
            <a:spLocks xmlns:a="http://schemas.openxmlformats.org/drawingml/2006/main" noGrp="1"/>
          </p:cNvSpPr>
          <p:nvPr/>
        </p:nvSpPr>
        <p:spPr>
          <a:xfrm xmlns:a="http://schemas.openxmlformats.org/drawingml/2006/main">
            <a:off x="685800" y="1571625"/>
            <a:ext cx="10820400" cy="0"/>
          </a:xfrm>
          <a:prstGeom xmlns:a="http://schemas.openxmlformats.org/drawingml/2006/main" prst="line">
            <a:avLst/>
          </a:prstGeom>
          <a:noFill xmlns:a="http://schemas.openxmlformats.org/drawingml/2006/main"/>
          <a:ln xmlns:a="http://schemas.openxmlformats.org/drawingml/2006/main" w="11906">
            <a:solidFill>
              <a:srgbClr val="E7EAEE"/>
            </a:solidFill>
            <a:prstDash val="solid"/>
          </a:ln>
        </p:spPr>
      </p:sp>
      <p:graphicFrame>
        <p:nvGraphicFramePr>
          <p:cNvPr id="4" name="">
            <a:extLst xmlns:a="http://schemas.openxmlformats.org/drawingml/2006/main">
              <a:ext uri="{FF2B5EF4-FFF2-40B4-BE49-F238E27FC236}">
                <a16:creationId xmlns:a16="http://schemas.microsoft.com/office/drawing/2014/main" id="{4670786D-EE68-4683-8A96-8E75A46198AD}"/>
              </a:ext>
            </a:extLst>
          </p:cNvPr>
          <p:cNvGraphicFramePr/>
          <p:nvPr/>
        </p:nvGraphicFramePr>
        <p:xfrm>
          <a:off xmlns:a="http://schemas.openxmlformats.org/drawingml/2006/main" x="781050" y="2133600"/>
          <a:ext xmlns:a="http://schemas.openxmlformats.org/drawingml/2006/main" cx="10629900" cy="2400300"/>
        </p:xfrm>
        <a:graphic xmlns:a="http://schemas.openxmlformats.org/drawingml/2006/main">
          <a:graphicData uri="http://schemas.openxmlformats.org/drawingml/2006/table">
            <a:tbl>
              <a:tblPr firstRow="0" bandRow="0"/>
              <a:tblGrid>
                <a:gridCol w="1581150"/>
                <a:gridCol w="1619250"/>
                <a:gridCol w="1924050"/>
                <a:gridCol w="1809750"/>
                <a:gridCol w="1809750"/>
                <a:gridCol w="1885950"/>
              </a:tblGrid>
              <a:tr h="600075">
                <a:tc>
                  <a:txBody>
                    <a:bodyPr wrap="square" lIns="95250" tIns="76200" rIns="95250" bIns="76200">
                      <a:normAutofit/>
                    </a:bodyPr>
                    <a:lstStyle/>
                    <a:p>
                      <a:pPr algn="l"/>
                      <a:r>
                        <a:rPr sz="1425" b="1">
                          <a:solidFill>
                            <a:srgbClr val="FFFFFF"/>
                          </a:solidFill>
                          <a:latin typeface="SF Pro Text"/>
                          <a:ea typeface="SF Pro Text"/>
                          <a:cs typeface="SF Pro Text"/>
                        </a:rPr>
                        <a:t>Cabang</a:t>
                      </a:r>
                    </a:p>
                  </a:txBody>
                  <a:tcPr marL="91440" marR="91440" marT="45720" marB="45720" anchor="ctr">
                    <a:solidFill>
                      <a:srgbClr val="111A30"/>
                    </a:solidFill>
                  </a:tcPr>
                </a:tc>
                <a:tc>
                  <a:txBody>
                    <a:bodyPr wrap="square" lIns="95250" tIns="76200" rIns="95250" bIns="76200">
                      <a:normAutofit/>
                    </a:bodyPr>
                    <a:lstStyle/>
                    <a:p>
                      <a:pPr algn="ctr"/>
                      <a:r>
                        <a:rPr sz="1425" b="1">
                          <a:solidFill>
                            <a:srgbClr val="FFFFFF"/>
                          </a:solidFill>
                          <a:latin typeface="SF Pro Text"/>
                          <a:ea typeface="SF Pro Text"/>
                          <a:cs typeface="SF Pro Text"/>
                        </a:rPr>
                        <a:t>Buku</a:t>
                      </a:r>
                    </a:p>
                  </a:txBody>
                  <a:tcPr marL="91440" marR="91440" marT="45720" marB="45720" anchor="ctr">
                    <a:solidFill>
                      <a:srgbClr val="111A30"/>
                    </a:solidFill>
                  </a:tcPr>
                </a:tc>
                <a:tc>
                  <a:txBody>
                    <a:bodyPr wrap="square" lIns="95250" tIns="76200" rIns="95250" bIns="76200">
                      <a:normAutofit/>
                    </a:bodyPr>
                    <a:lstStyle/>
                    <a:p>
                      <a:pPr algn="ctr"/>
                      <a:r>
                        <a:rPr sz="1425" b="1">
                          <a:solidFill>
                            <a:srgbClr val="FFFFFF"/>
                          </a:solidFill>
                          <a:latin typeface="SF Pro Text"/>
                          <a:ea typeface="SF Pro Text"/>
                          <a:cs typeface="SF Pro Text"/>
                        </a:rPr>
                        <a:t>Alat Tulis</a:t>
                      </a:r>
                    </a:p>
                  </a:txBody>
                  <a:tcPr marL="91440" marR="91440" marT="45720" marB="45720" anchor="ctr">
                    <a:solidFill>
                      <a:srgbClr val="111A30"/>
                    </a:solidFill>
                  </a:tcPr>
                </a:tc>
                <a:tc>
                  <a:txBody>
                    <a:bodyPr wrap="square" lIns="95250" tIns="76200" rIns="95250" bIns="76200">
                      <a:normAutofit/>
                    </a:bodyPr>
                    <a:lstStyle/>
                    <a:p>
                      <a:pPr algn="ctr"/>
                      <a:r>
                        <a:rPr sz="1425" b="1">
                          <a:solidFill>
                            <a:srgbClr val="FFFFFF"/>
                          </a:solidFill>
                          <a:latin typeface="SF Pro Text"/>
                          <a:ea typeface="SF Pro Text"/>
                          <a:cs typeface="SF Pro Text"/>
                        </a:rPr>
                        <a:t>Makanan</a:t>
                      </a:r>
                    </a:p>
                  </a:txBody>
                  <a:tcPr marL="91440" marR="91440" marT="45720" marB="45720" anchor="ctr">
                    <a:solidFill>
                      <a:srgbClr val="111A30"/>
                    </a:solidFill>
                  </a:tcPr>
                </a:tc>
                <a:tc>
                  <a:txBody>
                    <a:bodyPr wrap="square" lIns="95250" tIns="76200" rIns="95250" bIns="76200">
                      <a:normAutofit/>
                    </a:bodyPr>
                    <a:lstStyle/>
                    <a:p>
                      <a:pPr algn="ctr"/>
                      <a:r>
                        <a:rPr sz="1425" b="1">
                          <a:solidFill>
                            <a:srgbClr val="FFFFFF"/>
                          </a:solidFill>
                          <a:latin typeface="SF Pro Text"/>
                          <a:ea typeface="SF Pro Text"/>
                          <a:cs typeface="SF Pro Text"/>
                        </a:rPr>
                        <a:t>Minuman</a:t>
                      </a:r>
                    </a:p>
                  </a:txBody>
                  <a:tcPr marL="91440" marR="91440" marT="45720" marB="45720" anchor="ctr">
                    <a:solidFill>
                      <a:srgbClr val="111A30"/>
                    </a:solidFill>
                  </a:tcPr>
                </a:tc>
                <a:tc>
                  <a:txBody>
                    <a:bodyPr wrap="square" lIns="95250" tIns="76200" rIns="95250" bIns="76200">
                      <a:normAutofit/>
                    </a:bodyPr>
                    <a:lstStyle/>
                    <a:p>
                      <a:pPr algn="ctr"/>
                      <a:r>
                        <a:rPr sz="1425" b="1">
                          <a:solidFill>
                            <a:srgbClr val="FFFFFF"/>
                          </a:solidFill>
                          <a:latin typeface="SF Pro Text"/>
                          <a:ea typeface="SF Pro Text"/>
                          <a:cs typeface="SF Pro Text"/>
                        </a:rPr>
                        <a:t>Aksesori</a:t>
                      </a:r>
                    </a:p>
                  </a:txBody>
                  <a:tcPr marL="91440" marR="91440" marT="45720" marB="45720" anchor="ctr">
                    <a:solidFill>
                      <a:srgbClr val="111A30"/>
                    </a:solidFill>
                  </a:tcPr>
                </a:tc>
              </a:tr>
              <a:tr h="600075">
                <a:tc>
                  <a:txBody>
                    <a:bodyPr wrap="square" lIns="95250" tIns="76200" rIns="95250" bIns="76200">
                      <a:normAutofit/>
                    </a:bodyPr>
                    <a:lstStyle/>
                    <a:p>
                      <a:pPr algn="l"/>
                      <a:r>
                        <a:rPr sz="1425" b="1">
                          <a:solidFill>
                            <a:srgbClr val="111A30"/>
                          </a:solidFill>
                          <a:latin typeface="SF Pro Text"/>
                          <a:ea typeface="SF Pro Text"/>
                          <a:cs typeface="SF Pro Text"/>
                        </a:rPr>
                        <a:t>Utara</a:t>
                      </a:r>
                    </a:p>
                  </a:txBody>
                  <a:tcPr marL="91440" marR="91440" marT="45720" marB="45720" anchor="ctr">
                    <a:solidFill>
                      <a:srgbClr val="EAF6FC"/>
                    </a:solidFill>
                  </a:tcPr>
                </a:tc>
                <a:tc>
                  <a:txBody>
                    <a:bodyPr wrap="square" lIns="95250" tIns="76200" rIns="95250" bIns="76200">
                      <a:normAutofit/>
                    </a:bodyPr>
                    <a:lstStyle/>
                    <a:p>
                      <a:pPr algn="ctr"/>
                      <a:r>
                        <a:rPr sz="1425" b="0">
                          <a:solidFill>
                            <a:srgbClr val="111A30"/>
                          </a:solidFill>
                          <a:latin typeface="SF Pro Text"/>
                          <a:ea typeface="SF Pro Text"/>
                          <a:cs typeface="SF Pro Text"/>
                        </a:rPr>
                        <a:t>32</a:t>
                      </a:r>
                    </a:p>
                  </a:txBody>
                  <a:tcPr marL="91440" marR="91440" marT="45720" marB="45720" anchor="ctr">
                    <a:solidFill>
                      <a:srgbClr val="EAF6FC"/>
                    </a:solidFill>
                  </a:tcPr>
                </a:tc>
                <a:tc>
                  <a:txBody>
                    <a:bodyPr wrap="square" lIns="95250" tIns="76200" rIns="95250" bIns="76200">
                      <a:normAutofit/>
                    </a:bodyPr>
                    <a:lstStyle/>
                    <a:p>
                      <a:pPr algn="ctr"/>
                      <a:r>
                        <a:rPr sz="1425" b="0">
                          <a:solidFill>
                            <a:srgbClr val="111A30"/>
                          </a:solidFill>
                          <a:latin typeface="SF Pro Text"/>
                          <a:ea typeface="SF Pro Text"/>
                          <a:cs typeface="SF Pro Text"/>
                        </a:rPr>
                        <a:t>25</a:t>
                      </a:r>
                    </a:p>
                  </a:txBody>
                  <a:tcPr marL="91440" marR="91440" marT="45720" marB="45720" anchor="ctr">
                    <a:solidFill>
                      <a:srgbClr val="EAF6FC"/>
                    </a:solidFill>
                  </a:tcPr>
                </a:tc>
                <a:tc>
                  <a:txBody>
                    <a:bodyPr wrap="square" lIns="95250" tIns="76200" rIns="95250" bIns="76200">
                      <a:normAutofit/>
                    </a:bodyPr>
                    <a:lstStyle/>
                    <a:p>
                      <a:pPr algn="ctr"/>
                      <a:r>
                        <a:rPr sz="1425" b="0">
                          <a:solidFill>
                            <a:srgbClr val="111A30"/>
                          </a:solidFill>
                          <a:latin typeface="SF Pro Text"/>
                          <a:ea typeface="SF Pro Text"/>
                          <a:cs typeface="SF Pro Text"/>
                        </a:rPr>
                        <a:t>40</a:t>
                      </a:r>
                    </a:p>
                  </a:txBody>
                  <a:tcPr marL="91440" marR="91440" marT="45720" marB="45720" anchor="ctr">
                    <a:solidFill>
                      <a:srgbClr val="EAF6FC"/>
                    </a:solidFill>
                  </a:tcPr>
                </a:tc>
                <a:tc>
                  <a:txBody>
                    <a:bodyPr wrap="square" lIns="95250" tIns="76200" rIns="95250" bIns="76200">
                      <a:normAutofit/>
                    </a:bodyPr>
                    <a:lstStyle/>
                    <a:p>
                      <a:pPr algn="ctr"/>
                      <a:r>
                        <a:rPr sz="1425" b="0">
                          <a:solidFill>
                            <a:srgbClr val="111A30"/>
                          </a:solidFill>
                          <a:latin typeface="SF Pro Text"/>
                          <a:ea typeface="SF Pro Text"/>
                          <a:cs typeface="SF Pro Text"/>
                        </a:rPr>
                        <a:t>33</a:t>
                      </a:r>
                    </a:p>
                  </a:txBody>
                  <a:tcPr marL="91440" marR="91440" marT="45720" marB="45720" anchor="ctr">
                    <a:solidFill>
                      <a:srgbClr val="EAF6FC"/>
                    </a:solidFill>
                  </a:tcPr>
                </a:tc>
                <a:tc>
                  <a:txBody>
                    <a:bodyPr wrap="square" lIns="95250" tIns="76200" rIns="95250" bIns="76200">
                      <a:normAutofit/>
                    </a:bodyPr>
                    <a:lstStyle/>
                    <a:p>
                      <a:pPr algn="ctr"/>
                      <a:r>
                        <a:rPr sz="1425" b="0">
                          <a:solidFill>
                            <a:srgbClr val="111A30"/>
                          </a:solidFill>
                          <a:latin typeface="SF Pro Text"/>
                          <a:ea typeface="SF Pro Text"/>
                          <a:cs typeface="SF Pro Text"/>
                        </a:rPr>
                        <a:t>18</a:t>
                      </a:r>
                    </a:p>
                  </a:txBody>
                  <a:tcPr marL="91440" marR="91440" marT="45720" marB="45720" anchor="ctr">
                    <a:solidFill>
                      <a:srgbClr val="EAF6FC"/>
                    </a:solidFill>
                  </a:tcPr>
                </a:tc>
              </a:tr>
              <a:tr h="600075">
                <a:tc>
                  <a:txBody>
                    <a:bodyPr wrap="square" lIns="95250" tIns="76200" rIns="95250" bIns="76200">
                      <a:normAutofit/>
                    </a:bodyPr>
                    <a:lstStyle/>
                    <a:p>
                      <a:pPr algn="l"/>
                      <a:r>
                        <a:rPr sz="1425" b="1">
                          <a:solidFill>
                            <a:srgbClr val="111A30"/>
                          </a:solidFill>
                          <a:latin typeface="SF Pro Text"/>
                          <a:ea typeface="SF Pro Text"/>
                          <a:cs typeface="SF Pro Text"/>
                        </a:rPr>
                        <a:t>Tengah</a:t>
                      </a:r>
                    </a:p>
                  </a:txBody>
                  <a:tcPr marL="91440" marR="91440" marT="45720" marB="45720" anchor="ctr">
                    <a:solidFill>
                      <a:srgbClr val="FFFFFF"/>
                    </a:solidFill>
                  </a:tcPr>
                </a:tc>
                <a:tc>
                  <a:txBody>
                    <a:bodyPr wrap="square" lIns="95250" tIns="76200" rIns="95250" bIns="76200">
                      <a:normAutofit/>
                    </a:bodyPr>
                    <a:lstStyle/>
                    <a:p>
                      <a:pPr algn="ctr"/>
                      <a:r>
                        <a:rPr sz="1425" b="0">
                          <a:solidFill>
                            <a:srgbClr val="111A30"/>
                          </a:solidFill>
                          <a:latin typeface="SF Pro Text"/>
                          <a:ea typeface="SF Pro Text"/>
                          <a:cs typeface="SF Pro Text"/>
                        </a:rPr>
                        <a:t>26</a:t>
                      </a:r>
                    </a:p>
                  </a:txBody>
                  <a:tcPr marL="91440" marR="91440" marT="45720" marB="45720" anchor="ctr">
                    <a:solidFill>
                      <a:srgbClr val="FFFFFF"/>
                    </a:solidFill>
                  </a:tcPr>
                </a:tc>
                <a:tc>
                  <a:txBody>
                    <a:bodyPr wrap="square" lIns="95250" tIns="76200" rIns="95250" bIns="76200">
                      <a:normAutofit/>
                    </a:bodyPr>
                    <a:lstStyle/>
                    <a:p>
                      <a:pPr algn="ctr"/>
                      <a:r>
                        <a:rPr sz="1425" b="0">
                          <a:solidFill>
                            <a:srgbClr val="111A30"/>
                          </a:solidFill>
                          <a:latin typeface="SF Pro Text"/>
                          <a:ea typeface="SF Pro Text"/>
                          <a:cs typeface="SF Pro Text"/>
                        </a:rPr>
                        <a:t>34</a:t>
                      </a:r>
                    </a:p>
                  </a:txBody>
                  <a:tcPr marL="91440" marR="91440" marT="45720" marB="45720" anchor="ctr">
                    <a:solidFill>
                      <a:srgbClr val="FFFFFF"/>
                    </a:solidFill>
                  </a:tcPr>
                </a:tc>
                <a:tc>
                  <a:txBody>
                    <a:bodyPr wrap="square" lIns="95250" tIns="76200" rIns="95250" bIns="76200">
                      <a:normAutofit/>
                    </a:bodyPr>
                    <a:lstStyle/>
                    <a:p>
                      <a:pPr algn="ctr"/>
                      <a:r>
                        <a:rPr sz="1425" b="0">
                          <a:solidFill>
                            <a:srgbClr val="111A30"/>
                          </a:solidFill>
                          <a:latin typeface="SF Pro Text"/>
                          <a:ea typeface="SF Pro Text"/>
                          <a:cs typeface="SF Pro Text"/>
                        </a:rPr>
                        <a:t>35</a:t>
                      </a:r>
                    </a:p>
                  </a:txBody>
                  <a:tcPr marL="91440" marR="91440" marT="45720" marB="45720" anchor="ctr">
                    <a:solidFill>
                      <a:srgbClr val="FFFFFF"/>
                    </a:solidFill>
                  </a:tcPr>
                </a:tc>
                <a:tc>
                  <a:txBody>
                    <a:bodyPr wrap="square" lIns="95250" tIns="76200" rIns="95250" bIns="76200">
                      <a:normAutofit/>
                    </a:bodyPr>
                    <a:lstStyle/>
                    <a:p>
                      <a:pPr algn="ctr"/>
                      <a:r>
                        <a:rPr sz="1425" b="0">
                          <a:solidFill>
                            <a:srgbClr val="111A30"/>
                          </a:solidFill>
                          <a:latin typeface="SF Pro Text"/>
                          <a:ea typeface="SF Pro Text"/>
                          <a:cs typeface="SF Pro Text"/>
                        </a:rPr>
                        <a:t>28</a:t>
                      </a:r>
                    </a:p>
                  </a:txBody>
                  <a:tcPr marL="91440" marR="91440" marT="45720" marB="45720" anchor="ctr">
                    <a:solidFill>
                      <a:srgbClr val="FFFFFF"/>
                    </a:solidFill>
                  </a:tcPr>
                </a:tc>
                <a:tc>
                  <a:txBody>
                    <a:bodyPr wrap="square" lIns="95250" tIns="76200" rIns="95250" bIns="76200">
                      <a:normAutofit/>
                    </a:bodyPr>
                    <a:lstStyle/>
                    <a:p>
                      <a:pPr algn="ctr"/>
                      <a:r>
                        <a:rPr sz="1425" b="0">
                          <a:solidFill>
                            <a:srgbClr val="111A30"/>
                          </a:solidFill>
                          <a:latin typeface="SF Pro Text"/>
                          <a:ea typeface="SF Pro Text"/>
                          <a:cs typeface="SF Pro Text"/>
                        </a:rPr>
                        <a:t>21</a:t>
                      </a:r>
                    </a:p>
                  </a:txBody>
                  <a:tcPr marL="91440" marR="91440" marT="45720" marB="45720" anchor="ctr">
                    <a:solidFill>
                      <a:srgbClr val="FFFFFF"/>
                    </a:solidFill>
                  </a:tcPr>
                </a:tc>
              </a:tr>
              <a:tr h="600075">
                <a:tc>
                  <a:txBody>
                    <a:bodyPr wrap="square" lIns="95250" tIns="76200" rIns="95250" bIns="76200">
                      <a:normAutofit/>
                    </a:bodyPr>
                    <a:lstStyle/>
                    <a:p>
                      <a:pPr algn="l"/>
                      <a:r>
                        <a:rPr sz="1425" b="1">
                          <a:solidFill>
                            <a:srgbClr val="111A30"/>
                          </a:solidFill>
                          <a:latin typeface="SF Pro Text"/>
                          <a:ea typeface="SF Pro Text"/>
                          <a:cs typeface="SF Pro Text"/>
                        </a:rPr>
                        <a:t>Selatan</a:t>
                      </a:r>
                    </a:p>
                  </a:txBody>
                  <a:tcPr marL="91440" marR="91440" marT="45720" marB="45720" anchor="ctr">
                    <a:solidFill>
                      <a:srgbClr val="EAF6FC"/>
                    </a:solidFill>
                  </a:tcPr>
                </a:tc>
                <a:tc>
                  <a:txBody>
                    <a:bodyPr wrap="square" lIns="95250" tIns="76200" rIns="95250" bIns="76200">
                      <a:normAutofit/>
                    </a:bodyPr>
                    <a:lstStyle/>
                    <a:p>
                      <a:pPr algn="ctr"/>
                      <a:r>
                        <a:rPr sz="1425" b="0">
                          <a:solidFill>
                            <a:srgbClr val="111A30"/>
                          </a:solidFill>
                          <a:latin typeface="SF Pro Text"/>
                          <a:ea typeface="SF Pro Text"/>
                          <a:cs typeface="SF Pro Text"/>
                        </a:rPr>
                        <a:t>22</a:t>
                      </a:r>
                    </a:p>
                  </a:txBody>
                  <a:tcPr marL="91440" marR="91440" marT="45720" marB="45720" anchor="ctr">
                    <a:solidFill>
                      <a:srgbClr val="EAF6FC"/>
                    </a:solidFill>
                  </a:tcPr>
                </a:tc>
                <a:tc>
                  <a:txBody>
                    <a:bodyPr wrap="square" lIns="95250" tIns="76200" rIns="95250" bIns="76200">
                      <a:normAutofit/>
                    </a:bodyPr>
                    <a:lstStyle/>
                    <a:p>
                      <a:pPr algn="ctr"/>
                      <a:r>
                        <a:rPr sz="1425" b="0">
                          <a:solidFill>
                            <a:srgbClr val="111A30"/>
                          </a:solidFill>
                          <a:latin typeface="SF Pro Text"/>
                          <a:ea typeface="SF Pro Text"/>
                          <a:cs typeface="SF Pro Text"/>
                        </a:rPr>
                        <a:t>28</a:t>
                      </a:r>
                    </a:p>
                  </a:txBody>
                  <a:tcPr marL="91440" marR="91440" marT="45720" marB="45720" anchor="ctr">
                    <a:solidFill>
                      <a:srgbClr val="EAF6FC"/>
                    </a:solidFill>
                  </a:tcPr>
                </a:tc>
                <a:tc>
                  <a:txBody>
                    <a:bodyPr wrap="square" lIns="95250" tIns="76200" rIns="95250" bIns="76200">
                      <a:normAutofit/>
                    </a:bodyPr>
                    <a:lstStyle/>
                    <a:p>
                      <a:pPr algn="ctr"/>
                      <a:r>
                        <a:rPr sz="1425" b="0">
                          <a:solidFill>
                            <a:srgbClr val="111A30"/>
                          </a:solidFill>
                          <a:latin typeface="SF Pro Text"/>
                          <a:ea typeface="SF Pro Text"/>
                          <a:cs typeface="SF Pro Text"/>
                        </a:rPr>
                        <a:t>44</a:t>
                      </a:r>
                    </a:p>
                  </a:txBody>
                  <a:tcPr marL="91440" marR="91440" marT="45720" marB="45720" anchor="ctr">
                    <a:solidFill>
                      <a:srgbClr val="EAF6FC"/>
                    </a:solidFill>
                  </a:tcPr>
                </a:tc>
                <a:tc>
                  <a:txBody>
                    <a:bodyPr wrap="square" lIns="95250" tIns="76200" rIns="95250" bIns="76200">
                      <a:normAutofit/>
                    </a:bodyPr>
                    <a:lstStyle/>
                    <a:p>
                      <a:pPr algn="ctr"/>
                      <a:r>
                        <a:rPr sz="1425" b="0">
                          <a:solidFill>
                            <a:srgbClr val="111A30"/>
                          </a:solidFill>
                          <a:latin typeface="SF Pro Text"/>
                          <a:ea typeface="SF Pro Text"/>
                          <a:cs typeface="SF Pro Text"/>
                        </a:rPr>
                        <a:t>31</a:t>
                      </a:r>
                    </a:p>
                  </a:txBody>
                  <a:tcPr marL="91440" marR="91440" marT="45720" marB="45720" anchor="ctr">
                    <a:solidFill>
                      <a:srgbClr val="EAF6FC"/>
                    </a:solidFill>
                  </a:tcPr>
                </a:tc>
                <a:tc>
                  <a:txBody>
                    <a:bodyPr wrap="square" lIns="95250" tIns="76200" rIns="95250" bIns="76200">
                      <a:normAutofit/>
                    </a:bodyPr>
                    <a:lstStyle/>
                    <a:p>
                      <a:pPr algn="ctr"/>
                      <a:r>
                        <a:rPr sz="1425" b="0">
                          <a:solidFill>
                            <a:srgbClr val="111A30"/>
                          </a:solidFill>
                          <a:latin typeface="SF Pro Text"/>
                          <a:ea typeface="SF Pro Text"/>
                          <a:cs typeface="SF Pro Text"/>
                        </a:rPr>
                        <a:t>25</a:t>
                      </a:r>
                    </a:p>
                  </a:txBody>
                  <a:tcPr marL="91440" marR="91440" marT="45720" marB="45720" anchor="ctr">
                    <a:solidFill>
                      <a:srgbClr val="EAF6FC"/>
                    </a:solidFill>
                  </a:tcPr>
                </a:tc>
              </a:tr>
            </a:tbl>
          </a:graphicData>
        </a:graphic>
      </p:graphicFrame>
      <p:sp>
        <p:nvSpPr>
          <p:cNvPr id="5" name="">
            <a:extLst xmlns:a="http://schemas.openxmlformats.org/drawingml/2006/main">
              <a:ext uri="{FF2B5EF4-FFF2-40B4-BE49-F238E27FC236}">
                <a16:creationId xmlns:a16="http://schemas.microsoft.com/office/drawing/2014/main" id="{675F3DD7-5FD8-40E0-88BB-2C0AFB0BEE4B}"/>
              </a:ext>
            </a:extLst>
          </p:cNvPr>
          <p:cNvSpPr>
            <a:spLocks xmlns:a="http://schemas.openxmlformats.org/drawingml/2006/main" noGrp="1"/>
          </p:cNvSpPr>
          <p:nvPr/>
        </p:nvSpPr>
        <p:spPr>
          <a:xfrm xmlns:a="http://schemas.openxmlformats.org/drawingml/2006/main">
            <a:off x="800100" y="49530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4B5868"/>
                </a:solidFill>
                <a:latin typeface="SF Pro Text"/>
                <a:ea typeface="SF Pro Text"/>
                <a:cs typeface="SF Pro Text"/>
              </a:defRPr>
            </a:defPPr>
          </a:lstStyle>
          <a:p xmlns:a="http://schemas.openxmlformats.org/drawingml/2006/main">
            <a:pPr algn="l">
              <a:lnSpc>
                <a:spcPct val="106000"/>
              </a:lnSpc>
              <a:buNone/>
              <a:defRPr sz="1425" b="0">
                <a:solidFill>
                  <a:srgbClr val="4B5868"/>
                </a:solidFill>
                <a:latin typeface="SF Pro Text"/>
                <a:ea typeface="SF Pro Text"/>
                <a:cs typeface="SF Pro Text"/>
              </a:defRPr>
            </a:pPr>
            <a:r>
              <a:rPr sz="1425" b="0">
                <a:solidFill>
                  <a:srgbClr val="4B5868"/>
                </a:solidFill>
                <a:latin typeface="SF Pro Text"/>
                <a:ea typeface="SF Pro Text"/>
                <a:cs typeface="SF Pro Text"/>
              </a:rPr>
              <a:t>Dataset contoh ini memakai jumlah barang terjual dalam satuan unit.</a:t>
            </a:r>
          </a:p>
        </p:txBody>
      </p:sp>
      <p:sp>
        <p:nvSpPr>
          <p:cNvPr id="6" name="">
            <a:extLst xmlns:a="http://schemas.openxmlformats.org/drawingml/2006/main">
              <a:ext uri="{FF2B5EF4-FFF2-40B4-BE49-F238E27FC236}">
                <a16:creationId xmlns:a16="http://schemas.microsoft.com/office/drawing/2014/main" id="{CA8D0D97-0AA4-47CA-9923-80B09C38F9F9}"/>
              </a:ext>
            </a:extLst>
          </p:cNvPr>
          <p:cNvSpPr>
            <a:spLocks xmlns:a="http://schemas.openxmlformats.org/drawingml/2006/main" noGrp="1"/>
          </p:cNvSpPr>
          <p:nvPr/>
        </p:nvSpPr>
        <p:spPr>
          <a:xfrm xmlns:a="http://schemas.openxmlformats.org/drawingml/2006/main">
            <a:off x="800100" y="54102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96B9B"/>
                </a:solidFill>
                <a:latin typeface="SF Pro Text"/>
                <a:ea typeface="SF Pro Text"/>
                <a:cs typeface="SF Pro Text"/>
              </a:defRPr>
            </a:defPPr>
          </a:lstStyle>
          <a:p xmlns:a="http://schemas.openxmlformats.org/drawingml/2006/main">
            <a:pPr algn="l">
              <a:lnSpc>
                <a:spcPct val="106000"/>
              </a:lnSpc>
              <a:buNone/>
              <a:defRPr sz="1500" b="1">
                <a:solidFill>
                  <a:srgbClr val="196B9B"/>
                </a:solidFill>
                <a:latin typeface="SF Pro Text"/>
                <a:ea typeface="SF Pro Text"/>
                <a:cs typeface="SF Pro Text"/>
              </a:defRPr>
            </a:pPr>
            <a:r>
              <a:rPr sz="1500" b="1">
                <a:solidFill>
                  <a:srgbClr val="196B9B"/>
                </a:solidFill>
                <a:latin typeface="SF Pro Text"/>
                <a:ea typeface="SF Pro Text"/>
                <a:cs typeface="SF Pro Text"/>
              </a:rPr>
              <a:t>Cabang dan kategori adalah label. Unit adalah nilai yang dibandingkan.</a:t>
            </a:r>
          </a:p>
        </p:txBody>
      </p:sp>
    </p:spTree>
    <p:extLst>
      <p:ext uri="{BB962C8B-B14F-4D97-AF65-F5344CB8AC3E}">
        <p14:creationId xmlns:p14="http://schemas.microsoft.com/office/powerpoint/2010/main" val="19737911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11C0872-5378-411A-98F1-F59A5A5E1D14}"/>
              </a:ext>
            </a:extLst>
          </p:cNvPr>
          <p:cNvSpPr>
            <a:spLocks xmlns:a="http://schemas.openxmlformats.org/drawingml/2006/main" noGrp="1"/>
          </p:cNvSpPr>
          <p:nvPr/>
        </p:nvSpPr>
        <p:spPr>
          <a:xfrm xmlns:a="http://schemas.openxmlformats.org/drawingml/2006/main">
            <a:off x="685800" y="4191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11A30"/>
                </a:solidFill>
                <a:latin typeface="SF Pro Display"/>
                <a:ea typeface="SF Pro Display"/>
                <a:cs typeface="SF Pro Display"/>
              </a:defRPr>
            </a:defPPr>
          </a:lstStyle>
          <a:p xmlns:a="http://schemas.openxmlformats.org/drawingml/2006/main">
            <a:pPr algn="l">
              <a:lnSpc>
                <a:spcPct val="106000"/>
              </a:lnSpc>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Bentuk data memberi petunjuk awal</a:t>
            </a:r>
          </a:p>
        </p:txBody>
      </p:sp>
      <p:sp>
        <p:nvSpPr>
          <p:cNvPr id="2" name="">
            <a:extLst xmlns:a="http://schemas.openxmlformats.org/drawingml/2006/main">
              <a:ext uri="{FF2B5EF4-FFF2-40B4-BE49-F238E27FC236}">
                <a16:creationId xmlns:a16="http://schemas.microsoft.com/office/drawing/2014/main" id="{03CDAB67-65A1-4A61-9EEF-B8EAE780AD2E}"/>
              </a:ext>
            </a:extLst>
          </p:cNvPr>
          <p:cNvSpPr>
            <a:spLocks xmlns:a="http://schemas.openxmlformats.org/drawingml/2006/main" noGrp="1"/>
          </p:cNvSpPr>
          <p:nvPr/>
        </p:nvSpPr>
        <p:spPr>
          <a:xfrm xmlns:a="http://schemas.openxmlformats.org/drawingml/2006/main">
            <a:off x="685800" y="10096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4B5868"/>
                </a:solidFill>
                <a:latin typeface="SF Pro Text"/>
                <a:ea typeface="SF Pro Text"/>
                <a:cs typeface="SF Pro Text"/>
              </a:defRPr>
            </a:defPPr>
          </a:lstStyle>
          <a:p xmlns:a="http://schemas.openxmlformats.org/drawingml/2006/main">
            <a:pPr algn="l">
              <a:lnSpc>
                <a:spcPct val="106000"/>
              </a:lnSpc>
              <a:buNone/>
              <a:defRPr sz="1500" b="0">
                <a:solidFill>
                  <a:srgbClr val="4B5868"/>
                </a:solidFill>
                <a:latin typeface="SF Pro Text"/>
                <a:ea typeface="SF Pro Text"/>
                <a:cs typeface="SF Pro Text"/>
              </a:defRPr>
            </a:pPr>
            <a:r>
              <a:rPr sz="1500" b="0">
                <a:solidFill>
                  <a:srgbClr val="4B5868"/>
                </a:solidFill>
                <a:latin typeface="SF Pro Text"/>
                <a:ea typeface="SF Pro Text"/>
                <a:cs typeface="SF Pro Text"/>
              </a:rPr>
              <a:t>Tentukan apa yang akan dibandingkan sebelum memilih jenis grafik</a:t>
            </a:r>
          </a:p>
        </p:txBody>
      </p:sp>
      <p:sp>
        <p:nvSpPr>
          <p:cNvPr id="3" name="">
            <a:extLst xmlns:a="http://schemas.openxmlformats.org/drawingml/2006/main">
              <a:ext uri="{FF2B5EF4-FFF2-40B4-BE49-F238E27FC236}">
                <a16:creationId xmlns:a16="http://schemas.microsoft.com/office/drawing/2014/main" id="{6FD5AF62-9FDA-4818-BAC4-4BF1921E70AD}"/>
              </a:ext>
            </a:extLst>
          </p:cNvPr>
          <p:cNvSpPr>
            <a:spLocks xmlns:a="http://schemas.openxmlformats.org/drawingml/2006/main" noGrp="1"/>
          </p:cNvSpPr>
          <p:nvPr/>
        </p:nvSpPr>
        <p:spPr>
          <a:xfrm xmlns:a="http://schemas.openxmlformats.org/drawingml/2006/main">
            <a:off x="685800" y="1571625"/>
            <a:ext cx="10820400" cy="0"/>
          </a:xfrm>
          <a:prstGeom xmlns:a="http://schemas.openxmlformats.org/drawingml/2006/main" prst="line">
            <a:avLst/>
          </a:prstGeom>
          <a:noFill xmlns:a="http://schemas.openxmlformats.org/drawingml/2006/main"/>
          <a:ln xmlns:a="http://schemas.openxmlformats.org/drawingml/2006/main" w="11906">
            <a:solidFill>
              <a:srgbClr val="E7EAEE"/>
            </a:solidFill>
            <a:prstDash val="solid"/>
          </a:ln>
        </p:spPr>
      </p:sp>
      <p:graphicFrame>
        <p:nvGraphicFramePr>
          <p:cNvPr id="4" name="">
            <a:extLst xmlns:a="http://schemas.openxmlformats.org/drawingml/2006/main">
              <a:ext uri="{FF2B5EF4-FFF2-40B4-BE49-F238E27FC236}">
                <a16:creationId xmlns:a16="http://schemas.microsoft.com/office/drawing/2014/main" id="{2800BE4C-6953-409C-95BC-A2368173CCD5}"/>
              </a:ext>
            </a:extLst>
          </p:cNvPr>
          <p:cNvGraphicFramePr/>
          <p:nvPr/>
        </p:nvGraphicFramePr>
        <p:xfrm>
          <a:off xmlns:a="http://schemas.openxmlformats.org/drawingml/2006/main" x="762000" y="1847850"/>
          <a:ext xmlns:a="http://schemas.openxmlformats.org/drawingml/2006/main" cx="10668000" cy="4229100"/>
        </p:xfrm>
        <a:graphic xmlns:a="http://schemas.openxmlformats.org/drawingml/2006/main">
          <a:graphicData uri="http://schemas.openxmlformats.org/drawingml/2006/table">
            <a:tbl>
              <a:tblPr firstRow="0" bandRow="0"/>
              <a:tblGrid>
                <a:gridCol w="4476750"/>
                <a:gridCol w="3714750"/>
                <a:gridCol w="2476500"/>
              </a:tblGrid>
              <a:tr h="528638">
                <a:tc>
                  <a:txBody>
                    <a:bodyPr wrap="square" lIns="95250" tIns="76200" rIns="95250" bIns="76200">
                      <a:normAutofit/>
                    </a:bodyPr>
                    <a:lstStyle/>
                    <a:p>
                      <a:pPr algn="l"/>
                      <a:r>
                        <a:rPr sz="1200" b="1">
                          <a:solidFill>
                            <a:srgbClr val="FFFFFF"/>
                          </a:solidFill>
                          <a:latin typeface="SF Pro Text"/>
                          <a:ea typeface="SF Pro Text"/>
                          <a:cs typeface="SF Pro Text"/>
                        </a:rPr>
                        <a:t>Pertanyaan</a:t>
                      </a:r>
                    </a:p>
                  </a:txBody>
                  <a:tcPr marL="91440" marR="91440" marT="45720" marB="45720" anchor="ctr">
                    <a:solidFill>
                      <a:srgbClr val="111A30"/>
                    </a:solidFill>
                  </a:tcPr>
                </a:tc>
                <a:tc>
                  <a:txBody>
                    <a:bodyPr wrap="square" lIns="95250" tIns="76200" rIns="95250" bIns="76200">
                      <a:normAutofit/>
                    </a:bodyPr>
                    <a:lstStyle/>
                    <a:p>
                      <a:pPr algn="ctr"/>
                      <a:r>
                        <a:rPr sz="1200" b="1">
                          <a:solidFill>
                            <a:srgbClr val="FFFFFF"/>
                          </a:solidFill>
                          <a:latin typeface="SF Pro Text"/>
                          <a:ea typeface="SF Pro Text"/>
                          <a:cs typeface="SF Pro Text"/>
                        </a:rPr>
                        <a:t>Susunan data</a:t>
                      </a:r>
                    </a:p>
                  </a:txBody>
                  <a:tcPr marL="91440" marR="91440" marT="45720" marB="45720" anchor="ctr">
                    <a:solidFill>
                      <a:srgbClr val="111A30"/>
                    </a:solidFill>
                  </a:tcPr>
                </a:tc>
                <a:tc>
                  <a:txBody>
                    <a:bodyPr wrap="square" lIns="95250" tIns="76200" rIns="95250" bIns="76200">
                      <a:normAutofit/>
                    </a:bodyPr>
                    <a:lstStyle/>
                    <a:p>
                      <a:pPr algn="ctr"/>
                      <a:r>
                        <a:rPr sz="1200" b="1">
                          <a:solidFill>
                            <a:srgbClr val="FFFFFF"/>
                          </a:solidFill>
                          <a:latin typeface="SF Pro Text"/>
                          <a:ea typeface="SF Pro Text"/>
                          <a:cs typeface="SF Pro Text"/>
                        </a:rPr>
                        <a:t>Grafik yang cocok</a:t>
                      </a:r>
                    </a:p>
                  </a:txBody>
                  <a:tcPr marL="91440" marR="91440" marT="45720" marB="45720" anchor="ctr">
                    <a:solidFill>
                      <a:srgbClr val="111A30"/>
                    </a:solidFill>
                  </a:tcPr>
                </a:tc>
              </a:tr>
              <a:tr h="528638">
                <a:tc>
                  <a:txBody>
                    <a:bodyPr wrap="square" lIns="95250" tIns="76200" rIns="95250" bIns="76200">
                      <a:normAutofit/>
                    </a:bodyPr>
                    <a:lstStyle/>
                    <a:p>
                      <a:pPr algn="l"/>
                      <a:r>
                        <a:rPr sz="1200" b="1">
                          <a:solidFill>
                            <a:srgbClr val="111A30"/>
                          </a:solidFill>
                          <a:latin typeface="SF Pro Text"/>
                          <a:ea typeface="SF Pro Text"/>
                          <a:cs typeface="SF Pro Text"/>
                        </a:rPr>
                        <a:t>Nilai mana yang lebih besar?</a:t>
                      </a:r>
                    </a:p>
                  </a:txBody>
                  <a:tcPr marL="91440" marR="91440" marT="45720" marB="45720" anchor="ctr">
                    <a:solidFill>
                      <a:srgbClr val="EAF6FC"/>
                    </a:solidFill>
                  </a:tcPr>
                </a:tc>
                <a:tc>
                  <a:txBody>
                    <a:bodyPr wrap="square" lIns="95250" tIns="76200" rIns="95250" bIns="76200">
                      <a:normAutofit/>
                    </a:bodyPr>
                    <a:lstStyle/>
                    <a:p>
                      <a:pPr algn="ctr"/>
                      <a:r>
                        <a:rPr sz="1200" b="0">
                          <a:solidFill>
                            <a:srgbClr val="111A30"/>
                          </a:solidFill>
                          <a:latin typeface="SF Pro Text"/>
                          <a:ea typeface="SF Pro Text"/>
                          <a:cs typeface="SF Pro Text"/>
                        </a:rPr>
                        <a:t>Kategori dan jumlah</a:t>
                      </a:r>
                    </a:p>
                  </a:txBody>
                  <a:tcPr marL="91440" marR="91440" marT="45720" marB="45720" anchor="ctr">
                    <a:solidFill>
                      <a:srgbClr val="EAF6FC"/>
                    </a:solidFill>
                  </a:tcPr>
                </a:tc>
                <a:tc>
                  <a:txBody>
                    <a:bodyPr wrap="square" lIns="95250" tIns="76200" rIns="95250" bIns="76200">
                      <a:normAutofit/>
                    </a:bodyPr>
                    <a:lstStyle/>
                    <a:p>
                      <a:pPr algn="ctr"/>
                      <a:r>
                        <a:rPr sz="1200" b="0">
                          <a:solidFill>
                            <a:srgbClr val="111A30"/>
                          </a:solidFill>
                          <a:latin typeface="SF Pro Text"/>
                          <a:ea typeface="SF Pro Text"/>
                          <a:cs typeface="SF Pro Text"/>
                        </a:rPr>
                        <a:t>Bar chart</a:t>
                      </a:r>
                    </a:p>
                  </a:txBody>
                  <a:tcPr marL="91440" marR="91440" marT="45720" marB="45720" anchor="ctr">
                    <a:solidFill>
                      <a:srgbClr val="EAF6FC"/>
                    </a:solidFill>
                  </a:tcPr>
                </a:tc>
              </a:tr>
              <a:tr h="528638">
                <a:tc>
                  <a:txBody>
                    <a:bodyPr wrap="square" lIns="95250" tIns="76200" rIns="95250" bIns="76200">
                      <a:normAutofit/>
                    </a:bodyPr>
                    <a:lstStyle/>
                    <a:p>
                      <a:pPr algn="l"/>
                      <a:r>
                        <a:rPr sz="1200" b="1">
                          <a:solidFill>
                            <a:srgbClr val="111A30"/>
                          </a:solidFill>
                          <a:latin typeface="SF Pro Text"/>
                          <a:ea typeface="SF Pro Text"/>
                          <a:cs typeface="SF Pro Text"/>
                        </a:rPr>
                        <a:t>Berapa banyak tiap pilihan?</a:t>
                      </a:r>
                    </a:p>
                  </a:txBody>
                  <a:tcPr marL="91440" marR="91440" marT="45720" marB="45720" anchor="ctr">
                    <a:solidFill>
                      <a:srgbClr val="FFFFFF"/>
                    </a:solidFill>
                  </a:tcPr>
                </a:tc>
                <a:tc>
                  <a:txBody>
                    <a:bodyPr wrap="square" lIns="95250" tIns="76200" rIns="95250" bIns="76200">
                      <a:normAutofit/>
                    </a:bodyPr>
                    <a:lstStyle/>
                    <a:p>
                      <a:pPr algn="ctr"/>
                      <a:r>
                        <a:rPr sz="1200" b="0">
                          <a:solidFill>
                            <a:srgbClr val="111A30"/>
                          </a:solidFill>
                          <a:latin typeface="SF Pro Text"/>
                          <a:ea typeface="SF Pro Text"/>
                          <a:cs typeface="SF Pro Text"/>
                        </a:rPr>
                        <a:t>Satu baris per jawaban</a:t>
                      </a:r>
                    </a:p>
                  </a:txBody>
                  <a:tcPr marL="91440" marR="91440" marT="45720" marB="45720" anchor="ctr">
                    <a:solidFill>
                      <a:srgbClr val="FFFFFF"/>
                    </a:solidFill>
                  </a:tcPr>
                </a:tc>
                <a:tc>
                  <a:txBody>
                    <a:bodyPr wrap="square" lIns="95250" tIns="76200" rIns="95250" bIns="76200">
                      <a:normAutofit/>
                    </a:bodyPr>
                    <a:lstStyle/>
                    <a:p>
                      <a:pPr algn="ctr"/>
                      <a:r>
                        <a:rPr sz="1200" b="0">
                          <a:solidFill>
                            <a:srgbClr val="111A30"/>
                          </a:solidFill>
                          <a:latin typeface="SF Pro Text"/>
                          <a:ea typeface="SF Pro Text"/>
                          <a:cs typeface="SF Pro Text"/>
                        </a:rPr>
                        <a:t>Count plot</a:t>
                      </a:r>
                    </a:p>
                  </a:txBody>
                  <a:tcPr marL="91440" marR="91440" marT="45720" marB="45720" anchor="ctr">
                    <a:solidFill>
                      <a:srgbClr val="FFFFFF"/>
                    </a:solidFill>
                  </a:tcPr>
                </a:tc>
              </a:tr>
              <a:tr h="528638">
                <a:tc>
                  <a:txBody>
                    <a:bodyPr wrap="square" lIns="95250" tIns="76200" rIns="95250" bIns="76200">
                      <a:normAutofit/>
                    </a:bodyPr>
                    <a:lstStyle/>
                    <a:p>
                      <a:pPr algn="l"/>
                      <a:r>
                        <a:rPr sz="1200" b="1">
                          <a:solidFill>
                            <a:srgbClr val="111A30"/>
                          </a:solidFill>
                          <a:latin typeface="SF Pro Text"/>
                          <a:ea typeface="SF Pro Text"/>
                          <a:cs typeface="SF Pro Text"/>
                        </a:rPr>
                        <a:t>Bagaimana kategori berbeda antar cabang?</a:t>
                      </a:r>
                    </a:p>
                  </a:txBody>
                  <a:tcPr marL="91440" marR="91440" marT="45720" marB="45720" anchor="ctr">
                    <a:solidFill>
                      <a:srgbClr val="EAF6FC"/>
                    </a:solidFill>
                  </a:tcPr>
                </a:tc>
                <a:tc>
                  <a:txBody>
                    <a:bodyPr wrap="square" lIns="95250" tIns="76200" rIns="95250" bIns="76200">
                      <a:normAutofit/>
                    </a:bodyPr>
                    <a:lstStyle/>
                    <a:p>
                      <a:pPr algn="ctr"/>
                      <a:r>
                        <a:rPr sz="1200" b="0">
                          <a:solidFill>
                            <a:srgbClr val="111A30"/>
                          </a:solidFill>
                          <a:latin typeface="SF Pro Text"/>
                          <a:ea typeface="SF Pro Text"/>
                          <a:cs typeface="SF Pro Text"/>
                        </a:rPr>
                        <a:t>Kategori, cabang, dan jumlah</a:t>
                      </a:r>
                    </a:p>
                  </a:txBody>
                  <a:tcPr marL="91440" marR="91440" marT="45720" marB="45720" anchor="ctr">
                    <a:solidFill>
                      <a:srgbClr val="EAF6FC"/>
                    </a:solidFill>
                  </a:tcPr>
                </a:tc>
                <a:tc>
                  <a:txBody>
                    <a:bodyPr wrap="square" lIns="95250" tIns="76200" rIns="95250" bIns="76200">
                      <a:normAutofit/>
                    </a:bodyPr>
                    <a:lstStyle/>
                    <a:p>
                      <a:pPr algn="ctr"/>
                      <a:r>
                        <a:rPr sz="1200" b="0">
                          <a:solidFill>
                            <a:srgbClr val="111A30"/>
                          </a:solidFill>
                          <a:latin typeface="SF Pro Text"/>
                          <a:ea typeface="SF Pro Text"/>
                          <a:cs typeface="SF Pro Text"/>
                        </a:rPr>
                        <a:t>Grouped bar</a:t>
                      </a:r>
                    </a:p>
                  </a:txBody>
                  <a:tcPr marL="91440" marR="91440" marT="45720" marB="45720" anchor="ctr">
                    <a:solidFill>
                      <a:srgbClr val="EAF6FC"/>
                    </a:solidFill>
                  </a:tcPr>
                </a:tc>
              </a:tr>
              <a:tr h="528638">
                <a:tc>
                  <a:txBody>
                    <a:bodyPr wrap="square" lIns="95250" tIns="76200" rIns="95250" bIns="76200">
                      <a:normAutofit/>
                    </a:bodyPr>
                    <a:lstStyle/>
                    <a:p>
                      <a:pPr algn="l"/>
                      <a:r>
                        <a:rPr sz="1200" b="1">
                          <a:solidFill>
                            <a:srgbClr val="111A30"/>
                          </a:solidFill>
                          <a:latin typeface="SF Pro Text"/>
                          <a:ea typeface="SF Pro Text"/>
                          <a:cs typeface="SF Pro Text"/>
                        </a:rPr>
                        <a:t>Bagaimana bagian membentuk total?</a:t>
                      </a:r>
                    </a:p>
                  </a:txBody>
                  <a:tcPr marL="91440" marR="91440" marT="45720" marB="45720" anchor="ctr">
                    <a:solidFill>
                      <a:srgbClr val="FFFFFF"/>
                    </a:solidFill>
                  </a:tcPr>
                </a:tc>
                <a:tc>
                  <a:txBody>
                    <a:bodyPr wrap="square" lIns="95250" tIns="76200" rIns="95250" bIns="76200">
                      <a:normAutofit/>
                    </a:bodyPr>
                    <a:lstStyle/>
                    <a:p>
                      <a:pPr algn="ctr"/>
                      <a:r>
                        <a:rPr sz="1200" b="0">
                          <a:solidFill>
                            <a:srgbClr val="111A30"/>
                          </a:solidFill>
                          <a:latin typeface="SF Pro Text"/>
                          <a:ea typeface="SF Pro Text"/>
                          <a:cs typeface="SF Pro Text"/>
                        </a:rPr>
                        <a:t>Kategori sebagai bagian dari satu total</a:t>
                      </a:r>
                    </a:p>
                  </a:txBody>
                  <a:tcPr marL="91440" marR="91440" marT="45720" marB="45720" anchor="ctr">
                    <a:solidFill>
                      <a:srgbClr val="FFFFFF"/>
                    </a:solidFill>
                  </a:tcPr>
                </a:tc>
                <a:tc>
                  <a:txBody>
                    <a:bodyPr wrap="square" lIns="95250" tIns="76200" rIns="95250" bIns="76200">
                      <a:normAutofit/>
                    </a:bodyPr>
                    <a:lstStyle/>
                    <a:p>
                      <a:pPr algn="ctr"/>
                      <a:r>
                        <a:rPr sz="1200" b="0">
                          <a:solidFill>
                            <a:srgbClr val="111A30"/>
                          </a:solidFill>
                          <a:latin typeface="SF Pro Text"/>
                          <a:ea typeface="SF Pro Text"/>
                          <a:cs typeface="SF Pro Text"/>
                        </a:rPr>
                        <a:t>Pie atau donut</a:t>
                      </a:r>
                    </a:p>
                  </a:txBody>
                  <a:tcPr marL="91440" marR="91440" marT="45720" marB="45720" anchor="ctr">
                    <a:solidFill>
                      <a:srgbClr val="FFFFFF"/>
                    </a:solidFill>
                  </a:tcPr>
                </a:tc>
              </a:tr>
              <a:tr h="528638">
                <a:tc>
                  <a:txBody>
                    <a:bodyPr wrap="square" lIns="95250" tIns="76200" rIns="95250" bIns="76200">
                      <a:normAutofit/>
                    </a:bodyPr>
                    <a:lstStyle/>
                    <a:p>
                      <a:pPr algn="l"/>
                      <a:r>
                        <a:rPr sz="1200" b="1">
                          <a:solidFill>
                            <a:srgbClr val="111A30"/>
                          </a:solidFill>
                          <a:latin typeface="SF Pro Text"/>
                          <a:ea typeface="SF Pro Text"/>
                          <a:cs typeface="SF Pro Text"/>
                        </a:rPr>
                        <a:t>Bagaimana komposisi beberapa total?</a:t>
                      </a:r>
                    </a:p>
                  </a:txBody>
                  <a:tcPr marL="91440" marR="91440" marT="45720" marB="45720" anchor="ctr">
                    <a:solidFill>
                      <a:srgbClr val="EAF6FC"/>
                    </a:solidFill>
                  </a:tcPr>
                </a:tc>
                <a:tc>
                  <a:txBody>
                    <a:bodyPr wrap="square" lIns="95250" tIns="76200" rIns="95250" bIns="76200">
                      <a:normAutofit/>
                    </a:bodyPr>
                    <a:lstStyle/>
                    <a:p>
                      <a:pPr algn="ctr"/>
                      <a:r>
                        <a:rPr sz="1200" b="0">
                          <a:solidFill>
                            <a:srgbClr val="111A30"/>
                          </a:solidFill>
                          <a:latin typeface="SF Pro Text"/>
                          <a:ea typeface="SF Pro Text"/>
                          <a:cs typeface="SF Pro Text"/>
                        </a:rPr>
                        <a:t>Kategori dan kelompok</a:t>
                      </a:r>
                    </a:p>
                  </a:txBody>
                  <a:tcPr marL="91440" marR="91440" marT="45720" marB="45720" anchor="ctr">
                    <a:solidFill>
                      <a:srgbClr val="EAF6FC"/>
                    </a:solidFill>
                  </a:tcPr>
                </a:tc>
                <a:tc>
                  <a:txBody>
                    <a:bodyPr wrap="square" lIns="95250" tIns="76200" rIns="95250" bIns="76200">
                      <a:normAutofit/>
                    </a:bodyPr>
                    <a:lstStyle/>
                    <a:p>
                      <a:pPr algn="ctr"/>
                      <a:r>
                        <a:rPr sz="1200" b="0">
                          <a:solidFill>
                            <a:srgbClr val="111A30"/>
                          </a:solidFill>
                          <a:latin typeface="SF Pro Text"/>
                          <a:ea typeface="SF Pro Text"/>
                          <a:cs typeface="SF Pro Text"/>
                        </a:rPr>
                        <a:t>Stacked bar</a:t>
                      </a:r>
                    </a:p>
                  </a:txBody>
                  <a:tcPr marL="91440" marR="91440" marT="45720" marB="45720" anchor="ctr">
                    <a:solidFill>
                      <a:srgbClr val="EAF6FC"/>
                    </a:solidFill>
                  </a:tcPr>
                </a:tc>
              </a:tr>
              <a:tr h="528638">
                <a:tc>
                  <a:txBody>
                    <a:bodyPr wrap="square" lIns="95250" tIns="76200" rIns="95250" bIns="76200">
                      <a:normAutofit/>
                    </a:bodyPr>
                    <a:lstStyle/>
                    <a:p>
                      <a:pPr algn="l"/>
                      <a:r>
                        <a:rPr sz="1200" b="1">
                          <a:solidFill>
                            <a:srgbClr val="111A30"/>
                          </a:solidFill>
                          <a:latin typeface="SF Pro Text"/>
                          <a:ea typeface="SF Pro Text"/>
                          <a:cs typeface="SF Pro Text"/>
                        </a:rPr>
                        <a:t>Bagaimana nilai terbagi secara bertingkat?</a:t>
                      </a:r>
                    </a:p>
                  </a:txBody>
                  <a:tcPr marL="91440" marR="91440" marT="45720" marB="45720" anchor="ctr">
                    <a:solidFill>
                      <a:srgbClr val="FFFFFF"/>
                    </a:solidFill>
                  </a:tcPr>
                </a:tc>
                <a:tc>
                  <a:txBody>
                    <a:bodyPr wrap="square" lIns="95250" tIns="76200" rIns="95250" bIns="76200">
                      <a:normAutofit/>
                    </a:bodyPr>
                    <a:lstStyle/>
                    <a:p>
                      <a:pPr algn="ctr"/>
                      <a:r>
                        <a:rPr sz="1200" b="0">
                          <a:solidFill>
                            <a:srgbClr val="111A30"/>
                          </a:solidFill>
                          <a:latin typeface="SF Pro Text"/>
                          <a:ea typeface="SF Pro Text"/>
                          <a:cs typeface="SF Pro Text"/>
                        </a:rPr>
                        <a:t>Kelompok dan subkelompok</a:t>
                      </a:r>
                    </a:p>
                  </a:txBody>
                  <a:tcPr marL="91440" marR="91440" marT="45720" marB="45720" anchor="ctr">
                    <a:solidFill>
                      <a:srgbClr val="FFFFFF"/>
                    </a:solidFill>
                  </a:tcPr>
                </a:tc>
                <a:tc>
                  <a:txBody>
                    <a:bodyPr wrap="square" lIns="95250" tIns="76200" rIns="95250" bIns="76200">
                      <a:normAutofit/>
                    </a:bodyPr>
                    <a:lstStyle/>
                    <a:p>
                      <a:pPr algn="ctr"/>
                      <a:r>
                        <a:rPr sz="1200" b="0">
                          <a:solidFill>
                            <a:srgbClr val="111A30"/>
                          </a:solidFill>
                          <a:latin typeface="SF Pro Text"/>
                          <a:ea typeface="SF Pro Text"/>
                          <a:cs typeface="SF Pro Text"/>
                        </a:rPr>
                        <a:t>Treemap</a:t>
                      </a:r>
                    </a:p>
                  </a:txBody>
                  <a:tcPr marL="91440" marR="91440" marT="45720" marB="45720" anchor="ctr">
                    <a:solidFill>
                      <a:srgbClr val="FFFFFF"/>
                    </a:solidFill>
                  </a:tcPr>
                </a:tc>
              </a:tr>
              <a:tr h="528638">
                <a:tc>
                  <a:txBody>
                    <a:bodyPr wrap="square" lIns="95250" tIns="76200" rIns="95250" bIns="76200">
                      <a:normAutofit/>
                    </a:bodyPr>
                    <a:lstStyle/>
                    <a:p>
                      <a:pPr algn="l"/>
                      <a:r>
                        <a:rPr sz="1200" b="1">
                          <a:solidFill>
                            <a:srgbClr val="111A30"/>
                          </a:solidFill>
                          <a:latin typeface="SF Pro Text"/>
                          <a:ea typeface="SF Pro Text"/>
                          <a:cs typeface="SF Pro Text"/>
                        </a:rPr>
                        <a:t>Bagaimana profil kelompok pada indikator sama?</a:t>
                      </a:r>
                    </a:p>
                  </a:txBody>
                  <a:tcPr marL="91440" marR="91440" marT="45720" marB="45720" anchor="ctr">
                    <a:solidFill>
                      <a:srgbClr val="EAF6FC"/>
                    </a:solidFill>
                  </a:tcPr>
                </a:tc>
                <a:tc>
                  <a:txBody>
                    <a:bodyPr wrap="square" lIns="95250" tIns="76200" rIns="95250" bIns="76200">
                      <a:normAutofit/>
                    </a:bodyPr>
                    <a:lstStyle/>
                    <a:p>
                      <a:pPr algn="ctr"/>
                      <a:r>
                        <a:rPr sz="1200" b="0">
                          <a:solidFill>
                            <a:srgbClr val="111A30"/>
                          </a:solidFill>
                          <a:latin typeface="SF Pro Text"/>
                          <a:ea typeface="SF Pro Text"/>
                          <a:cs typeface="SF Pro Text"/>
                        </a:rPr>
                        <a:t>Beberapa kelompok dan indikator</a:t>
                      </a:r>
                    </a:p>
                  </a:txBody>
                  <a:tcPr marL="91440" marR="91440" marT="45720" marB="45720" anchor="ctr">
                    <a:solidFill>
                      <a:srgbClr val="EAF6FC"/>
                    </a:solidFill>
                  </a:tcPr>
                </a:tc>
                <a:tc>
                  <a:txBody>
                    <a:bodyPr wrap="square" lIns="95250" tIns="76200" rIns="95250" bIns="76200">
                      <a:normAutofit/>
                    </a:bodyPr>
                    <a:lstStyle/>
                    <a:p>
                      <a:pPr algn="ctr"/>
                      <a:r>
                        <a:rPr sz="1200" b="0">
                          <a:solidFill>
                            <a:srgbClr val="111A30"/>
                          </a:solidFill>
                          <a:latin typeface="SF Pro Text"/>
                          <a:ea typeface="SF Pro Text"/>
                          <a:cs typeface="SF Pro Text"/>
                        </a:rPr>
                        <a:t>Radar chart</a:t>
                      </a:r>
                    </a:p>
                  </a:txBody>
                  <a:tcPr marL="91440" marR="91440" marT="45720" marB="45720" anchor="ctr">
                    <a:solidFill>
                      <a:srgbClr val="EAF6FC"/>
                    </a:solidFill>
                  </a:tcPr>
                </a:tc>
              </a:tr>
            </a:tbl>
          </a:graphicData>
        </a:graphic>
      </p:graphicFrame>
    </p:spTree>
    <p:extLst>
      <p:ext uri="{BB962C8B-B14F-4D97-AF65-F5344CB8AC3E}">
        <p14:creationId xmlns:p14="http://schemas.microsoft.com/office/powerpoint/2010/main" val="21452321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7F14EC-58BD-45D4-A37A-D25CC00F8DF4}"/>
              </a:ext>
            </a:extLst>
          </p:cNvPr>
          <p:cNvSpPr>
            <a:spLocks xmlns:a="http://schemas.openxmlformats.org/drawingml/2006/main" noGrp="1"/>
          </p:cNvSpPr>
          <p:nvPr/>
        </p:nvSpPr>
        <p:spPr>
          <a:xfrm xmlns:a="http://schemas.openxmlformats.org/drawingml/2006/main">
            <a:off x="685800" y="4191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11A30"/>
                </a:solidFill>
                <a:latin typeface="SF Pro Display"/>
                <a:ea typeface="SF Pro Display"/>
                <a:cs typeface="SF Pro Display"/>
              </a:defRPr>
            </a:defPPr>
          </a:lstStyle>
          <a:p xmlns:a="http://schemas.openxmlformats.org/drawingml/2006/main">
            <a:pPr algn="l">
              <a:lnSpc>
                <a:spcPct val="106000"/>
              </a:lnSpc>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Bar chart membandingkan kategori</a:t>
            </a:r>
          </a:p>
        </p:txBody>
      </p:sp>
      <p:sp>
        <p:nvSpPr>
          <p:cNvPr id="2" name="">
            <a:extLst xmlns:a="http://schemas.openxmlformats.org/drawingml/2006/main">
              <a:ext uri="{FF2B5EF4-FFF2-40B4-BE49-F238E27FC236}">
                <a16:creationId xmlns:a16="http://schemas.microsoft.com/office/drawing/2014/main" id="{9D41A8A5-A04B-4993-84C0-F7C4930A6666}"/>
              </a:ext>
            </a:extLst>
          </p:cNvPr>
          <p:cNvSpPr>
            <a:spLocks xmlns:a="http://schemas.openxmlformats.org/drawingml/2006/main" noGrp="1"/>
          </p:cNvSpPr>
          <p:nvPr/>
        </p:nvSpPr>
        <p:spPr>
          <a:xfrm xmlns:a="http://schemas.openxmlformats.org/drawingml/2006/main">
            <a:off x="685800" y="10096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4B5868"/>
                </a:solidFill>
                <a:latin typeface="SF Pro Text"/>
                <a:ea typeface="SF Pro Text"/>
                <a:cs typeface="SF Pro Text"/>
              </a:defRPr>
            </a:defPPr>
          </a:lstStyle>
          <a:p xmlns:a="http://schemas.openxmlformats.org/drawingml/2006/main">
            <a:pPr algn="l">
              <a:lnSpc>
                <a:spcPct val="106000"/>
              </a:lnSpc>
              <a:buNone/>
              <a:defRPr sz="1500" b="0">
                <a:solidFill>
                  <a:srgbClr val="4B5868"/>
                </a:solidFill>
                <a:latin typeface="SF Pro Text"/>
                <a:ea typeface="SF Pro Text"/>
                <a:cs typeface="SF Pro Text"/>
              </a:defRPr>
            </a:pPr>
            <a:r>
              <a:rPr sz="1500" b="0">
                <a:solidFill>
                  <a:srgbClr val="4B5868"/>
                </a:solidFill>
                <a:latin typeface="SF Pro Text"/>
                <a:ea typeface="SF Pro Text"/>
                <a:cs typeface="SF Pro Text"/>
              </a:rPr>
              <a:t>Panjang atau tinggi batang menunjukkan nilai setiap kategori</a:t>
            </a:r>
          </a:p>
        </p:txBody>
      </p:sp>
      <p:sp>
        <p:nvSpPr>
          <p:cNvPr id="3" name="">
            <a:extLst xmlns:a="http://schemas.openxmlformats.org/drawingml/2006/main">
              <a:ext uri="{FF2B5EF4-FFF2-40B4-BE49-F238E27FC236}">
                <a16:creationId xmlns:a16="http://schemas.microsoft.com/office/drawing/2014/main" id="{1C7C1A68-18E0-4E19-AB5C-B53F6A2F66F7}"/>
              </a:ext>
            </a:extLst>
          </p:cNvPr>
          <p:cNvSpPr>
            <a:spLocks xmlns:a="http://schemas.openxmlformats.org/drawingml/2006/main" noGrp="1"/>
          </p:cNvSpPr>
          <p:nvPr/>
        </p:nvSpPr>
        <p:spPr>
          <a:xfrm xmlns:a="http://schemas.openxmlformats.org/drawingml/2006/main">
            <a:off x="685800" y="1571625"/>
            <a:ext cx="10820400" cy="0"/>
          </a:xfrm>
          <a:prstGeom xmlns:a="http://schemas.openxmlformats.org/drawingml/2006/main" prst="line">
            <a:avLst/>
          </a:prstGeom>
          <a:noFill xmlns:a="http://schemas.openxmlformats.org/drawingml/2006/main"/>
          <a:ln xmlns:a="http://schemas.openxmlformats.org/drawingml/2006/main" w="11906">
            <a:solidFill>
              <a:srgbClr val="E7EAEE"/>
            </a:solidFill>
            <a:prstDash val="solid"/>
          </a:ln>
        </p:spPr>
      </p:sp>
      <p:graphicFrame>
        <p:nvGraphicFramePr>
          <p:cNvPr id="4" name="Chart">
            <a:extLst xmlns:a="http://schemas.openxmlformats.org/drawingml/2006/main">
              <a:ext uri="{FF2B5EF4-FFF2-40B4-BE49-F238E27FC236}">
                <a16:creationId xmlns:a16="http://schemas.microsoft.com/office/drawing/2014/main" id="{6A6944DD-68CF-4FA3-966D-B2CECDF980F0}"/>
              </a:ext>
            </a:extLst>
          </p:cNvPr>
          <p:cNvGraphicFramePr/>
          <p:nvPr/>
        </p:nvGraphicFramePr>
        <p:xfrm>
          <a:off xmlns:a="http://schemas.openxmlformats.org/drawingml/2006/main" x="876300" y="1885950"/>
          <a:ext xmlns:a="http://schemas.openxmlformats.org/drawingml/2006/main" cx="6858000" cy="4000500"/>
        </p:xfrm>
        <a:graphic xmlns:a="http://schemas.openxmlformats.org/drawingml/2006/main">
          <a:graphicData uri="http://schemas.openxmlformats.org/drawingml/2006/chart">
            <c:chart xmlns:r="http://schemas.openxmlformats.org/officeDocument/2006/relationships" xmlns:c="http://schemas.openxmlformats.org/drawingml/2006/chart" r:id="R3c624e8ccd3c4fb0"/>
          </a:graphicData>
        </a:graphic>
      </p:graphicFrame>
      <p:sp>
        <p:nvSpPr>
          <p:cNvPr id="5" name="">
            <a:extLst xmlns:a="http://schemas.openxmlformats.org/drawingml/2006/main">
              <a:ext uri="{FF2B5EF4-FFF2-40B4-BE49-F238E27FC236}">
                <a16:creationId xmlns:a16="http://schemas.microsoft.com/office/drawing/2014/main" id="{1B07313C-9331-4692-AC1E-7F7F7E69431F}"/>
              </a:ext>
            </a:extLst>
          </p:cNvPr>
          <p:cNvSpPr>
            <a:spLocks xmlns:a="http://schemas.openxmlformats.org/drawingml/2006/main" noGrp="1"/>
          </p:cNvSpPr>
          <p:nvPr/>
        </p:nvSpPr>
        <p:spPr>
          <a:xfrm xmlns:a="http://schemas.openxmlformats.org/drawingml/2006/main">
            <a:off x="8096250" y="2609850"/>
            <a:ext cx="304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70"/>
          </a:bodyPr>
          <a:lstStyle xmlns:a="http://schemas.openxmlformats.org/drawingml/2006/main">
            <a:defPPr algn="l">
              <a:defRPr sz="1650" b="1">
                <a:solidFill>
                  <a:srgbClr val="111A30"/>
                </a:solidFill>
                <a:latin typeface="SF Pro Text"/>
                <a:ea typeface="SF Pro Text"/>
                <a:cs typeface="SF Pro Text"/>
              </a:defRPr>
            </a:defPPr>
          </a:lstStyle>
          <a:p xmlns:a="http://schemas.openxmlformats.org/drawingml/2006/main">
            <a:pPr algn="l">
              <a:lnSpc>
                <a:spcPct val="106000"/>
              </a:lnSpc>
              <a:buNone/>
              <a:defRPr sz="1650" b="1">
                <a:solidFill>
                  <a:srgbClr val="111A30"/>
                </a:solidFill>
                <a:latin typeface="SF Pro Text"/>
                <a:ea typeface="SF Pro Text"/>
                <a:cs typeface="SF Pro Text"/>
              </a:defRPr>
            </a:pPr>
            <a:r>
              <a:rPr sz="1650" b="1">
                <a:solidFill>
                  <a:srgbClr val="111A30"/>
                </a:solidFill>
                <a:latin typeface="SF Pro Text"/>
                <a:ea typeface="SF Pro Text"/>
                <a:cs typeface="SF Pro Text"/>
              </a:rPr>
              <a:t>Perlu satu nilai untuk setiap kategori? Ringkas data dahulu, lalu tampilkan hasilnya.</a:t>
            </a:r>
          </a:p>
        </p:txBody>
      </p:sp>
      <p:sp>
        <p:nvSpPr>
          <p:cNvPr id="6" name="">
            <a:extLst xmlns:a="http://schemas.openxmlformats.org/drawingml/2006/main">
              <a:ext uri="{FF2B5EF4-FFF2-40B4-BE49-F238E27FC236}">
                <a16:creationId xmlns:a16="http://schemas.microsoft.com/office/drawing/2014/main" id="{2542A513-78DB-472F-9B5D-C70F2199DA6B}"/>
              </a:ext>
            </a:extLst>
          </p:cNvPr>
          <p:cNvSpPr>
            <a:spLocks xmlns:a="http://schemas.openxmlformats.org/drawingml/2006/main" noGrp="1"/>
          </p:cNvSpPr>
          <p:nvPr/>
        </p:nvSpPr>
        <p:spPr>
          <a:xfrm xmlns:a="http://schemas.openxmlformats.org/drawingml/2006/main">
            <a:off x="8096250" y="3981450"/>
            <a:ext cx="3095625" cy="1466850"/>
          </a:xfrm>
          <a:prstGeom xmlns:a="http://schemas.openxmlformats.org/drawingml/2006/main" prst="rect">
            <a:avLst/>
          </a:prstGeom>
          <a:solidFill xmlns:a="http://schemas.openxmlformats.org/drawingml/2006/main">
            <a:srgbClr val="111A30"/>
          </a:solidFill>
          <a:ln xmlns:a="http://schemas.openxmlformats.org/drawingml/2006/main" w="0">
            <a:solidFill>
              <a:srgbClr val="111A30"/>
            </a:solidFill>
            <a:prstDash val="solid"/>
          </a:ln>
        </p:spPr>
        <p:txBody>
          <a:bodyPr xmlns:a="http://schemas.openxmlformats.org/drawingml/2006/main" wrap="square" lIns="152400" tIns="133350" rIns="152400" bIns="133350">
            <a:normAutofit fontScale="100000"/>
          </a:bodyPr>
          <a:lstStyle xmlns:a="http://schemas.openxmlformats.org/drawingml/2006/main">
            <a:defPPr>
              <a:defRPr sz="1200">
                <a:solidFill>
                  <a:srgbClr val="FFFFFF"/>
                </a:solidFill>
                <a:latin typeface="SF Mono"/>
                <a:ea typeface="SF Mono"/>
                <a:cs typeface="SF Mono"/>
              </a:defRPr>
            </a:defPPr>
          </a:lstStyle>
          <a:p xmlns:a="http://schemas.openxmlformats.org/drawingml/2006/main">
            <a:pPr>
              <a:lnSpc>
                <a:spcPct val="105000"/>
              </a:lnSpc>
              <a:buNone/>
              <a:defRPr sz="1200">
                <a:solidFill>
                  <a:srgbClr val="FFFFFF"/>
                </a:solidFill>
                <a:latin typeface="SF Mono"/>
                <a:ea typeface="SF Mono"/>
                <a:cs typeface="SF Mono"/>
              </a:defRPr>
            </a:pPr>
            <a:r>
              <a:rPr sz="1200">
                <a:solidFill>
                  <a:srgbClr val="FFFFFF"/>
                </a:solidFill>
                <a:latin typeface="SF Mono"/>
                <a:ea typeface="SF Mono"/>
                <a:cs typeface="SF Mono"/>
              </a:rPr>
              <a:t>ringkasan = (</a:t>
            </a:r>
          </a:p>
          <a:p xmlns:a="http://schemas.openxmlformats.org/drawingml/2006/main">
            <a:pPr>
              <a:lnSpc>
                <a:spcPct val="105000"/>
              </a:lnSpc>
              <a:buNone/>
              <a:defRPr sz="1200">
                <a:solidFill>
                  <a:srgbClr val="FFFFFF"/>
                </a:solidFill>
                <a:latin typeface="SF Mono"/>
                <a:ea typeface="SF Mono"/>
                <a:cs typeface="SF Mono"/>
              </a:defRPr>
            </a:pPr>
            <a:r>
              <a:rPr sz="1200">
                <a:solidFill>
                  <a:srgbClr val="FFFFFF"/>
                </a:solidFill>
                <a:latin typeface="SF Mono"/>
                <a:ea typeface="SF Mono"/>
                <a:cs typeface="SF Mono"/>
              </a:rPr>
              <a:t>    data.groupby("Kategori", as_index=False)["Unit"]</a:t>
            </a:r>
          </a:p>
          <a:p xmlns:a="http://schemas.openxmlformats.org/drawingml/2006/main">
            <a:pPr>
              <a:lnSpc>
                <a:spcPct val="105000"/>
              </a:lnSpc>
              <a:buNone/>
              <a:defRPr sz="1200">
                <a:solidFill>
                  <a:srgbClr val="FFFFFF"/>
                </a:solidFill>
                <a:latin typeface="SF Mono"/>
                <a:ea typeface="SF Mono"/>
                <a:cs typeface="SF Mono"/>
              </a:defRPr>
            </a:pPr>
            <a:r>
              <a:rPr sz="1200">
                <a:solidFill>
                  <a:srgbClr val="FFFFFF"/>
                </a:solidFill>
                <a:latin typeface="SF Mono"/>
                <a:ea typeface="SF Mono"/>
                <a:cs typeface="SF Mono"/>
              </a:rPr>
              <a:t>    .sum()</a:t>
            </a:r>
          </a:p>
          <a:p xmlns:a="http://schemas.openxmlformats.org/drawingml/2006/main">
            <a:pPr>
              <a:lnSpc>
                <a:spcPct val="105000"/>
              </a:lnSpc>
              <a:buNone/>
              <a:defRPr sz="1200">
                <a:solidFill>
                  <a:srgbClr val="FFFFFF"/>
                </a:solidFill>
                <a:latin typeface="SF Mono"/>
                <a:ea typeface="SF Mono"/>
                <a:cs typeface="SF Mono"/>
              </a:defRPr>
            </a:pPr>
            <a:r>
              <a:rPr sz="1200">
                <a:solidFill>
                  <a:srgbClr val="FFFFFF"/>
                </a:solidFill>
                <a:latin typeface="SF Mono"/>
                <a:ea typeface="SF Mono"/>
                <a:cs typeface="SF Mono"/>
              </a:rPr>
              <a:t>)</a:t>
            </a:r>
          </a:p>
        </p:txBody>
      </p:sp>
      <p:sp>
        <p:nvSpPr>
          <p:cNvPr id="7" name="">
            <a:extLst xmlns:a="http://schemas.openxmlformats.org/drawingml/2006/main">
              <a:ext uri="{FF2B5EF4-FFF2-40B4-BE49-F238E27FC236}">
                <a16:creationId xmlns:a16="http://schemas.microsoft.com/office/drawing/2014/main" id="{0901FD1B-B260-4AEA-A52F-EDDBB120E881}"/>
              </a:ext>
            </a:extLst>
          </p:cNvPr>
          <p:cNvSpPr>
            <a:spLocks xmlns:a="http://schemas.openxmlformats.org/drawingml/2006/main" noGrp="1"/>
          </p:cNvSpPr>
          <p:nvPr/>
        </p:nvSpPr>
        <p:spPr>
          <a:xfrm xmlns:a="http://schemas.openxmlformats.org/drawingml/2006/main">
            <a:off x="8096250" y="5657850"/>
            <a:ext cx="3095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4B5868"/>
                </a:solidFill>
                <a:latin typeface="SF Pro Text"/>
                <a:ea typeface="SF Pro Text"/>
                <a:cs typeface="SF Pro Text"/>
              </a:defRPr>
            </a:defPPr>
          </a:lstStyle>
          <a:p xmlns:a="http://schemas.openxmlformats.org/drawingml/2006/main">
            <a:pPr algn="l">
              <a:lnSpc>
                <a:spcPct val="106000"/>
              </a:lnSpc>
              <a:buNone/>
              <a:defRPr sz="1350" b="0">
                <a:solidFill>
                  <a:srgbClr val="4B5868"/>
                </a:solidFill>
                <a:latin typeface="SF Pro Text"/>
                <a:ea typeface="SF Pro Text"/>
                <a:cs typeface="SF Pro Text"/>
              </a:defRPr>
            </a:pPr>
            <a:r>
              <a:rPr sz="1350" b="0">
                <a:solidFill>
                  <a:srgbClr val="4B5868"/>
                </a:solidFill>
                <a:latin typeface="SF Pro Text"/>
                <a:ea typeface="SF Pro Text"/>
                <a:cs typeface="SF Pro Text"/>
              </a:rPr>
              <a:t>Gunakan bar chart horizontal ketika nama kategori panjang.</a:t>
            </a:r>
          </a:p>
        </p:txBody>
      </p:sp>
    </p:spTree>
    <p:extLst>
      <p:ext uri="{BB962C8B-B14F-4D97-AF65-F5344CB8AC3E}">
        <p14:creationId xmlns:p14="http://schemas.microsoft.com/office/powerpoint/2010/main" val="10331492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B06B1F-377F-4DF7-AD34-9A4BF87E9E45}"/>
              </a:ext>
            </a:extLst>
          </p:cNvPr>
          <p:cNvSpPr>
            <a:spLocks xmlns:a="http://schemas.openxmlformats.org/drawingml/2006/main" noGrp="1"/>
          </p:cNvSpPr>
          <p:nvPr/>
        </p:nvSpPr>
        <p:spPr>
          <a:xfrm xmlns:a="http://schemas.openxmlformats.org/drawingml/2006/main">
            <a:off x="685800" y="4191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11A30"/>
                </a:solidFill>
                <a:latin typeface="SF Pro Display"/>
                <a:ea typeface="SF Pro Display"/>
                <a:cs typeface="SF Pro Display"/>
              </a:defRPr>
            </a:defPPr>
          </a:lstStyle>
          <a:p xmlns:a="http://schemas.openxmlformats.org/drawingml/2006/main">
            <a:pPr algn="l">
              <a:lnSpc>
                <a:spcPct val="106000"/>
              </a:lnSpc>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Count plot menghitung banyaknya pengamatan</a:t>
            </a:r>
          </a:p>
        </p:txBody>
      </p:sp>
      <p:sp>
        <p:nvSpPr>
          <p:cNvPr id="2" name="">
            <a:extLst xmlns:a="http://schemas.openxmlformats.org/drawingml/2006/main">
              <a:ext uri="{FF2B5EF4-FFF2-40B4-BE49-F238E27FC236}">
                <a16:creationId xmlns:a16="http://schemas.microsoft.com/office/drawing/2014/main" id="{5B71574B-7B28-4C3F-84AC-323A085909CE}"/>
              </a:ext>
            </a:extLst>
          </p:cNvPr>
          <p:cNvSpPr>
            <a:spLocks xmlns:a="http://schemas.openxmlformats.org/drawingml/2006/main" noGrp="1"/>
          </p:cNvSpPr>
          <p:nvPr/>
        </p:nvSpPr>
        <p:spPr>
          <a:xfrm xmlns:a="http://schemas.openxmlformats.org/drawingml/2006/main">
            <a:off x="685800" y="10096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4B5868"/>
                </a:solidFill>
                <a:latin typeface="SF Pro Text"/>
                <a:ea typeface="SF Pro Text"/>
                <a:cs typeface="SF Pro Text"/>
              </a:defRPr>
            </a:defPPr>
          </a:lstStyle>
          <a:p xmlns:a="http://schemas.openxmlformats.org/drawingml/2006/main">
            <a:pPr algn="l">
              <a:lnSpc>
                <a:spcPct val="106000"/>
              </a:lnSpc>
              <a:buNone/>
              <a:defRPr sz="1500" b="0">
                <a:solidFill>
                  <a:srgbClr val="4B5868"/>
                </a:solidFill>
                <a:latin typeface="SF Pro Text"/>
                <a:ea typeface="SF Pro Text"/>
                <a:cs typeface="SF Pro Text"/>
              </a:defRPr>
            </a:pPr>
            <a:r>
              <a:rPr sz="1500" b="0">
                <a:solidFill>
                  <a:srgbClr val="4B5868"/>
                </a:solidFill>
                <a:latin typeface="SF Pro Text"/>
                <a:ea typeface="SF Pro Text"/>
                <a:cs typeface="SF Pro Text"/>
              </a:rPr>
              <a:t>Satu baris mentah di sini mewakili satu pesanan</a:t>
            </a:r>
          </a:p>
        </p:txBody>
      </p:sp>
      <p:sp>
        <p:nvSpPr>
          <p:cNvPr id="3" name="">
            <a:extLst xmlns:a="http://schemas.openxmlformats.org/drawingml/2006/main">
              <a:ext uri="{FF2B5EF4-FFF2-40B4-BE49-F238E27FC236}">
                <a16:creationId xmlns:a16="http://schemas.microsoft.com/office/drawing/2014/main" id="{57F9F544-4920-4F63-BC48-5381573BE4E5}"/>
              </a:ext>
            </a:extLst>
          </p:cNvPr>
          <p:cNvSpPr>
            <a:spLocks xmlns:a="http://schemas.openxmlformats.org/drawingml/2006/main" noGrp="1"/>
          </p:cNvSpPr>
          <p:nvPr/>
        </p:nvSpPr>
        <p:spPr>
          <a:xfrm xmlns:a="http://schemas.openxmlformats.org/drawingml/2006/main">
            <a:off x="685800" y="1571625"/>
            <a:ext cx="10820400" cy="0"/>
          </a:xfrm>
          <a:prstGeom xmlns:a="http://schemas.openxmlformats.org/drawingml/2006/main" prst="line">
            <a:avLst/>
          </a:prstGeom>
          <a:noFill xmlns:a="http://schemas.openxmlformats.org/drawingml/2006/main"/>
          <a:ln xmlns:a="http://schemas.openxmlformats.org/drawingml/2006/main" w="11906">
            <a:solidFill>
              <a:srgbClr val="E7EAEE"/>
            </a:solidFill>
            <a:prstDash val="solid"/>
          </a:ln>
        </p:spPr>
      </p:sp>
      <p:graphicFrame>
        <p:nvGraphicFramePr>
          <p:cNvPr id="4" name="Chart">
            <a:extLst xmlns:a="http://schemas.openxmlformats.org/drawingml/2006/main">
              <a:ext uri="{FF2B5EF4-FFF2-40B4-BE49-F238E27FC236}">
                <a16:creationId xmlns:a16="http://schemas.microsoft.com/office/drawing/2014/main" id="{E1FD8884-88C3-4D52-AAAF-22D2F44AE5DB}"/>
              </a:ext>
            </a:extLst>
          </p:cNvPr>
          <p:cNvGraphicFramePr/>
          <p:nvPr/>
        </p:nvGraphicFramePr>
        <p:xfrm>
          <a:off xmlns:a="http://schemas.openxmlformats.org/drawingml/2006/main" x="762000" y="1952625"/>
          <a:ext xmlns:a="http://schemas.openxmlformats.org/drawingml/2006/main" cx="6572250" cy="3905250"/>
        </p:xfrm>
        <a:graphic xmlns:a="http://schemas.openxmlformats.org/drawingml/2006/main">
          <a:graphicData uri="http://schemas.openxmlformats.org/drawingml/2006/chart">
            <c:chart xmlns:r="http://schemas.openxmlformats.org/officeDocument/2006/relationships" xmlns:c="http://schemas.openxmlformats.org/drawingml/2006/chart" r:id="R08ef67db4de74382"/>
          </a:graphicData>
        </a:graphic>
      </p:graphicFrame>
      <p:graphicFrame>
        <p:nvGraphicFramePr>
          <p:cNvPr id="5" name="">
            <a:extLst xmlns:a="http://schemas.openxmlformats.org/drawingml/2006/main">
              <a:ext uri="{FF2B5EF4-FFF2-40B4-BE49-F238E27FC236}">
                <a16:creationId xmlns:a16="http://schemas.microsoft.com/office/drawing/2014/main" id="{762274AF-8151-4596-A1F6-834579F6F33E}"/>
              </a:ext>
            </a:extLst>
          </p:cNvPr>
          <p:cNvGraphicFramePr/>
          <p:nvPr/>
        </p:nvGraphicFramePr>
        <p:xfrm>
          <a:off xmlns:a="http://schemas.openxmlformats.org/drawingml/2006/main" x="7696200" y="2143125"/>
          <a:ext xmlns:a="http://schemas.openxmlformats.org/drawingml/2006/main" cx="3619500" cy="3143250"/>
        </p:xfrm>
        <a:graphic xmlns:a="http://schemas.openxmlformats.org/drawingml/2006/main">
          <a:graphicData uri="http://schemas.openxmlformats.org/drawingml/2006/table">
            <a:tbl>
              <a:tblPr firstRow="0" bandRow="0"/>
              <a:tblGrid>
                <a:gridCol w="1676400"/>
                <a:gridCol w="971550"/>
                <a:gridCol w="971550"/>
              </a:tblGrid>
              <a:tr h="523875">
                <a:tc>
                  <a:txBody>
                    <a:bodyPr wrap="square" lIns="95250" tIns="76200" rIns="95250" bIns="76200">
                      <a:normAutofit/>
                    </a:bodyPr>
                    <a:lstStyle/>
                    <a:p>
                      <a:pPr algn="l"/>
                      <a:r>
                        <a:rPr sz="1275" b="1">
                          <a:solidFill>
                            <a:srgbClr val="FFFFFF"/>
                          </a:solidFill>
                          <a:latin typeface="SF Pro Text"/>
                          <a:ea typeface="SF Pro Text"/>
                          <a:cs typeface="SF Pro Text"/>
                        </a:rPr>
                        <a:t>Kategori</a:t>
                      </a:r>
                    </a:p>
                  </a:txBody>
                  <a:tcPr marL="91440" marR="91440" marT="45720" marB="45720" anchor="ctr">
                    <a:solidFill>
                      <a:srgbClr val="111A30"/>
                    </a:solidFill>
                  </a:tcPr>
                </a:tc>
                <a:tc>
                  <a:txBody>
                    <a:bodyPr wrap="square" lIns="95250" tIns="76200" rIns="95250" bIns="76200">
                      <a:normAutofit/>
                    </a:bodyPr>
                    <a:lstStyle/>
                    <a:p>
                      <a:pPr algn="ctr"/>
                      <a:r>
                        <a:rPr sz="1275" b="1">
                          <a:solidFill>
                            <a:srgbClr val="FFFFFF"/>
                          </a:solidFill>
                          <a:latin typeface="SF Pro Text"/>
                          <a:ea typeface="SF Pro Text"/>
                          <a:cs typeface="SF Pro Text"/>
                        </a:rPr>
                        <a:t>Unit</a:t>
                      </a:r>
                    </a:p>
                  </a:txBody>
                  <a:tcPr marL="91440" marR="91440" marT="45720" marB="45720" anchor="ctr">
                    <a:solidFill>
                      <a:srgbClr val="111A30"/>
                    </a:solidFill>
                  </a:tcPr>
                </a:tc>
                <a:tc>
                  <a:txBody>
                    <a:bodyPr wrap="square" lIns="95250" tIns="76200" rIns="95250" bIns="76200">
                      <a:normAutofit/>
                    </a:bodyPr>
                    <a:lstStyle/>
                    <a:p>
                      <a:pPr algn="ctr"/>
                      <a:r>
                        <a:rPr sz="1275" b="1">
                          <a:solidFill>
                            <a:srgbClr val="FFFFFF"/>
                          </a:solidFill>
                          <a:latin typeface="SF Pro Text"/>
                          <a:ea typeface="SF Pro Text"/>
                          <a:cs typeface="SF Pro Text"/>
                        </a:rPr>
                        <a:t>Pesanan</a:t>
                      </a:r>
                    </a:p>
                  </a:txBody>
                  <a:tcPr marL="91440" marR="91440" marT="45720" marB="45720" anchor="ctr">
                    <a:solidFill>
                      <a:srgbClr val="111A30"/>
                    </a:solidFill>
                  </a:tcPr>
                </a:tc>
              </a:tr>
              <a:tr h="523875">
                <a:tc>
                  <a:txBody>
                    <a:bodyPr wrap="square" lIns="95250" tIns="76200" rIns="95250" bIns="76200">
                      <a:normAutofit/>
                    </a:bodyPr>
                    <a:lstStyle/>
                    <a:p>
                      <a:pPr algn="l"/>
                      <a:r>
                        <a:rPr sz="1275" b="1">
                          <a:solidFill>
                            <a:srgbClr val="111A30"/>
                          </a:solidFill>
                          <a:latin typeface="SF Pro Text"/>
                          <a:ea typeface="SF Pro Text"/>
                          <a:cs typeface="SF Pro Text"/>
                        </a:rPr>
                        <a:t>Buku</a:t>
                      </a:r>
                    </a:p>
                  </a:txBody>
                  <a:tcPr marL="91440" marR="91440" marT="45720" marB="45720" anchor="ctr">
                    <a:solidFill>
                      <a:srgbClr val="EAF6FC"/>
                    </a:solidFill>
                  </a:tcPr>
                </a:tc>
                <a:tc>
                  <a:txBody>
                    <a:bodyPr wrap="square" lIns="95250" tIns="76200" rIns="95250" bIns="76200">
                      <a:normAutofit/>
                    </a:bodyPr>
                    <a:lstStyle/>
                    <a:p>
                      <a:pPr algn="ctr"/>
                      <a:r>
                        <a:rPr sz="1275" b="0">
                          <a:solidFill>
                            <a:srgbClr val="111A30"/>
                          </a:solidFill>
                          <a:latin typeface="SF Pro Text"/>
                          <a:ea typeface="SF Pro Text"/>
                          <a:cs typeface="SF Pro Text"/>
                        </a:rPr>
                        <a:t>80</a:t>
                      </a:r>
                    </a:p>
                  </a:txBody>
                  <a:tcPr marL="91440" marR="91440" marT="45720" marB="45720" anchor="ctr">
                    <a:solidFill>
                      <a:srgbClr val="EAF6FC"/>
                    </a:solidFill>
                  </a:tcPr>
                </a:tc>
                <a:tc>
                  <a:txBody>
                    <a:bodyPr wrap="square" lIns="95250" tIns="76200" rIns="95250" bIns="76200">
                      <a:normAutofit/>
                    </a:bodyPr>
                    <a:lstStyle/>
                    <a:p>
                      <a:pPr algn="ctr"/>
                      <a:r>
                        <a:rPr sz="1275" b="0">
                          <a:solidFill>
                            <a:srgbClr val="111A30"/>
                          </a:solidFill>
                          <a:latin typeface="SF Pro Text"/>
                          <a:ea typeface="SF Pro Text"/>
                          <a:cs typeface="SF Pro Text"/>
                        </a:rPr>
                        <a:t>4</a:t>
                      </a:r>
                    </a:p>
                  </a:txBody>
                  <a:tcPr marL="91440" marR="91440" marT="45720" marB="45720" anchor="ctr">
                    <a:solidFill>
                      <a:srgbClr val="EAF6FC"/>
                    </a:solidFill>
                  </a:tcPr>
                </a:tc>
              </a:tr>
              <a:tr h="523875">
                <a:tc>
                  <a:txBody>
                    <a:bodyPr wrap="square" lIns="95250" tIns="76200" rIns="95250" bIns="76200">
                      <a:normAutofit/>
                    </a:bodyPr>
                    <a:lstStyle/>
                    <a:p>
                      <a:pPr algn="l"/>
                      <a:r>
                        <a:rPr sz="1275" b="1">
                          <a:solidFill>
                            <a:srgbClr val="111A30"/>
                          </a:solidFill>
                          <a:latin typeface="SF Pro Text"/>
                          <a:ea typeface="SF Pro Text"/>
                          <a:cs typeface="SF Pro Text"/>
                        </a:rPr>
                        <a:t>Alat Tulis</a:t>
                      </a:r>
                    </a:p>
                  </a:txBody>
                  <a:tcPr marL="91440" marR="91440" marT="45720" marB="45720" anchor="ctr">
                    <a:solidFill>
                      <a:srgbClr val="FFFFFF"/>
                    </a:solidFill>
                  </a:tcPr>
                </a:tc>
                <a:tc>
                  <a:txBody>
                    <a:bodyPr wrap="square" lIns="95250" tIns="76200" rIns="95250" bIns="76200">
                      <a:normAutofit/>
                    </a:bodyPr>
                    <a:lstStyle/>
                    <a:p>
                      <a:pPr algn="ctr"/>
                      <a:r>
                        <a:rPr sz="1275" b="0">
                          <a:solidFill>
                            <a:srgbClr val="111A30"/>
                          </a:solidFill>
                          <a:latin typeface="SF Pro Text"/>
                          <a:ea typeface="SF Pro Text"/>
                          <a:cs typeface="SF Pro Text"/>
                        </a:rPr>
                        <a:t>87</a:t>
                      </a:r>
                    </a:p>
                  </a:txBody>
                  <a:tcPr marL="91440" marR="91440" marT="45720" marB="45720" anchor="ctr">
                    <a:solidFill>
                      <a:srgbClr val="FFFFFF"/>
                    </a:solidFill>
                  </a:tcPr>
                </a:tc>
                <a:tc>
                  <a:txBody>
                    <a:bodyPr wrap="square" lIns="95250" tIns="76200" rIns="95250" bIns="76200">
                      <a:normAutofit/>
                    </a:bodyPr>
                    <a:lstStyle/>
                    <a:p>
                      <a:pPr algn="ctr"/>
                      <a:r>
                        <a:rPr sz="1275" b="0">
                          <a:solidFill>
                            <a:srgbClr val="111A30"/>
                          </a:solidFill>
                          <a:latin typeface="SF Pro Text"/>
                          <a:ea typeface="SF Pro Text"/>
                          <a:cs typeface="SF Pro Text"/>
                        </a:rPr>
                        <a:t>5</a:t>
                      </a:r>
                    </a:p>
                  </a:txBody>
                  <a:tcPr marL="91440" marR="91440" marT="45720" marB="45720" anchor="ctr">
                    <a:solidFill>
                      <a:srgbClr val="FFFFFF"/>
                    </a:solidFill>
                  </a:tcPr>
                </a:tc>
              </a:tr>
              <a:tr h="523875">
                <a:tc>
                  <a:txBody>
                    <a:bodyPr wrap="square" lIns="95250" tIns="76200" rIns="95250" bIns="76200">
                      <a:normAutofit/>
                    </a:bodyPr>
                    <a:lstStyle/>
                    <a:p>
                      <a:pPr algn="l"/>
                      <a:r>
                        <a:rPr sz="1275" b="1">
                          <a:solidFill>
                            <a:srgbClr val="111A30"/>
                          </a:solidFill>
                          <a:latin typeface="SF Pro Text"/>
                          <a:ea typeface="SF Pro Text"/>
                          <a:cs typeface="SF Pro Text"/>
                        </a:rPr>
                        <a:t>Makanan</a:t>
                      </a:r>
                    </a:p>
                  </a:txBody>
                  <a:tcPr marL="91440" marR="91440" marT="45720" marB="45720" anchor="ctr">
                    <a:solidFill>
                      <a:srgbClr val="EAF6FC"/>
                    </a:solidFill>
                  </a:tcPr>
                </a:tc>
                <a:tc>
                  <a:txBody>
                    <a:bodyPr wrap="square" lIns="95250" tIns="76200" rIns="95250" bIns="76200">
                      <a:normAutofit/>
                    </a:bodyPr>
                    <a:lstStyle/>
                    <a:p>
                      <a:pPr algn="ctr"/>
                      <a:r>
                        <a:rPr sz="1275" b="0">
                          <a:solidFill>
                            <a:srgbClr val="111A30"/>
                          </a:solidFill>
                          <a:latin typeface="SF Pro Text"/>
                          <a:ea typeface="SF Pro Text"/>
                          <a:cs typeface="SF Pro Text"/>
                        </a:rPr>
                        <a:t>119</a:t>
                      </a:r>
                    </a:p>
                  </a:txBody>
                  <a:tcPr marL="91440" marR="91440" marT="45720" marB="45720" anchor="ctr">
                    <a:solidFill>
                      <a:srgbClr val="EAF6FC"/>
                    </a:solidFill>
                  </a:tcPr>
                </a:tc>
                <a:tc>
                  <a:txBody>
                    <a:bodyPr wrap="square" lIns="95250" tIns="76200" rIns="95250" bIns="76200">
                      <a:normAutofit/>
                    </a:bodyPr>
                    <a:lstStyle/>
                    <a:p>
                      <a:pPr algn="ctr"/>
                      <a:r>
                        <a:rPr sz="1275" b="0">
                          <a:solidFill>
                            <a:srgbClr val="111A30"/>
                          </a:solidFill>
                          <a:latin typeface="SF Pro Text"/>
                          <a:ea typeface="SF Pro Text"/>
                          <a:cs typeface="SF Pro Text"/>
                        </a:rPr>
                        <a:t>7</a:t>
                      </a:r>
                    </a:p>
                  </a:txBody>
                  <a:tcPr marL="91440" marR="91440" marT="45720" marB="45720" anchor="ctr">
                    <a:solidFill>
                      <a:srgbClr val="EAF6FC"/>
                    </a:solidFill>
                  </a:tcPr>
                </a:tc>
              </a:tr>
              <a:tr h="523875">
                <a:tc>
                  <a:txBody>
                    <a:bodyPr wrap="square" lIns="95250" tIns="76200" rIns="95250" bIns="76200">
                      <a:normAutofit/>
                    </a:bodyPr>
                    <a:lstStyle/>
                    <a:p>
                      <a:pPr algn="l"/>
                      <a:r>
                        <a:rPr sz="1275" b="1">
                          <a:solidFill>
                            <a:srgbClr val="111A30"/>
                          </a:solidFill>
                          <a:latin typeface="SF Pro Text"/>
                          <a:ea typeface="SF Pro Text"/>
                          <a:cs typeface="SF Pro Text"/>
                        </a:rPr>
                        <a:t>Minuman</a:t>
                      </a:r>
                    </a:p>
                  </a:txBody>
                  <a:tcPr marL="91440" marR="91440" marT="45720" marB="45720" anchor="ctr">
                    <a:solidFill>
                      <a:srgbClr val="FFFFFF"/>
                    </a:solidFill>
                  </a:tcPr>
                </a:tc>
                <a:tc>
                  <a:txBody>
                    <a:bodyPr wrap="square" lIns="95250" tIns="76200" rIns="95250" bIns="76200">
                      <a:normAutofit/>
                    </a:bodyPr>
                    <a:lstStyle/>
                    <a:p>
                      <a:pPr algn="ctr"/>
                      <a:r>
                        <a:rPr sz="1275" b="0">
                          <a:solidFill>
                            <a:srgbClr val="111A30"/>
                          </a:solidFill>
                          <a:latin typeface="SF Pro Text"/>
                          <a:ea typeface="SF Pro Text"/>
                          <a:cs typeface="SF Pro Text"/>
                        </a:rPr>
                        <a:t>92</a:t>
                      </a:r>
                    </a:p>
                  </a:txBody>
                  <a:tcPr marL="91440" marR="91440" marT="45720" marB="45720" anchor="ctr">
                    <a:solidFill>
                      <a:srgbClr val="FFFFFF"/>
                    </a:solidFill>
                  </a:tcPr>
                </a:tc>
                <a:tc>
                  <a:txBody>
                    <a:bodyPr wrap="square" lIns="95250" tIns="76200" rIns="95250" bIns="76200">
                      <a:normAutofit/>
                    </a:bodyPr>
                    <a:lstStyle/>
                    <a:p>
                      <a:pPr algn="ctr"/>
                      <a:r>
                        <a:rPr sz="1275" b="0">
                          <a:solidFill>
                            <a:srgbClr val="111A30"/>
                          </a:solidFill>
                          <a:latin typeface="SF Pro Text"/>
                          <a:ea typeface="SF Pro Text"/>
                          <a:cs typeface="SF Pro Text"/>
                        </a:rPr>
                        <a:t>3</a:t>
                      </a:r>
                    </a:p>
                  </a:txBody>
                  <a:tcPr marL="91440" marR="91440" marT="45720" marB="45720" anchor="ctr">
                    <a:solidFill>
                      <a:srgbClr val="FFFFFF"/>
                    </a:solidFill>
                  </a:tcPr>
                </a:tc>
              </a:tr>
              <a:tr h="523875">
                <a:tc>
                  <a:txBody>
                    <a:bodyPr wrap="square" lIns="95250" tIns="76200" rIns="95250" bIns="76200">
                      <a:normAutofit/>
                    </a:bodyPr>
                    <a:lstStyle/>
                    <a:p>
                      <a:pPr algn="l"/>
                      <a:r>
                        <a:rPr sz="1275" b="1">
                          <a:solidFill>
                            <a:srgbClr val="111A30"/>
                          </a:solidFill>
                          <a:latin typeface="SF Pro Text"/>
                          <a:ea typeface="SF Pro Text"/>
                          <a:cs typeface="SF Pro Text"/>
                        </a:rPr>
                        <a:t>Aksesori</a:t>
                      </a:r>
                    </a:p>
                  </a:txBody>
                  <a:tcPr marL="91440" marR="91440" marT="45720" marB="45720" anchor="ctr">
                    <a:solidFill>
                      <a:srgbClr val="EAF6FC"/>
                    </a:solidFill>
                  </a:tcPr>
                </a:tc>
                <a:tc>
                  <a:txBody>
                    <a:bodyPr wrap="square" lIns="95250" tIns="76200" rIns="95250" bIns="76200">
                      <a:normAutofit/>
                    </a:bodyPr>
                    <a:lstStyle/>
                    <a:p>
                      <a:pPr algn="ctr"/>
                      <a:r>
                        <a:rPr sz="1275" b="0">
                          <a:solidFill>
                            <a:srgbClr val="111A30"/>
                          </a:solidFill>
                          <a:latin typeface="SF Pro Text"/>
                          <a:ea typeface="SF Pro Text"/>
                          <a:cs typeface="SF Pro Text"/>
                        </a:rPr>
                        <a:t>64</a:t>
                      </a:r>
                    </a:p>
                  </a:txBody>
                  <a:tcPr marL="91440" marR="91440" marT="45720" marB="45720" anchor="ctr">
                    <a:solidFill>
                      <a:srgbClr val="EAF6FC"/>
                    </a:solidFill>
                  </a:tcPr>
                </a:tc>
                <a:tc>
                  <a:txBody>
                    <a:bodyPr wrap="square" lIns="95250" tIns="76200" rIns="95250" bIns="76200">
                      <a:normAutofit/>
                    </a:bodyPr>
                    <a:lstStyle/>
                    <a:p>
                      <a:pPr algn="ctr"/>
                      <a:r>
                        <a:rPr sz="1275" b="0">
                          <a:solidFill>
                            <a:srgbClr val="111A30"/>
                          </a:solidFill>
                          <a:latin typeface="SF Pro Text"/>
                          <a:ea typeface="SF Pro Text"/>
                          <a:cs typeface="SF Pro Text"/>
                        </a:rPr>
                        <a:t>2</a:t>
                      </a:r>
                    </a:p>
                  </a:txBody>
                  <a:tcPr marL="91440" marR="91440" marT="45720" marB="45720" anchor="ctr">
                    <a:solidFill>
                      <a:srgbClr val="EAF6FC"/>
                    </a:solidFill>
                  </a:tcPr>
                </a:tc>
              </a:tr>
            </a:tbl>
          </a:graphicData>
        </a:graphic>
      </p:graphicFrame>
      <p:sp>
        <p:nvSpPr>
          <p:cNvPr id="6" name="">
            <a:extLst xmlns:a="http://schemas.openxmlformats.org/drawingml/2006/main">
              <a:ext uri="{FF2B5EF4-FFF2-40B4-BE49-F238E27FC236}">
                <a16:creationId xmlns:a16="http://schemas.microsoft.com/office/drawing/2014/main" id="{80AD5909-36AA-4DA4-A9D9-5C4455200228}"/>
              </a:ext>
            </a:extLst>
          </p:cNvPr>
          <p:cNvSpPr>
            <a:spLocks xmlns:a="http://schemas.openxmlformats.org/drawingml/2006/main" noGrp="1"/>
          </p:cNvSpPr>
          <p:nvPr/>
        </p:nvSpPr>
        <p:spPr>
          <a:xfrm xmlns:a="http://schemas.openxmlformats.org/drawingml/2006/main">
            <a:off x="7734300" y="5572125"/>
            <a:ext cx="3524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6B9B"/>
                </a:solidFill>
                <a:latin typeface="SF Pro Text"/>
                <a:ea typeface="SF Pro Text"/>
                <a:cs typeface="SF Pro Text"/>
              </a:defRPr>
            </a:defPPr>
          </a:lstStyle>
          <a:p xmlns:a="http://schemas.openxmlformats.org/drawingml/2006/main">
            <a:pPr algn="l">
              <a:lnSpc>
                <a:spcPct val="106000"/>
              </a:lnSpc>
              <a:buNone/>
              <a:defRPr sz="1425" b="1">
                <a:solidFill>
                  <a:srgbClr val="196B9B"/>
                </a:solidFill>
                <a:latin typeface="SF Pro Text"/>
                <a:ea typeface="SF Pro Text"/>
                <a:cs typeface="SF Pro Text"/>
              </a:defRPr>
            </a:pPr>
            <a:r>
              <a:rPr sz="1425" b="1">
                <a:solidFill>
                  <a:srgbClr val="196B9B"/>
                </a:solidFill>
                <a:latin typeface="SF Pro Text"/>
                <a:ea typeface="SF Pro Text"/>
                <a:cs typeface="SF Pro Text"/>
              </a:rPr>
              <a:t>Pesanan adalah frekuensi. Unit adalah jumlah barang.</a:t>
            </a:r>
          </a:p>
        </p:txBody>
      </p:sp>
    </p:spTree>
    <p:extLst>
      <p:ext uri="{BB962C8B-B14F-4D97-AF65-F5344CB8AC3E}">
        <p14:creationId xmlns:p14="http://schemas.microsoft.com/office/powerpoint/2010/main" val="36502187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BAB7E0-7449-48B6-994B-6CD3103251B0}"/>
              </a:ext>
            </a:extLst>
          </p:cNvPr>
          <p:cNvSpPr>
            <a:spLocks xmlns:a="http://schemas.openxmlformats.org/drawingml/2006/main" noGrp="1"/>
          </p:cNvSpPr>
          <p:nvPr/>
        </p:nvSpPr>
        <p:spPr>
          <a:xfrm xmlns:a="http://schemas.openxmlformats.org/drawingml/2006/main">
            <a:off x="685800" y="4191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11A30"/>
                </a:solidFill>
                <a:latin typeface="SF Pro Display"/>
                <a:ea typeface="SF Pro Display"/>
                <a:cs typeface="SF Pro Display"/>
              </a:defRPr>
            </a:defPPr>
          </a:lstStyle>
          <a:p xmlns:a="http://schemas.openxmlformats.org/drawingml/2006/main">
            <a:pPr algn="l">
              <a:lnSpc>
                <a:spcPct val="106000"/>
              </a:lnSpc>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Grouped bar membandingkan beberapa kelompok</a:t>
            </a:r>
          </a:p>
        </p:txBody>
      </p:sp>
      <p:sp>
        <p:nvSpPr>
          <p:cNvPr id="2" name="">
            <a:extLst xmlns:a="http://schemas.openxmlformats.org/drawingml/2006/main">
              <a:ext uri="{FF2B5EF4-FFF2-40B4-BE49-F238E27FC236}">
                <a16:creationId xmlns:a16="http://schemas.microsoft.com/office/drawing/2014/main" id="{E7EA6648-B808-45B2-94B7-5DD0757112C9}"/>
              </a:ext>
            </a:extLst>
          </p:cNvPr>
          <p:cNvSpPr>
            <a:spLocks xmlns:a="http://schemas.openxmlformats.org/drawingml/2006/main" noGrp="1"/>
          </p:cNvSpPr>
          <p:nvPr/>
        </p:nvSpPr>
        <p:spPr>
          <a:xfrm xmlns:a="http://schemas.openxmlformats.org/drawingml/2006/main">
            <a:off x="685800" y="10096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4B5868"/>
                </a:solidFill>
                <a:latin typeface="SF Pro Text"/>
                <a:ea typeface="SF Pro Text"/>
                <a:cs typeface="SF Pro Text"/>
              </a:defRPr>
            </a:defPPr>
          </a:lstStyle>
          <a:p xmlns:a="http://schemas.openxmlformats.org/drawingml/2006/main">
            <a:pPr algn="l">
              <a:lnSpc>
                <a:spcPct val="106000"/>
              </a:lnSpc>
              <a:buNone/>
              <a:defRPr sz="1500" b="0">
                <a:solidFill>
                  <a:srgbClr val="4B5868"/>
                </a:solidFill>
                <a:latin typeface="SF Pro Text"/>
                <a:ea typeface="SF Pro Text"/>
                <a:cs typeface="SF Pro Text"/>
              </a:defRPr>
            </a:pPr>
            <a:r>
              <a:rPr sz="1500" b="0">
                <a:solidFill>
                  <a:srgbClr val="4B5868"/>
                </a:solidFill>
                <a:latin typeface="SF Pro Text"/>
                <a:ea typeface="SF Pro Text"/>
                <a:cs typeface="SF Pro Text"/>
              </a:rPr>
              <a:t>Batang berdampingan memudahkan perbandingan cabang pada kategori sama</a:t>
            </a:r>
          </a:p>
        </p:txBody>
      </p:sp>
      <p:sp>
        <p:nvSpPr>
          <p:cNvPr id="3" name="">
            <a:extLst xmlns:a="http://schemas.openxmlformats.org/drawingml/2006/main">
              <a:ext uri="{FF2B5EF4-FFF2-40B4-BE49-F238E27FC236}">
                <a16:creationId xmlns:a16="http://schemas.microsoft.com/office/drawing/2014/main" id="{2181B8AA-25FB-42E7-AB4D-93E4BDCA6B03}"/>
              </a:ext>
            </a:extLst>
          </p:cNvPr>
          <p:cNvSpPr>
            <a:spLocks xmlns:a="http://schemas.openxmlformats.org/drawingml/2006/main" noGrp="1"/>
          </p:cNvSpPr>
          <p:nvPr/>
        </p:nvSpPr>
        <p:spPr>
          <a:xfrm xmlns:a="http://schemas.openxmlformats.org/drawingml/2006/main">
            <a:off x="685800" y="1571625"/>
            <a:ext cx="10820400" cy="0"/>
          </a:xfrm>
          <a:prstGeom xmlns:a="http://schemas.openxmlformats.org/drawingml/2006/main" prst="line">
            <a:avLst/>
          </a:prstGeom>
          <a:noFill xmlns:a="http://schemas.openxmlformats.org/drawingml/2006/main"/>
          <a:ln xmlns:a="http://schemas.openxmlformats.org/drawingml/2006/main" w="11906">
            <a:solidFill>
              <a:srgbClr val="E7EAEE"/>
            </a:solidFill>
            <a:prstDash val="solid"/>
          </a:ln>
        </p:spPr>
      </p:sp>
      <p:graphicFrame>
        <p:nvGraphicFramePr>
          <p:cNvPr id="4" name="Chart">
            <a:extLst xmlns:a="http://schemas.openxmlformats.org/drawingml/2006/main">
              <a:ext uri="{FF2B5EF4-FFF2-40B4-BE49-F238E27FC236}">
                <a16:creationId xmlns:a16="http://schemas.microsoft.com/office/drawing/2014/main" id="{0FDF6139-FEB7-4570-B3CC-66E854DEA16D}"/>
              </a:ext>
            </a:extLst>
          </p:cNvPr>
          <p:cNvGraphicFramePr/>
          <p:nvPr/>
        </p:nvGraphicFramePr>
        <p:xfrm>
          <a:off xmlns:a="http://schemas.openxmlformats.org/drawingml/2006/main" x="904875" y="1952625"/>
          <a:ext xmlns:a="http://schemas.openxmlformats.org/drawingml/2006/main" cx="10334625" cy="3857625"/>
        </p:xfrm>
        <a:graphic xmlns:a="http://schemas.openxmlformats.org/drawingml/2006/main">
          <a:graphicData uri="http://schemas.openxmlformats.org/drawingml/2006/chart">
            <c:chart xmlns:r="http://schemas.openxmlformats.org/officeDocument/2006/relationships" xmlns:c="http://schemas.openxmlformats.org/drawingml/2006/chart" r:id="Racc0717c7db64ccb"/>
          </a:graphicData>
        </a:graphic>
      </p:graphicFrame>
      <p:sp>
        <p:nvSpPr>
          <p:cNvPr id="5" name="">
            <a:extLst xmlns:a="http://schemas.openxmlformats.org/drawingml/2006/main">
              <a:ext uri="{FF2B5EF4-FFF2-40B4-BE49-F238E27FC236}">
                <a16:creationId xmlns:a16="http://schemas.microsoft.com/office/drawing/2014/main" id="{1431782E-48D4-4367-B797-75D4B01641A9}"/>
              </a:ext>
            </a:extLst>
          </p:cNvPr>
          <p:cNvSpPr>
            <a:spLocks xmlns:a="http://schemas.openxmlformats.org/drawingml/2006/main" noGrp="1"/>
          </p:cNvSpPr>
          <p:nvPr/>
        </p:nvSpPr>
        <p:spPr>
          <a:xfrm xmlns:a="http://schemas.openxmlformats.org/drawingml/2006/main">
            <a:off x="895350" y="5943600"/>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4B5868"/>
                </a:solidFill>
                <a:latin typeface="SF Pro Text"/>
                <a:ea typeface="SF Pro Text"/>
                <a:cs typeface="SF Pro Text"/>
              </a:defRPr>
            </a:defPPr>
          </a:lstStyle>
          <a:p xmlns:a="http://schemas.openxmlformats.org/drawingml/2006/main">
            <a:pPr algn="l">
              <a:lnSpc>
                <a:spcPct val="106000"/>
              </a:lnSpc>
              <a:buNone/>
              <a:defRPr sz="1350" b="0">
                <a:solidFill>
                  <a:srgbClr val="4B5868"/>
                </a:solidFill>
                <a:latin typeface="SF Pro Text"/>
                <a:ea typeface="SF Pro Text"/>
                <a:cs typeface="SF Pro Text"/>
              </a:defRPr>
            </a:pPr>
            <a:r>
              <a:rPr sz="1350" b="0">
                <a:solidFill>
                  <a:srgbClr val="4B5868"/>
                </a:solidFill>
                <a:latin typeface="SF Pro Text"/>
                <a:ea typeface="SF Pro Text"/>
                <a:cs typeface="SF Pro Text"/>
              </a:rPr>
              <a:t>Pivot menyusun kategori sebagai baris dan cabang sebagai seri grafik.</a:t>
            </a:r>
          </a:p>
        </p:txBody>
      </p:sp>
    </p:spTree>
    <p:extLst>
      <p:ext uri="{BB962C8B-B14F-4D97-AF65-F5344CB8AC3E}">
        <p14:creationId xmlns:p14="http://schemas.microsoft.com/office/powerpoint/2010/main" val="20712654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FA28181-3B7F-4841-9E90-77B5D44F9CA8}"/>
              </a:ext>
            </a:extLst>
          </p:cNvPr>
          <p:cNvSpPr>
            <a:spLocks xmlns:a="http://schemas.openxmlformats.org/drawingml/2006/main" noGrp="1"/>
          </p:cNvSpPr>
          <p:nvPr/>
        </p:nvSpPr>
        <p:spPr>
          <a:xfrm xmlns:a="http://schemas.openxmlformats.org/drawingml/2006/main">
            <a:off x="685800" y="4191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11A30"/>
                </a:solidFill>
                <a:latin typeface="SF Pro Display"/>
                <a:ea typeface="SF Pro Display"/>
                <a:cs typeface="SF Pro Display"/>
              </a:defRPr>
            </a:defPPr>
          </a:lstStyle>
          <a:p xmlns:a="http://schemas.openxmlformats.org/drawingml/2006/main">
            <a:pPr algn="l">
              <a:lnSpc>
                <a:spcPct val="106000"/>
              </a:lnSpc>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Practice Tengah: pilihan ekstrakurikuler</a:t>
            </a:r>
          </a:p>
        </p:txBody>
      </p:sp>
      <p:sp>
        <p:nvSpPr>
          <p:cNvPr id="2" name="">
            <a:extLst xmlns:a="http://schemas.openxmlformats.org/drawingml/2006/main">
              <a:ext uri="{FF2B5EF4-FFF2-40B4-BE49-F238E27FC236}">
                <a16:creationId xmlns:a16="http://schemas.microsoft.com/office/drawing/2014/main" id="{014A77AF-9602-42A5-99D6-07EAC8B101D4}"/>
              </a:ext>
            </a:extLst>
          </p:cNvPr>
          <p:cNvSpPr>
            <a:spLocks xmlns:a="http://schemas.openxmlformats.org/drawingml/2006/main" noGrp="1"/>
          </p:cNvSpPr>
          <p:nvPr/>
        </p:nvSpPr>
        <p:spPr>
          <a:xfrm xmlns:a="http://schemas.openxmlformats.org/drawingml/2006/main">
            <a:off x="685800" y="10096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4B5868"/>
                </a:solidFill>
                <a:latin typeface="SF Pro Text"/>
                <a:ea typeface="SF Pro Text"/>
                <a:cs typeface="SF Pro Text"/>
              </a:defRPr>
            </a:defPPr>
          </a:lstStyle>
          <a:p xmlns:a="http://schemas.openxmlformats.org/drawingml/2006/main">
            <a:pPr algn="l">
              <a:lnSpc>
                <a:spcPct val="106000"/>
              </a:lnSpc>
              <a:buNone/>
              <a:defRPr sz="1500" b="0">
                <a:solidFill>
                  <a:srgbClr val="4B5868"/>
                </a:solidFill>
                <a:latin typeface="SF Pro Text"/>
                <a:ea typeface="SF Pro Text"/>
                <a:cs typeface="SF Pro Text"/>
              </a:defRPr>
            </a:pPr>
            <a:r>
              <a:rPr sz="1500" b="0">
                <a:solidFill>
                  <a:srgbClr val="4B5868"/>
                </a:solidFill>
                <a:latin typeface="SF Pro Text"/>
                <a:ea typeface="SF Pro Text"/>
                <a:cs typeface="SF Pro Text"/>
              </a:rPr>
              <a:t>Setiap respons siswa adalah satu baris data</a:t>
            </a:r>
          </a:p>
        </p:txBody>
      </p:sp>
      <p:sp>
        <p:nvSpPr>
          <p:cNvPr id="3" name="">
            <a:extLst xmlns:a="http://schemas.openxmlformats.org/drawingml/2006/main">
              <a:ext uri="{FF2B5EF4-FFF2-40B4-BE49-F238E27FC236}">
                <a16:creationId xmlns:a16="http://schemas.microsoft.com/office/drawing/2014/main" id="{208AFBA4-4A8A-4654-8412-961A511B1FB4}"/>
              </a:ext>
            </a:extLst>
          </p:cNvPr>
          <p:cNvSpPr>
            <a:spLocks xmlns:a="http://schemas.openxmlformats.org/drawingml/2006/main" noGrp="1"/>
          </p:cNvSpPr>
          <p:nvPr/>
        </p:nvSpPr>
        <p:spPr>
          <a:xfrm xmlns:a="http://schemas.openxmlformats.org/drawingml/2006/main">
            <a:off x="685800" y="1571625"/>
            <a:ext cx="10820400" cy="0"/>
          </a:xfrm>
          <a:prstGeom xmlns:a="http://schemas.openxmlformats.org/drawingml/2006/main" prst="line">
            <a:avLst/>
          </a:prstGeom>
          <a:noFill xmlns:a="http://schemas.openxmlformats.org/drawingml/2006/main"/>
          <a:ln xmlns:a="http://schemas.openxmlformats.org/drawingml/2006/main" w="11906">
            <a:solidFill>
              <a:srgbClr val="E7EAEE"/>
            </a:solidFill>
            <a:prstDash val="solid"/>
          </a:ln>
        </p:spPr>
      </p:sp>
      <p:graphicFrame>
        <p:nvGraphicFramePr>
          <p:cNvPr id="4" name="">
            <a:extLst xmlns:a="http://schemas.openxmlformats.org/drawingml/2006/main">
              <a:ext uri="{FF2B5EF4-FFF2-40B4-BE49-F238E27FC236}">
                <a16:creationId xmlns:a16="http://schemas.microsoft.com/office/drawing/2014/main" id="{9897F000-22BF-4188-9A66-78656E49BE3B}"/>
              </a:ext>
            </a:extLst>
          </p:cNvPr>
          <p:cNvGraphicFramePr/>
          <p:nvPr/>
        </p:nvGraphicFramePr>
        <p:xfrm>
          <a:off xmlns:a="http://schemas.openxmlformats.org/drawingml/2006/main" x="819150" y="2171700"/>
          <a:ext xmlns:a="http://schemas.openxmlformats.org/drawingml/2006/main" cx="4762500" cy="2457450"/>
        </p:xfrm>
        <a:graphic xmlns:a="http://schemas.openxmlformats.org/drawingml/2006/main">
          <a:graphicData uri="http://schemas.openxmlformats.org/drawingml/2006/table">
            <a:tbl>
              <a:tblPr firstRow="0" bandRow="0"/>
              <a:tblGrid>
                <a:gridCol w="1333500"/>
                <a:gridCol w="1143000"/>
                <a:gridCol w="1143000"/>
                <a:gridCol w="1143000"/>
              </a:tblGrid>
              <a:tr h="614363">
                <a:tc>
                  <a:txBody>
                    <a:bodyPr wrap="square" lIns="95250" tIns="76200" rIns="95250" bIns="76200">
                      <a:normAutofit/>
                    </a:bodyPr>
                    <a:lstStyle/>
                    <a:p>
                      <a:pPr algn="l"/>
                      <a:r>
                        <a:rPr sz="1500" b="1">
                          <a:solidFill>
                            <a:srgbClr val="FFFFFF"/>
                          </a:solidFill>
                          <a:latin typeface="SF Pro Text"/>
                          <a:ea typeface="SF Pro Text"/>
                          <a:cs typeface="SF Pro Text"/>
                        </a:rPr>
                        <a:t>Kelas</a:t>
                      </a:r>
                    </a:p>
                  </a:txBody>
                  <a:tcPr marL="91440" marR="91440" marT="45720" marB="45720" anchor="ctr">
                    <a:solidFill>
                      <a:srgbClr val="111A30"/>
                    </a:solidFill>
                  </a:tcPr>
                </a:tc>
                <a:tc>
                  <a:txBody>
                    <a:bodyPr wrap="square" lIns="95250" tIns="76200" rIns="95250" bIns="76200">
                      <a:normAutofit/>
                    </a:bodyPr>
                    <a:lstStyle/>
                    <a:p>
                      <a:pPr algn="ctr"/>
                      <a:r>
                        <a:rPr sz="1500" b="1">
                          <a:solidFill>
                            <a:srgbClr val="FFFFFF"/>
                          </a:solidFill>
                          <a:latin typeface="SF Pro Text"/>
                          <a:ea typeface="SF Pro Text"/>
                          <a:cs typeface="SF Pro Text"/>
                        </a:rPr>
                        <a:t>Sains</a:t>
                      </a:r>
                    </a:p>
                  </a:txBody>
                  <a:tcPr marL="91440" marR="91440" marT="45720" marB="45720" anchor="ctr">
                    <a:solidFill>
                      <a:srgbClr val="111A30"/>
                    </a:solidFill>
                  </a:tcPr>
                </a:tc>
                <a:tc>
                  <a:txBody>
                    <a:bodyPr wrap="square" lIns="95250" tIns="76200" rIns="95250" bIns="76200">
                      <a:normAutofit/>
                    </a:bodyPr>
                    <a:lstStyle/>
                    <a:p>
                      <a:pPr algn="ctr"/>
                      <a:r>
                        <a:rPr sz="1500" b="1">
                          <a:solidFill>
                            <a:srgbClr val="FFFFFF"/>
                          </a:solidFill>
                          <a:latin typeface="SF Pro Text"/>
                          <a:ea typeface="SF Pro Text"/>
                          <a:cs typeface="SF Pro Text"/>
                        </a:rPr>
                        <a:t>Seni</a:t>
                      </a:r>
                    </a:p>
                  </a:txBody>
                  <a:tcPr marL="91440" marR="91440" marT="45720" marB="45720" anchor="ctr">
                    <a:solidFill>
                      <a:srgbClr val="111A30"/>
                    </a:solidFill>
                  </a:tcPr>
                </a:tc>
                <a:tc>
                  <a:txBody>
                    <a:bodyPr wrap="square" lIns="95250" tIns="76200" rIns="95250" bIns="76200">
                      <a:normAutofit/>
                    </a:bodyPr>
                    <a:lstStyle/>
                    <a:p>
                      <a:pPr algn="ctr"/>
                      <a:r>
                        <a:rPr sz="1500" b="1">
                          <a:solidFill>
                            <a:srgbClr val="FFFFFF"/>
                          </a:solidFill>
                          <a:latin typeface="SF Pro Text"/>
                          <a:ea typeface="SF Pro Text"/>
                          <a:cs typeface="SF Pro Text"/>
                        </a:rPr>
                        <a:t>Olahraga</a:t>
                      </a:r>
                    </a:p>
                  </a:txBody>
                  <a:tcPr marL="91440" marR="91440" marT="45720" marB="45720" anchor="ctr">
                    <a:solidFill>
                      <a:srgbClr val="111A30"/>
                    </a:solidFill>
                  </a:tcPr>
                </a:tc>
              </a:tr>
              <a:tr h="614363">
                <a:tc>
                  <a:txBody>
                    <a:bodyPr wrap="square" lIns="95250" tIns="76200" rIns="95250" bIns="76200">
                      <a:normAutofit/>
                    </a:bodyPr>
                    <a:lstStyle/>
                    <a:p>
                      <a:pPr algn="l"/>
                      <a:r>
                        <a:rPr sz="1500" b="1">
                          <a:solidFill>
                            <a:srgbClr val="111A30"/>
                          </a:solidFill>
                          <a:latin typeface="SF Pro Text"/>
                          <a:ea typeface="SF Pro Text"/>
                          <a:cs typeface="SF Pro Text"/>
                        </a:rPr>
                        <a:t>X</a:t>
                      </a:r>
                    </a:p>
                  </a:txBody>
                  <a:tcPr marL="91440" marR="91440" marT="45720" marB="45720" anchor="ctr">
                    <a:solidFill>
                      <a:srgbClr val="EAF6FC"/>
                    </a:solidFill>
                  </a:tcPr>
                </a:tc>
                <a:tc>
                  <a:txBody>
                    <a:bodyPr wrap="square" lIns="95250" tIns="76200" rIns="95250" bIns="76200">
                      <a:normAutofit/>
                    </a:bodyPr>
                    <a:lstStyle/>
                    <a:p>
                      <a:pPr algn="ctr"/>
                      <a:r>
                        <a:rPr sz="1500" b="0">
                          <a:solidFill>
                            <a:srgbClr val="111A30"/>
                          </a:solidFill>
                          <a:latin typeface="SF Pro Text"/>
                          <a:ea typeface="SF Pro Text"/>
                          <a:cs typeface="SF Pro Text"/>
                        </a:rPr>
                        <a:t>4</a:t>
                      </a:r>
                    </a:p>
                  </a:txBody>
                  <a:tcPr marL="91440" marR="91440" marT="45720" marB="45720" anchor="ctr">
                    <a:solidFill>
                      <a:srgbClr val="EAF6FC"/>
                    </a:solidFill>
                  </a:tcPr>
                </a:tc>
                <a:tc>
                  <a:txBody>
                    <a:bodyPr wrap="square" lIns="95250" tIns="76200" rIns="95250" bIns="76200">
                      <a:normAutofit/>
                    </a:bodyPr>
                    <a:lstStyle/>
                    <a:p>
                      <a:pPr algn="ctr"/>
                      <a:r>
                        <a:rPr sz="1500" b="0">
                          <a:solidFill>
                            <a:srgbClr val="111A30"/>
                          </a:solidFill>
                          <a:latin typeface="SF Pro Text"/>
                          <a:ea typeface="SF Pro Text"/>
                          <a:cs typeface="SF Pro Text"/>
                        </a:rPr>
                        <a:t>2</a:t>
                      </a:r>
                    </a:p>
                  </a:txBody>
                  <a:tcPr marL="91440" marR="91440" marT="45720" marB="45720" anchor="ctr">
                    <a:solidFill>
                      <a:srgbClr val="EAF6FC"/>
                    </a:solidFill>
                  </a:tcPr>
                </a:tc>
                <a:tc>
                  <a:txBody>
                    <a:bodyPr wrap="square" lIns="95250" tIns="76200" rIns="95250" bIns="76200">
                      <a:normAutofit/>
                    </a:bodyPr>
                    <a:lstStyle/>
                    <a:p>
                      <a:pPr algn="ctr"/>
                      <a:r>
                        <a:rPr sz="1500" b="0">
                          <a:solidFill>
                            <a:srgbClr val="111A30"/>
                          </a:solidFill>
                          <a:latin typeface="SF Pro Text"/>
                          <a:ea typeface="SF Pro Text"/>
                          <a:cs typeface="SF Pro Text"/>
                        </a:rPr>
                        <a:t>1</a:t>
                      </a:r>
                    </a:p>
                  </a:txBody>
                  <a:tcPr marL="91440" marR="91440" marT="45720" marB="45720" anchor="ctr">
                    <a:solidFill>
                      <a:srgbClr val="EAF6FC"/>
                    </a:solidFill>
                  </a:tcPr>
                </a:tc>
              </a:tr>
              <a:tr h="614363">
                <a:tc>
                  <a:txBody>
                    <a:bodyPr wrap="square" lIns="95250" tIns="76200" rIns="95250" bIns="76200">
                      <a:normAutofit/>
                    </a:bodyPr>
                    <a:lstStyle/>
                    <a:p>
                      <a:pPr algn="l"/>
                      <a:r>
                        <a:rPr sz="1500" b="1">
                          <a:solidFill>
                            <a:srgbClr val="111A30"/>
                          </a:solidFill>
                          <a:latin typeface="SF Pro Text"/>
                          <a:ea typeface="SF Pro Text"/>
                          <a:cs typeface="SF Pro Text"/>
                        </a:rPr>
                        <a:t>XI</a:t>
                      </a:r>
                    </a:p>
                  </a:txBody>
                  <a:tcPr marL="91440" marR="91440" marT="45720" marB="45720" anchor="ctr">
                    <a:solidFill>
                      <a:srgbClr val="FFFFFF"/>
                    </a:solidFill>
                  </a:tcPr>
                </a:tc>
                <a:tc>
                  <a:txBody>
                    <a:bodyPr wrap="square" lIns="95250" tIns="76200" rIns="95250" bIns="76200">
                      <a:normAutofit/>
                    </a:bodyPr>
                    <a:lstStyle/>
                    <a:p>
                      <a:pPr algn="ctr"/>
                      <a:r>
                        <a:rPr sz="1500" b="0">
                          <a:solidFill>
                            <a:srgbClr val="111A30"/>
                          </a:solidFill>
                          <a:latin typeface="SF Pro Text"/>
                          <a:ea typeface="SF Pro Text"/>
                          <a:cs typeface="SF Pro Text"/>
                        </a:rPr>
                        <a:t>5</a:t>
                      </a:r>
                    </a:p>
                  </a:txBody>
                  <a:tcPr marL="91440" marR="91440" marT="45720" marB="45720" anchor="ctr">
                    <a:solidFill>
                      <a:srgbClr val="FFFFFF"/>
                    </a:solidFill>
                  </a:tcPr>
                </a:tc>
                <a:tc>
                  <a:txBody>
                    <a:bodyPr wrap="square" lIns="95250" tIns="76200" rIns="95250" bIns="76200">
                      <a:normAutofit/>
                    </a:bodyPr>
                    <a:lstStyle/>
                    <a:p>
                      <a:pPr algn="ctr"/>
                      <a:r>
                        <a:rPr sz="1500" b="0">
                          <a:solidFill>
                            <a:srgbClr val="111A30"/>
                          </a:solidFill>
                          <a:latin typeface="SF Pro Text"/>
                          <a:ea typeface="SF Pro Text"/>
                          <a:cs typeface="SF Pro Text"/>
                        </a:rPr>
                        <a:t>3</a:t>
                      </a:r>
                    </a:p>
                  </a:txBody>
                  <a:tcPr marL="91440" marR="91440" marT="45720" marB="45720" anchor="ctr">
                    <a:solidFill>
                      <a:srgbClr val="FFFFFF"/>
                    </a:solidFill>
                  </a:tcPr>
                </a:tc>
                <a:tc>
                  <a:txBody>
                    <a:bodyPr wrap="square" lIns="95250" tIns="76200" rIns="95250" bIns="76200">
                      <a:normAutofit/>
                    </a:bodyPr>
                    <a:lstStyle/>
                    <a:p>
                      <a:pPr algn="ctr"/>
                      <a:r>
                        <a:rPr sz="1500" b="0">
                          <a:solidFill>
                            <a:srgbClr val="111A30"/>
                          </a:solidFill>
                          <a:latin typeface="SF Pro Text"/>
                          <a:ea typeface="SF Pro Text"/>
                          <a:cs typeface="SF Pro Text"/>
                        </a:rPr>
                        <a:t>2</a:t>
                      </a:r>
                    </a:p>
                  </a:txBody>
                  <a:tcPr marL="91440" marR="91440" marT="45720" marB="45720" anchor="ctr">
                    <a:solidFill>
                      <a:srgbClr val="FFFFFF"/>
                    </a:solidFill>
                  </a:tcPr>
                </a:tc>
              </a:tr>
              <a:tr h="614363">
                <a:tc>
                  <a:txBody>
                    <a:bodyPr wrap="square" lIns="95250" tIns="76200" rIns="95250" bIns="76200">
                      <a:normAutofit/>
                    </a:bodyPr>
                    <a:lstStyle/>
                    <a:p>
                      <a:pPr algn="l"/>
                      <a:r>
                        <a:rPr sz="1500" b="1">
                          <a:solidFill>
                            <a:srgbClr val="111A30"/>
                          </a:solidFill>
                          <a:latin typeface="SF Pro Text"/>
                          <a:ea typeface="SF Pro Text"/>
                          <a:cs typeface="SF Pro Text"/>
                        </a:rPr>
                        <a:t>XII</a:t>
                      </a:r>
                    </a:p>
                  </a:txBody>
                  <a:tcPr marL="91440" marR="91440" marT="45720" marB="45720" anchor="ctr">
                    <a:solidFill>
                      <a:srgbClr val="EAF6FC"/>
                    </a:solidFill>
                  </a:tcPr>
                </a:tc>
                <a:tc>
                  <a:txBody>
                    <a:bodyPr wrap="square" lIns="95250" tIns="76200" rIns="95250" bIns="76200">
                      <a:normAutofit/>
                    </a:bodyPr>
                    <a:lstStyle/>
                    <a:p>
                      <a:pPr algn="ctr"/>
                      <a:r>
                        <a:rPr sz="1500" b="0">
                          <a:solidFill>
                            <a:srgbClr val="111A30"/>
                          </a:solidFill>
                          <a:latin typeface="SF Pro Text"/>
                          <a:ea typeface="SF Pro Text"/>
                          <a:cs typeface="SF Pro Text"/>
                        </a:rPr>
                        <a:t>2</a:t>
                      </a:r>
                    </a:p>
                  </a:txBody>
                  <a:tcPr marL="91440" marR="91440" marT="45720" marB="45720" anchor="ctr">
                    <a:solidFill>
                      <a:srgbClr val="EAF6FC"/>
                    </a:solidFill>
                  </a:tcPr>
                </a:tc>
                <a:tc>
                  <a:txBody>
                    <a:bodyPr wrap="square" lIns="95250" tIns="76200" rIns="95250" bIns="76200">
                      <a:normAutofit/>
                    </a:bodyPr>
                    <a:lstStyle/>
                    <a:p>
                      <a:pPr algn="ctr"/>
                      <a:r>
                        <a:rPr sz="1500" b="0">
                          <a:solidFill>
                            <a:srgbClr val="111A30"/>
                          </a:solidFill>
                          <a:latin typeface="SF Pro Text"/>
                          <a:ea typeface="SF Pro Text"/>
                          <a:cs typeface="SF Pro Text"/>
                        </a:rPr>
                        <a:t>4</a:t>
                      </a:r>
                    </a:p>
                  </a:txBody>
                  <a:tcPr marL="91440" marR="91440" marT="45720" marB="45720" anchor="ctr">
                    <a:solidFill>
                      <a:srgbClr val="EAF6FC"/>
                    </a:solidFill>
                  </a:tcPr>
                </a:tc>
                <a:tc>
                  <a:txBody>
                    <a:bodyPr wrap="square" lIns="95250" tIns="76200" rIns="95250" bIns="76200">
                      <a:normAutofit/>
                    </a:bodyPr>
                    <a:lstStyle/>
                    <a:p>
                      <a:pPr algn="ctr"/>
                      <a:r>
                        <a:rPr sz="1500" b="0">
                          <a:solidFill>
                            <a:srgbClr val="111A30"/>
                          </a:solidFill>
                          <a:latin typeface="SF Pro Text"/>
                          <a:ea typeface="SF Pro Text"/>
                          <a:cs typeface="SF Pro Text"/>
                        </a:rPr>
                        <a:t>3</a:t>
                      </a:r>
                    </a:p>
                  </a:txBody>
                  <a:tcPr marL="91440" marR="91440" marT="45720" marB="45720" anchor="ctr">
                    <a:solidFill>
                      <a:srgbClr val="EAF6FC"/>
                    </a:solidFill>
                  </a:tcPr>
                </a:tc>
              </a:tr>
            </a:tbl>
          </a:graphicData>
        </a:graphic>
      </p:graphicFrame>
      <p:sp>
        <p:nvSpPr>
          <p:cNvPr id="5" name="">
            <a:extLst xmlns:a="http://schemas.openxmlformats.org/drawingml/2006/main">
              <a:ext uri="{FF2B5EF4-FFF2-40B4-BE49-F238E27FC236}">
                <a16:creationId xmlns:a16="http://schemas.microsoft.com/office/drawing/2014/main" id="{A8379B4B-B287-4C2B-A3B2-75D46BA23437}"/>
              </a:ext>
            </a:extLst>
          </p:cNvPr>
          <p:cNvSpPr>
            <a:spLocks xmlns:a="http://schemas.openxmlformats.org/drawingml/2006/main" noGrp="1"/>
          </p:cNvSpPr>
          <p:nvPr/>
        </p:nvSpPr>
        <p:spPr>
          <a:xfrm xmlns:a="http://schemas.openxmlformats.org/drawingml/2006/main">
            <a:off x="857250" y="187642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96B9B"/>
                </a:solidFill>
                <a:latin typeface="SF Pro Text"/>
                <a:ea typeface="SF Pro Text"/>
                <a:cs typeface="SF Pro Text"/>
              </a:defRPr>
            </a:defPPr>
          </a:lstStyle>
          <a:p xmlns:a="http://schemas.openxmlformats.org/drawingml/2006/main">
            <a:pPr algn="l">
              <a:lnSpc>
                <a:spcPct val="106000"/>
              </a:lnSpc>
              <a:buNone/>
              <a:defRPr sz="1350" b="1">
                <a:solidFill>
                  <a:srgbClr val="196B9B"/>
                </a:solidFill>
                <a:latin typeface="SF Pro Text"/>
                <a:ea typeface="SF Pro Text"/>
                <a:cs typeface="SF Pro Text"/>
              </a:defRPr>
            </a:pPr>
            <a:r>
              <a:rPr sz="1350" b="1">
                <a:solidFill>
                  <a:srgbClr val="196B9B"/>
                </a:solidFill>
                <a:latin typeface="SF Pro Text"/>
                <a:ea typeface="SF Pro Text"/>
                <a:cs typeface="SF Pro Text"/>
              </a:rPr>
              <a:t>Ringkasan jumlah respons</a:t>
            </a:r>
          </a:p>
        </p:txBody>
      </p:sp>
      <p:sp>
        <p:nvSpPr>
          <p:cNvPr id="6" name="">
            <a:extLst xmlns:a="http://schemas.openxmlformats.org/drawingml/2006/main">
              <a:ext uri="{FF2B5EF4-FFF2-40B4-BE49-F238E27FC236}">
                <a16:creationId xmlns:a16="http://schemas.microsoft.com/office/drawing/2014/main" id="{1749844C-98AB-45F1-885D-F2C1FCAE475C}"/>
              </a:ext>
            </a:extLst>
          </p:cNvPr>
          <p:cNvSpPr>
            <a:spLocks xmlns:a="http://schemas.openxmlformats.org/drawingml/2006/main" noGrp="1"/>
          </p:cNvSpPr>
          <p:nvPr/>
        </p:nvSpPr>
        <p:spPr>
          <a:xfrm xmlns:a="http://schemas.openxmlformats.org/drawingml/2006/main">
            <a:off x="6286500" y="2181225"/>
            <a:ext cx="485775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500">
                <a:solidFill>
                  <a:srgbClr val="4B5868"/>
                </a:solidFill>
                <a:latin typeface="SF Pro Text"/>
                <a:ea typeface="SF Pro Text"/>
                <a:cs typeface="SF Pro Text"/>
              </a:defRPr>
            </a:defPPr>
          </a:lstStyle>
          <a:p xmlns:a="http://schemas.openxmlformats.org/drawingml/2006/main">
            <a:pPr marL="254000" indent="-127000">
              <a:lnSpc>
                <a:spcPct val="110000"/>
              </a:lnSpc>
              <a:spcAft>
                <a:spcPts val="1800"/>
              </a:spcAft>
              <a:buNone/>
              <a:defRPr sz="1500">
                <a:solidFill>
                  <a:srgbClr val="4B5868"/>
                </a:solidFill>
                <a:latin typeface="SF Pro Text"/>
                <a:ea typeface="SF Pro Text"/>
                <a:cs typeface="SF Pro Text"/>
              </a:defRPr>
            </a:pPr>
            <a:r>
              <a:rPr sz="1500">
                <a:solidFill>
                  <a:srgbClr val="4B5868"/>
                </a:solidFill>
                <a:latin typeface="SF Pro Text"/>
                <a:ea typeface="SF Pro Text"/>
                <a:cs typeface="SF Pro Text"/>
              </a:rPr>
              <a:t>Buat count plot untuk menghitung jumlah pilihan tiap ekstrakurikuler.</a:t>
            </a:r>
          </a:p>
          <a:p xmlns:a="http://schemas.openxmlformats.org/drawingml/2006/main">
            <a:pPr marL="254000" indent="-127000">
              <a:lnSpc>
                <a:spcPct val="110000"/>
              </a:lnSpc>
              <a:spcAft>
                <a:spcPts val="1800"/>
              </a:spcAft>
              <a:buNone/>
              <a:defRPr sz="1500">
                <a:solidFill>
                  <a:srgbClr val="4B5868"/>
                </a:solidFill>
                <a:latin typeface="SF Pro Text"/>
                <a:ea typeface="SF Pro Text"/>
                <a:cs typeface="SF Pro Text"/>
              </a:defRPr>
            </a:pPr>
            <a:r>
              <a:rPr sz="1500">
                <a:solidFill>
                  <a:srgbClr val="4B5868"/>
                </a:solidFill>
                <a:latin typeface="SF Pro Text"/>
                <a:ea typeface="SF Pro Text"/>
                <a:cs typeface="SF Pro Text"/>
              </a:rPr>
              <a:t>Buat grouped bar untuk membandingkan pilihan antar kelas.</a:t>
            </a:r>
          </a:p>
          <a:p xmlns:a="http://schemas.openxmlformats.org/drawingml/2006/main">
            <a:pPr marL="254000" indent="-127000">
              <a:lnSpc>
                <a:spcPct val="110000"/>
              </a:lnSpc>
              <a:spcAft>
                <a:spcPts val="1800"/>
              </a:spcAft>
              <a:buNone/>
              <a:defRPr sz="1500">
                <a:solidFill>
                  <a:srgbClr val="4B5868"/>
                </a:solidFill>
                <a:latin typeface="SF Pro Text"/>
                <a:ea typeface="SF Pro Text"/>
                <a:cs typeface="SF Pro Text"/>
              </a:defRPr>
            </a:pPr>
            <a:r>
              <a:rPr sz="1500">
                <a:solidFill>
                  <a:srgbClr val="4B5868"/>
                </a:solidFill>
                <a:latin typeface="SF Pro Text"/>
                <a:ea typeface="SF Pro Text"/>
                <a:cs typeface="SF Pro Text"/>
              </a:rPr>
              <a:t>Sebutkan pilihan terbanyak dan jumlah siswanya.</a:t>
            </a:r>
          </a:p>
        </p:txBody>
      </p:sp>
      <p:sp>
        <p:nvSpPr>
          <p:cNvPr id="7" name="">
            <a:extLst xmlns:a="http://schemas.openxmlformats.org/drawingml/2006/main">
              <a:ext uri="{FF2B5EF4-FFF2-40B4-BE49-F238E27FC236}">
                <a16:creationId xmlns:a16="http://schemas.microsoft.com/office/drawing/2014/main" id="{9E3DBC1A-E852-4634-9FCC-BCFCB616E99F}"/>
              </a:ext>
            </a:extLst>
          </p:cNvPr>
          <p:cNvSpPr>
            <a:spLocks xmlns:a="http://schemas.openxmlformats.org/drawingml/2006/main" noGrp="1"/>
          </p:cNvSpPr>
          <p:nvPr/>
        </p:nvSpPr>
        <p:spPr>
          <a:xfrm xmlns:a="http://schemas.openxmlformats.org/drawingml/2006/main">
            <a:off x="838200" y="5105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4B5868"/>
                </a:solidFill>
                <a:latin typeface="SF Pro Text"/>
                <a:ea typeface="SF Pro Text"/>
                <a:cs typeface="SF Pro Text"/>
              </a:defRPr>
            </a:defPPr>
          </a:lstStyle>
          <a:p xmlns:a="http://schemas.openxmlformats.org/drawingml/2006/main">
            <a:pPr algn="l">
              <a:lnSpc>
                <a:spcPct val="106000"/>
              </a:lnSpc>
              <a:buNone/>
              <a:defRPr sz="1350" b="0">
                <a:solidFill>
                  <a:srgbClr val="4B5868"/>
                </a:solidFill>
                <a:latin typeface="SF Pro Text"/>
                <a:ea typeface="SF Pro Text"/>
                <a:cs typeface="SF Pro Text"/>
              </a:defRPr>
            </a:pPr>
            <a:r>
              <a:rPr sz="1350" b="0">
                <a:solidFill>
                  <a:srgbClr val="4B5868"/>
                </a:solidFill>
                <a:latin typeface="SF Pro Text"/>
                <a:ea typeface="SF Pro Text"/>
                <a:cs typeface="SF Pro Text"/>
              </a:rPr>
              <a:t>Pada notebook, gunakan data satu respons per baris.</a:t>
            </a:r>
          </a:p>
        </p:txBody>
      </p:sp>
    </p:spTree>
    <p:extLst>
      <p:ext uri="{BB962C8B-B14F-4D97-AF65-F5344CB8AC3E}">
        <p14:creationId xmlns:p14="http://schemas.microsoft.com/office/powerpoint/2010/main" val="151737124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4EA9540-3AA1-4A02-9E34-A6B3C199C026}"/>
              </a:ext>
            </a:extLst>
          </p:cNvPr>
          <p:cNvSpPr>
            <a:spLocks xmlns:a="http://schemas.openxmlformats.org/drawingml/2006/main" noGrp="1"/>
          </p:cNvSpPr>
          <p:nvPr/>
        </p:nvSpPr>
        <p:spPr>
          <a:xfrm xmlns:a="http://schemas.openxmlformats.org/drawingml/2006/main">
            <a:off x="685800" y="4191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11A30"/>
                </a:solidFill>
                <a:latin typeface="SF Pro Display"/>
                <a:ea typeface="SF Pro Display"/>
                <a:cs typeface="SF Pro Display"/>
              </a:defRPr>
            </a:defPPr>
          </a:lstStyle>
          <a:p xmlns:a="http://schemas.openxmlformats.org/drawingml/2006/main">
            <a:pPr algn="l">
              <a:lnSpc>
                <a:spcPct val="106000"/>
              </a:lnSpc>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Stacked bar menunjukkan komposisi</a:t>
            </a:r>
          </a:p>
        </p:txBody>
      </p:sp>
      <p:sp>
        <p:nvSpPr>
          <p:cNvPr id="2" name="">
            <a:extLst xmlns:a="http://schemas.openxmlformats.org/drawingml/2006/main">
              <a:ext uri="{FF2B5EF4-FFF2-40B4-BE49-F238E27FC236}">
                <a16:creationId xmlns:a16="http://schemas.microsoft.com/office/drawing/2014/main" id="{C2074EE2-0952-425F-B1FF-4EAA5F2E7756}"/>
              </a:ext>
            </a:extLst>
          </p:cNvPr>
          <p:cNvSpPr>
            <a:spLocks xmlns:a="http://schemas.openxmlformats.org/drawingml/2006/main" noGrp="1"/>
          </p:cNvSpPr>
          <p:nvPr/>
        </p:nvSpPr>
        <p:spPr>
          <a:xfrm xmlns:a="http://schemas.openxmlformats.org/drawingml/2006/main">
            <a:off x="685800" y="10096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4B5868"/>
                </a:solidFill>
                <a:latin typeface="SF Pro Text"/>
                <a:ea typeface="SF Pro Text"/>
                <a:cs typeface="SF Pro Text"/>
              </a:defRPr>
            </a:defPPr>
          </a:lstStyle>
          <a:p xmlns:a="http://schemas.openxmlformats.org/drawingml/2006/main">
            <a:pPr algn="l">
              <a:lnSpc>
                <a:spcPct val="106000"/>
              </a:lnSpc>
              <a:buNone/>
              <a:defRPr sz="1500" b="0">
                <a:solidFill>
                  <a:srgbClr val="4B5868"/>
                </a:solidFill>
                <a:latin typeface="SF Pro Text"/>
                <a:ea typeface="SF Pro Text"/>
                <a:cs typeface="SF Pro Text"/>
              </a:defRPr>
            </a:pPr>
            <a:r>
              <a:rPr sz="1500" b="0">
                <a:solidFill>
                  <a:srgbClr val="4B5868"/>
                </a:solidFill>
                <a:latin typeface="SF Pro Text"/>
                <a:ea typeface="SF Pro Text"/>
                <a:cs typeface="SF Pro Text"/>
              </a:rPr>
              <a:t>Jumlah total dan persentase menjawab dua pertanyaan berbeda</a:t>
            </a:r>
          </a:p>
        </p:txBody>
      </p:sp>
      <p:sp>
        <p:nvSpPr>
          <p:cNvPr id="3" name="">
            <a:extLst xmlns:a="http://schemas.openxmlformats.org/drawingml/2006/main">
              <a:ext uri="{FF2B5EF4-FFF2-40B4-BE49-F238E27FC236}">
                <a16:creationId xmlns:a16="http://schemas.microsoft.com/office/drawing/2014/main" id="{5CE72E1C-0983-4B43-B617-77BDE510CAF3}"/>
              </a:ext>
            </a:extLst>
          </p:cNvPr>
          <p:cNvSpPr>
            <a:spLocks xmlns:a="http://schemas.openxmlformats.org/drawingml/2006/main" noGrp="1"/>
          </p:cNvSpPr>
          <p:nvPr/>
        </p:nvSpPr>
        <p:spPr>
          <a:xfrm xmlns:a="http://schemas.openxmlformats.org/drawingml/2006/main">
            <a:off x="685800" y="1571625"/>
            <a:ext cx="10820400" cy="0"/>
          </a:xfrm>
          <a:prstGeom xmlns:a="http://schemas.openxmlformats.org/drawingml/2006/main" prst="line">
            <a:avLst/>
          </a:prstGeom>
          <a:noFill xmlns:a="http://schemas.openxmlformats.org/drawingml/2006/main"/>
          <a:ln xmlns:a="http://schemas.openxmlformats.org/drawingml/2006/main" w="11906">
            <a:solidFill>
              <a:srgbClr val="E7EAEE"/>
            </a:solidFill>
            <a:prstDash val="solid"/>
          </a:ln>
        </p:spPr>
      </p:sp>
      <p:graphicFrame>
        <p:nvGraphicFramePr>
          <p:cNvPr id="4" name="Chart">
            <a:extLst xmlns:a="http://schemas.openxmlformats.org/drawingml/2006/main">
              <a:ext uri="{FF2B5EF4-FFF2-40B4-BE49-F238E27FC236}">
                <a16:creationId xmlns:a16="http://schemas.microsoft.com/office/drawing/2014/main" id="{FDB2EA85-DF01-4DAE-A5C5-591261B45668}"/>
              </a:ext>
            </a:extLst>
          </p:cNvPr>
          <p:cNvGraphicFramePr/>
          <p:nvPr/>
        </p:nvGraphicFramePr>
        <p:xfrm>
          <a:off xmlns:a="http://schemas.openxmlformats.org/drawingml/2006/main" x="685800" y="1924050"/>
          <a:ext xmlns:a="http://schemas.openxmlformats.org/drawingml/2006/main" cx="5257800" cy="3790950"/>
        </p:xfrm>
        <a:graphic xmlns:a="http://schemas.openxmlformats.org/drawingml/2006/main">
          <a:graphicData uri="http://schemas.openxmlformats.org/drawingml/2006/chart">
            <c:chart xmlns:r="http://schemas.openxmlformats.org/officeDocument/2006/relationships" xmlns:c="http://schemas.openxmlformats.org/drawingml/2006/chart" r:id="Rf73b6d20cce84b0d"/>
          </a:graphicData>
        </a:graphic>
      </p:graphicFrame>
      <p:graphicFrame>
        <p:nvGraphicFramePr>
          <p:cNvPr id="5" name="Chart">
            <a:extLst xmlns:a="http://schemas.openxmlformats.org/drawingml/2006/main">
              <a:ext uri="{FF2B5EF4-FFF2-40B4-BE49-F238E27FC236}">
                <a16:creationId xmlns:a16="http://schemas.microsoft.com/office/drawing/2014/main" id="{969A519D-5BB5-4605-A087-1B208A4143C5}"/>
              </a:ext>
            </a:extLst>
          </p:cNvPr>
          <p:cNvGraphicFramePr/>
          <p:nvPr/>
        </p:nvGraphicFramePr>
        <p:xfrm>
          <a:off xmlns:a="http://schemas.openxmlformats.org/drawingml/2006/main" x="6191250" y="1924050"/>
          <a:ext xmlns:a="http://schemas.openxmlformats.org/drawingml/2006/main" cx="5314950" cy="3790950"/>
        </p:xfrm>
        <a:graphic xmlns:a="http://schemas.openxmlformats.org/drawingml/2006/main">
          <a:graphicData uri="http://schemas.openxmlformats.org/drawingml/2006/chart">
            <c:chart xmlns:r="http://schemas.openxmlformats.org/officeDocument/2006/relationships" xmlns:c="http://schemas.openxmlformats.org/drawingml/2006/chart" r:id="Ra1a05d7be6e644ab"/>
          </a:graphicData>
        </a:graphic>
      </p:graphicFrame>
      <p:sp>
        <p:nvSpPr>
          <p:cNvPr id="6" name="">
            <a:extLst xmlns:a="http://schemas.openxmlformats.org/drawingml/2006/main">
              <a:ext uri="{FF2B5EF4-FFF2-40B4-BE49-F238E27FC236}">
                <a16:creationId xmlns:a16="http://schemas.microsoft.com/office/drawing/2014/main" id="{40D02DDB-3D16-4208-9030-A52D0CCD15FA}"/>
              </a:ext>
            </a:extLst>
          </p:cNvPr>
          <p:cNvSpPr>
            <a:spLocks xmlns:a="http://schemas.openxmlformats.org/drawingml/2006/main" noGrp="1"/>
          </p:cNvSpPr>
          <p:nvPr/>
        </p:nvSpPr>
        <p:spPr>
          <a:xfrm xmlns:a="http://schemas.openxmlformats.org/drawingml/2006/main">
            <a:off x="838200" y="58578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96B9B"/>
                </a:solidFill>
                <a:latin typeface="SF Pro Text"/>
                <a:ea typeface="SF Pro Text"/>
                <a:cs typeface="SF Pro Text"/>
              </a:defRPr>
            </a:defPPr>
          </a:lstStyle>
          <a:p xmlns:a="http://schemas.openxmlformats.org/drawingml/2006/main">
            <a:pPr algn="l">
              <a:lnSpc>
                <a:spcPct val="106000"/>
              </a:lnSpc>
              <a:buNone/>
              <a:defRPr sz="1350" b="1">
                <a:solidFill>
                  <a:srgbClr val="196B9B"/>
                </a:solidFill>
                <a:latin typeface="SF Pro Text"/>
                <a:ea typeface="SF Pro Text"/>
                <a:cs typeface="SF Pro Text"/>
              </a:defRPr>
            </a:pPr>
            <a:r>
              <a:rPr sz="1350" b="1">
                <a:solidFill>
                  <a:srgbClr val="196B9B"/>
                </a:solidFill>
                <a:latin typeface="SF Pro Text"/>
                <a:ea typeface="SF Pro Text"/>
                <a:cs typeface="SF Pro Text"/>
              </a:rPr>
              <a:t>Stacked bar menampilkan jumlah. Versi 100% membandingkan proporsi.</a:t>
            </a:r>
          </a:p>
        </p:txBody>
      </p:sp>
    </p:spTree>
    <p:extLst>
      <p:ext uri="{BB962C8B-B14F-4D97-AF65-F5344CB8AC3E}">
        <p14:creationId xmlns:p14="http://schemas.microsoft.com/office/powerpoint/2010/main" val="61555329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80D907-504C-405A-9C4C-1BE0FDF4B90B}"/>
              </a:ext>
            </a:extLst>
          </p:cNvPr>
          <p:cNvSpPr>
            <a:spLocks xmlns:a="http://schemas.openxmlformats.org/drawingml/2006/main" noGrp="1"/>
          </p:cNvSpPr>
          <p:nvPr/>
        </p:nvSpPr>
        <p:spPr>
          <a:xfrm xmlns:a="http://schemas.openxmlformats.org/drawingml/2006/main">
            <a:off x="685800" y="4191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11A30"/>
                </a:solidFill>
                <a:latin typeface="SF Pro Display"/>
                <a:ea typeface="SF Pro Display"/>
                <a:cs typeface="SF Pro Display"/>
              </a:defRPr>
            </a:defPPr>
          </a:lstStyle>
          <a:p xmlns:a="http://schemas.openxmlformats.org/drawingml/2006/main">
            <a:pPr algn="l">
              <a:lnSpc>
                <a:spcPct val="106000"/>
              </a:lnSpc>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Pie chart dan donut chart menunjukkan bagian dari satu total</a:t>
            </a:r>
          </a:p>
        </p:txBody>
      </p:sp>
      <p:sp>
        <p:nvSpPr>
          <p:cNvPr id="2" name="">
            <a:extLst xmlns:a="http://schemas.openxmlformats.org/drawingml/2006/main">
              <a:ext uri="{FF2B5EF4-FFF2-40B4-BE49-F238E27FC236}">
                <a16:creationId xmlns:a16="http://schemas.microsoft.com/office/drawing/2014/main" id="{6F6C2EE9-6DEA-4E0A-B973-55B56F5B54FF}"/>
              </a:ext>
            </a:extLst>
          </p:cNvPr>
          <p:cNvSpPr>
            <a:spLocks xmlns:a="http://schemas.openxmlformats.org/drawingml/2006/main" noGrp="1"/>
          </p:cNvSpPr>
          <p:nvPr/>
        </p:nvSpPr>
        <p:spPr>
          <a:xfrm xmlns:a="http://schemas.openxmlformats.org/drawingml/2006/main">
            <a:off x="685800" y="10096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4B5868"/>
                </a:solidFill>
                <a:latin typeface="SF Pro Text"/>
                <a:ea typeface="SF Pro Text"/>
                <a:cs typeface="SF Pro Text"/>
              </a:defRPr>
            </a:defPPr>
          </a:lstStyle>
          <a:p xmlns:a="http://schemas.openxmlformats.org/drawingml/2006/main">
            <a:pPr algn="l">
              <a:lnSpc>
                <a:spcPct val="106000"/>
              </a:lnSpc>
              <a:buNone/>
              <a:defRPr sz="1500" b="0">
                <a:solidFill>
                  <a:srgbClr val="4B5868"/>
                </a:solidFill>
                <a:latin typeface="SF Pro Text"/>
                <a:ea typeface="SF Pro Text"/>
                <a:cs typeface="SF Pro Text"/>
              </a:defRPr>
            </a:pPr>
            <a:r>
              <a:rPr sz="1500" b="0">
                <a:solidFill>
                  <a:srgbClr val="4B5868"/>
                </a:solidFill>
                <a:latin typeface="SF Pro Text"/>
                <a:ea typeface="SF Pro Text"/>
                <a:cs typeface="SF Pro Text"/>
              </a:rPr>
              <a:t>Gunakan untuk membaca komposisi pada satu kelompok dengan sedikit kategori</a:t>
            </a:r>
          </a:p>
        </p:txBody>
      </p:sp>
      <p:sp>
        <p:nvSpPr>
          <p:cNvPr id="3" name="">
            <a:extLst xmlns:a="http://schemas.openxmlformats.org/drawingml/2006/main">
              <a:ext uri="{FF2B5EF4-FFF2-40B4-BE49-F238E27FC236}">
                <a16:creationId xmlns:a16="http://schemas.microsoft.com/office/drawing/2014/main" id="{B9F487DB-5165-46AB-8E78-DEB588B244A3}"/>
              </a:ext>
            </a:extLst>
          </p:cNvPr>
          <p:cNvSpPr>
            <a:spLocks xmlns:a="http://schemas.openxmlformats.org/drawingml/2006/main" noGrp="1"/>
          </p:cNvSpPr>
          <p:nvPr/>
        </p:nvSpPr>
        <p:spPr>
          <a:xfrm xmlns:a="http://schemas.openxmlformats.org/drawingml/2006/main">
            <a:off x="685800" y="1571625"/>
            <a:ext cx="10820400" cy="0"/>
          </a:xfrm>
          <a:prstGeom xmlns:a="http://schemas.openxmlformats.org/drawingml/2006/main" prst="line">
            <a:avLst/>
          </a:prstGeom>
          <a:noFill xmlns:a="http://schemas.openxmlformats.org/drawingml/2006/main"/>
          <a:ln xmlns:a="http://schemas.openxmlformats.org/drawingml/2006/main" w="11906">
            <a:solidFill>
              <a:srgbClr val="E7EAEE"/>
            </a:solidFill>
            <a:prstDash val="solid"/>
          </a:ln>
        </p:spPr>
      </p:sp>
      <p:graphicFrame>
        <p:nvGraphicFramePr>
          <p:cNvPr id="4" name="Chart">
            <a:extLst xmlns:a="http://schemas.openxmlformats.org/drawingml/2006/main">
              <a:ext uri="{FF2B5EF4-FFF2-40B4-BE49-F238E27FC236}">
                <a16:creationId xmlns:a16="http://schemas.microsoft.com/office/drawing/2014/main" id="{CB199710-7364-4371-8ADC-BE4CC8544C95}"/>
              </a:ext>
            </a:extLst>
          </p:cNvPr>
          <p:cNvGraphicFramePr/>
          <p:nvPr/>
        </p:nvGraphicFramePr>
        <p:xfrm>
          <a:off xmlns:a="http://schemas.openxmlformats.org/drawingml/2006/main" x="781050" y="1866900"/>
          <a:ext xmlns:a="http://schemas.openxmlformats.org/drawingml/2006/main" cx="5095875" cy="4095750"/>
        </p:xfrm>
        <a:graphic xmlns:a="http://schemas.openxmlformats.org/drawingml/2006/main">
          <a:graphicData uri="http://schemas.openxmlformats.org/drawingml/2006/chart">
            <c:chart xmlns:r="http://schemas.openxmlformats.org/officeDocument/2006/relationships" xmlns:c="http://schemas.openxmlformats.org/drawingml/2006/chart" r:id="Rc12723244d724bbd"/>
          </a:graphicData>
        </a:graphic>
      </p:graphicFrame>
      <p:graphicFrame>
        <p:nvGraphicFramePr>
          <p:cNvPr id="5" name="Chart">
            <a:extLst xmlns:a="http://schemas.openxmlformats.org/drawingml/2006/main">
              <a:ext uri="{FF2B5EF4-FFF2-40B4-BE49-F238E27FC236}">
                <a16:creationId xmlns:a16="http://schemas.microsoft.com/office/drawing/2014/main" id="{7B3CC674-D7D6-4EC7-8DA8-365602A6D220}"/>
              </a:ext>
            </a:extLst>
          </p:cNvPr>
          <p:cNvGraphicFramePr/>
          <p:nvPr/>
        </p:nvGraphicFramePr>
        <p:xfrm>
          <a:off xmlns:a="http://schemas.openxmlformats.org/drawingml/2006/main" x="6191250" y="1866900"/>
          <a:ext xmlns:a="http://schemas.openxmlformats.org/drawingml/2006/main" cx="5219700" cy="4095750"/>
        </p:xfrm>
        <a:graphic xmlns:a="http://schemas.openxmlformats.org/drawingml/2006/main">
          <a:graphicData uri="http://schemas.openxmlformats.org/drawingml/2006/chart">
            <c:chart xmlns:r="http://schemas.openxmlformats.org/officeDocument/2006/relationships" xmlns:c="http://schemas.openxmlformats.org/drawingml/2006/chart" r:id="Rc3ed12be01f04214"/>
          </a:graphicData>
        </a:graphic>
      </p:graphicFrame>
      <p:sp>
        <p:nvSpPr>
          <p:cNvPr id="6" name="">
            <a:extLst xmlns:a="http://schemas.openxmlformats.org/drawingml/2006/main">
              <a:ext uri="{FF2B5EF4-FFF2-40B4-BE49-F238E27FC236}">
                <a16:creationId xmlns:a16="http://schemas.microsoft.com/office/drawing/2014/main" id="{741A7B1B-3BEB-4A52-A849-EF82BABC9BBD}"/>
              </a:ext>
            </a:extLst>
          </p:cNvPr>
          <p:cNvSpPr>
            <a:spLocks xmlns:a="http://schemas.openxmlformats.org/drawingml/2006/main" noGrp="1"/>
          </p:cNvSpPr>
          <p:nvPr/>
        </p:nvSpPr>
        <p:spPr>
          <a:xfrm xmlns:a="http://schemas.openxmlformats.org/drawingml/2006/main">
            <a:off x="809625" y="6029325"/>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4B5868"/>
                </a:solidFill>
                <a:latin typeface="SF Pro Text"/>
                <a:ea typeface="SF Pro Text"/>
                <a:cs typeface="SF Pro Text"/>
              </a:defRPr>
            </a:defPPr>
          </a:lstStyle>
          <a:p xmlns:a="http://schemas.openxmlformats.org/drawingml/2006/main">
            <a:pPr algn="l">
              <a:lnSpc>
                <a:spcPct val="106000"/>
              </a:lnSpc>
              <a:buNone/>
              <a:defRPr sz="1275" b="0">
                <a:solidFill>
                  <a:srgbClr val="4B5868"/>
                </a:solidFill>
                <a:latin typeface="SF Pro Text"/>
                <a:ea typeface="SF Pro Text"/>
                <a:cs typeface="SF Pro Text"/>
              </a:defRPr>
            </a:pPr>
            <a:r>
              <a:rPr sz="1275" b="0">
                <a:solidFill>
                  <a:srgbClr val="4B5868"/>
                </a:solidFill>
                <a:latin typeface="SF Pro Text"/>
                <a:ea typeface="SF Pro Text"/>
                <a:cs typeface="SF Pro Text"/>
              </a:rPr>
              <a:t>Irisan berasal dari total 148 unit pada cabang Utara.</a:t>
            </a:r>
          </a:p>
        </p:txBody>
      </p:sp>
    </p:spTree>
    <p:extLst>
      <p:ext uri="{BB962C8B-B14F-4D97-AF65-F5344CB8AC3E}">
        <p14:creationId xmlns:p14="http://schemas.microsoft.com/office/powerpoint/2010/main" val="83199503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0D0197-88C6-4B1D-8DD5-0D7E370A07FB}"/>
              </a:ext>
            </a:extLst>
          </p:cNvPr>
          <p:cNvSpPr>
            <a:spLocks xmlns:a="http://schemas.openxmlformats.org/drawingml/2006/main" noGrp="1"/>
          </p:cNvSpPr>
          <p:nvPr/>
        </p:nvSpPr>
        <p:spPr>
          <a:xfrm xmlns:a="http://schemas.openxmlformats.org/drawingml/2006/main">
            <a:off x="685800" y="4191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11A30"/>
                </a:solidFill>
                <a:latin typeface="SF Pro Display"/>
                <a:ea typeface="SF Pro Display"/>
                <a:cs typeface="SF Pro Display"/>
              </a:defRPr>
            </a:defPPr>
          </a:lstStyle>
          <a:p xmlns:a="http://schemas.openxmlformats.org/drawingml/2006/main">
            <a:pPr algn="l">
              <a:lnSpc>
                <a:spcPct val="106000"/>
              </a:lnSpc>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Treemap menampilkan kategori bertingkat</a:t>
            </a:r>
          </a:p>
        </p:txBody>
      </p:sp>
      <p:sp>
        <p:nvSpPr>
          <p:cNvPr id="2" name="">
            <a:extLst xmlns:a="http://schemas.openxmlformats.org/drawingml/2006/main">
              <a:ext uri="{FF2B5EF4-FFF2-40B4-BE49-F238E27FC236}">
                <a16:creationId xmlns:a16="http://schemas.microsoft.com/office/drawing/2014/main" id="{AC139D91-A245-45DD-9045-1B672228B108}"/>
              </a:ext>
            </a:extLst>
          </p:cNvPr>
          <p:cNvSpPr>
            <a:spLocks xmlns:a="http://schemas.openxmlformats.org/drawingml/2006/main" noGrp="1"/>
          </p:cNvSpPr>
          <p:nvPr/>
        </p:nvSpPr>
        <p:spPr>
          <a:xfrm xmlns:a="http://schemas.openxmlformats.org/drawingml/2006/main">
            <a:off x="685800" y="10096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4B5868"/>
                </a:solidFill>
                <a:latin typeface="SF Pro Text"/>
                <a:ea typeface="SF Pro Text"/>
                <a:cs typeface="SF Pro Text"/>
              </a:defRPr>
            </a:defPPr>
          </a:lstStyle>
          <a:p xmlns:a="http://schemas.openxmlformats.org/drawingml/2006/main">
            <a:pPr algn="l">
              <a:lnSpc>
                <a:spcPct val="106000"/>
              </a:lnSpc>
              <a:buNone/>
              <a:defRPr sz="1500" b="0">
                <a:solidFill>
                  <a:srgbClr val="4B5868"/>
                </a:solidFill>
                <a:latin typeface="SF Pro Text"/>
                <a:ea typeface="SF Pro Text"/>
                <a:cs typeface="SF Pro Text"/>
              </a:defRPr>
            </a:pPr>
            <a:r>
              <a:rPr sz="1500" b="0">
                <a:solidFill>
                  <a:srgbClr val="4B5868"/>
                </a:solidFill>
                <a:latin typeface="SF Pro Text"/>
                <a:ea typeface="SF Pro Text"/>
                <a:cs typeface="SF Pro Text"/>
              </a:rPr>
              <a:t>Ukuran kotak mengikuti jumlah unit pada cabang dan kategori</a:t>
            </a:r>
          </a:p>
        </p:txBody>
      </p:sp>
      <p:sp>
        <p:nvSpPr>
          <p:cNvPr id="3" name="">
            <a:extLst xmlns:a="http://schemas.openxmlformats.org/drawingml/2006/main">
              <a:ext uri="{FF2B5EF4-FFF2-40B4-BE49-F238E27FC236}">
                <a16:creationId xmlns:a16="http://schemas.microsoft.com/office/drawing/2014/main" id="{080DD260-2314-43EA-B329-E29E81745164}"/>
              </a:ext>
            </a:extLst>
          </p:cNvPr>
          <p:cNvSpPr>
            <a:spLocks xmlns:a="http://schemas.openxmlformats.org/drawingml/2006/main" noGrp="1"/>
          </p:cNvSpPr>
          <p:nvPr/>
        </p:nvSpPr>
        <p:spPr>
          <a:xfrm xmlns:a="http://schemas.openxmlformats.org/drawingml/2006/main">
            <a:off x="685800" y="1571625"/>
            <a:ext cx="10820400" cy="0"/>
          </a:xfrm>
          <a:prstGeom xmlns:a="http://schemas.openxmlformats.org/drawingml/2006/main" prst="line">
            <a:avLst/>
          </a:prstGeom>
          <a:noFill xmlns:a="http://schemas.openxmlformats.org/drawingml/2006/main"/>
          <a:ln xmlns:a="http://schemas.openxmlformats.org/drawingml/2006/main" w="11906">
            <a:solidFill>
              <a:srgbClr val="E7EAEE"/>
            </a:solidFill>
            <a:prstDash val="solid"/>
          </a:ln>
        </p:spPr>
      </p:sp>
      <p:graphicFrame>
        <p:nvGraphicFramePr>
          <p:cNvPr id="4" name="Chart">
            <a:extLst xmlns:a="http://schemas.openxmlformats.org/drawingml/2006/main">
              <a:ext uri="{FF2B5EF4-FFF2-40B4-BE49-F238E27FC236}">
                <a16:creationId xmlns:a16="http://schemas.microsoft.com/office/drawing/2014/main" id="{D685DAFF-0D85-431A-A545-55AB0CEEC392}"/>
              </a:ext>
            </a:extLst>
          </p:cNvPr>
          <p:cNvGraphicFramePr/>
          <p:nvPr/>
        </p:nvGraphicFramePr>
        <p:xfrm>
          <a:off xmlns:a="http://schemas.openxmlformats.org/drawingml/2006/main" x="819150" y="1857375"/>
          <a:ext xmlns:a="http://schemas.openxmlformats.org/drawingml/2006/main" cx="10477500" cy="4238625"/>
        </p:xfrm>
        <a:graphic xmlns:a="http://schemas.openxmlformats.org/drawingml/2006/main">
          <a:graphicData uri="http://schemas.microsoft.com/office/drawing/2014/chartex">
            <cx:chart xmlns:r="http://schemas.openxmlformats.org/officeDocument/2006/relationships" xmlns:cx="http://schemas.microsoft.com/office/drawing/2014/chartex" r:id="R37def3e122e441bc"/>
          </a:graphicData>
        </a:graphic>
      </p:graphicFrame>
      <p:sp>
        <p:nvSpPr>
          <p:cNvPr id="5" name="">
            <a:extLst xmlns:a="http://schemas.openxmlformats.org/drawingml/2006/main">
              <a:ext uri="{FF2B5EF4-FFF2-40B4-BE49-F238E27FC236}">
                <a16:creationId xmlns:a16="http://schemas.microsoft.com/office/drawing/2014/main" id="{EF9930C1-7CF8-4728-A330-407F3CE84C73}"/>
              </a:ext>
            </a:extLst>
          </p:cNvPr>
          <p:cNvSpPr>
            <a:spLocks xmlns:a="http://schemas.openxmlformats.org/drawingml/2006/main" noGrp="1"/>
          </p:cNvSpPr>
          <p:nvPr/>
        </p:nvSpPr>
        <p:spPr>
          <a:xfrm xmlns:a="http://schemas.openxmlformats.org/drawingml/2006/main">
            <a:off x="857250" y="6067425"/>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4B5868"/>
                </a:solidFill>
                <a:latin typeface="SF Pro Text"/>
                <a:ea typeface="SF Pro Text"/>
                <a:cs typeface="SF Pro Text"/>
              </a:defRPr>
            </a:defPPr>
          </a:lstStyle>
          <a:p xmlns:a="http://schemas.openxmlformats.org/drawingml/2006/main">
            <a:pPr algn="l">
              <a:lnSpc>
                <a:spcPct val="106000"/>
              </a:lnSpc>
              <a:buNone/>
              <a:defRPr sz="1350" b="0">
                <a:solidFill>
                  <a:srgbClr val="4B5868"/>
                </a:solidFill>
                <a:latin typeface="SF Pro Text"/>
                <a:ea typeface="SF Pro Text"/>
                <a:cs typeface="SF Pro Text"/>
              </a:defRPr>
            </a:pPr>
            <a:r>
              <a:rPr sz="1350" b="0">
                <a:solidFill>
                  <a:srgbClr val="4B5868"/>
                </a:solidFill>
                <a:latin typeface="SF Pro Text"/>
                <a:ea typeface="SF Pro Text"/>
                <a:cs typeface="SF Pro Text"/>
              </a:rPr>
              <a:t>Warna membedakan kategori. Kotak di dalamnya menunjukkan cabang.</a:t>
            </a:r>
          </a:p>
        </p:txBody>
      </p:sp>
      <p:pic>
        <p:nvPicPr>
          <p:cNvPr id="6" name="">
            <a:extLst xmlns:a="http://schemas.openxmlformats.org/drawingml/2006/main">
              <a:ext uri="{FF2B5EF4-FFF2-40B4-BE49-F238E27FC236}">
                <a16:creationId xmlns:a16="http://schemas.microsoft.com/office/drawing/2014/main" id="{D4FE980E-D884-4880-A89A-A8456E110C8C}"/>
              </a:ext>
            </a:extLst>
          </p:cNvPr>
          <p:cNvPicPr>
            <a:picLocks xmlns:a="http://schemas.openxmlformats.org/drawingml/2006/main" noChangeAspect="1"/>
          </p:cNvPicPr>
          <p:nvPr/>
        </p:nvPicPr>
        <p:blipFill>
          <a:blip xmlns:r="http://schemas.openxmlformats.org/officeDocument/2006/relationships" xmlns:a="http://schemas.openxmlformats.org/drawingml/2006/main" r:embed="R228d11d21ea34dc9"/>
          <a:stretch xmlns:a="http://schemas.openxmlformats.org/drawingml/2006/main"/>
        </p:blipFill>
        <p:spPr>
          <a:xfrm xmlns:a="http://schemas.openxmlformats.org/drawingml/2006/main">
            <a:off x="819150" y="1857375"/>
            <a:ext cx="10477500" cy="4238625"/>
          </a:xfrm>
          <a:prstGeom xmlns:a="http://schemas.openxmlformats.org/drawingml/2006/main" prst="rect">
            <a:avLst/>
          </a:prstGeom>
        </p:spPr>
      </p:pic>
    </p:spTree>
    <p:extLst>
      <p:ext uri="{BB962C8B-B14F-4D97-AF65-F5344CB8AC3E}">
        <p14:creationId xmlns:p14="http://schemas.microsoft.com/office/powerpoint/2010/main" val="197923475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4FF9587-360C-4938-BB82-B84338926061}"/>
              </a:ext>
            </a:extLst>
          </p:cNvPr>
          <p:cNvSpPr>
            <a:spLocks xmlns:a="http://schemas.openxmlformats.org/drawingml/2006/main" noGrp="1"/>
          </p:cNvSpPr>
          <p:nvPr/>
        </p:nvSpPr>
        <p:spPr>
          <a:xfrm xmlns:a="http://schemas.openxmlformats.org/drawingml/2006/main">
            <a:off x="685800" y="4191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11A30"/>
                </a:solidFill>
                <a:latin typeface="SF Pro Display"/>
                <a:ea typeface="SF Pro Display"/>
                <a:cs typeface="SF Pro Display"/>
              </a:defRPr>
            </a:defPPr>
          </a:lstStyle>
          <a:p xmlns:a="http://schemas.openxmlformats.org/drawingml/2006/main">
            <a:pPr algn="l">
              <a:lnSpc>
                <a:spcPct val="106000"/>
              </a:lnSpc>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Radar chart membandingkan profil beberapa kelompok</a:t>
            </a:r>
          </a:p>
        </p:txBody>
      </p:sp>
      <p:sp>
        <p:nvSpPr>
          <p:cNvPr id="2" name="">
            <a:extLst xmlns:a="http://schemas.openxmlformats.org/drawingml/2006/main">
              <a:ext uri="{FF2B5EF4-FFF2-40B4-BE49-F238E27FC236}">
                <a16:creationId xmlns:a16="http://schemas.microsoft.com/office/drawing/2014/main" id="{86727E5A-A746-4881-8E88-6C701E9F8A7C}"/>
              </a:ext>
            </a:extLst>
          </p:cNvPr>
          <p:cNvSpPr>
            <a:spLocks xmlns:a="http://schemas.openxmlformats.org/drawingml/2006/main" noGrp="1"/>
          </p:cNvSpPr>
          <p:nvPr/>
        </p:nvSpPr>
        <p:spPr>
          <a:xfrm xmlns:a="http://schemas.openxmlformats.org/drawingml/2006/main">
            <a:off x="685800" y="10096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4B5868"/>
                </a:solidFill>
                <a:latin typeface="SF Pro Text"/>
                <a:ea typeface="SF Pro Text"/>
                <a:cs typeface="SF Pro Text"/>
              </a:defRPr>
            </a:defPPr>
          </a:lstStyle>
          <a:p xmlns:a="http://schemas.openxmlformats.org/drawingml/2006/main">
            <a:pPr algn="l">
              <a:lnSpc>
                <a:spcPct val="106000"/>
              </a:lnSpc>
              <a:buNone/>
              <a:defRPr sz="1500" b="0">
                <a:solidFill>
                  <a:srgbClr val="4B5868"/>
                </a:solidFill>
                <a:latin typeface="SF Pro Text"/>
                <a:ea typeface="SF Pro Text"/>
                <a:cs typeface="SF Pro Text"/>
              </a:defRPr>
            </a:pPr>
            <a:r>
              <a:rPr sz="1500" b="0">
                <a:solidFill>
                  <a:srgbClr val="4B5868"/>
                </a:solidFill>
                <a:latin typeface="SF Pro Text"/>
                <a:ea typeface="SF Pro Text"/>
                <a:cs typeface="SF Pro Text"/>
              </a:rPr>
              <a:t>Setiap sumbu adalah kategori yang sama dan semua nilai memakai skala persentase</a:t>
            </a:r>
          </a:p>
        </p:txBody>
      </p:sp>
      <p:sp>
        <p:nvSpPr>
          <p:cNvPr id="3" name="">
            <a:extLst xmlns:a="http://schemas.openxmlformats.org/drawingml/2006/main">
              <a:ext uri="{FF2B5EF4-FFF2-40B4-BE49-F238E27FC236}">
                <a16:creationId xmlns:a16="http://schemas.microsoft.com/office/drawing/2014/main" id="{8FAEB31B-B7C5-4C42-8848-79DB41C56F96}"/>
              </a:ext>
            </a:extLst>
          </p:cNvPr>
          <p:cNvSpPr>
            <a:spLocks xmlns:a="http://schemas.openxmlformats.org/drawingml/2006/main" noGrp="1"/>
          </p:cNvSpPr>
          <p:nvPr/>
        </p:nvSpPr>
        <p:spPr>
          <a:xfrm xmlns:a="http://schemas.openxmlformats.org/drawingml/2006/main">
            <a:off x="685800" y="1571625"/>
            <a:ext cx="10820400" cy="0"/>
          </a:xfrm>
          <a:prstGeom xmlns:a="http://schemas.openxmlformats.org/drawingml/2006/main" prst="line">
            <a:avLst/>
          </a:prstGeom>
          <a:noFill xmlns:a="http://schemas.openxmlformats.org/drawingml/2006/main"/>
          <a:ln xmlns:a="http://schemas.openxmlformats.org/drawingml/2006/main" w="11906">
            <a:solidFill>
              <a:srgbClr val="E7EAEE"/>
            </a:solidFill>
            <a:prstDash val="solid"/>
          </a:ln>
        </p:spPr>
      </p:sp>
      <p:graphicFrame>
        <p:nvGraphicFramePr>
          <p:cNvPr id="4" name="Chart">
            <a:extLst xmlns:a="http://schemas.openxmlformats.org/drawingml/2006/main">
              <a:ext uri="{FF2B5EF4-FFF2-40B4-BE49-F238E27FC236}">
                <a16:creationId xmlns:a16="http://schemas.microsoft.com/office/drawing/2014/main" id="{7F47DD98-C258-4DC0-9F4C-BC1440A800B4}"/>
              </a:ext>
            </a:extLst>
          </p:cNvPr>
          <p:cNvGraphicFramePr/>
          <p:nvPr/>
        </p:nvGraphicFramePr>
        <p:xfrm>
          <a:off xmlns:a="http://schemas.openxmlformats.org/drawingml/2006/main" x="2190750" y="1847850"/>
          <a:ext xmlns:a="http://schemas.openxmlformats.org/drawingml/2006/main" cx="7810500" cy="4171950"/>
        </p:xfrm>
        <a:graphic xmlns:a="http://schemas.openxmlformats.org/drawingml/2006/main">
          <a:graphicData uri="http://schemas.openxmlformats.org/drawingml/2006/chart">
            <c:chart xmlns:r="http://schemas.openxmlformats.org/officeDocument/2006/relationships" xmlns:c="http://schemas.openxmlformats.org/drawingml/2006/chart" r:id="R122caa0ef64d442a"/>
          </a:graphicData>
        </a:graphic>
      </p:graphicFrame>
      <p:sp>
        <p:nvSpPr>
          <p:cNvPr id="5" name="">
            <a:extLst xmlns:a="http://schemas.openxmlformats.org/drawingml/2006/main">
              <a:ext uri="{FF2B5EF4-FFF2-40B4-BE49-F238E27FC236}">
                <a16:creationId xmlns:a16="http://schemas.microsoft.com/office/drawing/2014/main" id="{14B5E526-B4FA-4A06-B62C-9E3441E8CE96}"/>
              </a:ext>
            </a:extLst>
          </p:cNvPr>
          <p:cNvSpPr>
            <a:spLocks xmlns:a="http://schemas.openxmlformats.org/drawingml/2006/main" noGrp="1"/>
          </p:cNvSpPr>
          <p:nvPr/>
        </p:nvSpPr>
        <p:spPr>
          <a:xfrm xmlns:a="http://schemas.openxmlformats.org/drawingml/2006/main">
            <a:off x="857250" y="60579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4B5868"/>
                </a:solidFill>
                <a:latin typeface="SF Pro Text"/>
                <a:ea typeface="SF Pro Text"/>
                <a:cs typeface="SF Pro Text"/>
              </a:defRPr>
            </a:defPPr>
          </a:lstStyle>
          <a:p xmlns:a="http://schemas.openxmlformats.org/drawingml/2006/main">
            <a:pPr algn="l">
              <a:lnSpc>
                <a:spcPct val="106000"/>
              </a:lnSpc>
              <a:buNone/>
              <a:defRPr sz="1275" b="0">
                <a:solidFill>
                  <a:srgbClr val="4B5868"/>
                </a:solidFill>
                <a:latin typeface="SF Pro Text"/>
                <a:ea typeface="SF Pro Text"/>
                <a:cs typeface="SF Pro Text"/>
              </a:defRPr>
            </a:pPr>
            <a:r>
              <a:rPr sz="1275" b="0">
                <a:solidFill>
                  <a:srgbClr val="4B5868"/>
                </a:solidFill>
                <a:latin typeface="SF Pro Text"/>
                <a:ea typeface="SF Pro Text"/>
                <a:cs typeface="SF Pro Text"/>
              </a:rPr>
              <a:t>Radar membantu membaca bentuk profil. Bar chart lebih mudah untuk membandingkan angka secara presisi.</a:t>
            </a:r>
          </a:p>
        </p:txBody>
      </p:sp>
    </p:spTree>
    <p:extLst>
      <p:ext uri="{BB962C8B-B14F-4D97-AF65-F5344CB8AC3E}">
        <p14:creationId xmlns:p14="http://schemas.microsoft.com/office/powerpoint/2010/main" val="205146482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3A6D19-CABD-43DE-A04C-F7B0E7A8FD11}"/>
              </a:ext>
            </a:extLst>
          </p:cNvPr>
          <p:cNvSpPr>
            <a:spLocks xmlns:a="http://schemas.openxmlformats.org/drawingml/2006/main" noGrp="1"/>
          </p:cNvSpPr>
          <p:nvPr/>
        </p:nvSpPr>
        <p:spPr>
          <a:xfrm xmlns:a="http://schemas.openxmlformats.org/drawingml/2006/main">
            <a:off x="685800" y="4191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11A30"/>
                </a:solidFill>
                <a:latin typeface="SF Pro Display"/>
                <a:ea typeface="SF Pro Display"/>
                <a:cs typeface="SF Pro Display"/>
              </a:defRPr>
            </a:defPPr>
          </a:lstStyle>
          <a:p xmlns:a="http://schemas.openxmlformats.org/drawingml/2006/main">
            <a:pPr algn="l">
              <a:lnSpc>
                <a:spcPct val="106000"/>
              </a:lnSpc>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Practice Akhir: komposisi penjualan bazar</a:t>
            </a:r>
          </a:p>
        </p:txBody>
      </p:sp>
      <p:sp>
        <p:nvSpPr>
          <p:cNvPr id="2" name="">
            <a:extLst xmlns:a="http://schemas.openxmlformats.org/drawingml/2006/main">
              <a:ext uri="{FF2B5EF4-FFF2-40B4-BE49-F238E27FC236}">
                <a16:creationId xmlns:a16="http://schemas.microsoft.com/office/drawing/2014/main" id="{08B42373-7A42-407F-941D-4E33DB6DFBFC}"/>
              </a:ext>
            </a:extLst>
          </p:cNvPr>
          <p:cNvSpPr>
            <a:spLocks xmlns:a="http://schemas.openxmlformats.org/drawingml/2006/main" noGrp="1"/>
          </p:cNvSpPr>
          <p:nvPr/>
        </p:nvSpPr>
        <p:spPr>
          <a:xfrm xmlns:a="http://schemas.openxmlformats.org/drawingml/2006/main">
            <a:off x="685800" y="10096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4B5868"/>
                </a:solidFill>
                <a:latin typeface="SF Pro Text"/>
                <a:ea typeface="SF Pro Text"/>
                <a:cs typeface="SF Pro Text"/>
              </a:defRPr>
            </a:defPPr>
          </a:lstStyle>
          <a:p xmlns:a="http://schemas.openxmlformats.org/drawingml/2006/main">
            <a:pPr algn="l">
              <a:lnSpc>
                <a:spcPct val="106000"/>
              </a:lnSpc>
              <a:buNone/>
              <a:defRPr sz="1500" b="0">
                <a:solidFill>
                  <a:srgbClr val="4B5868"/>
                </a:solidFill>
                <a:latin typeface="SF Pro Text"/>
                <a:ea typeface="SF Pro Text"/>
                <a:cs typeface="SF Pro Text"/>
              </a:defRPr>
            </a:pPr>
            <a:r>
              <a:rPr sz="1500" b="0">
                <a:solidFill>
                  <a:srgbClr val="4B5868"/>
                </a:solidFill>
                <a:latin typeface="SF Pro Text"/>
                <a:ea typeface="SF Pro Text"/>
                <a:cs typeface="SF Pro Text"/>
              </a:rPr>
              <a:t>Gunakan data baru untuk membandingkan stan dan kelompok produk</a:t>
            </a:r>
          </a:p>
        </p:txBody>
      </p:sp>
      <p:sp>
        <p:nvSpPr>
          <p:cNvPr id="3" name="">
            <a:extLst xmlns:a="http://schemas.openxmlformats.org/drawingml/2006/main">
              <a:ext uri="{FF2B5EF4-FFF2-40B4-BE49-F238E27FC236}">
                <a16:creationId xmlns:a16="http://schemas.microsoft.com/office/drawing/2014/main" id="{52A293A6-4835-43DD-9B0F-22B32B2A1DE7}"/>
              </a:ext>
            </a:extLst>
          </p:cNvPr>
          <p:cNvSpPr>
            <a:spLocks xmlns:a="http://schemas.openxmlformats.org/drawingml/2006/main" noGrp="1"/>
          </p:cNvSpPr>
          <p:nvPr/>
        </p:nvSpPr>
        <p:spPr>
          <a:xfrm xmlns:a="http://schemas.openxmlformats.org/drawingml/2006/main">
            <a:off x="685800" y="1571625"/>
            <a:ext cx="10820400" cy="0"/>
          </a:xfrm>
          <a:prstGeom xmlns:a="http://schemas.openxmlformats.org/drawingml/2006/main" prst="line">
            <a:avLst/>
          </a:prstGeom>
          <a:noFill xmlns:a="http://schemas.openxmlformats.org/drawingml/2006/main"/>
          <a:ln xmlns:a="http://schemas.openxmlformats.org/drawingml/2006/main" w="11906">
            <a:solidFill>
              <a:srgbClr val="E7EAEE"/>
            </a:solidFill>
            <a:prstDash val="solid"/>
          </a:ln>
        </p:spPr>
      </p:sp>
      <p:sp>
        <p:nvSpPr>
          <p:cNvPr id="4" name="">
            <a:extLst xmlns:a="http://schemas.openxmlformats.org/drawingml/2006/main">
              <a:ext uri="{FF2B5EF4-FFF2-40B4-BE49-F238E27FC236}">
                <a16:creationId xmlns:a16="http://schemas.microsoft.com/office/drawing/2014/main" id="{F59DEA00-BE42-41A5-8E8E-75B2AD5EDF22}"/>
              </a:ext>
            </a:extLst>
          </p:cNvPr>
          <p:cNvSpPr>
            <a:spLocks xmlns:a="http://schemas.openxmlformats.org/drawingml/2006/main" noGrp="1"/>
          </p:cNvSpPr>
          <p:nvPr/>
        </p:nvSpPr>
        <p:spPr>
          <a:xfrm xmlns:a="http://schemas.openxmlformats.org/drawingml/2006/main">
            <a:off x="781050" y="18669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6B9B"/>
                </a:solidFill>
                <a:latin typeface="SF Pro Text"/>
                <a:ea typeface="SF Pro Text"/>
                <a:cs typeface="SF Pro Text"/>
              </a:defRPr>
            </a:defPPr>
          </a:lstStyle>
          <a:p xmlns:a="http://schemas.openxmlformats.org/drawingml/2006/main">
            <a:pPr algn="l">
              <a:lnSpc>
                <a:spcPct val="106000"/>
              </a:lnSpc>
              <a:buNone/>
              <a:defRPr sz="1425" b="1">
                <a:solidFill>
                  <a:srgbClr val="196B9B"/>
                </a:solidFill>
                <a:latin typeface="SF Pro Text"/>
                <a:ea typeface="SF Pro Text"/>
                <a:cs typeface="SF Pro Text"/>
              </a:defRPr>
            </a:pPr>
            <a:r>
              <a:rPr sz="1425" b="1">
                <a:solidFill>
                  <a:srgbClr val="196B9B"/>
                </a:solidFill>
                <a:latin typeface="SF Pro Text"/>
                <a:ea typeface="SF Pro Text"/>
                <a:cs typeface="SF Pro Text"/>
              </a:rPr>
              <a:t>Ringkasan unit terjual</a:t>
            </a:r>
          </a:p>
        </p:txBody>
      </p:sp>
      <p:graphicFrame>
        <p:nvGraphicFramePr>
          <p:cNvPr id="5" name="">
            <a:extLst xmlns:a="http://schemas.openxmlformats.org/drawingml/2006/main">
              <a:ext uri="{FF2B5EF4-FFF2-40B4-BE49-F238E27FC236}">
                <a16:creationId xmlns:a16="http://schemas.microsoft.com/office/drawing/2014/main" id="{3429ACDF-F5BA-4743-B8F2-56CB761DA358}"/>
              </a:ext>
            </a:extLst>
          </p:cNvPr>
          <p:cNvGraphicFramePr/>
          <p:nvPr/>
        </p:nvGraphicFramePr>
        <p:xfrm>
          <a:off xmlns:a="http://schemas.openxmlformats.org/drawingml/2006/main" x="762000" y="2209800"/>
          <a:ext xmlns:a="http://schemas.openxmlformats.org/drawingml/2006/main" cx="5010150" cy="2457450"/>
        </p:xfrm>
        <a:graphic xmlns:a="http://schemas.openxmlformats.org/drawingml/2006/main">
          <a:graphicData uri="http://schemas.openxmlformats.org/drawingml/2006/table">
            <a:tbl>
              <a:tblPr firstRow="0" bandRow="0"/>
              <a:tblGrid>
                <a:gridCol w="1143000"/>
                <a:gridCol w="666750"/>
                <a:gridCol w="1066800"/>
                <a:gridCol w="1066800"/>
                <a:gridCol w="1066800"/>
              </a:tblGrid>
              <a:tr h="614363">
                <a:tc>
                  <a:txBody>
                    <a:bodyPr wrap="square" lIns="95250" tIns="76200" rIns="95250" bIns="76200">
                      <a:normAutofit/>
                    </a:bodyPr>
                    <a:lstStyle/>
                    <a:p>
                      <a:pPr algn="l"/>
                      <a:r>
                        <a:rPr sz="1350" b="1">
                          <a:solidFill>
                            <a:srgbClr val="FFFFFF"/>
                          </a:solidFill>
                          <a:latin typeface="SF Pro Text"/>
                          <a:ea typeface="SF Pro Text"/>
                          <a:cs typeface="SF Pro Text"/>
                        </a:rPr>
                        <a:t>Stan</a:t>
                      </a:r>
                    </a:p>
                  </a:txBody>
                  <a:tcPr marL="91440" marR="91440" marT="45720" marB="45720" anchor="ctr">
                    <a:solidFill>
                      <a:srgbClr val="111A30"/>
                    </a:solidFill>
                  </a:tcPr>
                </a:tc>
                <a:tc>
                  <a:txBody>
                    <a:bodyPr wrap="square" lIns="95250" tIns="76200" rIns="95250" bIns="76200">
                      <a:normAutofit/>
                    </a:bodyPr>
                    <a:lstStyle/>
                    <a:p>
                      <a:pPr algn="ctr"/>
                      <a:r>
                        <a:rPr sz="1350" b="1">
                          <a:solidFill>
                            <a:srgbClr val="FFFFFF"/>
                          </a:solidFill>
                          <a:latin typeface="SF Pro Text"/>
                          <a:ea typeface="SF Pro Text"/>
                          <a:cs typeface="SF Pro Text"/>
                        </a:rPr>
                        <a:t>Buku</a:t>
                      </a:r>
                    </a:p>
                  </a:txBody>
                  <a:tcPr marL="91440" marR="91440" marT="45720" marB="45720" anchor="ctr">
                    <a:solidFill>
                      <a:srgbClr val="111A30"/>
                    </a:solidFill>
                  </a:tcPr>
                </a:tc>
                <a:tc>
                  <a:txBody>
                    <a:bodyPr wrap="square" lIns="95250" tIns="76200" rIns="95250" bIns="76200">
                      <a:normAutofit/>
                    </a:bodyPr>
                    <a:lstStyle/>
                    <a:p>
                      <a:pPr algn="ctr"/>
                      <a:r>
                        <a:rPr sz="1350" b="1">
                          <a:solidFill>
                            <a:srgbClr val="FFFFFF"/>
                          </a:solidFill>
                          <a:latin typeface="SF Pro Text"/>
                          <a:ea typeface="SF Pro Text"/>
                          <a:cs typeface="SF Pro Text"/>
                        </a:rPr>
                        <a:t>Alat Tulis</a:t>
                      </a:r>
                    </a:p>
                  </a:txBody>
                  <a:tcPr marL="91440" marR="91440" marT="45720" marB="45720" anchor="ctr">
                    <a:solidFill>
                      <a:srgbClr val="111A30"/>
                    </a:solidFill>
                  </a:tcPr>
                </a:tc>
                <a:tc>
                  <a:txBody>
                    <a:bodyPr wrap="square" lIns="95250" tIns="76200" rIns="95250" bIns="76200">
                      <a:normAutofit/>
                    </a:bodyPr>
                    <a:lstStyle/>
                    <a:p>
                      <a:pPr algn="ctr"/>
                      <a:r>
                        <a:rPr sz="1350" b="1">
                          <a:solidFill>
                            <a:srgbClr val="FFFFFF"/>
                          </a:solidFill>
                          <a:latin typeface="SF Pro Text"/>
                          <a:ea typeface="SF Pro Text"/>
                          <a:cs typeface="SF Pro Text"/>
                        </a:rPr>
                        <a:t>Makanan</a:t>
                      </a:r>
                    </a:p>
                  </a:txBody>
                  <a:tcPr marL="91440" marR="91440" marT="45720" marB="45720" anchor="ctr">
                    <a:solidFill>
                      <a:srgbClr val="111A30"/>
                    </a:solidFill>
                  </a:tcPr>
                </a:tc>
                <a:tc>
                  <a:txBody>
                    <a:bodyPr wrap="square" lIns="95250" tIns="76200" rIns="95250" bIns="76200">
                      <a:normAutofit/>
                    </a:bodyPr>
                    <a:lstStyle/>
                    <a:p>
                      <a:pPr algn="ctr"/>
                      <a:r>
                        <a:rPr sz="1350" b="1">
                          <a:solidFill>
                            <a:srgbClr val="FFFFFF"/>
                          </a:solidFill>
                          <a:latin typeface="SF Pro Text"/>
                          <a:ea typeface="SF Pro Text"/>
                          <a:cs typeface="SF Pro Text"/>
                        </a:rPr>
                        <a:t>Minuman</a:t>
                      </a:r>
                    </a:p>
                  </a:txBody>
                  <a:tcPr marL="91440" marR="91440" marT="45720" marB="45720" anchor="ctr">
                    <a:solidFill>
                      <a:srgbClr val="111A30"/>
                    </a:solidFill>
                  </a:tcPr>
                </a:tc>
              </a:tr>
              <a:tr h="614363">
                <a:tc>
                  <a:txBody>
                    <a:bodyPr wrap="square" lIns="95250" tIns="76200" rIns="95250" bIns="76200">
                      <a:normAutofit/>
                    </a:bodyPr>
                    <a:lstStyle/>
                    <a:p>
                      <a:pPr algn="l"/>
                      <a:r>
                        <a:rPr sz="1350" b="1">
                          <a:solidFill>
                            <a:srgbClr val="111A30"/>
                          </a:solidFill>
                          <a:latin typeface="SF Pro Text"/>
                          <a:ea typeface="SF Pro Text"/>
                          <a:cs typeface="SF Pro Text"/>
                        </a:rPr>
                        <a:t>Aula</a:t>
                      </a:r>
                    </a:p>
                  </a:txBody>
                  <a:tcPr marL="91440" marR="91440" marT="45720" marB="45720" anchor="ctr">
                    <a:solidFill>
                      <a:srgbClr val="EAF6FC"/>
                    </a:solidFill>
                  </a:tcPr>
                </a:tc>
                <a:tc>
                  <a:txBody>
                    <a:bodyPr wrap="square" lIns="95250" tIns="76200" rIns="95250" bIns="76200">
                      <a:normAutofit/>
                    </a:bodyPr>
                    <a:lstStyle/>
                    <a:p>
                      <a:pPr algn="ctr"/>
                      <a:r>
                        <a:rPr sz="1350" b="0">
                          <a:solidFill>
                            <a:srgbClr val="111A30"/>
                          </a:solidFill>
                          <a:latin typeface="SF Pro Text"/>
                          <a:ea typeface="SF Pro Text"/>
                          <a:cs typeface="SF Pro Text"/>
                        </a:rPr>
                        <a:t>30</a:t>
                      </a:r>
                    </a:p>
                  </a:txBody>
                  <a:tcPr marL="91440" marR="91440" marT="45720" marB="45720" anchor="ctr">
                    <a:solidFill>
                      <a:srgbClr val="EAF6FC"/>
                    </a:solidFill>
                  </a:tcPr>
                </a:tc>
                <a:tc>
                  <a:txBody>
                    <a:bodyPr wrap="square" lIns="95250" tIns="76200" rIns="95250" bIns="76200">
                      <a:normAutofit/>
                    </a:bodyPr>
                    <a:lstStyle/>
                    <a:p>
                      <a:pPr algn="ctr"/>
                      <a:r>
                        <a:rPr sz="1350" b="0">
                          <a:solidFill>
                            <a:srgbClr val="111A30"/>
                          </a:solidFill>
                          <a:latin typeface="SF Pro Text"/>
                          <a:ea typeface="SF Pro Text"/>
                          <a:cs typeface="SF Pro Text"/>
                        </a:rPr>
                        <a:t>26</a:t>
                      </a:r>
                    </a:p>
                  </a:txBody>
                  <a:tcPr marL="91440" marR="91440" marT="45720" marB="45720" anchor="ctr">
                    <a:solidFill>
                      <a:srgbClr val="EAF6FC"/>
                    </a:solidFill>
                  </a:tcPr>
                </a:tc>
                <a:tc>
                  <a:txBody>
                    <a:bodyPr wrap="square" lIns="95250" tIns="76200" rIns="95250" bIns="76200">
                      <a:normAutofit/>
                    </a:bodyPr>
                    <a:lstStyle/>
                    <a:p>
                      <a:pPr algn="ctr"/>
                      <a:r>
                        <a:rPr sz="1350" b="0">
                          <a:solidFill>
                            <a:srgbClr val="111A30"/>
                          </a:solidFill>
                          <a:latin typeface="SF Pro Text"/>
                          <a:ea typeface="SF Pro Text"/>
                          <a:cs typeface="SF Pro Text"/>
                        </a:rPr>
                        <a:t>32</a:t>
                      </a:r>
                    </a:p>
                  </a:txBody>
                  <a:tcPr marL="91440" marR="91440" marT="45720" marB="45720" anchor="ctr">
                    <a:solidFill>
                      <a:srgbClr val="EAF6FC"/>
                    </a:solidFill>
                  </a:tcPr>
                </a:tc>
                <a:tc>
                  <a:txBody>
                    <a:bodyPr wrap="square" lIns="95250" tIns="76200" rIns="95250" bIns="76200">
                      <a:normAutofit/>
                    </a:bodyPr>
                    <a:lstStyle/>
                    <a:p>
                      <a:pPr algn="ctr"/>
                      <a:r>
                        <a:rPr sz="1350" b="0">
                          <a:solidFill>
                            <a:srgbClr val="111A30"/>
                          </a:solidFill>
                          <a:latin typeface="SF Pro Text"/>
                          <a:ea typeface="SF Pro Text"/>
                          <a:cs typeface="SF Pro Text"/>
                        </a:rPr>
                        <a:t>30</a:t>
                      </a:r>
                    </a:p>
                  </a:txBody>
                  <a:tcPr marL="91440" marR="91440" marT="45720" marB="45720" anchor="ctr">
                    <a:solidFill>
                      <a:srgbClr val="EAF6FC"/>
                    </a:solidFill>
                  </a:tcPr>
                </a:tc>
              </a:tr>
              <a:tr h="614363">
                <a:tc>
                  <a:txBody>
                    <a:bodyPr wrap="square" lIns="95250" tIns="76200" rIns="95250" bIns="76200">
                      <a:normAutofit/>
                    </a:bodyPr>
                    <a:lstStyle/>
                    <a:p>
                      <a:pPr algn="l"/>
                      <a:r>
                        <a:rPr sz="1350" b="1">
                          <a:solidFill>
                            <a:srgbClr val="111A30"/>
                          </a:solidFill>
                          <a:latin typeface="SF Pro Text"/>
                          <a:ea typeface="SF Pro Text"/>
                          <a:cs typeface="SF Pro Text"/>
                        </a:rPr>
                        <a:t>Taman</a:t>
                      </a:r>
                    </a:p>
                  </a:txBody>
                  <a:tcPr marL="91440" marR="91440" marT="45720" marB="45720" anchor="ctr">
                    <a:solidFill>
                      <a:srgbClr val="FFFFFF"/>
                    </a:solidFill>
                  </a:tcPr>
                </a:tc>
                <a:tc>
                  <a:txBody>
                    <a:bodyPr wrap="square" lIns="95250" tIns="76200" rIns="95250" bIns="76200">
                      <a:normAutofit/>
                    </a:bodyPr>
                    <a:lstStyle/>
                    <a:p>
                      <a:pPr algn="ctr"/>
                      <a:r>
                        <a:rPr sz="1350" b="0">
                          <a:solidFill>
                            <a:srgbClr val="111A30"/>
                          </a:solidFill>
                          <a:latin typeface="SF Pro Text"/>
                          <a:ea typeface="SF Pro Text"/>
                          <a:cs typeface="SF Pro Text"/>
                        </a:rPr>
                        <a:t>22</a:t>
                      </a:r>
                    </a:p>
                  </a:txBody>
                  <a:tcPr marL="91440" marR="91440" marT="45720" marB="45720" anchor="ctr">
                    <a:solidFill>
                      <a:srgbClr val="FFFFFF"/>
                    </a:solidFill>
                  </a:tcPr>
                </a:tc>
                <a:tc>
                  <a:txBody>
                    <a:bodyPr wrap="square" lIns="95250" tIns="76200" rIns="95250" bIns="76200">
                      <a:normAutofit/>
                    </a:bodyPr>
                    <a:lstStyle/>
                    <a:p>
                      <a:pPr algn="ctr"/>
                      <a:r>
                        <a:rPr sz="1350" b="0">
                          <a:solidFill>
                            <a:srgbClr val="111A30"/>
                          </a:solidFill>
                          <a:latin typeface="SF Pro Text"/>
                          <a:ea typeface="SF Pro Text"/>
                          <a:cs typeface="SF Pro Text"/>
                        </a:rPr>
                        <a:t>34</a:t>
                      </a:r>
                    </a:p>
                  </a:txBody>
                  <a:tcPr marL="91440" marR="91440" marT="45720" marB="45720" anchor="ctr">
                    <a:solidFill>
                      <a:srgbClr val="FFFFFF"/>
                    </a:solidFill>
                  </a:tcPr>
                </a:tc>
                <a:tc>
                  <a:txBody>
                    <a:bodyPr wrap="square" lIns="95250" tIns="76200" rIns="95250" bIns="76200">
                      <a:normAutofit/>
                    </a:bodyPr>
                    <a:lstStyle/>
                    <a:p>
                      <a:pPr algn="ctr"/>
                      <a:r>
                        <a:rPr sz="1350" b="0">
                          <a:solidFill>
                            <a:srgbClr val="111A30"/>
                          </a:solidFill>
                          <a:latin typeface="SF Pro Text"/>
                          <a:ea typeface="SF Pro Text"/>
                          <a:cs typeface="SF Pro Text"/>
                        </a:rPr>
                        <a:t>30</a:t>
                      </a:r>
                    </a:p>
                  </a:txBody>
                  <a:tcPr marL="91440" marR="91440" marT="45720" marB="45720" anchor="ctr">
                    <a:solidFill>
                      <a:srgbClr val="FFFFFF"/>
                    </a:solidFill>
                  </a:tcPr>
                </a:tc>
                <a:tc>
                  <a:txBody>
                    <a:bodyPr wrap="square" lIns="95250" tIns="76200" rIns="95250" bIns="76200">
                      <a:normAutofit/>
                    </a:bodyPr>
                    <a:lstStyle/>
                    <a:p>
                      <a:pPr algn="ctr"/>
                      <a:r>
                        <a:rPr sz="1350" b="0">
                          <a:solidFill>
                            <a:srgbClr val="111A30"/>
                          </a:solidFill>
                          <a:latin typeface="SF Pro Text"/>
                          <a:ea typeface="SF Pro Text"/>
                          <a:cs typeface="SF Pro Text"/>
                        </a:rPr>
                        <a:t>30</a:t>
                      </a:r>
                    </a:p>
                  </a:txBody>
                  <a:tcPr marL="91440" marR="91440" marT="45720" marB="45720" anchor="ctr">
                    <a:solidFill>
                      <a:srgbClr val="FFFFFF"/>
                    </a:solidFill>
                  </a:tcPr>
                </a:tc>
              </a:tr>
              <a:tr h="614363">
                <a:tc>
                  <a:txBody>
                    <a:bodyPr wrap="square" lIns="95250" tIns="76200" rIns="95250" bIns="76200">
                      <a:normAutofit/>
                    </a:bodyPr>
                    <a:lstStyle/>
                    <a:p>
                      <a:pPr algn="l"/>
                      <a:r>
                        <a:rPr sz="1350" b="1">
                          <a:solidFill>
                            <a:srgbClr val="111A30"/>
                          </a:solidFill>
                          <a:latin typeface="SF Pro Text"/>
                          <a:ea typeface="SF Pro Text"/>
                          <a:cs typeface="SF Pro Text"/>
                        </a:rPr>
                        <a:t>Lapangan</a:t>
                      </a:r>
                    </a:p>
                  </a:txBody>
                  <a:tcPr marL="91440" marR="91440" marT="45720" marB="45720" anchor="ctr">
                    <a:solidFill>
                      <a:srgbClr val="EAF6FC"/>
                    </a:solidFill>
                  </a:tcPr>
                </a:tc>
                <a:tc>
                  <a:txBody>
                    <a:bodyPr wrap="square" lIns="95250" tIns="76200" rIns="95250" bIns="76200">
                      <a:normAutofit/>
                    </a:bodyPr>
                    <a:lstStyle/>
                    <a:p>
                      <a:pPr algn="ctr"/>
                      <a:r>
                        <a:rPr sz="1350" b="0">
                          <a:solidFill>
                            <a:srgbClr val="111A30"/>
                          </a:solidFill>
                          <a:latin typeface="SF Pro Text"/>
                          <a:ea typeface="SF Pro Text"/>
                          <a:cs typeface="SF Pro Text"/>
                        </a:rPr>
                        <a:t>30</a:t>
                      </a:r>
                    </a:p>
                  </a:txBody>
                  <a:tcPr marL="91440" marR="91440" marT="45720" marB="45720" anchor="ctr">
                    <a:solidFill>
                      <a:srgbClr val="EAF6FC"/>
                    </a:solidFill>
                  </a:tcPr>
                </a:tc>
                <a:tc>
                  <a:txBody>
                    <a:bodyPr wrap="square" lIns="95250" tIns="76200" rIns="95250" bIns="76200">
                      <a:normAutofit/>
                    </a:bodyPr>
                    <a:lstStyle/>
                    <a:p>
                      <a:pPr algn="ctr"/>
                      <a:r>
                        <a:rPr sz="1350" b="0">
                          <a:solidFill>
                            <a:srgbClr val="111A30"/>
                          </a:solidFill>
                          <a:latin typeface="SF Pro Text"/>
                          <a:ea typeface="SF Pro Text"/>
                          <a:cs typeface="SF Pro Text"/>
                        </a:rPr>
                        <a:t>30</a:t>
                      </a:r>
                    </a:p>
                  </a:txBody>
                  <a:tcPr marL="91440" marR="91440" marT="45720" marB="45720" anchor="ctr">
                    <a:solidFill>
                      <a:srgbClr val="EAF6FC"/>
                    </a:solidFill>
                  </a:tcPr>
                </a:tc>
                <a:tc>
                  <a:txBody>
                    <a:bodyPr wrap="square" lIns="95250" tIns="76200" rIns="95250" bIns="76200">
                      <a:normAutofit/>
                    </a:bodyPr>
                    <a:lstStyle/>
                    <a:p>
                      <a:pPr algn="ctr"/>
                      <a:r>
                        <a:rPr sz="1350" b="0">
                          <a:solidFill>
                            <a:srgbClr val="111A30"/>
                          </a:solidFill>
                          <a:latin typeface="SF Pro Text"/>
                          <a:ea typeface="SF Pro Text"/>
                          <a:cs typeface="SF Pro Text"/>
                        </a:rPr>
                        <a:t>39</a:t>
                      </a:r>
                    </a:p>
                  </a:txBody>
                  <a:tcPr marL="91440" marR="91440" marT="45720" marB="45720" anchor="ctr">
                    <a:solidFill>
                      <a:srgbClr val="EAF6FC"/>
                    </a:solidFill>
                  </a:tcPr>
                </a:tc>
                <a:tc>
                  <a:txBody>
                    <a:bodyPr wrap="square" lIns="95250" tIns="76200" rIns="95250" bIns="76200">
                      <a:normAutofit/>
                    </a:bodyPr>
                    <a:lstStyle/>
                    <a:p>
                      <a:pPr algn="ctr"/>
                      <a:r>
                        <a:rPr sz="1350" b="0">
                          <a:solidFill>
                            <a:srgbClr val="111A30"/>
                          </a:solidFill>
                          <a:latin typeface="SF Pro Text"/>
                          <a:ea typeface="SF Pro Text"/>
                          <a:cs typeface="SF Pro Text"/>
                        </a:rPr>
                        <a:t>36</a:t>
                      </a:r>
                    </a:p>
                  </a:txBody>
                  <a:tcPr marL="91440" marR="91440" marT="45720" marB="45720" anchor="ctr">
                    <a:solidFill>
                      <a:srgbClr val="EAF6FC"/>
                    </a:solidFill>
                  </a:tcPr>
                </a:tc>
              </a:tr>
            </a:tbl>
          </a:graphicData>
        </a:graphic>
      </p:graphicFrame>
      <p:sp>
        <p:nvSpPr>
          <p:cNvPr id="6" name="">
            <a:extLst xmlns:a="http://schemas.openxmlformats.org/drawingml/2006/main">
              <a:ext uri="{FF2B5EF4-FFF2-40B4-BE49-F238E27FC236}">
                <a16:creationId xmlns:a16="http://schemas.microsoft.com/office/drawing/2014/main" id="{906E93F3-70BE-449F-B2C0-AC01D2C503AD}"/>
              </a:ext>
            </a:extLst>
          </p:cNvPr>
          <p:cNvSpPr>
            <a:spLocks xmlns:a="http://schemas.openxmlformats.org/drawingml/2006/main" noGrp="1"/>
          </p:cNvSpPr>
          <p:nvPr/>
        </p:nvSpPr>
        <p:spPr>
          <a:xfrm xmlns:a="http://schemas.openxmlformats.org/drawingml/2006/main">
            <a:off x="6286500" y="2076450"/>
            <a:ext cx="5048250" cy="3733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350">
                <a:solidFill>
                  <a:srgbClr val="4B5868"/>
                </a:solidFill>
                <a:latin typeface="SF Pro Text"/>
                <a:ea typeface="SF Pro Text"/>
                <a:cs typeface="SF Pro Text"/>
              </a:defRPr>
            </a:defPPr>
          </a:lstStyle>
          <a:p xmlns:a="http://schemas.openxmlformats.org/drawingml/2006/main">
            <a:pPr marL="254000" indent="-127000">
              <a:lnSpc>
                <a:spcPct val="110000"/>
              </a:lnSpc>
              <a:spcAft>
                <a:spcPts val="1000"/>
              </a:spcAft>
              <a:buNone/>
              <a:defRPr sz="1350">
                <a:solidFill>
                  <a:srgbClr val="4B5868"/>
                </a:solidFill>
                <a:latin typeface="SF Pro Text"/>
                <a:ea typeface="SF Pro Text"/>
                <a:cs typeface="SF Pro Text"/>
              </a:defRPr>
            </a:pPr>
            <a:r>
              <a:rPr sz="1350">
                <a:solidFill>
                  <a:srgbClr val="4B5868"/>
                </a:solidFill>
                <a:latin typeface="SF Pro Text"/>
                <a:ea typeface="SF Pro Text"/>
                <a:cs typeface="SF Pro Text"/>
              </a:rPr>
              <a:t>Buat grouped bar untuk membandingkan kelompok produk antarstan.</a:t>
            </a:r>
          </a:p>
          <a:p xmlns:a="http://schemas.openxmlformats.org/drawingml/2006/main">
            <a:pPr marL="254000" indent="-127000">
              <a:lnSpc>
                <a:spcPct val="110000"/>
              </a:lnSpc>
              <a:spcAft>
                <a:spcPts val="1000"/>
              </a:spcAft>
              <a:buNone/>
              <a:defRPr sz="1350">
                <a:solidFill>
                  <a:srgbClr val="4B5868"/>
                </a:solidFill>
                <a:latin typeface="SF Pro Text"/>
                <a:ea typeface="SF Pro Text"/>
                <a:cs typeface="SF Pro Text"/>
              </a:defRPr>
            </a:pPr>
            <a:r>
              <a:rPr sz="1350">
                <a:solidFill>
                  <a:srgbClr val="4B5868"/>
                </a:solidFill>
                <a:latin typeface="SF Pro Text"/>
                <a:ea typeface="SF Pro Text"/>
                <a:cs typeface="SF Pro Text"/>
              </a:rPr>
              <a:t>Buat stacked bar dan versi 100% stacked bar.</a:t>
            </a:r>
          </a:p>
          <a:p xmlns:a="http://schemas.openxmlformats.org/drawingml/2006/main">
            <a:pPr marL="254000" indent="-127000">
              <a:lnSpc>
                <a:spcPct val="110000"/>
              </a:lnSpc>
              <a:spcAft>
                <a:spcPts val="1000"/>
              </a:spcAft>
              <a:buNone/>
              <a:defRPr sz="1350">
                <a:solidFill>
                  <a:srgbClr val="4B5868"/>
                </a:solidFill>
                <a:latin typeface="SF Pro Text"/>
                <a:ea typeface="SF Pro Text"/>
                <a:cs typeface="SF Pro Text"/>
              </a:defRPr>
            </a:pPr>
            <a:r>
              <a:rPr sz="1350">
                <a:solidFill>
                  <a:srgbClr val="4B5868"/>
                </a:solidFill>
                <a:latin typeface="SF Pro Text"/>
                <a:ea typeface="SF Pro Text"/>
                <a:cs typeface="SF Pro Text"/>
              </a:rPr>
              <a:t>Tampilkan bagian satu stan dengan pie dan donut.</a:t>
            </a:r>
          </a:p>
          <a:p xmlns:a="http://schemas.openxmlformats.org/drawingml/2006/main">
            <a:pPr marL="254000" indent="-127000">
              <a:lnSpc>
                <a:spcPct val="110000"/>
              </a:lnSpc>
              <a:spcAft>
                <a:spcPts val="1000"/>
              </a:spcAft>
              <a:buNone/>
              <a:defRPr sz="1350">
                <a:solidFill>
                  <a:srgbClr val="4B5868"/>
                </a:solidFill>
                <a:latin typeface="SF Pro Text"/>
                <a:ea typeface="SF Pro Text"/>
                <a:cs typeface="SF Pro Text"/>
              </a:defRPr>
            </a:pPr>
            <a:r>
              <a:rPr sz="1350">
                <a:solidFill>
                  <a:srgbClr val="4B5868"/>
                </a:solidFill>
                <a:latin typeface="SF Pro Text"/>
                <a:ea typeface="SF Pro Text"/>
                <a:cs typeface="SF Pro Text"/>
              </a:rPr>
              <a:t>Gunakan treemap untuk melihat kelompok serta produk.</a:t>
            </a:r>
          </a:p>
          <a:p xmlns:a="http://schemas.openxmlformats.org/drawingml/2006/main">
            <a:pPr marL="254000" indent="-127000">
              <a:lnSpc>
                <a:spcPct val="110000"/>
              </a:lnSpc>
              <a:spcAft>
                <a:spcPts val="1000"/>
              </a:spcAft>
              <a:buNone/>
              <a:defRPr sz="1350">
                <a:solidFill>
                  <a:srgbClr val="4B5868"/>
                </a:solidFill>
                <a:latin typeface="SF Pro Text"/>
                <a:ea typeface="SF Pro Text"/>
                <a:cs typeface="SF Pro Text"/>
              </a:defRPr>
            </a:pPr>
            <a:r>
              <a:rPr sz="1350">
                <a:solidFill>
                  <a:srgbClr val="4B5868"/>
                </a:solidFill>
                <a:latin typeface="SF Pro Text"/>
                <a:ea typeface="SF Pro Text"/>
                <a:cs typeface="SF Pro Text"/>
              </a:rPr>
              <a:t>Bandingkan profil persentase dua stan dengan radar chart.</a:t>
            </a:r>
          </a:p>
        </p:txBody>
      </p:sp>
      <p:sp>
        <p:nvSpPr>
          <p:cNvPr id="7" name="">
            <a:extLst xmlns:a="http://schemas.openxmlformats.org/drawingml/2006/main">
              <a:ext uri="{FF2B5EF4-FFF2-40B4-BE49-F238E27FC236}">
                <a16:creationId xmlns:a16="http://schemas.microsoft.com/office/drawing/2014/main" id="{2C6BD0D0-F256-4F26-BEA9-A12BAE9101E5}"/>
              </a:ext>
            </a:extLst>
          </p:cNvPr>
          <p:cNvSpPr>
            <a:spLocks xmlns:a="http://schemas.openxmlformats.org/drawingml/2006/main" noGrp="1"/>
          </p:cNvSpPr>
          <p:nvPr/>
        </p:nvSpPr>
        <p:spPr>
          <a:xfrm xmlns:a="http://schemas.openxmlformats.org/drawingml/2006/main">
            <a:off x="781050" y="4991100"/>
            <a:ext cx="5010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4B5868"/>
                </a:solidFill>
                <a:latin typeface="SF Pro Text"/>
                <a:ea typeface="SF Pro Text"/>
                <a:cs typeface="SF Pro Text"/>
              </a:defRPr>
            </a:defPPr>
          </a:lstStyle>
          <a:p xmlns:a="http://schemas.openxmlformats.org/drawingml/2006/main">
            <a:pPr algn="l">
              <a:lnSpc>
                <a:spcPct val="106000"/>
              </a:lnSpc>
              <a:buNone/>
              <a:defRPr sz="1275" b="0">
                <a:solidFill>
                  <a:srgbClr val="4B5868"/>
                </a:solidFill>
                <a:latin typeface="SF Pro Text"/>
                <a:ea typeface="SF Pro Text"/>
                <a:cs typeface="SF Pro Text"/>
              </a:defRPr>
            </a:pPr>
            <a:r>
              <a:rPr sz="1275" b="0">
                <a:solidFill>
                  <a:srgbClr val="4B5868"/>
                </a:solidFill>
                <a:latin typeface="SF Pro Text"/>
                <a:ea typeface="SF Pro Text"/>
                <a:cs typeface="SF Pro Text"/>
              </a:rPr>
              <a:t>Di notebook tersedia rincian produk untuk setiap stan.</a:t>
            </a:r>
          </a:p>
        </p:txBody>
      </p:sp>
    </p:spTree>
    <p:extLst>
      <p:ext uri="{BB962C8B-B14F-4D97-AF65-F5344CB8AC3E}">
        <p14:creationId xmlns:p14="http://schemas.microsoft.com/office/powerpoint/2010/main" val="105519805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86E9AAC-BD4B-4F9F-A3E5-59472C85185C}"/>
              </a:ext>
            </a:extLst>
          </p:cNvPr>
          <p:cNvSpPr>
            <a:spLocks xmlns:a="http://schemas.openxmlformats.org/drawingml/2006/main" noGrp="1"/>
          </p:cNvSpPr>
          <p:nvPr/>
        </p:nvSpPr>
        <p:spPr>
          <a:xfrm xmlns:a="http://schemas.openxmlformats.org/drawingml/2006/main">
            <a:off x="685800" y="4191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11A30"/>
                </a:solidFill>
                <a:latin typeface="SF Pro Display"/>
                <a:ea typeface="SF Pro Display"/>
                <a:cs typeface="SF Pro Display"/>
              </a:defRPr>
            </a:defPPr>
          </a:lstStyle>
          <a:p xmlns:a="http://schemas.openxmlformats.org/drawingml/2006/main">
            <a:pPr algn="l">
              <a:lnSpc>
                <a:spcPct val="106000"/>
              </a:lnSpc>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Ringkasan pemilihan grafik</a:t>
            </a:r>
          </a:p>
        </p:txBody>
      </p:sp>
      <p:sp>
        <p:nvSpPr>
          <p:cNvPr id="2" name="">
            <a:extLst xmlns:a="http://schemas.openxmlformats.org/drawingml/2006/main">
              <a:ext uri="{FF2B5EF4-FFF2-40B4-BE49-F238E27FC236}">
                <a16:creationId xmlns:a16="http://schemas.microsoft.com/office/drawing/2014/main" id="{90C4B65E-2B9E-4BDB-A4B7-7330948DB9AC}"/>
              </a:ext>
            </a:extLst>
          </p:cNvPr>
          <p:cNvSpPr>
            <a:spLocks xmlns:a="http://schemas.openxmlformats.org/drawingml/2006/main" noGrp="1"/>
          </p:cNvSpPr>
          <p:nvPr/>
        </p:nvSpPr>
        <p:spPr>
          <a:xfrm xmlns:a="http://schemas.openxmlformats.org/drawingml/2006/main">
            <a:off x="685800" y="10096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4B5868"/>
                </a:solidFill>
                <a:latin typeface="SF Pro Text"/>
                <a:ea typeface="SF Pro Text"/>
                <a:cs typeface="SF Pro Text"/>
              </a:defRPr>
            </a:defPPr>
          </a:lstStyle>
          <a:p xmlns:a="http://schemas.openxmlformats.org/drawingml/2006/main">
            <a:pPr algn="l">
              <a:lnSpc>
                <a:spcPct val="106000"/>
              </a:lnSpc>
              <a:buNone/>
              <a:defRPr sz="1500" b="0">
                <a:solidFill>
                  <a:srgbClr val="4B5868"/>
                </a:solidFill>
                <a:latin typeface="SF Pro Text"/>
                <a:ea typeface="SF Pro Text"/>
                <a:cs typeface="SF Pro Text"/>
              </a:defRPr>
            </a:pPr>
            <a:r>
              <a:rPr sz="1500" b="0">
                <a:solidFill>
                  <a:srgbClr val="4B5868"/>
                </a:solidFill>
                <a:latin typeface="SF Pro Text"/>
                <a:ea typeface="SF Pro Text"/>
                <a:cs typeface="SF Pro Text"/>
              </a:rPr>
              <a:t>Baca pertanyaan dan bentuk data sebelum menulis kode</a:t>
            </a:r>
          </a:p>
        </p:txBody>
      </p:sp>
      <p:sp>
        <p:nvSpPr>
          <p:cNvPr id="3" name="">
            <a:extLst xmlns:a="http://schemas.openxmlformats.org/drawingml/2006/main">
              <a:ext uri="{FF2B5EF4-FFF2-40B4-BE49-F238E27FC236}">
                <a16:creationId xmlns:a16="http://schemas.microsoft.com/office/drawing/2014/main" id="{1A26462A-A56B-4B38-9556-B16B29FA2184}"/>
              </a:ext>
            </a:extLst>
          </p:cNvPr>
          <p:cNvSpPr>
            <a:spLocks xmlns:a="http://schemas.openxmlformats.org/drawingml/2006/main" noGrp="1"/>
          </p:cNvSpPr>
          <p:nvPr/>
        </p:nvSpPr>
        <p:spPr>
          <a:xfrm xmlns:a="http://schemas.openxmlformats.org/drawingml/2006/main">
            <a:off x="685800" y="1571625"/>
            <a:ext cx="10820400" cy="0"/>
          </a:xfrm>
          <a:prstGeom xmlns:a="http://schemas.openxmlformats.org/drawingml/2006/main" prst="line">
            <a:avLst/>
          </a:prstGeom>
          <a:noFill xmlns:a="http://schemas.openxmlformats.org/drawingml/2006/main"/>
          <a:ln xmlns:a="http://schemas.openxmlformats.org/drawingml/2006/main" w="11906">
            <a:solidFill>
              <a:srgbClr val="E7EAEE"/>
            </a:solidFill>
            <a:prstDash val="solid"/>
          </a:ln>
        </p:spPr>
      </p:sp>
      <p:graphicFrame>
        <p:nvGraphicFramePr>
          <p:cNvPr id="4" name="">
            <a:extLst xmlns:a="http://schemas.openxmlformats.org/drawingml/2006/main">
              <a:ext uri="{FF2B5EF4-FFF2-40B4-BE49-F238E27FC236}">
                <a16:creationId xmlns:a16="http://schemas.microsoft.com/office/drawing/2014/main" id="{89ECC5CE-17D3-4DC6-AB2D-D28291335D53}"/>
              </a:ext>
            </a:extLst>
          </p:cNvPr>
          <p:cNvGraphicFramePr/>
          <p:nvPr/>
        </p:nvGraphicFramePr>
        <p:xfrm>
          <a:off xmlns:a="http://schemas.openxmlformats.org/drawingml/2006/main" x="781050" y="1905000"/>
          <a:ext xmlns:a="http://schemas.openxmlformats.org/drawingml/2006/main" cx="10629900" cy="4152900"/>
        </p:xfrm>
        <a:graphic xmlns:a="http://schemas.openxmlformats.org/drawingml/2006/main">
          <a:graphicData uri="http://schemas.openxmlformats.org/drawingml/2006/table">
            <a:tbl>
              <a:tblPr firstRow="0" bandRow="0"/>
              <a:tblGrid>
                <a:gridCol w="2000250"/>
                <a:gridCol w="4905375"/>
                <a:gridCol w="3724275"/>
              </a:tblGrid>
              <a:tr h="519113">
                <a:tc>
                  <a:txBody>
                    <a:bodyPr wrap="square" lIns="95250" tIns="76200" rIns="95250" bIns="76200">
                      <a:normAutofit/>
                    </a:bodyPr>
                    <a:lstStyle/>
                    <a:p>
                      <a:pPr algn="l"/>
                      <a:r>
                        <a:rPr sz="1275" b="1">
                          <a:solidFill>
                            <a:srgbClr val="FFFFFF"/>
                          </a:solidFill>
                          <a:latin typeface="SF Pro Text"/>
                          <a:ea typeface="SF Pro Text"/>
                          <a:cs typeface="SF Pro Text"/>
                        </a:rPr>
                        <a:t>Grafik</a:t>
                      </a:r>
                    </a:p>
                  </a:txBody>
                  <a:tcPr marL="91440" marR="91440" marT="45720" marB="45720" anchor="ctr">
                    <a:solidFill>
                      <a:srgbClr val="111A30"/>
                    </a:solidFill>
                  </a:tcPr>
                </a:tc>
                <a:tc>
                  <a:txBody>
                    <a:bodyPr wrap="square" lIns="95250" tIns="76200" rIns="95250" bIns="76200">
                      <a:normAutofit/>
                    </a:bodyPr>
                    <a:lstStyle/>
                    <a:p>
                      <a:pPr algn="ctr"/>
                      <a:r>
                        <a:rPr sz="1275" b="1">
                          <a:solidFill>
                            <a:srgbClr val="FFFFFF"/>
                          </a:solidFill>
                          <a:latin typeface="SF Pro Text"/>
                          <a:ea typeface="SF Pro Text"/>
                          <a:cs typeface="SF Pro Text"/>
                        </a:rPr>
                        <a:t>Gunakan saat</a:t>
                      </a:r>
                    </a:p>
                  </a:txBody>
                  <a:tcPr marL="91440" marR="91440" marT="45720" marB="45720" anchor="ctr">
                    <a:solidFill>
                      <a:srgbClr val="111A30"/>
                    </a:solidFill>
                  </a:tcPr>
                </a:tc>
                <a:tc>
                  <a:txBody>
                    <a:bodyPr wrap="square" lIns="95250" tIns="76200" rIns="95250" bIns="76200">
                      <a:normAutofit/>
                    </a:bodyPr>
                    <a:lstStyle/>
                    <a:p>
                      <a:pPr algn="ctr"/>
                      <a:r>
                        <a:rPr sz="1275" b="1">
                          <a:solidFill>
                            <a:srgbClr val="FFFFFF"/>
                          </a:solidFill>
                          <a:latin typeface="SF Pro Text"/>
                          <a:ea typeface="SF Pro Text"/>
                          <a:cs typeface="SF Pro Text"/>
                        </a:rPr>
                        <a:t>Yang dibandingkan</a:t>
                      </a:r>
                    </a:p>
                  </a:txBody>
                  <a:tcPr marL="91440" marR="91440" marT="45720" marB="45720" anchor="ctr">
                    <a:solidFill>
                      <a:srgbClr val="111A30"/>
                    </a:solidFill>
                  </a:tcPr>
                </a:tc>
              </a:tr>
              <a:tr h="519113">
                <a:tc>
                  <a:txBody>
                    <a:bodyPr wrap="square" lIns="95250" tIns="76200" rIns="95250" bIns="76200">
                      <a:normAutofit/>
                    </a:bodyPr>
                    <a:lstStyle/>
                    <a:p>
                      <a:pPr algn="l"/>
                      <a:r>
                        <a:rPr sz="1275" b="1">
                          <a:solidFill>
                            <a:srgbClr val="111A30"/>
                          </a:solidFill>
                          <a:latin typeface="SF Pro Text"/>
                          <a:ea typeface="SF Pro Text"/>
                          <a:cs typeface="SF Pro Text"/>
                        </a:rPr>
                        <a:t>Bar chart</a:t>
                      </a:r>
                    </a:p>
                  </a:txBody>
                  <a:tcPr marL="91440" marR="91440" marT="45720" marB="45720" anchor="ctr">
                    <a:solidFill>
                      <a:srgbClr val="EAF6FC"/>
                    </a:solidFill>
                  </a:tcPr>
                </a:tc>
                <a:tc>
                  <a:txBody>
                    <a:bodyPr wrap="square" lIns="95250" tIns="76200" rIns="95250" bIns="76200">
                      <a:normAutofit/>
                    </a:bodyPr>
                    <a:lstStyle/>
                    <a:p>
                      <a:pPr algn="ctr"/>
                      <a:r>
                        <a:rPr sz="1275" b="0">
                          <a:solidFill>
                            <a:srgbClr val="111A30"/>
                          </a:solidFill>
                          <a:latin typeface="SF Pro Text"/>
                          <a:ea typeface="SF Pro Text"/>
                          <a:cs typeface="SF Pro Text"/>
                        </a:rPr>
                        <a:t>Membandingkan kategori</a:t>
                      </a:r>
                    </a:p>
                  </a:txBody>
                  <a:tcPr marL="91440" marR="91440" marT="45720" marB="45720" anchor="ctr">
                    <a:solidFill>
                      <a:srgbClr val="EAF6FC"/>
                    </a:solidFill>
                  </a:tcPr>
                </a:tc>
                <a:tc>
                  <a:txBody>
                    <a:bodyPr wrap="square" lIns="95250" tIns="76200" rIns="95250" bIns="76200">
                      <a:normAutofit/>
                    </a:bodyPr>
                    <a:lstStyle/>
                    <a:p>
                      <a:pPr algn="ctr"/>
                      <a:r>
                        <a:rPr sz="1275" b="0">
                          <a:solidFill>
                            <a:srgbClr val="111A30"/>
                          </a:solidFill>
                          <a:latin typeface="SF Pro Text"/>
                          <a:ea typeface="SF Pro Text"/>
                          <a:cs typeface="SF Pro Text"/>
                        </a:rPr>
                        <a:t>Panjang batang</a:t>
                      </a:r>
                    </a:p>
                  </a:txBody>
                  <a:tcPr marL="91440" marR="91440" marT="45720" marB="45720" anchor="ctr">
                    <a:solidFill>
                      <a:srgbClr val="EAF6FC"/>
                    </a:solidFill>
                  </a:tcPr>
                </a:tc>
              </a:tr>
              <a:tr h="519113">
                <a:tc>
                  <a:txBody>
                    <a:bodyPr wrap="square" lIns="95250" tIns="76200" rIns="95250" bIns="76200">
                      <a:normAutofit/>
                    </a:bodyPr>
                    <a:lstStyle/>
                    <a:p>
                      <a:pPr algn="l"/>
                      <a:r>
                        <a:rPr sz="1275" b="1">
                          <a:solidFill>
                            <a:srgbClr val="111A30"/>
                          </a:solidFill>
                          <a:latin typeface="SF Pro Text"/>
                          <a:ea typeface="SF Pro Text"/>
                          <a:cs typeface="SF Pro Text"/>
                        </a:rPr>
                        <a:t>Count plot</a:t>
                      </a:r>
                    </a:p>
                  </a:txBody>
                  <a:tcPr marL="91440" marR="91440" marT="45720" marB="45720" anchor="ctr">
                    <a:solidFill>
                      <a:srgbClr val="FFFFFF"/>
                    </a:solidFill>
                  </a:tcPr>
                </a:tc>
                <a:tc>
                  <a:txBody>
                    <a:bodyPr wrap="square" lIns="95250" tIns="76200" rIns="95250" bIns="76200">
                      <a:normAutofit/>
                    </a:bodyPr>
                    <a:lstStyle/>
                    <a:p>
                      <a:pPr algn="ctr"/>
                      <a:r>
                        <a:rPr sz="1275" b="0">
                          <a:solidFill>
                            <a:srgbClr val="111A30"/>
                          </a:solidFill>
                          <a:latin typeface="SF Pro Text"/>
                          <a:ea typeface="SF Pro Text"/>
                          <a:cs typeface="SF Pro Text"/>
                        </a:rPr>
                        <a:t>Menghitung baris per kategori</a:t>
                      </a:r>
                    </a:p>
                  </a:txBody>
                  <a:tcPr marL="91440" marR="91440" marT="45720" marB="45720" anchor="ctr">
                    <a:solidFill>
                      <a:srgbClr val="FFFFFF"/>
                    </a:solidFill>
                  </a:tcPr>
                </a:tc>
                <a:tc>
                  <a:txBody>
                    <a:bodyPr wrap="square" lIns="95250" tIns="76200" rIns="95250" bIns="76200">
                      <a:normAutofit/>
                    </a:bodyPr>
                    <a:lstStyle/>
                    <a:p>
                      <a:pPr algn="ctr"/>
                      <a:r>
                        <a:rPr sz="1275" b="0">
                          <a:solidFill>
                            <a:srgbClr val="111A30"/>
                          </a:solidFill>
                          <a:latin typeface="SF Pro Text"/>
                          <a:ea typeface="SF Pro Text"/>
                          <a:cs typeface="SF Pro Text"/>
                        </a:rPr>
                        <a:t>Frekuensi</a:t>
                      </a:r>
                    </a:p>
                  </a:txBody>
                  <a:tcPr marL="91440" marR="91440" marT="45720" marB="45720" anchor="ctr">
                    <a:solidFill>
                      <a:srgbClr val="FFFFFF"/>
                    </a:solidFill>
                  </a:tcPr>
                </a:tc>
              </a:tr>
              <a:tr h="519113">
                <a:tc>
                  <a:txBody>
                    <a:bodyPr wrap="square" lIns="95250" tIns="76200" rIns="95250" bIns="76200">
                      <a:normAutofit/>
                    </a:bodyPr>
                    <a:lstStyle/>
                    <a:p>
                      <a:pPr algn="l"/>
                      <a:r>
                        <a:rPr sz="1275" b="1">
                          <a:solidFill>
                            <a:srgbClr val="111A30"/>
                          </a:solidFill>
                          <a:latin typeface="SF Pro Text"/>
                          <a:ea typeface="SF Pro Text"/>
                          <a:cs typeface="SF Pro Text"/>
                        </a:rPr>
                        <a:t>Grouped bar</a:t>
                      </a:r>
                    </a:p>
                  </a:txBody>
                  <a:tcPr marL="91440" marR="91440" marT="45720" marB="45720" anchor="ctr">
                    <a:solidFill>
                      <a:srgbClr val="EAF6FC"/>
                    </a:solidFill>
                  </a:tcPr>
                </a:tc>
                <a:tc>
                  <a:txBody>
                    <a:bodyPr wrap="square" lIns="95250" tIns="76200" rIns="95250" bIns="76200">
                      <a:normAutofit/>
                    </a:bodyPr>
                    <a:lstStyle/>
                    <a:p>
                      <a:pPr algn="ctr"/>
                      <a:r>
                        <a:rPr sz="1275" b="0">
                          <a:solidFill>
                            <a:srgbClr val="111A30"/>
                          </a:solidFill>
                          <a:latin typeface="SF Pro Text"/>
                          <a:ea typeface="SF Pro Text"/>
                          <a:cs typeface="SF Pro Text"/>
                        </a:rPr>
                        <a:t>Membandingkan kelompok</a:t>
                      </a:r>
                    </a:p>
                  </a:txBody>
                  <a:tcPr marL="91440" marR="91440" marT="45720" marB="45720" anchor="ctr">
                    <a:solidFill>
                      <a:srgbClr val="EAF6FC"/>
                    </a:solidFill>
                  </a:tcPr>
                </a:tc>
                <a:tc>
                  <a:txBody>
                    <a:bodyPr wrap="square" lIns="95250" tIns="76200" rIns="95250" bIns="76200">
                      <a:normAutofit/>
                    </a:bodyPr>
                    <a:lstStyle/>
                    <a:p>
                      <a:pPr algn="ctr"/>
                      <a:r>
                        <a:rPr sz="1275" b="0">
                          <a:solidFill>
                            <a:srgbClr val="111A30"/>
                          </a:solidFill>
                          <a:latin typeface="SF Pro Text"/>
                          <a:ea typeface="SF Pro Text"/>
                          <a:cs typeface="SF Pro Text"/>
                        </a:rPr>
                        <a:t>Batang berdampingan</a:t>
                      </a:r>
                    </a:p>
                  </a:txBody>
                  <a:tcPr marL="91440" marR="91440" marT="45720" marB="45720" anchor="ctr">
                    <a:solidFill>
                      <a:srgbClr val="EAF6FC"/>
                    </a:solidFill>
                  </a:tcPr>
                </a:tc>
              </a:tr>
              <a:tr h="519113">
                <a:tc>
                  <a:txBody>
                    <a:bodyPr wrap="square" lIns="95250" tIns="76200" rIns="95250" bIns="76200">
                      <a:normAutofit/>
                    </a:bodyPr>
                    <a:lstStyle/>
                    <a:p>
                      <a:pPr algn="l"/>
                      <a:r>
                        <a:rPr sz="1275" b="1">
                          <a:solidFill>
                            <a:srgbClr val="111A30"/>
                          </a:solidFill>
                          <a:latin typeface="SF Pro Text"/>
                          <a:ea typeface="SF Pro Text"/>
                          <a:cs typeface="SF Pro Text"/>
                        </a:rPr>
                        <a:t>Stacked bar</a:t>
                      </a:r>
                    </a:p>
                  </a:txBody>
                  <a:tcPr marL="91440" marR="91440" marT="45720" marB="45720" anchor="ctr">
                    <a:solidFill>
                      <a:srgbClr val="FFFFFF"/>
                    </a:solidFill>
                  </a:tcPr>
                </a:tc>
                <a:tc>
                  <a:txBody>
                    <a:bodyPr wrap="square" lIns="95250" tIns="76200" rIns="95250" bIns="76200">
                      <a:normAutofit/>
                    </a:bodyPr>
                    <a:lstStyle/>
                    <a:p>
                      <a:pPr algn="ctr"/>
                      <a:r>
                        <a:rPr sz="1275" b="0">
                          <a:solidFill>
                            <a:srgbClr val="111A30"/>
                          </a:solidFill>
                          <a:latin typeface="SF Pro Text"/>
                          <a:ea typeface="SF Pro Text"/>
                          <a:cs typeface="SF Pro Text"/>
                        </a:rPr>
                        <a:t>Melihat jumlah dan komponen</a:t>
                      </a:r>
                    </a:p>
                  </a:txBody>
                  <a:tcPr marL="91440" marR="91440" marT="45720" marB="45720" anchor="ctr">
                    <a:solidFill>
                      <a:srgbClr val="FFFFFF"/>
                    </a:solidFill>
                  </a:tcPr>
                </a:tc>
                <a:tc>
                  <a:txBody>
                    <a:bodyPr wrap="square" lIns="95250" tIns="76200" rIns="95250" bIns="76200">
                      <a:normAutofit/>
                    </a:bodyPr>
                    <a:lstStyle/>
                    <a:p>
                      <a:pPr algn="ctr"/>
                      <a:r>
                        <a:rPr sz="1275" b="0">
                          <a:solidFill>
                            <a:srgbClr val="111A30"/>
                          </a:solidFill>
                          <a:latin typeface="SF Pro Text"/>
                          <a:ea typeface="SF Pro Text"/>
                          <a:cs typeface="SF Pro Text"/>
                        </a:rPr>
                        <a:t>Segmen dan total</a:t>
                      </a:r>
                    </a:p>
                  </a:txBody>
                  <a:tcPr marL="91440" marR="91440" marT="45720" marB="45720" anchor="ctr">
                    <a:solidFill>
                      <a:srgbClr val="FFFFFF"/>
                    </a:solidFill>
                  </a:tcPr>
                </a:tc>
              </a:tr>
              <a:tr h="519113">
                <a:tc>
                  <a:txBody>
                    <a:bodyPr wrap="square" lIns="95250" tIns="76200" rIns="95250" bIns="76200">
                      <a:normAutofit/>
                    </a:bodyPr>
                    <a:lstStyle/>
                    <a:p>
                      <a:pPr algn="l"/>
                      <a:r>
                        <a:rPr sz="1275" b="1">
                          <a:solidFill>
                            <a:srgbClr val="111A30"/>
                          </a:solidFill>
                          <a:latin typeface="SF Pro Text"/>
                          <a:ea typeface="SF Pro Text"/>
                          <a:cs typeface="SF Pro Text"/>
                        </a:rPr>
                        <a:t>Pie atau donut</a:t>
                      </a:r>
                    </a:p>
                  </a:txBody>
                  <a:tcPr marL="91440" marR="91440" marT="45720" marB="45720" anchor="ctr">
                    <a:solidFill>
                      <a:srgbClr val="EAF6FC"/>
                    </a:solidFill>
                  </a:tcPr>
                </a:tc>
                <a:tc>
                  <a:txBody>
                    <a:bodyPr wrap="square" lIns="95250" tIns="76200" rIns="95250" bIns="76200">
                      <a:normAutofit/>
                    </a:bodyPr>
                    <a:lstStyle/>
                    <a:p>
                      <a:pPr algn="ctr"/>
                      <a:r>
                        <a:rPr sz="1275" b="0">
                          <a:solidFill>
                            <a:srgbClr val="111A30"/>
                          </a:solidFill>
                          <a:latin typeface="SF Pro Text"/>
                          <a:ea typeface="SF Pro Text"/>
                          <a:cs typeface="SF Pro Text"/>
                        </a:rPr>
                        <a:t>Melihat bagian dari satu total</a:t>
                      </a:r>
                    </a:p>
                  </a:txBody>
                  <a:tcPr marL="91440" marR="91440" marT="45720" marB="45720" anchor="ctr">
                    <a:solidFill>
                      <a:srgbClr val="EAF6FC"/>
                    </a:solidFill>
                  </a:tcPr>
                </a:tc>
                <a:tc>
                  <a:txBody>
                    <a:bodyPr wrap="square" lIns="95250" tIns="76200" rIns="95250" bIns="76200">
                      <a:normAutofit/>
                    </a:bodyPr>
                    <a:lstStyle/>
                    <a:p>
                      <a:pPr algn="ctr"/>
                      <a:r>
                        <a:rPr sz="1275" b="0">
                          <a:solidFill>
                            <a:srgbClr val="111A30"/>
                          </a:solidFill>
                          <a:latin typeface="SF Pro Text"/>
                          <a:ea typeface="SF Pro Text"/>
                          <a:cs typeface="SF Pro Text"/>
                        </a:rPr>
                        <a:t>Proporsi kategori</a:t>
                      </a:r>
                    </a:p>
                  </a:txBody>
                  <a:tcPr marL="91440" marR="91440" marT="45720" marB="45720" anchor="ctr">
                    <a:solidFill>
                      <a:srgbClr val="EAF6FC"/>
                    </a:solidFill>
                  </a:tcPr>
                </a:tc>
              </a:tr>
              <a:tr h="519113">
                <a:tc>
                  <a:txBody>
                    <a:bodyPr wrap="square" lIns="95250" tIns="76200" rIns="95250" bIns="76200">
                      <a:normAutofit/>
                    </a:bodyPr>
                    <a:lstStyle/>
                    <a:p>
                      <a:pPr algn="l"/>
                      <a:r>
                        <a:rPr sz="1275" b="1">
                          <a:solidFill>
                            <a:srgbClr val="111A30"/>
                          </a:solidFill>
                          <a:latin typeface="SF Pro Text"/>
                          <a:ea typeface="SF Pro Text"/>
                          <a:cs typeface="SF Pro Text"/>
                        </a:rPr>
                        <a:t>Treemap</a:t>
                      </a:r>
                    </a:p>
                  </a:txBody>
                  <a:tcPr marL="91440" marR="91440" marT="45720" marB="45720" anchor="ctr">
                    <a:solidFill>
                      <a:srgbClr val="FFFFFF"/>
                    </a:solidFill>
                  </a:tcPr>
                </a:tc>
                <a:tc>
                  <a:txBody>
                    <a:bodyPr wrap="square" lIns="95250" tIns="76200" rIns="95250" bIns="76200">
                      <a:normAutofit/>
                    </a:bodyPr>
                    <a:lstStyle/>
                    <a:p>
                      <a:pPr algn="ctr"/>
                      <a:r>
                        <a:rPr sz="1275" b="0">
                          <a:solidFill>
                            <a:srgbClr val="111A30"/>
                          </a:solidFill>
                          <a:latin typeface="SF Pro Text"/>
                          <a:ea typeface="SF Pro Text"/>
                          <a:cs typeface="SF Pro Text"/>
                        </a:rPr>
                        <a:t>Menampilkan kategori bertingkat</a:t>
                      </a:r>
                    </a:p>
                  </a:txBody>
                  <a:tcPr marL="91440" marR="91440" marT="45720" marB="45720" anchor="ctr">
                    <a:solidFill>
                      <a:srgbClr val="FFFFFF"/>
                    </a:solidFill>
                  </a:tcPr>
                </a:tc>
                <a:tc>
                  <a:txBody>
                    <a:bodyPr wrap="square" lIns="95250" tIns="76200" rIns="95250" bIns="76200">
                      <a:normAutofit/>
                    </a:bodyPr>
                    <a:lstStyle/>
                    <a:p>
                      <a:pPr algn="ctr"/>
                      <a:r>
                        <a:rPr sz="1275" b="0">
                          <a:solidFill>
                            <a:srgbClr val="111A30"/>
                          </a:solidFill>
                          <a:latin typeface="SF Pro Text"/>
                          <a:ea typeface="SF Pro Text"/>
                          <a:cs typeface="SF Pro Text"/>
                        </a:rPr>
                        <a:t>Luas kotak</a:t>
                      </a:r>
                    </a:p>
                  </a:txBody>
                  <a:tcPr marL="91440" marR="91440" marT="45720" marB="45720" anchor="ctr">
                    <a:solidFill>
                      <a:srgbClr val="FFFFFF"/>
                    </a:solidFill>
                  </a:tcPr>
                </a:tc>
              </a:tr>
              <a:tr h="519113">
                <a:tc>
                  <a:txBody>
                    <a:bodyPr wrap="square" lIns="95250" tIns="76200" rIns="95250" bIns="76200">
                      <a:normAutofit/>
                    </a:bodyPr>
                    <a:lstStyle/>
                    <a:p>
                      <a:pPr algn="l"/>
                      <a:r>
                        <a:rPr sz="1275" b="1">
                          <a:solidFill>
                            <a:srgbClr val="111A30"/>
                          </a:solidFill>
                          <a:latin typeface="SF Pro Text"/>
                          <a:ea typeface="SF Pro Text"/>
                          <a:cs typeface="SF Pro Text"/>
                        </a:rPr>
                        <a:t>Radar</a:t>
                      </a:r>
                    </a:p>
                  </a:txBody>
                  <a:tcPr marL="91440" marR="91440" marT="45720" marB="45720" anchor="ctr">
                    <a:solidFill>
                      <a:srgbClr val="EAF6FC"/>
                    </a:solidFill>
                  </a:tcPr>
                </a:tc>
                <a:tc>
                  <a:txBody>
                    <a:bodyPr wrap="square" lIns="95250" tIns="76200" rIns="95250" bIns="76200">
                      <a:normAutofit/>
                    </a:bodyPr>
                    <a:lstStyle/>
                    <a:p>
                      <a:pPr algn="ctr"/>
                      <a:r>
                        <a:rPr sz="1275" b="0">
                          <a:solidFill>
                            <a:srgbClr val="111A30"/>
                          </a:solidFill>
                          <a:latin typeface="SF Pro Text"/>
                          <a:ea typeface="SF Pro Text"/>
                          <a:cs typeface="SF Pro Text"/>
                        </a:rPr>
                        <a:t>Membandingkan profil sekelompok indikator</a:t>
                      </a:r>
                    </a:p>
                  </a:txBody>
                  <a:tcPr marL="91440" marR="91440" marT="45720" marB="45720" anchor="ctr">
                    <a:solidFill>
                      <a:srgbClr val="EAF6FC"/>
                    </a:solidFill>
                  </a:tcPr>
                </a:tc>
                <a:tc>
                  <a:txBody>
                    <a:bodyPr wrap="square" lIns="95250" tIns="76200" rIns="95250" bIns="76200">
                      <a:normAutofit/>
                    </a:bodyPr>
                    <a:lstStyle/>
                    <a:p>
                      <a:pPr algn="ctr"/>
                      <a:r>
                        <a:rPr sz="1275" b="0">
                          <a:solidFill>
                            <a:srgbClr val="111A30"/>
                          </a:solidFill>
                          <a:latin typeface="SF Pro Text"/>
                          <a:ea typeface="SF Pro Text"/>
                          <a:cs typeface="SF Pro Text"/>
                        </a:rPr>
                        <a:t>Bentuk profil</a:t>
                      </a:r>
                    </a:p>
                  </a:txBody>
                  <a:tcPr marL="91440" marR="91440" marT="45720" marB="45720" anchor="ctr">
                    <a:solidFill>
                      <a:srgbClr val="EAF6FC"/>
                    </a:solidFill>
                  </a:tcPr>
                </a:tc>
              </a:tr>
            </a:tbl>
          </a:graphicData>
        </a:graphic>
      </p:graphicFrame>
    </p:spTree>
    <p:extLst>
      <p:ext uri="{BB962C8B-B14F-4D97-AF65-F5344CB8AC3E}">
        <p14:creationId xmlns:p14="http://schemas.microsoft.com/office/powerpoint/2010/main" val="130082100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1C78AA-4B58-4C1B-9983-AB3519F69039}"/>
              </a:ext>
            </a:extLst>
          </p:cNvPr>
          <p:cNvSpPr>
            <a:spLocks xmlns:a="http://schemas.openxmlformats.org/drawingml/2006/main" noGrp="1"/>
          </p:cNvSpPr>
          <p:nvPr/>
        </p:nvSpPr>
        <p:spPr>
          <a:xfrm xmlns:a="http://schemas.openxmlformats.org/drawingml/2006/main">
            <a:off x="685800" y="4191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11A30"/>
                </a:solidFill>
                <a:latin typeface="SF Pro Display"/>
                <a:ea typeface="SF Pro Display"/>
                <a:cs typeface="SF Pro Display"/>
              </a:defRPr>
            </a:defPPr>
          </a:lstStyle>
          <a:p xmlns:a="http://schemas.openxmlformats.org/drawingml/2006/main">
            <a:pPr algn="l">
              <a:lnSpc>
                <a:spcPct val="106000"/>
              </a:lnSpc>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Cek pemahaman</a:t>
            </a:r>
          </a:p>
        </p:txBody>
      </p:sp>
      <p:sp>
        <p:nvSpPr>
          <p:cNvPr id="2" name="">
            <a:extLst xmlns:a="http://schemas.openxmlformats.org/drawingml/2006/main">
              <a:ext uri="{FF2B5EF4-FFF2-40B4-BE49-F238E27FC236}">
                <a16:creationId xmlns:a16="http://schemas.microsoft.com/office/drawing/2014/main" id="{A47AA240-8812-4F71-9FB9-115E42E70273}"/>
              </a:ext>
            </a:extLst>
          </p:cNvPr>
          <p:cNvSpPr>
            <a:spLocks xmlns:a="http://schemas.openxmlformats.org/drawingml/2006/main" noGrp="1"/>
          </p:cNvSpPr>
          <p:nvPr/>
        </p:nvSpPr>
        <p:spPr>
          <a:xfrm xmlns:a="http://schemas.openxmlformats.org/drawingml/2006/main">
            <a:off x="685800" y="10096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4B5868"/>
                </a:solidFill>
                <a:latin typeface="SF Pro Text"/>
                <a:ea typeface="SF Pro Text"/>
                <a:cs typeface="SF Pro Text"/>
              </a:defRPr>
            </a:defPPr>
          </a:lstStyle>
          <a:p xmlns:a="http://schemas.openxmlformats.org/drawingml/2006/main">
            <a:pPr algn="l">
              <a:lnSpc>
                <a:spcPct val="106000"/>
              </a:lnSpc>
              <a:buNone/>
              <a:defRPr sz="1500" b="0">
                <a:solidFill>
                  <a:srgbClr val="4B5868"/>
                </a:solidFill>
                <a:latin typeface="SF Pro Text"/>
                <a:ea typeface="SF Pro Text"/>
                <a:cs typeface="SF Pro Text"/>
              </a:defRPr>
            </a:pPr>
            <a:r>
              <a:rPr sz="1500" b="0">
                <a:solidFill>
                  <a:srgbClr val="4B5868"/>
                </a:solidFill>
                <a:latin typeface="SF Pro Text"/>
                <a:ea typeface="SF Pro Text"/>
                <a:cs typeface="SF Pro Text"/>
              </a:rPr>
              <a:t>Pilih grafik yang paling sesuai untuk setiap pertanyaan</a:t>
            </a:r>
          </a:p>
        </p:txBody>
      </p:sp>
      <p:sp>
        <p:nvSpPr>
          <p:cNvPr id="3" name="">
            <a:extLst xmlns:a="http://schemas.openxmlformats.org/drawingml/2006/main">
              <a:ext uri="{FF2B5EF4-FFF2-40B4-BE49-F238E27FC236}">
                <a16:creationId xmlns:a16="http://schemas.microsoft.com/office/drawing/2014/main" id="{3D24F77D-0202-45D6-8121-506D92966453}"/>
              </a:ext>
            </a:extLst>
          </p:cNvPr>
          <p:cNvSpPr>
            <a:spLocks xmlns:a="http://schemas.openxmlformats.org/drawingml/2006/main" noGrp="1"/>
          </p:cNvSpPr>
          <p:nvPr/>
        </p:nvSpPr>
        <p:spPr>
          <a:xfrm xmlns:a="http://schemas.openxmlformats.org/drawingml/2006/main">
            <a:off x="685800" y="1571625"/>
            <a:ext cx="10820400" cy="0"/>
          </a:xfrm>
          <a:prstGeom xmlns:a="http://schemas.openxmlformats.org/drawingml/2006/main" prst="line">
            <a:avLst/>
          </a:prstGeom>
          <a:noFill xmlns:a="http://schemas.openxmlformats.org/drawingml/2006/main"/>
          <a:ln xmlns:a="http://schemas.openxmlformats.org/drawingml/2006/main" w="11906">
            <a:solidFill>
              <a:srgbClr val="E7EAEE"/>
            </a:solidFill>
            <a:prstDash val="solid"/>
          </a:ln>
        </p:spPr>
      </p:sp>
      <p:graphicFrame>
        <p:nvGraphicFramePr>
          <p:cNvPr id="4" name="">
            <a:extLst xmlns:a="http://schemas.openxmlformats.org/drawingml/2006/main">
              <a:ext uri="{FF2B5EF4-FFF2-40B4-BE49-F238E27FC236}">
                <a16:creationId xmlns:a16="http://schemas.microsoft.com/office/drawing/2014/main" id="{07BE7191-983D-4AF8-BD4E-2771554214A9}"/>
              </a:ext>
            </a:extLst>
          </p:cNvPr>
          <p:cNvGraphicFramePr/>
          <p:nvPr/>
        </p:nvGraphicFramePr>
        <p:xfrm>
          <a:off xmlns:a="http://schemas.openxmlformats.org/drawingml/2006/main" x="876300" y="2095500"/>
          <a:ext xmlns:a="http://schemas.openxmlformats.org/drawingml/2006/main" cx="10439400" cy="3143250"/>
        </p:xfrm>
        <a:graphic xmlns:a="http://schemas.openxmlformats.org/drawingml/2006/main">
          <a:graphicData uri="http://schemas.openxmlformats.org/drawingml/2006/table">
            <a:tbl>
              <a:tblPr firstRow="0" bandRow="0"/>
              <a:tblGrid>
                <a:gridCol w="7810500"/>
                <a:gridCol w="2628900"/>
              </a:tblGrid>
              <a:tr h="628650">
                <a:tc>
                  <a:txBody>
                    <a:bodyPr wrap="square" lIns="95250" tIns="76200" rIns="95250" bIns="76200">
                      <a:normAutofit/>
                    </a:bodyPr>
                    <a:lstStyle/>
                    <a:p>
                      <a:pPr algn="l"/>
                      <a:r>
                        <a:rPr sz="1500" b="1">
                          <a:solidFill>
                            <a:srgbClr val="FFFFFF"/>
                          </a:solidFill>
                          <a:latin typeface="SF Pro Text"/>
                          <a:ea typeface="SF Pro Text"/>
                          <a:cs typeface="SF Pro Text"/>
                        </a:rPr>
                        <a:t>Pertanyaan</a:t>
                      </a:r>
                    </a:p>
                  </a:txBody>
                  <a:tcPr marL="91440" marR="91440" marT="45720" marB="45720" anchor="ctr">
                    <a:solidFill>
                      <a:srgbClr val="111A30"/>
                    </a:solidFill>
                  </a:tcPr>
                </a:tc>
                <a:tc>
                  <a:txBody>
                    <a:bodyPr wrap="square" lIns="95250" tIns="76200" rIns="95250" bIns="76200">
                      <a:normAutofit/>
                    </a:bodyPr>
                    <a:lstStyle/>
                    <a:p>
                      <a:pPr algn="ctr"/>
                      <a:r>
                        <a:rPr sz="1500" b="1">
                          <a:solidFill>
                            <a:srgbClr val="FFFFFF"/>
                          </a:solidFill>
                          <a:latin typeface="SF Pro Text"/>
                          <a:ea typeface="SF Pro Text"/>
                          <a:cs typeface="SF Pro Text"/>
                        </a:rPr>
                        <a:t>Pilihan grafik</a:t>
                      </a:r>
                    </a:p>
                  </a:txBody>
                  <a:tcPr marL="91440" marR="91440" marT="45720" marB="45720" anchor="ctr">
                    <a:solidFill>
                      <a:srgbClr val="111A30"/>
                    </a:solidFill>
                  </a:tcPr>
                </a:tc>
              </a:tr>
              <a:tr h="628650">
                <a:tc>
                  <a:txBody>
                    <a:bodyPr wrap="square" lIns="95250" tIns="76200" rIns="95250" bIns="76200">
                      <a:normAutofit/>
                    </a:bodyPr>
                    <a:lstStyle/>
                    <a:p>
                      <a:pPr algn="l"/>
                      <a:r>
                        <a:rPr sz="1500" b="1">
                          <a:solidFill>
                            <a:srgbClr val="111A30"/>
                          </a:solidFill>
                          <a:latin typeface="SF Pro Text"/>
                          <a:ea typeface="SF Pro Text"/>
                          <a:cs typeface="SF Pro Text"/>
                        </a:rPr>
                        <a:t>Kategori minuman mana yang paling banyak dibeli?</a:t>
                      </a:r>
                    </a:p>
                  </a:txBody>
                  <a:tcPr marL="91440" marR="91440" marT="45720" marB="45720" anchor="ctr">
                    <a:solidFill>
                      <a:srgbClr val="EAF6FC"/>
                    </a:solidFill>
                  </a:tcPr>
                </a:tc>
                <a:tc>
                  <a:txBody>
                    <a:bodyPr wrap="square" lIns="95250" tIns="76200" rIns="95250" bIns="76200">
                      <a:normAutofit/>
                    </a:bodyPr>
                    <a:lstStyle/>
                    <a:p>
                      <a:r>
                        <a:rPr sz="1500" b="0">
                          <a:solidFill>
                            <a:srgbClr val="111A30"/>
                          </a:solidFill>
                          <a:latin typeface="SF Pro Text"/>
                          <a:ea typeface="SF Pro Text"/>
                          <a:cs typeface="SF Pro Text"/>
                        </a:rPr>
                        <a:t/>
                      </a:r>
                    </a:p>
                  </a:txBody>
                  <a:tcPr marL="91440" marR="91440" marT="45720" marB="45720" anchor="ctr">
                    <a:solidFill>
                      <a:srgbClr val="EAF6FC"/>
                    </a:solidFill>
                  </a:tcPr>
                </a:tc>
              </a:tr>
              <a:tr h="628650">
                <a:tc>
                  <a:txBody>
                    <a:bodyPr wrap="square" lIns="95250" tIns="76200" rIns="95250" bIns="76200">
                      <a:normAutofit/>
                    </a:bodyPr>
                    <a:lstStyle/>
                    <a:p>
                      <a:pPr algn="l"/>
                      <a:r>
                        <a:rPr sz="1500" b="1">
                          <a:solidFill>
                            <a:srgbClr val="111A30"/>
                          </a:solidFill>
                          <a:latin typeface="SF Pro Text"/>
                          <a:ea typeface="SF Pro Text"/>
                          <a:cs typeface="SF Pro Text"/>
                        </a:rPr>
                        <a:t>Bagaimana pilihan kegiatan berbeda antar kelas?</a:t>
                      </a:r>
                    </a:p>
                  </a:txBody>
                  <a:tcPr marL="91440" marR="91440" marT="45720" marB="45720" anchor="ctr">
                    <a:solidFill>
                      <a:srgbClr val="FFFFFF"/>
                    </a:solidFill>
                  </a:tcPr>
                </a:tc>
                <a:tc>
                  <a:txBody>
                    <a:bodyPr wrap="square" lIns="95250" tIns="76200" rIns="95250" bIns="76200">
                      <a:normAutofit/>
                    </a:bodyPr>
                    <a:lstStyle/>
                    <a:p>
                      <a:r>
                        <a:rPr sz="1500" b="0">
                          <a:solidFill>
                            <a:srgbClr val="111A30"/>
                          </a:solidFill>
                          <a:latin typeface="SF Pro Text"/>
                          <a:ea typeface="SF Pro Text"/>
                          <a:cs typeface="SF Pro Text"/>
                        </a:rPr>
                        <a:t/>
                      </a:r>
                    </a:p>
                  </a:txBody>
                  <a:tcPr marL="91440" marR="91440" marT="45720" marB="45720" anchor="ctr">
                    <a:solidFill>
                      <a:srgbClr val="FFFFFF"/>
                    </a:solidFill>
                  </a:tcPr>
                </a:tc>
              </a:tr>
              <a:tr h="628650">
                <a:tc>
                  <a:txBody>
                    <a:bodyPr wrap="square" lIns="95250" tIns="76200" rIns="95250" bIns="76200">
                      <a:normAutofit/>
                    </a:bodyPr>
                    <a:lstStyle/>
                    <a:p>
                      <a:pPr algn="l"/>
                      <a:r>
                        <a:rPr sz="1500" b="1">
                          <a:solidFill>
                            <a:srgbClr val="111A30"/>
                          </a:solidFill>
                          <a:latin typeface="SF Pro Text"/>
                          <a:ea typeface="SF Pro Text"/>
                          <a:cs typeface="SF Pro Text"/>
                        </a:rPr>
                        <a:t>Bagaimana bagian produk membentuk total pada satu stan?</a:t>
                      </a:r>
                    </a:p>
                  </a:txBody>
                  <a:tcPr marL="91440" marR="91440" marT="45720" marB="45720" anchor="ctr">
                    <a:solidFill>
                      <a:srgbClr val="EAF6FC"/>
                    </a:solidFill>
                  </a:tcPr>
                </a:tc>
                <a:tc>
                  <a:txBody>
                    <a:bodyPr wrap="square" lIns="95250" tIns="76200" rIns="95250" bIns="76200">
                      <a:normAutofit/>
                    </a:bodyPr>
                    <a:lstStyle/>
                    <a:p>
                      <a:r>
                        <a:rPr sz="1500" b="0">
                          <a:solidFill>
                            <a:srgbClr val="111A30"/>
                          </a:solidFill>
                          <a:latin typeface="SF Pro Text"/>
                          <a:ea typeface="SF Pro Text"/>
                          <a:cs typeface="SF Pro Text"/>
                        </a:rPr>
                        <a:t/>
                      </a:r>
                    </a:p>
                  </a:txBody>
                  <a:tcPr marL="91440" marR="91440" marT="45720" marB="45720" anchor="ctr">
                    <a:solidFill>
                      <a:srgbClr val="EAF6FC"/>
                    </a:solidFill>
                  </a:tcPr>
                </a:tc>
              </a:tr>
              <a:tr h="628650">
                <a:tc>
                  <a:txBody>
                    <a:bodyPr wrap="square" lIns="95250" tIns="76200" rIns="95250" bIns="76200">
                      <a:normAutofit/>
                    </a:bodyPr>
                    <a:lstStyle/>
                    <a:p>
                      <a:pPr algn="l"/>
                      <a:r>
                        <a:rPr sz="1500" b="1">
                          <a:solidFill>
                            <a:srgbClr val="111A30"/>
                          </a:solidFill>
                          <a:latin typeface="SF Pro Text"/>
                          <a:ea typeface="SF Pro Text"/>
                          <a:cs typeface="SF Pro Text"/>
                        </a:rPr>
                        <a:t>Produk mana saja yang membentuk kelompok bertingkat?</a:t>
                      </a:r>
                    </a:p>
                  </a:txBody>
                  <a:tcPr marL="91440" marR="91440" marT="45720" marB="45720" anchor="ctr">
                    <a:solidFill>
                      <a:srgbClr val="FFFFFF"/>
                    </a:solidFill>
                  </a:tcPr>
                </a:tc>
                <a:tc>
                  <a:txBody>
                    <a:bodyPr wrap="square" lIns="95250" tIns="76200" rIns="95250" bIns="76200">
                      <a:normAutofit/>
                    </a:bodyPr>
                    <a:lstStyle/>
                    <a:p>
                      <a:r>
                        <a:rPr sz="1500" b="0">
                          <a:solidFill>
                            <a:srgbClr val="111A30"/>
                          </a:solidFill>
                          <a:latin typeface="SF Pro Text"/>
                          <a:ea typeface="SF Pro Text"/>
                          <a:cs typeface="SF Pro Text"/>
                        </a:rPr>
                        <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34D27C7-970A-4A3D-AEB7-73F9290BE36F}"/>
              </a:ext>
            </a:extLst>
          </p:cNvPr>
          <p:cNvSpPr>
            <a:spLocks xmlns:a="http://schemas.openxmlformats.org/drawingml/2006/main" noGrp="1"/>
          </p:cNvSpPr>
          <p:nvPr/>
        </p:nvSpPr>
        <p:spPr>
          <a:xfrm xmlns:a="http://schemas.openxmlformats.org/drawingml/2006/main">
            <a:off x="895350" y="561975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96B9B"/>
                </a:solidFill>
                <a:latin typeface="SF Pro Text"/>
                <a:ea typeface="SF Pro Text"/>
                <a:cs typeface="SF Pro Text"/>
              </a:defRPr>
            </a:defPPr>
          </a:lstStyle>
          <a:p xmlns:a="http://schemas.openxmlformats.org/drawingml/2006/main">
            <a:pPr algn="l">
              <a:lnSpc>
                <a:spcPct val="106000"/>
              </a:lnSpc>
              <a:buNone/>
              <a:defRPr sz="1425" b="1">
                <a:solidFill>
                  <a:srgbClr val="196B9B"/>
                </a:solidFill>
                <a:latin typeface="SF Pro Text"/>
                <a:ea typeface="SF Pro Text"/>
                <a:cs typeface="SF Pro Text"/>
              </a:defRPr>
            </a:pPr>
            <a:r>
              <a:rPr sz="1425" b="1">
                <a:solidFill>
                  <a:srgbClr val="196B9B"/>
                </a:solidFill>
                <a:latin typeface="SF Pro Text"/>
                <a:ea typeface="SF Pro Text"/>
                <a:cs typeface="SF Pro Text"/>
              </a:rPr>
              <a:t>Jelaskan alasan dengan mengacu pada kategori, kelompok, atau nilai pada data.</a:t>
            </a:r>
          </a:p>
        </p:txBody>
      </p:sp>
    </p:spTree>
    <p:extLst>
      <p:ext uri="{BB962C8B-B14F-4D97-AF65-F5344CB8AC3E}">
        <p14:creationId xmlns:p14="http://schemas.microsoft.com/office/powerpoint/2010/main" val="138917613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ode slide title">
            <a:extLst xmlns:a="http://schemas.openxmlformats.org/drawingml/2006/main">
              <a:ext uri="{FF2B5EF4-FFF2-40B4-BE49-F238E27FC236}">
                <a16:creationId xmlns:a16="http://schemas.microsoft.com/office/drawing/2014/main" id="{C7252350-88DF-406C-931C-B66F536B1B0F}"/>
              </a:ext>
            </a:extLst>
          </p:cNvPr>
          <p:cNvSpPr>
            <a:spLocks xmlns:a="http://schemas.openxmlformats.org/drawingml/2006/main" noGrp="1"/>
          </p:cNvSpPr>
          <p:nvPr/>
        </p:nvSpPr>
        <p:spPr>
          <a:xfrm xmlns:a="http://schemas.openxmlformats.org/drawingml/2006/main">
            <a:off x="685800" y="419100"/>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111A30"/>
                </a:solidFill>
                <a:latin typeface="SF Pro Display"/>
                <a:ea typeface="SF Pro Display"/>
                <a:cs typeface="SF Pro Display"/>
              </a:defRPr>
            </a:defPPr>
          </a:lstStyle>
          <a:p xmlns:a="http://schemas.openxmlformats.org/drawingml/2006/main">
            <a:pPr algn="l">
              <a:lnSpc>
                <a:spcPct val="105000"/>
              </a:lnSpc>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Kode: bar chart</a:t>
            </a:r>
          </a:p>
        </p:txBody>
      </p:sp>
      <p:sp>
        <p:nvSpPr>
          <p:cNvPr id="2" name="Code slide subtitle">
            <a:extLst xmlns:a="http://schemas.openxmlformats.org/drawingml/2006/main">
              <a:ext uri="{FF2B5EF4-FFF2-40B4-BE49-F238E27FC236}">
                <a16:creationId xmlns:a16="http://schemas.microsoft.com/office/drawing/2014/main" id="{50979EA6-9A24-4FA7-8100-36F66DB7EA74}"/>
              </a:ext>
            </a:extLst>
          </p:cNvPr>
          <p:cNvSpPr>
            <a:spLocks xmlns:a="http://schemas.openxmlformats.org/drawingml/2006/main" noGrp="1"/>
          </p:cNvSpPr>
          <p:nvPr/>
        </p:nvSpPr>
        <p:spPr>
          <a:xfrm xmlns:a="http://schemas.openxmlformats.org/drawingml/2006/main">
            <a:off x="685800" y="10096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a:solidFill>
                  <a:srgbClr val="4B5868"/>
                </a:solidFill>
                <a:latin typeface="SF Pro Text"/>
                <a:ea typeface="SF Pro Text"/>
                <a:cs typeface="SF Pro Text"/>
              </a:defRPr>
            </a:defPPr>
          </a:lstStyle>
          <a:p xmlns:a="http://schemas.openxmlformats.org/drawingml/2006/main">
            <a:pPr algn="l">
              <a:lnSpc>
                <a:spcPct val="105000"/>
              </a:lnSpc>
              <a:buNone/>
              <a:defRPr sz="1500">
                <a:solidFill>
                  <a:srgbClr val="4B5868"/>
                </a:solidFill>
                <a:latin typeface="SF Pro Text"/>
                <a:ea typeface="SF Pro Text"/>
                <a:cs typeface="SF Pro Text"/>
              </a:defRPr>
            </a:pPr>
            <a:r>
              <a:rPr sz="1500">
                <a:solidFill>
                  <a:srgbClr val="4B5868"/>
                </a:solidFill>
                <a:latin typeface="SF Pro Text"/>
                <a:ea typeface="SF Pro Text"/>
                <a:cs typeface="SF Pro Text"/>
              </a:rPr>
              <a:t>Ringkas unit per kategori, lalu gambar batang horizontal</a:t>
            </a:r>
          </a:p>
        </p:txBody>
      </p:sp>
      <p:sp>
        <p:nvSpPr>
          <p:cNvPr id="3" name="Title divider">
            <a:extLst xmlns:a="http://schemas.openxmlformats.org/drawingml/2006/main">
              <a:ext uri="{FF2B5EF4-FFF2-40B4-BE49-F238E27FC236}">
                <a16:creationId xmlns:a16="http://schemas.microsoft.com/office/drawing/2014/main" id="{815294B1-7900-4EF2-9A66-23334629D5B0}"/>
              </a:ext>
            </a:extLst>
          </p:cNvPr>
          <p:cNvSpPr>
            <a:spLocks xmlns:a="http://schemas.openxmlformats.org/drawingml/2006/main" noGrp="1"/>
          </p:cNvSpPr>
          <p:nvPr/>
        </p:nvSpPr>
        <p:spPr>
          <a:xfrm xmlns:a="http://schemas.openxmlformats.org/drawingml/2006/main">
            <a:off x="685800" y="1571625"/>
            <a:ext cx="10820400" cy="0"/>
          </a:xfrm>
          <a:prstGeom xmlns:a="http://schemas.openxmlformats.org/drawingml/2006/main" prst="line">
            <a:avLst/>
          </a:prstGeom>
          <a:noFill xmlns:a="http://schemas.openxmlformats.org/drawingml/2006/main"/>
          <a:ln xmlns:a="http://schemas.openxmlformats.org/drawingml/2006/main" w="11906">
            <a:solidFill>
              <a:srgbClr val="E7EAEE"/>
            </a:solidFill>
          </a:ln>
        </p:spPr>
      </p:sp>
      <p:sp>
        <p:nvSpPr>
          <p:cNvPr id="4" name="Python example">
            <a:extLst xmlns:a="http://schemas.openxmlformats.org/drawingml/2006/main">
              <a:ext uri="{FF2B5EF4-FFF2-40B4-BE49-F238E27FC236}">
                <a16:creationId xmlns:a16="http://schemas.microsoft.com/office/drawing/2014/main" id="{325E8D7F-E816-4F47-8210-C3AF2F369917}"/>
              </a:ext>
            </a:extLst>
          </p:cNvPr>
          <p:cNvSpPr>
            <a:spLocks xmlns:a="http://schemas.openxmlformats.org/drawingml/2006/main" noGrp="1"/>
          </p:cNvSpPr>
          <p:nvPr/>
        </p:nvSpPr>
        <p:spPr>
          <a:xfrm xmlns:a="http://schemas.openxmlformats.org/drawingml/2006/main">
            <a:off x="838200" y="1933575"/>
            <a:ext cx="105156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11A30"/>
                </a:solidFill>
                <a:latin typeface="SF Mono"/>
                <a:ea typeface="SF Mono"/>
                <a:cs typeface="SF Mono"/>
              </a:defRPr>
            </a:defPPr>
          </a:lstStyle>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total_kategori = (</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    penjualan.groupby("Kategori", as_index=False)["Unit"]</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    .sum()</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    .sort_values("Unit", ascending=False)</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urut = total_kategori.sort_values("Unit")</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fig, ax = plt.subplots(figsize=(8, 4))</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ax.barh(urut["Kategori"], urut["Unit"], color="#4FB6E8")</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ax.set_xlabel("Unit terjual")</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ax.set_ylabel("Kategori")</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plt.tight_layout()</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plt.show()</a:t>
            </a:r>
          </a:p>
        </p:txBody>
      </p:sp>
      <p:sp>
        <p:nvSpPr>
          <p:cNvPr id="5" name="Notebook reference">
            <a:extLst xmlns:a="http://schemas.openxmlformats.org/drawingml/2006/main">
              <a:ext uri="{FF2B5EF4-FFF2-40B4-BE49-F238E27FC236}">
                <a16:creationId xmlns:a16="http://schemas.microsoft.com/office/drawing/2014/main" id="{4935F64B-E8B1-4DE3-ABE3-E82F52DA3BE9}"/>
              </a:ext>
            </a:extLst>
          </p:cNvPr>
          <p:cNvSpPr>
            <a:spLocks xmlns:a="http://schemas.openxmlformats.org/drawingml/2006/main" noGrp="1"/>
          </p:cNvSpPr>
          <p:nvPr/>
        </p:nvSpPr>
        <p:spPr>
          <a:xfrm xmlns:a="http://schemas.openxmlformats.org/drawingml/2006/main">
            <a:off x="685800" y="62007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a:solidFill>
                  <a:srgbClr val="196B9B"/>
                </a:solidFill>
                <a:latin typeface="SF Pro Text"/>
                <a:ea typeface="SF Pro Text"/>
                <a:cs typeface="SF Pro Text"/>
              </a:defRPr>
            </a:defPPr>
          </a:lstStyle>
          <a:p xmlns:a="http://schemas.openxmlformats.org/drawingml/2006/main">
            <a:pPr algn="l">
              <a:lnSpc>
                <a:spcPct val="105000"/>
              </a:lnSpc>
              <a:buNone/>
              <a:defRPr sz="1350">
                <a:solidFill>
                  <a:srgbClr val="196B9B"/>
                </a:solidFill>
                <a:latin typeface="SF Pro Text"/>
                <a:ea typeface="SF Pro Text"/>
                <a:cs typeface="SF Pro Text"/>
              </a:defRPr>
            </a:pPr>
            <a:r>
              <a:rPr sz="1350">
                <a:solidFill>
                  <a:srgbClr val="196B9B"/>
                </a:solidFill>
                <a:latin typeface="SF Pro Text"/>
                <a:ea typeface="SF Pro Text"/>
                <a:cs typeface="SF Pro Text"/>
              </a:rPr>
              <a:t>Notebook blok 2–3. Data penjualan disiapkan pada blok 1.</a:t>
            </a:r>
          </a:p>
        </p:txBody>
      </p:sp>
    </p:spTree>
    <p:extLst>
      <p:ext uri="{BB962C8B-B14F-4D97-AF65-F5344CB8AC3E}">
        <p14:creationId xmlns:p14="http://schemas.microsoft.com/office/powerpoint/2010/main" val="173642775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ode slide title">
            <a:extLst xmlns:a="http://schemas.openxmlformats.org/drawingml/2006/main">
              <a:ext uri="{FF2B5EF4-FFF2-40B4-BE49-F238E27FC236}">
                <a16:creationId xmlns:a16="http://schemas.microsoft.com/office/drawing/2014/main" id="{6051BB86-AB48-4231-8B8C-EC58BE2C38E5}"/>
              </a:ext>
            </a:extLst>
          </p:cNvPr>
          <p:cNvSpPr>
            <a:spLocks xmlns:a="http://schemas.openxmlformats.org/drawingml/2006/main" noGrp="1"/>
          </p:cNvSpPr>
          <p:nvPr/>
        </p:nvSpPr>
        <p:spPr>
          <a:xfrm xmlns:a="http://schemas.openxmlformats.org/drawingml/2006/main">
            <a:off x="685800" y="419100"/>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111A30"/>
                </a:solidFill>
                <a:latin typeface="SF Pro Display"/>
                <a:ea typeface="SF Pro Display"/>
                <a:cs typeface="SF Pro Display"/>
              </a:defRPr>
            </a:defPPr>
          </a:lstStyle>
          <a:p xmlns:a="http://schemas.openxmlformats.org/drawingml/2006/main">
            <a:pPr algn="l">
              <a:lnSpc>
                <a:spcPct val="105000"/>
              </a:lnSpc>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Kode: count plot</a:t>
            </a:r>
          </a:p>
        </p:txBody>
      </p:sp>
      <p:sp>
        <p:nvSpPr>
          <p:cNvPr id="2" name="Code slide subtitle">
            <a:extLst xmlns:a="http://schemas.openxmlformats.org/drawingml/2006/main">
              <a:ext uri="{FF2B5EF4-FFF2-40B4-BE49-F238E27FC236}">
                <a16:creationId xmlns:a16="http://schemas.microsoft.com/office/drawing/2014/main" id="{19A453FA-E444-4C92-BF08-1E2515D27940}"/>
              </a:ext>
            </a:extLst>
          </p:cNvPr>
          <p:cNvSpPr>
            <a:spLocks xmlns:a="http://schemas.openxmlformats.org/drawingml/2006/main" noGrp="1"/>
          </p:cNvSpPr>
          <p:nvPr/>
        </p:nvSpPr>
        <p:spPr>
          <a:xfrm xmlns:a="http://schemas.openxmlformats.org/drawingml/2006/main">
            <a:off x="685800" y="10096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a:solidFill>
                  <a:srgbClr val="4B5868"/>
                </a:solidFill>
                <a:latin typeface="SF Pro Text"/>
                <a:ea typeface="SF Pro Text"/>
                <a:cs typeface="SF Pro Text"/>
              </a:defRPr>
            </a:defPPr>
          </a:lstStyle>
          <a:p xmlns:a="http://schemas.openxmlformats.org/drawingml/2006/main">
            <a:pPr algn="l">
              <a:lnSpc>
                <a:spcPct val="105000"/>
              </a:lnSpc>
              <a:buNone/>
              <a:defRPr sz="1500">
                <a:solidFill>
                  <a:srgbClr val="4B5868"/>
                </a:solidFill>
                <a:latin typeface="SF Pro Text"/>
                <a:ea typeface="SF Pro Text"/>
                <a:cs typeface="SF Pro Text"/>
              </a:defRPr>
            </a:pPr>
            <a:r>
              <a:rPr sz="1500">
                <a:solidFill>
                  <a:srgbClr val="4B5868"/>
                </a:solidFill>
                <a:latin typeface="SF Pro Text"/>
                <a:ea typeface="SF Pro Text"/>
                <a:cs typeface="SF Pro Text"/>
              </a:rPr>
              <a:t>Setiap elemen daftar mewakili satu pesanan</a:t>
            </a:r>
          </a:p>
        </p:txBody>
      </p:sp>
      <p:sp>
        <p:nvSpPr>
          <p:cNvPr id="3" name="Title divider">
            <a:extLst xmlns:a="http://schemas.openxmlformats.org/drawingml/2006/main">
              <a:ext uri="{FF2B5EF4-FFF2-40B4-BE49-F238E27FC236}">
                <a16:creationId xmlns:a16="http://schemas.microsoft.com/office/drawing/2014/main" id="{636358D4-16DF-43DF-8CDA-82D0F8A94C00}"/>
              </a:ext>
            </a:extLst>
          </p:cNvPr>
          <p:cNvSpPr>
            <a:spLocks xmlns:a="http://schemas.openxmlformats.org/drawingml/2006/main" noGrp="1"/>
          </p:cNvSpPr>
          <p:nvPr/>
        </p:nvSpPr>
        <p:spPr>
          <a:xfrm xmlns:a="http://schemas.openxmlformats.org/drawingml/2006/main">
            <a:off x="685800" y="1571625"/>
            <a:ext cx="10820400" cy="0"/>
          </a:xfrm>
          <a:prstGeom xmlns:a="http://schemas.openxmlformats.org/drawingml/2006/main" prst="line">
            <a:avLst/>
          </a:prstGeom>
          <a:noFill xmlns:a="http://schemas.openxmlformats.org/drawingml/2006/main"/>
          <a:ln xmlns:a="http://schemas.openxmlformats.org/drawingml/2006/main" w="11906">
            <a:solidFill>
              <a:srgbClr val="E7EAEE"/>
            </a:solidFill>
          </a:ln>
        </p:spPr>
      </p:sp>
      <p:sp>
        <p:nvSpPr>
          <p:cNvPr id="4" name="Python example">
            <a:extLst xmlns:a="http://schemas.openxmlformats.org/drawingml/2006/main">
              <a:ext uri="{FF2B5EF4-FFF2-40B4-BE49-F238E27FC236}">
                <a16:creationId xmlns:a16="http://schemas.microsoft.com/office/drawing/2014/main" id="{CEB83925-5D19-415A-BF9A-FF2A3FBBAC66}"/>
              </a:ext>
            </a:extLst>
          </p:cNvPr>
          <p:cNvSpPr>
            <a:spLocks xmlns:a="http://schemas.openxmlformats.org/drawingml/2006/main" noGrp="1"/>
          </p:cNvSpPr>
          <p:nvPr/>
        </p:nvSpPr>
        <p:spPr>
          <a:xfrm xmlns:a="http://schemas.openxmlformats.org/drawingml/2006/main">
            <a:off x="838200" y="1933575"/>
            <a:ext cx="105156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11A30"/>
                </a:solidFill>
                <a:latin typeface="SF Mono"/>
                <a:ea typeface="SF Mono"/>
                <a:cs typeface="SF Mono"/>
              </a:defRPr>
            </a:defPPr>
          </a:lstStyle>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kategori_pesanan = [</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    "Buku", "Alat Tulis", "Makanan", "Buku", "Minuman", "Makanan",</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    "Aksesori", "Alat Tulis", "Makanan", "Minuman", "Buku", "Makanan",</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    "Alat Tulis", "Buku", "Makanan", "Aksesori", "Minuman", "Alat Tulis",</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    "Makanan", "Makanan", "Alat Tulis",</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frekuensi = pd.Series(kategori_pesanan).value_counts()</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ax = frekuensi.plot(kind="bar", color="#F5D36A", figsize=(7, 4))</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ax.set_xlabel("Kategori")</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ax.set_ylabel("Jumlah pesanan")</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plt.xticks(rotation=25, ha="right")</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plt.tight_layout()</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plt.show()</a:t>
            </a:r>
          </a:p>
        </p:txBody>
      </p:sp>
      <p:sp>
        <p:nvSpPr>
          <p:cNvPr id="5" name="Notebook reference">
            <a:extLst xmlns:a="http://schemas.openxmlformats.org/drawingml/2006/main">
              <a:ext uri="{FF2B5EF4-FFF2-40B4-BE49-F238E27FC236}">
                <a16:creationId xmlns:a16="http://schemas.microsoft.com/office/drawing/2014/main" id="{AA8E0805-B761-4DD3-B5D2-F1DBD25AB2F5}"/>
              </a:ext>
            </a:extLst>
          </p:cNvPr>
          <p:cNvSpPr>
            <a:spLocks xmlns:a="http://schemas.openxmlformats.org/drawingml/2006/main" noGrp="1"/>
          </p:cNvSpPr>
          <p:nvPr/>
        </p:nvSpPr>
        <p:spPr>
          <a:xfrm xmlns:a="http://schemas.openxmlformats.org/drawingml/2006/main">
            <a:off x="685800" y="62007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a:solidFill>
                  <a:srgbClr val="196B9B"/>
                </a:solidFill>
                <a:latin typeface="SF Pro Text"/>
                <a:ea typeface="SF Pro Text"/>
                <a:cs typeface="SF Pro Text"/>
              </a:defRPr>
            </a:defPPr>
          </a:lstStyle>
          <a:p xmlns:a="http://schemas.openxmlformats.org/drawingml/2006/main">
            <a:pPr algn="l">
              <a:lnSpc>
                <a:spcPct val="105000"/>
              </a:lnSpc>
              <a:buNone/>
              <a:defRPr sz="1350">
                <a:solidFill>
                  <a:srgbClr val="196B9B"/>
                </a:solidFill>
                <a:latin typeface="SF Pro Text"/>
                <a:ea typeface="SF Pro Text"/>
                <a:cs typeface="SF Pro Text"/>
              </a:defRPr>
            </a:pPr>
            <a:r>
              <a:rPr sz="1350">
                <a:solidFill>
                  <a:srgbClr val="196B9B"/>
                </a:solidFill>
                <a:latin typeface="SF Pro Text"/>
                <a:ea typeface="SF Pro Text"/>
                <a:cs typeface="SF Pro Text"/>
              </a:rPr>
              <a:t>Notebook blok 4. value_counts() menghitung kemunculan kategori.</a:t>
            </a:r>
          </a:p>
        </p:txBody>
      </p:sp>
    </p:spTree>
    <p:extLst>
      <p:ext uri="{BB962C8B-B14F-4D97-AF65-F5344CB8AC3E}">
        <p14:creationId xmlns:p14="http://schemas.microsoft.com/office/powerpoint/2010/main" val="134574754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ode slide title">
            <a:extLst xmlns:a="http://schemas.openxmlformats.org/drawingml/2006/main">
              <a:ext uri="{FF2B5EF4-FFF2-40B4-BE49-F238E27FC236}">
                <a16:creationId xmlns:a16="http://schemas.microsoft.com/office/drawing/2014/main" id="{E60871CC-2451-4BAA-B858-BDF2AE36B281}"/>
              </a:ext>
            </a:extLst>
          </p:cNvPr>
          <p:cNvSpPr>
            <a:spLocks xmlns:a="http://schemas.openxmlformats.org/drawingml/2006/main" noGrp="1"/>
          </p:cNvSpPr>
          <p:nvPr/>
        </p:nvSpPr>
        <p:spPr>
          <a:xfrm xmlns:a="http://schemas.openxmlformats.org/drawingml/2006/main">
            <a:off x="685800" y="419100"/>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111A30"/>
                </a:solidFill>
                <a:latin typeface="SF Pro Display"/>
                <a:ea typeface="SF Pro Display"/>
                <a:cs typeface="SF Pro Display"/>
              </a:defRPr>
            </a:defPPr>
          </a:lstStyle>
          <a:p xmlns:a="http://schemas.openxmlformats.org/drawingml/2006/main">
            <a:pPr algn="l">
              <a:lnSpc>
                <a:spcPct val="105000"/>
              </a:lnSpc>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Kode: grouped bar</a:t>
            </a:r>
          </a:p>
        </p:txBody>
      </p:sp>
      <p:sp>
        <p:nvSpPr>
          <p:cNvPr id="2" name="Code slide subtitle">
            <a:extLst xmlns:a="http://schemas.openxmlformats.org/drawingml/2006/main">
              <a:ext uri="{FF2B5EF4-FFF2-40B4-BE49-F238E27FC236}">
                <a16:creationId xmlns:a16="http://schemas.microsoft.com/office/drawing/2014/main" id="{9EC5D625-54E3-4A2C-A91D-C62334B10ECE}"/>
              </a:ext>
            </a:extLst>
          </p:cNvPr>
          <p:cNvSpPr>
            <a:spLocks xmlns:a="http://schemas.openxmlformats.org/drawingml/2006/main" noGrp="1"/>
          </p:cNvSpPr>
          <p:nvPr/>
        </p:nvSpPr>
        <p:spPr>
          <a:xfrm xmlns:a="http://schemas.openxmlformats.org/drawingml/2006/main">
            <a:off x="685800" y="10096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a:solidFill>
                  <a:srgbClr val="4B5868"/>
                </a:solidFill>
                <a:latin typeface="SF Pro Text"/>
                <a:ea typeface="SF Pro Text"/>
                <a:cs typeface="SF Pro Text"/>
              </a:defRPr>
            </a:defPPr>
          </a:lstStyle>
          <a:p xmlns:a="http://schemas.openxmlformats.org/drawingml/2006/main">
            <a:pPr algn="l">
              <a:lnSpc>
                <a:spcPct val="105000"/>
              </a:lnSpc>
              <a:buNone/>
              <a:defRPr sz="1500">
                <a:solidFill>
                  <a:srgbClr val="4B5868"/>
                </a:solidFill>
                <a:latin typeface="SF Pro Text"/>
                <a:ea typeface="SF Pro Text"/>
                <a:cs typeface="SF Pro Text"/>
              </a:defRPr>
            </a:pPr>
            <a:r>
              <a:rPr sz="1500">
                <a:solidFill>
                  <a:srgbClr val="4B5868"/>
                </a:solidFill>
                <a:latin typeface="SF Pro Text"/>
                <a:ea typeface="SF Pro Text"/>
                <a:cs typeface="SF Pro Text"/>
              </a:rPr>
              <a:t>Baris tabel menjadi kategori, kolom menjadi seri cabang</a:t>
            </a:r>
          </a:p>
        </p:txBody>
      </p:sp>
      <p:sp>
        <p:nvSpPr>
          <p:cNvPr id="3" name="Title divider">
            <a:extLst xmlns:a="http://schemas.openxmlformats.org/drawingml/2006/main">
              <a:ext uri="{FF2B5EF4-FFF2-40B4-BE49-F238E27FC236}">
                <a16:creationId xmlns:a16="http://schemas.microsoft.com/office/drawing/2014/main" id="{E2782CD7-72E9-4BBE-A309-8820EEB0342F}"/>
              </a:ext>
            </a:extLst>
          </p:cNvPr>
          <p:cNvSpPr>
            <a:spLocks xmlns:a="http://schemas.openxmlformats.org/drawingml/2006/main" noGrp="1"/>
          </p:cNvSpPr>
          <p:nvPr/>
        </p:nvSpPr>
        <p:spPr>
          <a:xfrm xmlns:a="http://schemas.openxmlformats.org/drawingml/2006/main">
            <a:off x="685800" y="1571625"/>
            <a:ext cx="10820400" cy="0"/>
          </a:xfrm>
          <a:prstGeom xmlns:a="http://schemas.openxmlformats.org/drawingml/2006/main" prst="line">
            <a:avLst/>
          </a:prstGeom>
          <a:noFill xmlns:a="http://schemas.openxmlformats.org/drawingml/2006/main"/>
          <a:ln xmlns:a="http://schemas.openxmlformats.org/drawingml/2006/main" w="11906">
            <a:solidFill>
              <a:srgbClr val="E7EAEE"/>
            </a:solidFill>
          </a:ln>
        </p:spPr>
      </p:sp>
      <p:sp>
        <p:nvSpPr>
          <p:cNvPr id="4" name="Python example">
            <a:extLst xmlns:a="http://schemas.openxmlformats.org/drawingml/2006/main">
              <a:ext uri="{FF2B5EF4-FFF2-40B4-BE49-F238E27FC236}">
                <a16:creationId xmlns:a16="http://schemas.microsoft.com/office/drawing/2014/main" id="{984ABFE8-9D01-4EDA-9295-46C9074FBC2C}"/>
              </a:ext>
            </a:extLst>
          </p:cNvPr>
          <p:cNvSpPr>
            <a:spLocks xmlns:a="http://schemas.openxmlformats.org/drawingml/2006/main" noGrp="1"/>
          </p:cNvSpPr>
          <p:nvPr/>
        </p:nvSpPr>
        <p:spPr>
          <a:xfrm xmlns:a="http://schemas.openxmlformats.org/drawingml/2006/main">
            <a:off x="838200" y="1933575"/>
            <a:ext cx="105156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11A30"/>
                </a:solidFill>
                <a:latin typeface="SF Mono"/>
                <a:ea typeface="SF Mono"/>
                <a:cs typeface="SF Mono"/>
              </a:defRPr>
            </a:defPPr>
          </a:lstStyle>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tabel_cabang = penjualan.pivot(</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    index="Kategori", columns="Cabang", values="Unit"</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print(tabel_cabang)</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ax = tabel_cabang.plot(kind="bar", figsize=(9, 4))</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ax.set_xlabel("Kategori")</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ax.set_ylabel("Unit terjual")</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ax.legend(title="Cabang")</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plt.xticks(rotation=20, ha="right")</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plt.tight_layout()</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plt.show()</a:t>
            </a:r>
          </a:p>
        </p:txBody>
      </p:sp>
      <p:sp>
        <p:nvSpPr>
          <p:cNvPr id="5" name="Notebook reference">
            <a:extLst xmlns:a="http://schemas.openxmlformats.org/drawingml/2006/main">
              <a:ext uri="{FF2B5EF4-FFF2-40B4-BE49-F238E27FC236}">
                <a16:creationId xmlns:a16="http://schemas.microsoft.com/office/drawing/2014/main" id="{D7D1C40D-1D37-40E4-9D3E-EE083860AFAD}"/>
              </a:ext>
            </a:extLst>
          </p:cNvPr>
          <p:cNvSpPr>
            <a:spLocks xmlns:a="http://schemas.openxmlformats.org/drawingml/2006/main" noGrp="1"/>
          </p:cNvSpPr>
          <p:nvPr/>
        </p:nvSpPr>
        <p:spPr>
          <a:xfrm xmlns:a="http://schemas.openxmlformats.org/drawingml/2006/main">
            <a:off x="685800" y="62007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a:solidFill>
                  <a:srgbClr val="196B9B"/>
                </a:solidFill>
                <a:latin typeface="SF Pro Text"/>
                <a:ea typeface="SF Pro Text"/>
                <a:cs typeface="SF Pro Text"/>
              </a:defRPr>
            </a:defPPr>
          </a:lstStyle>
          <a:p xmlns:a="http://schemas.openxmlformats.org/drawingml/2006/main">
            <a:pPr algn="l">
              <a:lnSpc>
                <a:spcPct val="105000"/>
              </a:lnSpc>
              <a:buNone/>
              <a:defRPr sz="1350">
                <a:solidFill>
                  <a:srgbClr val="196B9B"/>
                </a:solidFill>
                <a:latin typeface="SF Pro Text"/>
                <a:ea typeface="SF Pro Text"/>
                <a:cs typeface="SF Pro Text"/>
              </a:defRPr>
            </a:pPr>
            <a:r>
              <a:rPr sz="1350">
                <a:solidFill>
                  <a:srgbClr val="196B9B"/>
                </a:solidFill>
                <a:latin typeface="SF Pro Text"/>
                <a:ea typeface="SF Pro Text"/>
                <a:cs typeface="SF Pro Text"/>
              </a:rPr>
              <a:t>Notebook blok 5. Periksa hasil pivot dan legenda sebelum membaca warna.</a:t>
            </a:r>
          </a:p>
        </p:txBody>
      </p:sp>
    </p:spTree>
    <p:extLst>
      <p:ext uri="{BB962C8B-B14F-4D97-AF65-F5344CB8AC3E}">
        <p14:creationId xmlns:p14="http://schemas.microsoft.com/office/powerpoint/2010/main" val="147755362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ode slide title">
            <a:extLst xmlns:a="http://schemas.openxmlformats.org/drawingml/2006/main">
              <a:ext uri="{FF2B5EF4-FFF2-40B4-BE49-F238E27FC236}">
                <a16:creationId xmlns:a16="http://schemas.microsoft.com/office/drawing/2014/main" id="{7DF88DD6-FAC9-4484-A342-CA125E32EED1}"/>
              </a:ext>
            </a:extLst>
          </p:cNvPr>
          <p:cNvSpPr>
            <a:spLocks xmlns:a="http://schemas.openxmlformats.org/drawingml/2006/main" noGrp="1"/>
          </p:cNvSpPr>
          <p:nvPr/>
        </p:nvSpPr>
        <p:spPr>
          <a:xfrm xmlns:a="http://schemas.openxmlformats.org/drawingml/2006/main">
            <a:off x="685800" y="419100"/>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111A30"/>
                </a:solidFill>
                <a:latin typeface="SF Pro Display"/>
                <a:ea typeface="SF Pro Display"/>
                <a:cs typeface="SF Pro Display"/>
              </a:defRPr>
            </a:defPPr>
          </a:lstStyle>
          <a:p xmlns:a="http://schemas.openxmlformats.org/drawingml/2006/main">
            <a:pPr algn="l">
              <a:lnSpc>
                <a:spcPct val="105000"/>
              </a:lnSpc>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Kode: stacked bar dan persentase</a:t>
            </a:r>
          </a:p>
        </p:txBody>
      </p:sp>
      <p:sp>
        <p:nvSpPr>
          <p:cNvPr id="2" name="Code slide subtitle">
            <a:extLst xmlns:a="http://schemas.openxmlformats.org/drawingml/2006/main">
              <a:ext uri="{FF2B5EF4-FFF2-40B4-BE49-F238E27FC236}">
                <a16:creationId xmlns:a16="http://schemas.microsoft.com/office/drawing/2014/main" id="{5C83F3BB-9D0C-432A-ADF3-559FCFC067F8}"/>
              </a:ext>
            </a:extLst>
          </p:cNvPr>
          <p:cNvSpPr>
            <a:spLocks xmlns:a="http://schemas.openxmlformats.org/drawingml/2006/main" noGrp="1"/>
          </p:cNvSpPr>
          <p:nvPr/>
        </p:nvSpPr>
        <p:spPr>
          <a:xfrm xmlns:a="http://schemas.openxmlformats.org/drawingml/2006/main">
            <a:off x="685800" y="10096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a:solidFill>
                  <a:srgbClr val="4B5868"/>
                </a:solidFill>
                <a:latin typeface="SF Pro Text"/>
                <a:ea typeface="SF Pro Text"/>
                <a:cs typeface="SF Pro Text"/>
              </a:defRPr>
            </a:defPPr>
          </a:lstStyle>
          <a:p xmlns:a="http://schemas.openxmlformats.org/drawingml/2006/main">
            <a:pPr algn="l">
              <a:lnSpc>
                <a:spcPct val="105000"/>
              </a:lnSpc>
              <a:buNone/>
              <a:defRPr sz="1500">
                <a:solidFill>
                  <a:srgbClr val="4B5868"/>
                </a:solidFill>
                <a:latin typeface="SF Pro Text"/>
                <a:ea typeface="SF Pro Text"/>
                <a:cs typeface="SF Pro Text"/>
              </a:defRPr>
            </a:pPr>
            <a:r>
              <a:rPr sz="1500">
                <a:solidFill>
                  <a:srgbClr val="4B5868"/>
                </a:solidFill>
                <a:latin typeface="SF Pro Text"/>
                <a:ea typeface="SF Pro Text"/>
                <a:cs typeface="SF Pro Text"/>
              </a:rPr>
              <a:t>Transpose tabel, hitung total baris, lalu bagi setiap komponen</a:t>
            </a:r>
          </a:p>
        </p:txBody>
      </p:sp>
      <p:sp>
        <p:nvSpPr>
          <p:cNvPr id="3" name="Title divider">
            <a:extLst xmlns:a="http://schemas.openxmlformats.org/drawingml/2006/main">
              <a:ext uri="{FF2B5EF4-FFF2-40B4-BE49-F238E27FC236}">
                <a16:creationId xmlns:a16="http://schemas.microsoft.com/office/drawing/2014/main" id="{5C614F08-3FE4-431C-B1FC-D39409922181}"/>
              </a:ext>
            </a:extLst>
          </p:cNvPr>
          <p:cNvSpPr>
            <a:spLocks xmlns:a="http://schemas.openxmlformats.org/drawingml/2006/main" noGrp="1"/>
          </p:cNvSpPr>
          <p:nvPr/>
        </p:nvSpPr>
        <p:spPr>
          <a:xfrm xmlns:a="http://schemas.openxmlformats.org/drawingml/2006/main">
            <a:off x="685800" y="1571625"/>
            <a:ext cx="10820400" cy="0"/>
          </a:xfrm>
          <a:prstGeom xmlns:a="http://schemas.openxmlformats.org/drawingml/2006/main" prst="line">
            <a:avLst/>
          </a:prstGeom>
          <a:noFill xmlns:a="http://schemas.openxmlformats.org/drawingml/2006/main"/>
          <a:ln xmlns:a="http://schemas.openxmlformats.org/drawingml/2006/main" w="11906">
            <a:solidFill>
              <a:srgbClr val="E7EAEE"/>
            </a:solidFill>
          </a:ln>
        </p:spPr>
      </p:sp>
      <p:sp>
        <p:nvSpPr>
          <p:cNvPr id="4" name="Python example">
            <a:extLst xmlns:a="http://schemas.openxmlformats.org/drawingml/2006/main">
              <a:ext uri="{FF2B5EF4-FFF2-40B4-BE49-F238E27FC236}">
                <a16:creationId xmlns:a16="http://schemas.microsoft.com/office/drawing/2014/main" id="{82429FB0-417F-4617-A24F-A3EB991B06AF}"/>
              </a:ext>
            </a:extLst>
          </p:cNvPr>
          <p:cNvSpPr>
            <a:spLocks xmlns:a="http://schemas.openxmlformats.org/drawingml/2006/main" noGrp="1"/>
          </p:cNvSpPr>
          <p:nvPr/>
        </p:nvSpPr>
        <p:spPr>
          <a:xfrm xmlns:a="http://schemas.openxmlformats.org/drawingml/2006/main">
            <a:off x="838200" y="1933575"/>
            <a:ext cx="105156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11A30"/>
                </a:solidFill>
                <a:latin typeface="SF Mono"/>
                <a:ea typeface="SF Mono"/>
                <a:cs typeface="SF Mono"/>
              </a:defRPr>
            </a:defPPr>
          </a:lstStyle>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per_cabang = tabel_cabang.T</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total_cabang = per_cabang.sum(axis=1)</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persentase = per_cabang.div(total_cabang, axis=0) * 100</a:t>
            </a:r>
          </a:p>
          <a:p xmlns:a="http://schemas.openxmlformats.org/drawingml/2006/main">
            <a:r>
              <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fig, axes = plt.subplots(1, 2, figsize=(12, 4))</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per_cabang.plot(kind="bar", stacked=True, ax=axes[0])</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persentase.plot(kind="bar", stacked=True, ax=axes[1])</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axes[0].set_ylabel("Unit terjual")</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axes[1].set_ylabel("Bagian dari total cabang (%)")</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axes[1].set_ylim(0, 100)</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plt.tight_layout()</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plt.show()</a:t>
            </a:r>
          </a:p>
        </p:txBody>
      </p:sp>
      <p:sp>
        <p:nvSpPr>
          <p:cNvPr id="5" name="Notebook reference">
            <a:extLst xmlns:a="http://schemas.openxmlformats.org/drawingml/2006/main">
              <a:ext uri="{FF2B5EF4-FFF2-40B4-BE49-F238E27FC236}">
                <a16:creationId xmlns:a16="http://schemas.microsoft.com/office/drawing/2014/main" id="{5E6B2F94-F13C-4743-BD6F-6688AB3DD7C4}"/>
              </a:ext>
            </a:extLst>
          </p:cNvPr>
          <p:cNvSpPr>
            <a:spLocks xmlns:a="http://schemas.openxmlformats.org/drawingml/2006/main" noGrp="1"/>
          </p:cNvSpPr>
          <p:nvPr/>
        </p:nvSpPr>
        <p:spPr>
          <a:xfrm xmlns:a="http://schemas.openxmlformats.org/drawingml/2006/main">
            <a:off x="685800" y="62007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a:solidFill>
                  <a:srgbClr val="196B9B"/>
                </a:solidFill>
                <a:latin typeface="SF Pro Text"/>
                <a:ea typeface="SF Pro Text"/>
                <a:cs typeface="SF Pro Text"/>
              </a:defRPr>
            </a:defPPr>
          </a:lstStyle>
          <a:p xmlns:a="http://schemas.openxmlformats.org/drawingml/2006/main">
            <a:pPr algn="l">
              <a:lnSpc>
                <a:spcPct val="105000"/>
              </a:lnSpc>
              <a:buNone/>
              <a:defRPr sz="1350">
                <a:solidFill>
                  <a:srgbClr val="196B9B"/>
                </a:solidFill>
                <a:latin typeface="SF Pro Text"/>
                <a:ea typeface="SF Pro Text"/>
                <a:cs typeface="SF Pro Text"/>
              </a:defRPr>
            </a:pPr>
            <a:r>
              <a:rPr sz="1350">
                <a:solidFill>
                  <a:srgbClr val="196B9B"/>
                </a:solidFill>
                <a:latin typeface="SF Pro Text"/>
                <a:ea typeface="SF Pro Text"/>
                <a:cs typeface="SF Pro Text"/>
              </a:rPr>
              <a:t>Notebook blok 8. Stacked bar memakai unit, versi 100% memakai persentase.</a:t>
            </a:r>
          </a:p>
        </p:txBody>
      </p:sp>
    </p:spTree>
    <p:extLst>
      <p:ext uri="{BB962C8B-B14F-4D97-AF65-F5344CB8AC3E}">
        <p14:creationId xmlns:p14="http://schemas.microsoft.com/office/powerpoint/2010/main" val="169474376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ode slide title">
            <a:extLst xmlns:a="http://schemas.openxmlformats.org/drawingml/2006/main">
              <a:ext uri="{FF2B5EF4-FFF2-40B4-BE49-F238E27FC236}">
                <a16:creationId xmlns:a16="http://schemas.microsoft.com/office/drawing/2014/main" id="{98E4032F-9575-4AE5-9CF4-1A544A54B137}"/>
              </a:ext>
            </a:extLst>
          </p:cNvPr>
          <p:cNvSpPr>
            <a:spLocks xmlns:a="http://schemas.openxmlformats.org/drawingml/2006/main" noGrp="1"/>
          </p:cNvSpPr>
          <p:nvPr/>
        </p:nvSpPr>
        <p:spPr>
          <a:xfrm xmlns:a="http://schemas.openxmlformats.org/drawingml/2006/main">
            <a:off x="685800" y="419100"/>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111A30"/>
                </a:solidFill>
                <a:latin typeface="SF Pro Display"/>
                <a:ea typeface="SF Pro Display"/>
                <a:cs typeface="SF Pro Display"/>
              </a:defRPr>
            </a:defPPr>
          </a:lstStyle>
          <a:p xmlns:a="http://schemas.openxmlformats.org/drawingml/2006/main">
            <a:pPr algn="l">
              <a:lnSpc>
                <a:spcPct val="105000"/>
              </a:lnSpc>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Kode: pie chart dan donut chart</a:t>
            </a:r>
          </a:p>
        </p:txBody>
      </p:sp>
      <p:sp>
        <p:nvSpPr>
          <p:cNvPr id="2" name="Code slide subtitle">
            <a:extLst xmlns:a="http://schemas.openxmlformats.org/drawingml/2006/main">
              <a:ext uri="{FF2B5EF4-FFF2-40B4-BE49-F238E27FC236}">
                <a16:creationId xmlns:a16="http://schemas.microsoft.com/office/drawing/2014/main" id="{9448F127-31BD-4412-AD0B-941DE44E7C42}"/>
              </a:ext>
            </a:extLst>
          </p:cNvPr>
          <p:cNvSpPr>
            <a:spLocks xmlns:a="http://schemas.openxmlformats.org/drawingml/2006/main" noGrp="1"/>
          </p:cNvSpPr>
          <p:nvPr/>
        </p:nvSpPr>
        <p:spPr>
          <a:xfrm xmlns:a="http://schemas.openxmlformats.org/drawingml/2006/main">
            <a:off x="685800" y="10096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a:solidFill>
                  <a:srgbClr val="4B5868"/>
                </a:solidFill>
                <a:latin typeface="SF Pro Text"/>
                <a:ea typeface="SF Pro Text"/>
                <a:cs typeface="SF Pro Text"/>
              </a:defRPr>
            </a:defPPr>
          </a:lstStyle>
          <a:p xmlns:a="http://schemas.openxmlformats.org/drawingml/2006/main">
            <a:pPr algn="l">
              <a:lnSpc>
                <a:spcPct val="105000"/>
              </a:lnSpc>
              <a:buNone/>
              <a:defRPr sz="1500">
                <a:solidFill>
                  <a:srgbClr val="4B5868"/>
                </a:solidFill>
                <a:latin typeface="SF Pro Text"/>
                <a:ea typeface="SF Pro Text"/>
                <a:cs typeface="SF Pro Text"/>
              </a:defRPr>
            </a:pPr>
            <a:r>
              <a:rPr sz="1500">
                <a:solidFill>
                  <a:srgbClr val="4B5868"/>
                </a:solidFill>
                <a:latin typeface="SF Pro Text"/>
                <a:ea typeface="SF Pro Text"/>
                <a:cs typeface="SF Pro Text"/>
              </a:rPr>
              <a:t>Ambil satu cabang untuk menentukan total satu lingkaran</a:t>
            </a:r>
          </a:p>
        </p:txBody>
      </p:sp>
      <p:sp>
        <p:nvSpPr>
          <p:cNvPr id="3" name="Title divider">
            <a:extLst xmlns:a="http://schemas.openxmlformats.org/drawingml/2006/main">
              <a:ext uri="{FF2B5EF4-FFF2-40B4-BE49-F238E27FC236}">
                <a16:creationId xmlns:a16="http://schemas.microsoft.com/office/drawing/2014/main" id="{FF4AA4F6-F59C-43A0-B805-49992AE59D37}"/>
              </a:ext>
            </a:extLst>
          </p:cNvPr>
          <p:cNvSpPr>
            <a:spLocks xmlns:a="http://schemas.openxmlformats.org/drawingml/2006/main" noGrp="1"/>
          </p:cNvSpPr>
          <p:nvPr/>
        </p:nvSpPr>
        <p:spPr>
          <a:xfrm xmlns:a="http://schemas.openxmlformats.org/drawingml/2006/main">
            <a:off x="685800" y="1571625"/>
            <a:ext cx="10820400" cy="0"/>
          </a:xfrm>
          <a:prstGeom xmlns:a="http://schemas.openxmlformats.org/drawingml/2006/main" prst="line">
            <a:avLst/>
          </a:prstGeom>
          <a:noFill xmlns:a="http://schemas.openxmlformats.org/drawingml/2006/main"/>
          <a:ln xmlns:a="http://schemas.openxmlformats.org/drawingml/2006/main" w="11906">
            <a:solidFill>
              <a:srgbClr val="E7EAEE"/>
            </a:solidFill>
          </a:ln>
        </p:spPr>
      </p:sp>
      <p:sp>
        <p:nvSpPr>
          <p:cNvPr id="4" name="Python example">
            <a:extLst xmlns:a="http://schemas.openxmlformats.org/drawingml/2006/main">
              <a:ext uri="{FF2B5EF4-FFF2-40B4-BE49-F238E27FC236}">
                <a16:creationId xmlns:a16="http://schemas.microsoft.com/office/drawing/2014/main" id="{696C71B9-83EE-48EC-9903-24B833FB8252}"/>
              </a:ext>
            </a:extLst>
          </p:cNvPr>
          <p:cNvSpPr>
            <a:spLocks xmlns:a="http://schemas.openxmlformats.org/drawingml/2006/main" noGrp="1"/>
          </p:cNvSpPr>
          <p:nvPr/>
        </p:nvSpPr>
        <p:spPr>
          <a:xfrm xmlns:a="http://schemas.openxmlformats.org/drawingml/2006/main">
            <a:off x="838200" y="1933575"/>
            <a:ext cx="105156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11A30"/>
                </a:solidFill>
                <a:latin typeface="SF Mono"/>
                <a:ea typeface="SF Mono"/>
                <a:cs typeface="SF Mono"/>
              </a:defRPr>
            </a:defPPr>
          </a:lstStyle>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utara = tabel_cabang["Utara"]</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fig, axes = plt.subplots(1, 2, figsize=(11, 4))</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axes[0].pie(utara, labels=utara.index,</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            autopct="%1.1f%%", startangle=90)</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axes[1].pie(utara, labels=utara.index,</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            autopct="%1.1f%%", startangle=90,</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            wedgeprops={"width": 0.42})</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axes[0].set_title("Pie: cabang Utara")</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axes[1].set_title("Donut: cabang Utara")</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plt.tight_layout()</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plt.show()</a:t>
            </a:r>
          </a:p>
        </p:txBody>
      </p:sp>
      <p:sp>
        <p:nvSpPr>
          <p:cNvPr id="5" name="Notebook reference">
            <a:extLst xmlns:a="http://schemas.openxmlformats.org/drawingml/2006/main">
              <a:ext uri="{FF2B5EF4-FFF2-40B4-BE49-F238E27FC236}">
                <a16:creationId xmlns:a16="http://schemas.microsoft.com/office/drawing/2014/main" id="{BA50C6E0-4000-416C-859A-996D837EDCC8}"/>
              </a:ext>
            </a:extLst>
          </p:cNvPr>
          <p:cNvSpPr>
            <a:spLocks xmlns:a="http://schemas.openxmlformats.org/drawingml/2006/main" noGrp="1"/>
          </p:cNvSpPr>
          <p:nvPr/>
        </p:nvSpPr>
        <p:spPr>
          <a:xfrm xmlns:a="http://schemas.openxmlformats.org/drawingml/2006/main">
            <a:off x="685800" y="62007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a:solidFill>
                  <a:srgbClr val="196B9B"/>
                </a:solidFill>
                <a:latin typeface="SF Pro Text"/>
                <a:ea typeface="SF Pro Text"/>
                <a:cs typeface="SF Pro Text"/>
              </a:defRPr>
            </a:defPPr>
          </a:lstStyle>
          <a:p xmlns:a="http://schemas.openxmlformats.org/drawingml/2006/main">
            <a:pPr algn="l">
              <a:lnSpc>
                <a:spcPct val="105000"/>
              </a:lnSpc>
              <a:buNone/>
              <a:defRPr sz="1350">
                <a:solidFill>
                  <a:srgbClr val="196B9B"/>
                </a:solidFill>
                <a:latin typeface="SF Pro Text"/>
                <a:ea typeface="SF Pro Text"/>
                <a:cs typeface="SF Pro Text"/>
              </a:defRPr>
            </a:pPr>
            <a:r>
              <a:rPr sz="1350">
                <a:solidFill>
                  <a:srgbClr val="196B9B"/>
                </a:solidFill>
                <a:latin typeface="SF Pro Text"/>
                <a:ea typeface="SF Pro Text"/>
                <a:cs typeface="SF Pro Text"/>
              </a:rPr>
              <a:t>Notebook blok 9. width mengatur tebal cincin, bukan persentase data.</a:t>
            </a:r>
          </a:p>
        </p:txBody>
      </p:sp>
    </p:spTree>
    <p:extLst>
      <p:ext uri="{BB962C8B-B14F-4D97-AF65-F5344CB8AC3E}">
        <p14:creationId xmlns:p14="http://schemas.microsoft.com/office/powerpoint/2010/main" val="181934249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ode slide title">
            <a:extLst xmlns:a="http://schemas.openxmlformats.org/drawingml/2006/main">
              <a:ext uri="{FF2B5EF4-FFF2-40B4-BE49-F238E27FC236}">
                <a16:creationId xmlns:a16="http://schemas.microsoft.com/office/drawing/2014/main" id="{CFB73221-BD81-4424-A2C7-40EB9DC6B08E}"/>
              </a:ext>
            </a:extLst>
          </p:cNvPr>
          <p:cNvSpPr>
            <a:spLocks xmlns:a="http://schemas.openxmlformats.org/drawingml/2006/main" noGrp="1"/>
          </p:cNvSpPr>
          <p:nvPr/>
        </p:nvSpPr>
        <p:spPr>
          <a:xfrm xmlns:a="http://schemas.openxmlformats.org/drawingml/2006/main">
            <a:off x="685800" y="419100"/>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111A30"/>
                </a:solidFill>
                <a:latin typeface="SF Pro Display"/>
                <a:ea typeface="SF Pro Display"/>
                <a:cs typeface="SF Pro Display"/>
              </a:defRPr>
            </a:defPPr>
          </a:lstStyle>
          <a:p xmlns:a="http://schemas.openxmlformats.org/drawingml/2006/main">
            <a:pPr algn="l">
              <a:lnSpc>
                <a:spcPct val="105000"/>
              </a:lnSpc>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Kode: treemap</a:t>
            </a:r>
          </a:p>
        </p:txBody>
      </p:sp>
      <p:sp>
        <p:nvSpPr>
          <p:cNvPr id="2" name="Code slide subtitle">
            <a:extLst xmlns:a="http://schemas.openxmlformats.org/drawingml/2006/main">
              <a:ext uri="{FF2B5EF4-FFF2-40B4-BE49-F238E27FC236}">
                <a16:creationId xmlns:a16="http://schemas.microsoft.com/office/drawing/2014/main" id="{0A2C95E7-CE16-45A0-99E6-764CF89DBA54}"/>
              </a:ext>
            </a:extLst>
          </p:cNvPr>
          <p:cNvSpPr>
            <a:spLocks xmlns:a="http://schemas.openxmlformats.org/drawingml/2006/main" noGrp="1"/>
          </p:cNvSpPr>
          <p:nvPr/>
        </p:nvSpPr>
        <p:spPr>
          <a:xfrm xmlns:a="http://schemas.openxmlformats.org/drawingml/2006/main">
            <a:off x="685800" y="10096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a:solidFill>
                  <a:srgbClr val="4B5868"/>
                </a:solidFill>
                <a:latin typeface="SF Pro Text"/>
                <a:ea typeface="SF Pro Text"/>
                <a:cs typeface="SF Pro Text"/>
              </a:defRPr>
            </a:defPPr>
          </a:lstStyle>
          <a:p xmlns:a="http://schemas.openxmlformats.org/drawingml/2006/main">
            <a:pPr algn="l">
              <a:lnSpc>
                <a:spcPct val="105000"/>
              </a:lnSpc>
              <a:buNone/>
              <a:defRPr sz="1500">
                <a:solidFill>
                  <a:srgbClr val="4B5868"/>
                </a:solidFill>
                <a:latin typeface="SF Pro Text"/>
                <a:ea typeface="SF Pro Text"/>
                <a:cs typeface="SF Pro Text"/>
              </a:defRPr>
            </a:pPr>
            <a:r>
              <a:rPr sz="1500">
                <a:solidFill>
                  <a:srgbClr val="4B5868"/>
                </a:solidFill>
                <a:latin typeface="SF Pro Text"/>
                <a:ea typeface="SF Pro Text"/>
                <a:cs typeface="SF Pro Text"/>
              </a:rPr>
              <a:t>Kategori menjadi induk, cabang menjadi kotak anak</a:t>
            </a:r>
          </a:p>
        </p:txBody>
      </p:sp>
      <p:sp>
        <p:nvSpPr>
          <p:cNvPr id="3" name="Title divider">
            <a:extLst xmlns:a="http://schemas.openxmlformats.org/drawingml/2006/main">
              <a:ext uri="{FF2B5EF4-FFF2-40B4-BE49-F238E27FC236}">
                <a16:creationId xmlns:a16="http://schemas.microsoft.com/office/drawing/2014/main" id="{7E69C27F-70CA-432F-82BE-4FC052D0BEA8}"/>
              </a:ext>
            </a:extLst>
          </p:cNvPr>
          <p:cNvSpPr>
            <a:spLocks xmlns:a="http://schemas.openxmlformats.org/drawingml/2006/main" noGrp="1"/>
          </p:cNvSpPr>
          <p:nvPr/>
        </p:nvSpPr>
        <p:spPr>
          <a:xfrm xmlns:a="http://schemas.openxmlformats.org/drawingml/2006/main">
            <a:off x="685800" y="1571625"/>
            <a:ext cx="10820400" cy="0"/>
          </a:xfrm>
          <a:prstGeom xmlns:a="http://schemas.openxmlformats.org/drawingml/2006/main" prst="line">
            <a:avLst/>
          </a:prstGeom>
          <a:noFill xmlns:a="http://schemas.openxmlformats.org/drawingml/2006/main"/>
          <a:ln xmlns:a="http://schemas.openxmlformats.org/drawingml/2006/main" w="11906">
            <a:solidFill>
              <a:srgbClr val="E7EAEE"/>
            </a:solidFill>
          </a:ln>
        </p:spPr>
      </p:sp>
      <p:sp>
        <p:nvSpPr>
          <p:cNvPr id="4" name="Python example">
            <a:extLst xmlns:a="http://schemas.openxmlformats.org/drawingml/2006/main">
              <a:ext uri="{FF2B5EF4-FFF2-40B4-BE49-F238E27FC236}">
                <a16:creationId xmlns:a16="http://schemas.microsoft.com/office/drawing/2014/main" id="{12DBB4D5-9219-4D2F-8930-734F8E28EE37}"/>
              </a:ext>
            </a:extLst>
          </p:cNvPr>
          <p:cNvSpPr>
            <a:spLocks xmlns:a="http://schemas.openxmlformats.org/drawingml/2006/main" noGrp="1"/>
          </p:cNvSpPr>
          <p:nvPr/>
        </p:nvSpPr>
        <p:spPr>
          <a:xfrm xmlns:a="http://schemas.openxmlformats.org/drawingml/2006/main">
            <a:off x="838200" y="1933575"/>
            <a:ext cx="105156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11A30"/>
                </a:solidFill>
                <a:latin typeface="SF Mono"/>
                <a:ea typeface="SF Mono"/>
                <a:cs typeface="SF Mono"/>
              </a:defRPr>
            </a:defPPr>
          </a:lstStyle>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fig = px.treemap(</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    penjualan,</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    path=["Kategori", "Cabang"],</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    values="Unit",</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    color="Kategori",</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    title="Unit terjual menurut kategori dan cabang",</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a:t>
            </a:r>
          </a:p>
          <a:p xmlns:a="http://schemas.openxmlformats.org/drawingml/2006/main">
            <a:pPr algn="l">
              <a:lnSpc>
                <a:spcPct val="107000"/>
              </a:lnSpc>
              <a:buNone/>
              <a:defRPr sz="1800">
                <a:solidFill>
                  <a:srgbClr val="111A30"/>
                </a:solidFill>
                <a:latin typeface="SF Mono"/>
                <a:ea typeface="SF Mono"/>
                <a:cs typeface="SF Mono"/>
              </a:defRPr>
            </a:pPr>
            <a:r>
              <a:rPr sz="1800">
                <a:solidFill>
                  <a:srgbClr val="111A30"/>
                </a:solidFill>
                <a:latin typeface="SF Mono"/>
                <a:ea typeface="SF Mono"/>
                <a:cs typeface="SF Mono"/>
              </a:rPr>
              <a:t>fig.show()</a:t>
            </a:r>
          </a:p>
        </p:txBody>
      </p:sp>
      <p:sp>
        <p:nvSpPr>
          <p:cNvPr id="5" name="Notebook reference">
            <a:extLst xmlns:a="http://schemas.openxmlformats.org/drawingml/2006/main">
              <a:ext uri="{FF2B5EF4-FFF2-40B4-BE49-F238E27FC236}">
                <a16:creationId xmlns:a16="http://schemas.microsoft.com/office/drawing/2014/main" id="{E5D4A599-0DFB-44E2-9C6C-8B4600805E2D}"/>
              </a:ext>
            </a:extLst>
          </p:cNvPr>
          <p:cNvSpPr>
            <a:spLocks xmlns:a="http://schemas.openxmlformats.org/drawingml/2006/main" noGrp="1"/>
          </p:cNvSpPr>
          <p:nvPr/>
        </p:nvSpPr>
        <p:spPr>
          <a:xfrm xmlns:a="http://schemas.openxmlformats.org/drawingml/2006/main">
            <a:off x="685800" y="62007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a:solidFill>
                  <a:srgbClr val="196B9B"/>
                </a:solidFill>
                <a:latin typeface="SF Pro Text"/>
                <a:ea typeface="SF Pro Text"/>
                <a:cs typeface="SF Pro Text"/>
              </a:defRPr>
            </a:defPPr>
          </a:lstStyle>
          <a:p xmlns:a="http://schemas.openxmlformats.org/drawingml/2006/main">
            <a:pPr algn="l">
              <a:lnSpc>
                <a:spcPct val="105000"/>
              </a:lnSpc>
              <a:buNone/>
              <a:defRPr sz="1350">
                <a:solidFill>
                  <a:srgbClr val="196B9B"/>
                </a:solidFill>
                <a:latin typeface="SF Pro Text"/>
                <a:ea typeface="SF Pro Text"/>
                <a:cs typeface="SF Pro Text"/>
              </a:defRPr>
            </a:pPr>
            <a:r>
              <a:rPr sz="1350">
                <a:solidFill>
                  <a:srgbClr val="196B9B"/>
                </a:solidFill>
                <a:latin typeface="SF Pro Text"/>
                <a:ea typeface="SF Pro Text"/>
                <a:cs typeface="SF Pro Text"/>
              </a:rPr>
              <a:t>Blok 10 notebook memakai variasi Cabang → Kategori dan warna berdasarkan Unit.</a:t>
            </a:r>
          </a:p>
        </p:txBody>
      </p:sp>
    </p:spTree>
    <p:extLst>
      <p:ext uri="{BB962C8B-B14F-4D97-AF65-F5344CB8AC3E}">
        <p14:creationId xmlns:p14="http://schemas.microsoft.com/office/powerpoint/2010/main" val="204621846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ode slide title">
            <a:extLst xmlns:a="http://schemas.openxmlformats.org/drawingml/2006/main">
              <a:ext uri="{FF2B5EF4-FFF2-40B4-BE49-F238E27FC236}">
                <a16:creationId xmlns:a16="http://schemas.microsoft.com/office/drawing/2014/main" id="{BC77BA49-79A4-43C4-9B9D-0CB8AF0FA81E}"/>
              </a:ext>
            </a:extLst>
          </p:cNvPr>
          <p:cNvSpPr>
            <a:spLocks xmlns:a="http://schemas.openxmlformats.org/drawingml/2006/main" noGrp="1"/>
          </p:cNvSpPr>
          <p:nvPr/>
        </p:nvSpPr>
        <p:spPr>
          <a:xfrm xmlns:a="http://schemas.openxmlformats.org/drawingml/2006/main">
            <a:off x="685800" y="419100"/>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111A30"/>
                </a:solidFill>
                <a:latin typeface="SF Pro Display"/>
                <a:ea typeface="SF Pro Display"/>
                <a:cs typeface="SF Pro Display"/>
              </a:defRPr>
            </a:defPPr>
          </a:lstStyle>
          <a:p xmlns:a="http://schemas.openxmlformats.org/drawingml/2006/main">
            <a:pPr algn="l">
              <a:lnSpc>
                <a:spcPct val="105000"/>
              </a:lnSpc>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Kode: radar chart</a:t>
            </a:r>
          </a:p>
        </p:txBody>
      </p:sp>
      <p:sp>
        <p:nvSpPr>
          <p:cNvPr id="2" name="Code slide subtitle">
            <a:extLst xmlns:a="http://schemas.openxmlformats.org/drawingml/2006/main">
              <a:ext uri="{FF2B5EF4-FFF2-40B4-BE49-F238E27FC236}">
                <a16:creationId xmlns:a16="http://schemas.microsoft.com/office/drawing/2014/main" id="{7F3A8CFF-9719-4866-A6C9-0A63349E7DDF}"/>
              </a:ext>
            </a:extLst>
          </p:cNvPr>
          <p:cNvSpPr>
            <a:spLocks xmlns:a="http://schemas.openxmlformats.org/drawingml/2006/main" noGrp="1"/>
          </p:cNvSpPr>
          <p:nvPr/>
        </p:nvSpPr>
        <p:spPr>
          <a:xfrm xmlns:a="http://schemas.openxmlformats.org/drawingml/2006/main">
            <a:off x="685800" y="10096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a:solidFill>
                  <a:srgbClr val="4B5868"/>
                </a:solidFill>
                <a:latin typeface="SF Pro Text"/>
                <a:ea typeface="SF Pro Text"/>
                <a:cs typeface="SF Pro Text"/>
              </a:defRPr>
            </a:defPPr>
          </a:lstStyle>
          <a:p xmlns:a="http://schemas.openxmlformats.org/drawingml/2006/main">
            <a:pPr algn="l">
              <a:lnSpc>
                <a:spcPct val="105000"/>
              </a:lnSpc>
              <a:buNone/>
              <a:defRPr sz="1500">
                <a:solidFill>
                  <a:srgbClr val="4B5868"/>
                </a:solidFill>
                <a:latin typeface="SF Pro Text"/>
                <a:ea typeface="SF Pro Text"/>
                <a:cs typeface="SF Pro Text"/>
              </a:defRPr>
            </a:pPr>
            <a:r>
              <a:rPr sz="1500">
                <a:solidFill>
                  <a:srgbClr val="4B5868"/>
                </a:solidFill>
                <a:latin typeface="SF Pro Text"/>
                <a:ea typeface="SF Pro Text"/>
                <a:cs typeface="SF Pro Text"/>
              </a:rPr>
              <a:t>Samakan kategori dan skala, lalu tutup daftar titik</a:t>
            </a:r>
          </a:p>
        </p:txBody>
      </p:sp>
      <p:sp>
        <p:nvSpPr>
          <p:cNvPr id="3" name="Title divider">
            <a:extLst xmlns:a="http://schemas.openxmlformats.org/drawingml/2006/main">
              <a:ext uri="{FF2B5EF4-FFF2-40B4-BE49-F238E27FC236}">
                <a16:creationId xmlns:a16="http://schemas.microsoft.com/office/drawing/2014/main" id="{21C8904A-6C3E-464F-BDD6-CA9FB4668D50}"/>
              </a:ext>
            </a:extLst>
          </p:cNvPr>
          <p:cNvSpPr>
            <a:spLocks xmlns:a="http://schemas.openxmlformats.org/drawingml/2006/main" noGrp="1"/>
          </p:cNvSpPr>
          <p:nvPr/>
        </p:nvSpPr>
        <p:spPr>
          <a:xfrm xmlns:a="http://schemas.openxmlformats.org/drawingml/2006/main">
            <a:off x="685800" y="1571625"/>
            <a:ext cx="10820400" cy="0"/>
          </a:xfrm>
          <a:prstGeom xmlns:a="http://schemas.openxmlformats.org/drawingml/2006/main" prst="line">
            <a:avLst/>
          </a:prstGeom>
          <a:noFill xmlns:a="http://schemas.openxmlformats.org/drawingml/2006/main"/>
          <a:ln xmlns:a="http://schemas.openxmlformats.org/drawingml/2006/main" w="11906">
            <a:solidFill>
              <a:srgbClr val="E7EAEE"/>
            </a:solidFill>
          </a:ln>
        </p:spPr>
      </p:sp>
      <p:sp>
        <p:nvSpPr>
          <p:cNvPr id="4" name="Preparation label">
            <a:extLst xmlns:a="http://schemas.openxmlformats.org/drawingml/2006/main">
              <a:ext uri="{FF2B5EF4-FFF2-40B4-BE49-F238E27FC236}">
                <a16:creationId xmlns:a16="http://schemas.microsoft.com/office/drawing/2014/main" id="{68C26031-98E3-4189-8DE2-FDBF645C5366}"/>
              </a:ext>
            </a:extLst>
          </p:cNvPr>
          <p:cNvSpPr>
            <a:spLocks xmlns:a="http://schemas.openxmlformats.org/drawingml/2006/main" noGrp="1"/>
          </p:cNvSpPr>
          <p:nvPr/>
        </p:nvSpPr>
        <p:spPr>
          <a:xfrm xmlns:a="http://schemas.openxmlformats.org/drawingml/2006/main">
            <a:off x="685800" y="181927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196B9B"/>
                </a:solidFill>
                <a:latin typeface="SF Pro Text"/>
                <a:ea typeface="SF Pro Text"/>
                <a:cs typeface="SF Pro Text"/>
              </a:defRPr>
            </a:defPPr>
          </a:lstStyle>
          <a:p xmlns:a="http://schemas.openxmlformats.org/drawingml/2006/main">
            <a:pPr algn="l">
              <a:lnSpc>
                <a:spcPct val="105000"/>
              </a:lnSpc>
              <a:buNone/>
              <a:defRPr sz="1575" b="1">
                <a:solidFill>
                  <a:srgbClr val="196B9B"/>
                </a:solidFill>
                <a:latin typeface="SF Pro Text"/>
                <a:ea typeface="SF Pro Text"/>
                <a:cs typeface="SF Pro Text"/>
              </a:defRPr>
            </a:pPr>
            <a:r>
              <a:rPr sz="1575" b="1">
                <a:solidFill>
                  <a:srgbClr val="196B9B"/>
                </a:solidFill>
                <a:latin typeface="SF Pro Text"/>
                <a:ea typeface="SF Pro Text"/>
                <a:cs typeface="SF Pro Text"/>
              </a:rPr>
              <a:t>1. Siapkan persentase dan sudut</a:t>
            </a:r>
          </a:p>
        </p:txBody>
      </p:sp>
      <p:sp>
        <p:nvSpPr>
          <p:cNvPr id="5" name="Drawing label">
            <a:extLst xmlns:a="http://schemas.openxmlformats.org/drawingml/2006/main">
              <a:ext uri="{FF2B5EF4-FFF2-40B4-BE49-F238E27FC236}">
                <a16:creationId xmlns:a16="http://schemas.microsoft.com/office/drawing/2014/main" id="{1944F9AC-2ED8-437F-99EB-D9474F460B66}"/>
              </a:ext>
            </a:extLst>
          </p:cNvPr>
          <p:cNvSpPr>
            <a:spLocks xmlns:a="http://schemas.openxmlformats.org/drawingml/2006/main" noGrp="1"/>
          </p:cNvSpPr>
          <p:nvPr/>
        </p:nvSpPr>
        <p:spPr>
          <a:xfrm xmlns:a="http://schemas.openxmlformats.org/drawingml/2006/main">
            <a:off x="6257925" y="18192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196B9B"/>
                </a:solidFill>
                <a:latin typeface="SF Pro Text"/>
                <a:ea typeface="SF Pro Text"/>
                <a:cs typeface="SF Pro Text"/>
              </a:defRPr>
            </a:defPPr>
          </a:lstStyle>
          <a:p xmlns:a="http://schemas.openxmlformats.org/drawingml/2006/main">
            <a:pPr algn="l">
              <a:lnSpc>
                <a:spcPct val="105000"/>
              </a:lnSpc>
              <a:buNone/>
              <a:defRPr sz="1575" b="1">
                <a:solidFill>
                  <a:srgbClr val="196B9B"/>
                </a:solidFill>
                <a:latin typeface="SF Pro Text"/>
                <a:ea typeface="SF Pro Text"/>
                <a:cs typeface="SF Pro Text"/>
              </a:defRPr>
            </a:pPr>
            <a:r>
              <a:rPr sz="1575" b="1">
                <a:solidFill>
                  <a:srgbClr val="196B9B"/>
                </a:solidFill>
                <a:latin typeface="SF Pro Text"/>
                <a:ea typeface="SF Pro Text"/>
                <a:cs typeface="SF Pro Text"/>
              </a:rPr>
              <a:t>2. Gambar profil tiap cabang</a:t>
            </a:r>
          </a:p>
        </p:txBody>
      </p:sp>
      <p:sp>
        <p:nvSpPr>
          <p:cNvPr id="6" name="Preparation code">
            <a:extLst xmlns:a="http://schemas.openxmlformats.org/drawingml/2006/main">
              <a:ext uri="{FF2B5EF4-FFF2-40B4-BE49-F238E27FC236}">
                <a16:creationId xmlns:a16="http://schemas.microsoft.com/office/drawing/2014/main" id="{8B78C657-04BD-42E0-B1D5-8A2870B15821}"/>
              </a:ext>
            </a:extLst>
          </p:cNvPr>
          <p:cNvSpPr>
            <a:spLocks xmlns:a="http://schemas.openxmlformats.org/drawingml/2006/main" noGrp="1"/>
          </p:cNvSpPr>
          <p:nvPr/>
        </p:nvSpPr>
        <p:spPr>
          <a:xfrm xmlns:a="http://schemas.openxmlformats.org/drawingml/2006/main">
            <a:off x="685800" y="2219325"/>
            <a:ext cx="5334000" cy="3886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a:solidFill>
                  <a:srgbClr val="111A30"/>
                </a:solidFill>
                <a:latin typeface="SF Mono"/>
                <a:ea typeface="SF Mono"/>
                <a:cs typeface="SF Mono"/>
              </a:defRPr>
            </a:defPPr>
          </a:lstStyle>
          <a:p xmlns:a="http://schemas.openxmlformats.org/drawingml/2006/main">
            <a:pPr algn="l">
              <a:lnSpc>
                <a:spcPct val="107000"/>
              </a:lnSpc>
              <a:buNone/>
              <a:defRPr sz="1650">
                <a:solidFill>
                  <a:srgbClr val="111A30"/>
                </a:solidFill>
                <a:latin typeface="SF Mono"/>
                <a:ea typeface="SF Mono"/>
                <a:cs typeface="SF Mono"/>
              </a:defRPr>
            </a:pPr>
            <a:r>
              <a:rPr sz="1650">
                <a:solidFill>
                  <a:srgbClr val="111A30"/>
                </a:solidFill>
                <a:latin typeface="SF Mono"/>
                <a:ea typeface="SF Mono"/>
                <a:cs typeface="SF Mono"/>
              </a:rPr>
              <a:t>pangsa = tabel_cabang.T</a:t>
            </a:r>
          </a:p>
          <a:p xmlns:a="http://schemas.openxmlformats.org/drawingml/2006/main">
            <a:pPr algn="l">
              <a:lnSpc>
                <a:spcPct val="107000"/>
              </a:lnSpc>
              <a:buNone/>
              <a:defRPr sz="1650">
                <a:solidFill>
                  <a:srgbClr val="111A30"/>
                </a:solidFill>
                <a:latin typeface="SF Mono"/>
                <a:ea typeface="SF Mono"/>
                <a:cs typeface="SF Mono"/>
              </a:defRPr>
            </a:pPr>
            <a:r>
              <a:rPr sz="1650">
                <a:solidFill>
                  <a:srgbClr val="111A30"/>
                </a:solidFill>
                <a:latin typeface="SF Mono"/>
                <a:ea typeface="SF Mono"/>
                <a:cs typeface="SF Mono"/>
              </a:rPr>
              <a:t>pangsa = pangsa.div(</a:t>
            </a:r>
          </a:p>
          <a:p xmlns:a="http://schemas.openxmlformats.org/drawingml/2006/main">
            <a:pPr algn="l">
              <a:lnSpc>
                <a:spcPct val="107000"/>
              </a:lnSpc>
              <a:buNone/>
              <a:defRPr sz="1650">
                <a:solidFill>
                  <a:srgbClr val="111A30"/>
                </a:solidFill>
                <a:latin typeface="SF Mono"/>
                <a:ea typeface="SF Mono"/>
                <a:cs typeface="SF Mono"/>
              </a:defRPr>
            </a:pPr>
            <a:r>
              <a:rPr sz="1650">
                <a:solidFill>
                  <a:srgbClr val="111A30"/>
                </a:solidFill>
                <a:latin typeface="SF Mono"/>
                <a:ea typeface="SF Mono"/>
                <a:cs typeface="SF Mono"/>
              </a:rPr>
              <a:t>    pangsa.sum(axis=1), axis=0</a:t>
            </a:r>
          </a:p>
          <a:p xmlns:a="http://schemas.openxmlformats.org/drawingml/2006/main">
            <a:pPr algn="l">
              <a:lnSpc>
                <a:spcPct val="107000"/>
              </a:lnSpc>
              <a:buNone/>
              <a:defRPr sz="1650">
                <a:solidFill>
                  <a:srgbClr val="111A30"/>
                </a:solidFill>
                <a:latin typeface="SF Mono"/>
                <a:ea typeface="SF Mono"/>
                <a:cs typeface="SF Mono"/>
              </a:defRPr>
            </a:pPr>
            <a:r>
              <a:rPr sz="1650">
                <a:solidFill>
                  <a:srgbClr val="111A30"/>
                </a:solidFill>
                <a:latin typeface="SF Mono"/>
                <a:ea typeface="SF Mono"/>
                <a:cs typeface="SF Mono"/>
              </a:rPr>
              <a:t>) * 100</a:t>
            </a:r>
          </a:p>
          <a:p xmlns:a="http://schemas.openxmlformats.org/drawingml/2006/main">
            <a:pPr algn="l">
              <a:lnSpc>
                <a:spcPct val="107000"/>
              </a:lnSpc>
              <a:buNone/>
              <a:defRPr sz="1650">
                <a:solidFill>
                  <a:srgbClr val="111A30"/>
                </a:solidFill>
                <a:latin typeface="SF Mono"/>
                <a:ea typeface="SF Mono"/>
                <a:cs typeface="SF Mono"/>
              </a:defRPr>
            </a:pPr>
            <a:r>
              <a:rPr sz="1650">
                <a:solidFill>
                  <a:srgbClr val="111A30"/>
                </a:solidFill>
                <a:latin typeface="SF Mono"/>
                <a:ea typeface="SF Mono"/>
                <a:cs typeface="SF Mono"/>
              </a:rPr>
              <a:t>kategori = pangsa.columns.tolist()</a:t>
            </a:r>
          </a:p>
          <a:p xmlns:a="http://schemas.openxmlformats.org/drawingml/2006/main">
            <a:pPr algn="l">
              <a:lnSpc>
                <a:spcPct val="107000"/>
              </a:lnSpc>
              <a:buNone/>
              <a:defRPr sz="1650">
                <a:solidFill>
                  <a:srgbClr val="111A30"/>
                </a:solidFill>
                <a:latin typeface="SF Mono"/>
                <a:ea typeface="SF Mono"/>
                <a:cs typeface="SF Mono"/>
              </a:defRPr>
            </a:pPr>
            <a:r>
              <a:rPr sz="1650">
                <a:solidFill>
                  <a:srgbClr val="111A30"/>
                </a:solidFill>
                <a:latin typeface="SF Mono"/>
                <a:ea typeface="SF Mono"/>
                <a:cs typeface="SF Mono"/>
              </a:rPr>
              <a:t>sudut = np.linspace(</a:t>
            </a:r>
          </a:p>
          <a:p xmlns:a="http://schemas.openxmlformats.org/drawingml/2006/main">
            <a:pPr algn="l">
              <a:lnSpc>
                <a:spcPct val="107000"/>
              </a:lnSpc>
              <a:buNone/>
              <a:defRPr sz="1650">
                <a:solidFill>
                  <a:srgbClr val="111A30"/>
                </a:solidFill>
                <a:latin typeface="SF Mono"/>
                <a:ea typeface="SF Mono"/>
                <a:cs typeface="SF Mono"/>
              </a:defRPr>
            </a:pPr>
            <a:r>
              <a:rPr sz="1650">
                <a:solidFill>
                  <a:srgbClr val="111A30"/>
                </a:solidFill>
                <a:latin typeface="SF Mono"/>
                <a:ea typeface="SF Mono"/>
                <a:cs typeface="SF Mono"/>
              </a:rPr>
              <a:t>    0, 2 * np.pi, len(kategori),</a:t>
            </a:r>
          </a:p>
          <a:p xmlns:a="http://schemas.openxmlformats.org/drawingml/2006/main">
            <a:pPr algn="l">
              <a:lnSpc>
                <a:spcPct val="107000"/>
              </a:lnSpc>
              <a:buNone/>
              <a:defRPr sz="1650">
                <a:solidFill>
                  <a:srgbClr val="111A30"/>
                </a:solidFill>
                <a:latin typeface="SF Mono"/>
                <a:ea typeface="SF Mono"/>
                <a:cs typeface="SF Mono"/>
              </a:defRPr>
            </a:pPr>
            <a:r>
              <a:rPr sz="1650">
                <a:solidFill>
                  <a:srgbClr val="111A30"/>
                </a:solidFill>
                <a:latin typeface="SF Mono"/>
                <a:ea typeface="SF Mono"/>
                <a:cs typeface="SF Mono"/>
              </a:rPr>
              <a:t>    endpoint=False</a:t>
            </a:r>
          </a:p>
          <a:p xmlns:a="http://schemas.openxmlformats.org/drawingml/2006/main">
            <a:pPr algn="l">
              <a:lnSpc>
                <a:spcPct val="107000"/>
              </a:lnSpc>
              <a:buNone/>
              <a:defRPr sz="1650">
                <a:solidFill>
                  <a:srgbClr val="111A30"/>
                </a:solidFill>
                <a:latin typeface="SF Mono"/>
                <a:ea typeface="SF Mono"/>
                <a:cs typeface="SF Mono"/>
              </a:defRPr>
            </a:pPr>
            <a:r>
              <a:rPr sz="1650">
                <a:solidFill>
                  <a:srgbClr val="111A30"/>
                </a:solidFill>
                <a:latin typeface="SF Mono"/>
                <a:ea typeface="SF Mono"/>
                <a:cs typeface="SF Mono"/>
              </a:rPr>
              <a:t>).tolist()</a:t>
            </a:r>
          </a:p>
          <a:p xmlns:a="http://schemas.openxmlformats.org/drawingml/2006/main">
            <a:pPr algn="l">
              <a:lnSpc>
                <a:spcPct val="107000"/>
              </a:lnSpc>
              <a:buNone/>
              <a:defRPr sz="1650">
                <a:solidFill>
                  <a:srgbClr val="111A30"/>
                </a:solidFill>
                <a:latin typeface="SF Mono"/>
                <a:ea typeface="SF Mono"/>
                <a:cs typeface="SF Mono"/>
              </a:defRPr>
            </a:pPr>
            <a:r>
              <a:rPr sz="1650">
                <a:solidFill>
                  <a:srgbClr val="111A30"/>
                </a:solidFill>
                <a:latin typeface="SF Mono"/>
                <a:ea typeface="SF Mono"/>
                <a:cs typeface="SF Mono"/>
              </a:rPr>
              <a:t>sudut_tutup = sudut + sudut[:1]</a:t>
            </a:r>
          </a:p>
        </p:txBody>
      </p:sp>
      <p:sp>
        <p:nvSpPr>
          <p:cNvPr id="7" name="Drawing code">
            <a:extLst xmlns:a="http://schemas.openxmlformats.org/drawingml/2006/main">
              <a:ext uri="{FF2B5EF4-FFF2-40B4-BE49-F238E27FC236}">
                <a16:creationId xmlns:a16="http://schemas.microsoft.com/office/drawing/2014/main" id="{6AA2CBE9-215D-4762-8FCD-5E6D908A424B}"/>
              </a:ext>
            </a:extLst>
          </p:cNvPr>
          <p:cNvSpPr>
            <a:spLocks xmlns:a="http://schemas.openxmlformats.org/drawingml/2006/main" noGrp="1"/>
          </p:cNvSpPr>
          <p:nvPr/>
        </p:nvSpPr>
        <p:spPr>
          <a:xfrm xmlns:a="http://schemas.openxmlformats.org/drawingml/2006/main">
            <a:off x="6257925" y="2219325"/>
            <a:ext cx="5248275" cy="3886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a:solidFill>
                  <a:srgbClr val="111A30"/>
                </a:solidFill>
                <a:latin typeface="SF Mono"/>
                <a:ea typeface="SF Mono"/>
                <a:cs typeface="SF Mono"/>
              </a:defRPr>
            </a:defPPr>
          </a:lstStyle>
          <a:p xmlns:a="http://schemas.openxmlformats.org/drawingml/2006/main">
            <a:pPr algn="l">
              <a:lnSpc>
                <a:spcPct val="107000"/>
              </a:lnSpc>
              <a:buNone/>
              <a:defRPr sz="1650">
                <a:solidFill>
                  <a:srgbClr val="111A30"/>
                </a:solidFill>
                <a:latin typeface="SF Mono"/>
                <a:ea typeface="SF Mono"/>
                <a:cs typeface="SF Mono"/>
              </a:defRPr>
            </a:pPr>
            <a:r>
              <a:rPr sz="1650">
                <a:solidFill>
                  <a:srgbClr val="111A30"/>
                </a:solidFill>
                <a:latin typeface="SF Mono"/>
                <a:ea typeface="SF Mono"/>
                <a:cs typeface="SF Mono"/>
              </a:rPr>
              <a:t>fig, ax = plt.subplots(</a:t>
            </a:r>
          </a:p>
          <a:p xmlns:a="http://schemas.openxmlformats.org/drawingml/2006/main">
            <a:pPr algn="l">
              <a:lnSpc>
                <a:spcPct val="107000"/>
              </a:lnSpc>
              <a:buNone/>
              <a:defRPr sz="1650">
                <a:solidFill>
                  <a:srgbClr val="111A30"/>
                </a:solidFill>
                <a:latin typeface="SF Mono"/>
                <a:ea typeface="SF Mono"/>
                <a:cs typeface="SF Mono"/>
              </a:defRPr>
            </a:pPr>
            <a:r>
              <a:rPr sz="1650">
                <a:solidFill>
                  <a:srgbClr val="111A30"/>
                </a:solidFill>
                <a:latin typeface="SF Mono"/>
                <a:ea typeface="SF Mono"/>
                <a:cs typeface="SF Mono"/>
              </a:rPr>
              <a:t>    subplot_kw={"polar": True})</a:t>
            </a:r>
          </a:p>
          <a:p xmlns:a="http://schemas.openxmlformats.org/drawingml/2006/main">
            <a:pPr algn="l">
              <a:lnSpc>
                <a:spcPct val="107000"/>
              </a:lnSpc>
              <a:buNone/>
              <a:defRPr sz="1650">
                <a:solidFill>
                  <a:srgbClr val="111A30"/>
                </a:solidFill>
                <a:latin typeface="SF Mono"/>
                <a:ea typeface="SF Mono"/>
                <a:cs typeface="SF Mono"/>
              </a:defRPr>
            </a:pPr>
            <a:r>
              <a:rPr sz="1650">
                <a:solidFill>
                  <a:srgbClr val="111A30"/>
                </a:solidFill>
                <a:latin typeface="SF Mono"/>
                <a:ea typeface="SF Mono"/>
                <a:cs typeface="SF Mono"/>
              </a:rPr>
              <a:t>for cabang in ["Utara", "Tengah"]:</a:t>
            </a:r>
          </a:p>
          <a:p xmlns:a="http://schemas.openxmlformats.org/drawingml/2006/main">
            <a:pPr algn="l">
              <a:lnSpc>
                <a:spcPct val="107000"/>
              </a:lnSpc>
              <a:buNone/>
              <a:defRPr sz="1650">
                <a:solidFill>
                  <a:srgbClr val="111A30"/>
                </a:solidFill>
                <a:latin typeface="SF Mono"/>
                <a:ea typeface="SF Mono"/>
                <a:cs typeface="SF Mono"/>
              </a:defRPr>
            </a:pPr>
            <a:r>
              <a:rPr sz="1650">
                <a:solidFill>
                  <a:srgbClr val="111A30"/>
                </a:solidFill>
                <a:latin typeface="SF Mono"/>
                <a:ea typeface="SF Mono"/>
                <a:cs typeface="SF Mono"/>
              </a:rPr>
              <a:t>    nilai = pangsa.loc[cabang].tolist()</a:t>
            </a:r>
          </a:p>
          <a:p xmlns:a="http://schemas.openxmlformats.org/drawingml/2006/main">
            <a:pPr algn="l">
              <a:lnSpc>
                <a:spcPct val="107000"/>
              </a:lnSpc>
              <a:buNone/>
              <a:defRPr sz="1650">
                <a:solidFill>
                  <a:srgbClr val="111A30"/>
                </a:solidFill>
                <a:latin typeface="SF Mono"/>
                <a:ea typeface="SF Mono"/>
                <a:cs typeface="SF Mono"/>
              </a:defRPr>
            </a:pPr>
            <a:r>
              <a:rPr sz="1650">
                <a:solidFill>
                  <a:srgbClr val="111A30"/>
                </a:solidFill>
                <a:latin typeface="SF Mono"/>
                <a:ea typeface="SF Mono"/>
                <a:cs typeface="SF Mono"/>
              </a:rPr>
              <a:t>    nilai_tutup = nilai + nilai[:1]</a:t>
            </a:r>
          </a:p>
          <a:p xmlns:a="http://schemas.openxmlformats.org/drawingml/2006/main">
            <a:pPr algn="l">
              <a:lnSpc>
                <a:spcPct val="107000"/>
              </a:lnSpc>
              <a:buNone/>
              <a:defRPr sz="1650">
                <a:solidFill>
                  <a:srgbClr val="111A30"/>
                </a:solidFill>
                <a:latin typeface="SF Mono"/>
                <a:ea typeface="SF Mono"/>
                <a:cs typeface="SF Mono"/>
              </a:defRPr>
            </a:pPr>
            <a:r>
              <a:rPr sz="1650">
                <a:solidFill>
                  <a:srgbClr val="111A30"/>
                </a:solidFill>
                <a:latin typeface="SF Mono"/>
                <a:ea typeface="SF Mono"/>
                <a:cs typeface="SF Mono"/>
              </a:rPr>
              <a:t>    ax.plot(sudut_tutup, nilai_tutup,</a:t>
            </a:r>
          </a:p>
          <a:p xmlns:a="http://schemas.openxmlformats.org/drawingml/2006/main">
            <a:pPr algn="l">
              <a:lnSpc>
                <a:spcPct val="107000"/>
              </a:lnSpc>
              <a:buNone/>
              <a:defRPr sz="1650">
                <a:solidFill>
                  <a:srgbClr val="111A30"/>
                </a:solidFill>
                <a:latin typeface="SF Mono"/>
                <a:ea typeface="SF Mono"/>
                <a:cs typeface="SF Mono"/>
              </a:defRPr>
            </a:pPr>
            <a:r>
              <a:rPr sz="1650">
                <a:solidFill>
                  <a:srgbClr val="111A30"/>
                </a:solidFill>
                <a:latin typeface="SF Mono"/>
                <a:ea typeface="SF Mono"/>
                <a:cs typeface="SF Mono"/>
              </a:rPr>
              <a:t>            linewidth=2, label=cabang)</a:t>
            </a:r>
          </a:p>
          <a:p xmlns:a="http://schemas.openxmlformats.org/drawingml/2006/main">
            <a:pPr algn="l">
              <a:lnSpc>
                <a:spcPct val="107000"/>
              </a:lnSpc>
              <a:buNone/>
              <a:defRPr sz="1650">
                <a:solidFill>
                  <a:srgbClr val="111A30"/>
                </a:solidFill>
                <a:latin typeface="SF Mono"/>
                <a:ea typeface="SF Mono"/>
                <a:cs typeface="SF Mono"/>
              </a:defRPr>
            </a:pPr>
            <a:r>
              <a:rPr sz="1650">
                <a:solidFill>
                  <a:srgbClr val="111A30"/>
                </a:solidFill>
                <a:latin typeface="SF Mono"/>
                <a:ea typeface="SF Mono"/>
                <a:cs typeface="SF Mono"/>
              </a:rPr>
              <a:t>    ax.fill(sudut_tutup, nilai_tutup,</a:t>
            </a:r>
          </a:p>
          <a:p xmlns:a="http://schemas.openxmlformats.org/drawingml/2006/main">
            <a:pPr algn="l">
              <a:lnSpc>
                <a:spcPct val="107000"/>
              </a:lnSpc>
              <a:buNone/>
              <a:defRPr sz="1650">
                <a:solidFill>
                  <a:srgbClr val="111A30"/>
                </a:solidFill>
                <a:latin typeface="SF Mono"/>
                <a:ea typeface="SF Mono"/>
                <a:cs typeface="SF Mono"/>
              </a:defRPr>
            </a:pPr>
            <a:r>
              <a:rPr sz="1650">
                <a:solidFill>
                  <a:srgbClr val="111A30"/>
                </a:solidFill>
                <a:latin typeface="SF Mono"/>
                <a:ea typeface="SF Mono"/>
                <a:cs typeface="SF Mono"/>
              </a:rPr>
              <a:t>            alpha=0.12)</a:t>
            </a:r>
          </a:p>
          <a:p xmlns:a="http://schemas.openxmlformats.org/drawingml/2006/main">
            <a:pPr algn="l">
              <a:lnSpc>
                <a:spcPct val="107000"/>
              </a:lnSpc>
              <a:buNone/>
              <a:defRPr sz="1650">
                <a:solidFill>
                  <a:srgbClr val="111A30"/>
                </a:solidFill>
                <a:latin typeface="SF Mono"/>
                <a:ea typeface="SF Mono"/>
                <a:cs typeface="SF Mono"/>
              </a:defRPr>
            </a:pPr>
            <a:r>
              <a:rPr sz="1650">
                <a:solidFill>
                  <a:srgbClr val="111A30"/>
                </a:solidFill>
                <a:latin typeface="SF Mono"/>
                <a:ea typeface="SF Mono"/>
                <a:cs typeface="SF Mono"/>
              </a:rPr>
              <a:t>ax.set_xticks(sudut)</a:t>
            </a:r>
          </a:p>
          <a:p xmlns:a="http://schemas.openxmlformats.org/drawingml/2006/main">
            <a:pPr algn="l">
              <a:lnSpc>
                <a:spcPct val="107000"/>
              </a:lnSpc>
              <a:buNone/>
              <a:defRPr sz="1650">
                <a:solidFill>
                  <a:srgbClr val="111A30"/>
                </a:solidFill>
                <a:latin typeface="SF Mono"/>
                <a:ea typeface="SF Mono"/>
                <a:cs typeface="SF Mono"/>
              </a:defRPr>
            </a:pPr>
            <a:r>
              <a:rPr sz="1650">
                <a:solidFill>
                  <a:srgbClr val="111A30"/>
                </a:solidFill>
                <a:latin typeface="SF Mono"/>
                <a:ea typeface="SF Mono"/>
                <a:cs typeface="SF Mono"/>
              </a:rPr>
              <a:t>ax.set_xticklabels(kategori)</a:t>
            </a:r>
          </a:p>
          <a:p xmlns:a="http://schemas.openxmlformats.org/drawingml/2006/main">
            <a:pPr algn="l">
              <a:lnSpc>
                <a:spcPct val="107000"/>
              </a:lnSpc>
              <a:buNone/>
              <a:defRPr sz="1650">
                <a:solidFill>
                  <a:srgbClr val="111A30"/>
                </a:solidFill>
                <a:latin typeface="SF Mono"/>
                <a:ea typeface="SF Mono"/>
                <a:cs typeface="SF Mono"/>
              </a:defRPr>
            </a:pPr>
            <a:r>
              <a:rPr sz="1650">
                <a:solidFill>
                  <a:srgbClr val="111A30"/>
                </a:solidFill>
                <a:latin typeface="SF Mono"/>
                <a:ea typeface="SF Mono"/>
                <a:cs typeface="SF Mono"/>
              </a:rPr>
              <a:t>ax.set_ylim(0, 40)</a:t>
            </a:r>
          </a:p>
          <a:p xmlns:a="http://schemas.openxmlformats.org/drawingml/2006/main">
            <a:pPr algn="l">
              <a:lnSpc>
                <a:spcPct val="107000"/>
              </a:lnSpc>
              <a:buNone/>
              <a:defRPr sz="1650">
                <a:solidFill>
                  <a:srgbClr val="111A30"/>
                </a:solidFill>
                <a:latin typeface="SF Mono"/>
                <a:ea typeface="SF Mono"/>
                <a:cs typeface="SF Mono"/>
              </a:defRPr>
            </a:pPr>
            <a:r>
              <a:rPr sz="1650">
                <a:solidFill>
                  <a:srgbClr val="111A30"/>
                </a:solidFill>
                <a:latin typeface="SF Mono"/>
                <a:ea typeface="SF Mono"/>
                <a:cs typeface="SF Mono"/>
              </a:rPr>
              <a:t>ax.legend()</a:t>
            </a:r>
          </a:p>
          <a:p xmlns:a="http://schemas.openxmlformats.org/drawingml/2006/main">
            <a:pPr algn="l">
              <a:lnSpc>
                <a:spcPct val="107000"/>
              </a:lnSpc>
              <a:buNone/>
              <a:defRPr sz="1650">
                <a:solidFill>
                  <a:srgbClr val="111A30"/>
                </a:solidFill>
                <a:latin typeface="SF Mono"/>
                <a:ea typeface="SF Mono"/>
                <a:cs typeface="SF Mono"/>
              </a:defRPr>
            </a:pPr>
            <a:r>
              <a:rPr sz="1650">
                <a:solidFill>
                  <a:srgbClr val="111A30"/>
                </a:solidFill>
                <a:latin typeface="SF Mono"/>
                <a:ea typeface="SF Mono"/>
                <a:cs typeface="SF Mono"/>
              </a:rPr>
              <a:t>plt.show()</a:t>
            </a:r>
          </a:p>
        </p:txBody>
      </p:sp>
      <p:sp>
        <p:nvSpPr>
          <p:cNvPr id="8" name="Notebook reference">
            <a:extLst xmlns:a="http://schemas.openxmlformats.org/drawingml/2006/main">
              <a:ext uri="{FF2B5EF4-FFF2-40B4-BE49-F238E27FC236}">
                <a16:creationId xmlns:a16="http://schemas.microsoft.com/office/drawing/2014/main" id="{89F18FB9-A203-4B16-87E3-EB49580F4645}"/>
              </a:ext>
            </a:extLst>
          </p:cNvPr>
          <p:cNvSpPr>
            <a:spLocks xmlns:a="http://schemas.openxmlformats.org/drawingml/2006/main" noGrp="1"/>
          </p:cNvSpPr>
          <p:nvPr/>
        </p:nvSpPr>
        <p:spPr>
          <a:xfrm xmlns:a="http://schemas.openxmlformats.org/drawingml/2006/main">
            <a:off x="685800" y="62007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a:solidFill>
                  <a:srgbClr val="196B9B"/>
                </a:solidFill>
                <a:latin typeface="SF Pro Text"/>
                <a:ea typeface="SF Pro Text"/>
                <a:cs typeface="SF Pro Text"/>
              </a:defRPr>
            </a:defPPr>
          </a:lstStyle>
          <a:p xmlns:a="http://schemas.openxmlformats.org/drawingml/2006/main">
            <a:pPr algn="l">
              <a:lnSpc>
                <a:spcPct val="105000"/>
              </a:lnSpc>
              <a:buNone/>
              <a:defRPr sz="1350">
                <a:solidFill>
                  <a:srgbClr val="196B9B"/>
                </a:solidFill>
                <a:latin typeface="SF Pro Text"/>
                <a:ea typeface="SF Pro Text"/>
                <a:cs typeface="SF Pro Text"/>
              </a:defRPr>
            </a:pPr>
            <a:r>
              <a:rPr sz="1350">
                <a:solidFill>
                  <a:srgbClr val="196B9B"/>
                </a:solidFill>
                <a:latin typeface="SF Pro Text"/>
                <a:ea typeface="SF Pro Text"/>
                <a:cs typeface="SF Pro Text"/>
              </a:rPr>
              <a:t>Notebook blok 11. Sudut dan nilai sama-sama ditambah titik pertama di akhir.</a:t>
            </a:r>
          </a:p>
        </p:txBody>
      </p:sp>
    </p:spTree>
    <p:extLst>
      <p:ext uri="{BB962C8B-B14F-4D97-AF65-F5344CB8AC3E}">
        <p14:creationId xmlns:p14="http://schemas.microsoft.com/office/powerpoint/2010/main" val="1133174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21</ns0:Slides>
  <ns0:Notes>0</ns0:Notes>
  <ns0:HiddenSlides>0</ns0:HiddenSlides>
  <ns0:SharedDoc>false</ns0:SharedDoc>
  <ns0:DocSecurity>0</ns0:DocSecurity>
</ns0: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2026-10-09T09:28:14.9550000Z</dcterms:created>
  <dcterms:modified xsi:type="dcterms:W3CDTF">2026-10-09T09:28:14.9550000Z</dcterms:modified>
</coreProperties>
</file>