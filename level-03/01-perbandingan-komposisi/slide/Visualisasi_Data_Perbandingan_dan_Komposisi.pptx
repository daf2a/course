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extendedCharts/chart.xml" ContentType="application/vnd.ms-office.chartex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759db1f194805" /><Relationship Type="http://schemas.openxmlformats.org/officeDocument/2006/relationships/extended-properties" Target="/docProps/app.xml" Id="Ra0254a9631ee40b7" /><Relationship Type="http://schemas.openxmlformats.org/officeDocument/2006/relationships/officeDocument" Target="/ppt/presentation.xml" Id="Rf71c3f02d3cc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0015eb5184171"/>
  </p:sldMasterIdLst>
  <p:notesMasterIdLst>
    <p:notesMasterId xmlns:r="http://schemas.openxmlformats.org/officeDocument/2006/relationships" r:id="R5514139064364300"/>
  </p:notesMasterIdLst>
  <p:sldIdLst>
    <p:sldId xmlns:r="http://schemas.openxmlformats.org/officeDocument/2006/relationships" id="256" r:id="Rfb2e26ce5bef41c2"/>
    <p:sldId xmlns:r="http://schemas.openxmlformats.org/officeDocument/2006/relationships" id="257" r:id="R22c628670a5144c5"/>
    <p:sldId xmlns:r="http://schemas.openxmlformats.org/officeDocument/2006/relationships" id="258" r:id="R3848a212627c4afd"/>
    <p:sldId xmlns:r="http://schemas.openxmlformats.org/officeDocument/2006/relationships" id="259" r:id="Rdf29cf09b99e4b01"/>
    <p:sldId xmlns:r="http://schemas.openxmlformats.org/officeDocument/2006/relationships" id="260" r:id="R548fcece61cc4205"/>
    <p:sldId xmlns:r="http://schemas.openxmlformats.org/officeDocument/2006/relationships" id="261" r:id="Rc99e34cd7f164c05"/>
    <p:sldId xmlns:r="http://schemas.openxmlformats.org/officeDocument/2006/relationships" id="262" r:id="R7058c2b1c6214e16"/>
    <p:sldId xmlns:r="http://schemas.openxmlformats.org/officeDocument/2006/relationships" id="263" r:id="R615688363d664f29"/>
    <p:sldId xmlns:r="http://schemas.openxmlformats.org/officeDocument/2006/relationships" id="264" r:id="Rbcffca3492fa49e5"/>
    <p:sldId xmlns:r="http://schemas.openxmlformats.org/officeDocument/2006/relationships" id="265" r:id="R4e698e345f12433d"/>
    <p:sldId xmlns:r="http://schemas.openxmlformats.org/officeDocument/2006/relationships" id="266" r:id="R1c0e790e3acc45ad"/>
    <p:sldId xmlns:r="http://schemas.openxmlformats.org/officeDocument/2006/relationships" id="267" r:id="R5b3bc6f3183e4552"/>
    <p:sldId xmlns:r="http://schemas.openxmlformats.org/officeDocument/2006/relationships" id="268" r:id="R776e0a21db65428f"/>
    <p:sldId xmlns:r="http://schemas.openxmlformats.org/officeDocument/2006/relationships" id="269" r:id="R008bc52c930445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ad80e8d9142e1" /><Relationship Type="http://schemas.openxmlformats.org/officeDocument/2006/relationships/slideMaster" Target="/ppt/slideMasters/slideMaster1.xml" Id="Rf430015eb5184171" /><Relationship Type="http://schemas.openxmlformats.org/officeDocument/2006/relationships/notesMaster" Target="/ppt/notesMasters/notesMaster1.xml" Id="R5514139064364300" /><Relationship Type="http://schemas.openxmlformats.org/officeDocument/2006/relationships/presProps" Target="/ppt/presProps.xml" Id="R83c2abdb61c448b3" /><Relationship Type="http://schemas.openxmlformats.org/officeDocument/2006/relationships/tableStyles" Target="/ppt/tableStyles.xml" Id="R6ccde546180141ff" /><Relationship Type="http://schemas.openxmlformats.org/officeDocument/2006/relationships/slide" Target="/ppt/slides/slide1.xml" Id="Rfb2e26ce5bef41c2" /><Relationship Type="http://schemas.openxmlformats.org/officeDocument/2006/relationships/slide" Target="/ppt/slides/slide2.xml" Id="R22c628670a5144c5" /><Relationship Type="http://schemas.openxmlformats.org/officeDocument/2006/relationships/slide" Target="/ppt/slides/slide3.xml" Id="R3848a212627c4afd" /><Relationship Type="http://schemas.openxmlformats.org/officeDocument/2006/relationships/slide" Target="/ppt/slides/slide4.xml" Id="Rdf29cf09b99e4b01" /><Relationship Type="http://schemas.openxmlformats.org/officeDocument/2006/relationships/slide" Target="/ppt/slides/slide5.xml" Id="R548fcece61cc4205" /><Relationship Type="http://schemas.openxmlformats.org/officeDocument/2006/relationships/slide" Target="/ppt/slides/slide6.xml" Id="Rc99e34cd7f164c05" /><Relationship Type="http://schemas.openxmlformats.org/officeDocument/2006/relationships/slide" Target="/ppt/slides/slide7.xml" Id="R7058c2b1c6214e16" /><Relationship Type="http://schemas.openxmlformats.org/officeDocument/2006/relationships/slide" Target="/ppt/slides/slide8.xml" Id="R615688363d664f29" /><Relationship Type="http://schemas.openxmlformats.org/officeDocument/2006/relationships/slide" Target="/ppt/slides/slide9.xml" Id="Rbcffca3492fa49e5" /><Relationship Type="http://schemas.openxmlformats.org/officeDocument/2006/relationships/slide" Target="/ppt/slides/slide10.xml" Id="R4e698e345f12433d" /><Relationship Type="http://schemas.openxmlformats.org/officeDocument/2006/relationships/slide" Target="/ppt/slides/slide11.xml" Id="R1c0e790e3acc45ad" /><Relationship Type="http://schemas.openxmlformats.org/officeDocument/2006/relationships/slide" Target="/ppt/slides/slide12.xml" Id="R5b3bc6f3183e4552" /><Relationship Type="http://schemas.openxmlformats.org/officeDocument/2006/relationships/slide" Target="/ppt/slides/slide13.xml" Id="R776e0a21db65428f" /><Relationship Type="http://schemas.openxmlformats.org/officeDocument/2006/relationships/slide" Target="/ppt/slides/slide14.xml" Id="R008bc52c9304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5d227657f42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cae5f3e0c34aba" /><Relationship Type="http://schemas.openxmlformats.org/officeDocument/2006/relationships/notesMaster" Target="/ppt/notesMasters/notesMaster1.xml" Id="Re02570e148964c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5ec09da434d1c" /><Relationship Type="http://schemas.openxmlformats.org/officeDocument/2006/relationships/notesMaster" Target="/ppt/notesMasters/notesMaster1.xml" Id="Rddee8faab1bf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ef1e2f95c4d9e" /><Relationship Type="http://schemas.openxmlformats.org/officeDocument/2006/relationships/notesMaster" Target="/ppt/notesMasters/notesMaster1.xml" Id="Rcaa311e397a8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a1ab055e445a8" /><Relationship Type="http://schemas.openxmlformats.org/officeDocument/2006/relationships/notesMaster" Target="/ppt/notesMasters/notesMaster1.xml" Id="R4845446a2198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40ef74c1d4e0e" /><Relationship Type="http://schemas.openxmlformats.org/officeDocument/2006/relationships/notesMaster" Target="/ppt/notesMasters/notesMaster1.xml" Id="R195bdf2b46b244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a091ae2f7d4e87" /><Relationship Type="http://schemas.openxmlformats.org/officeDocument/2006/relationships/notesMaster" Target="/ppt/notesMasters/notesMaster1.xml" Id="R6c583b97dfd140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0d01f0c844f2e" /><Relationship Type="http://schemas.openxmlformats.org/officeDocument/2006/relationships/notesMaster" Target="/ppt/notesMasters/notesMaster1.xml" Id="R0edce63b4f5841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9420dfaf0d40bb" /><Relationship Type="http://schemas.openxmlformats.org/officeDocument/2006/relationships/notesMaster" Target="/ppt/notesMasters/notesMaster1.xml" Id="R845559b77491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ad77c3536343d5" /><Relationship Type="http://schemas.openxmlformats.org/officeDocument/2006/relationships/notesMaster" Target="/ppt/notesMasters/notesMaster1.xml" Id="Ra7045327cafd45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4dc83501e94950" /><Relationship Type="http://schemas.openxmlformats.org/officeDocument/2006/relationships/notesMaster" Target="/ppt/notesMasters/notesMaster1.xml" Id="Rff186a86e2494e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af34e57e794314" /><Relationship Type="http://schemas.openxmlformats.org/officeDocument/2006/relationships/notesMaster" Target="/ppt/notesMasters/notesMaster1.xml" Id="R6224808bdfb049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0dc73972746a6" /><Relationship Type="http://schemas.openxmlformats.org/officeDocument/2006/relationships/notesMaster" Target="/ppt/notesMasters/notesMaster1.xml" Id="Re4c9620bb3bd49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3466fd2d6c482c" /><Relationship Type="http://schemas.openxmlformats.org/officeDocument/2006/relationships/notesMaster" Target="/ppt/notesMasters/notesMaster1.xml" Id="Raa71631cdb0946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133cc7d4644dab" /><Relationship Type="http://schemas.openxmlformats.org/officeDocument/2006/relationships/notesMaster" Target="/ppt/notesMasters/notesMaster1.xml" Id="Rb9d6e00cab22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Aturan pemilihan grafik merangkum bentuk data dan pertanyaan latihan.</a:t>
            </a:r>
          </a:p>
          <a:p xmlns:a="http://schemas.openxmlformats.org/drawingml/2006/main">
            <a:r>
              <a:t>API agregasi Pandas: https://pandas.pydata.org/docs/reference/api/pandas.DataFrame.groupby.html</a:t>
            </a:r>
          </a:p>
          <a:p xmlns:a="http://schemas.openxmlformats.org/drawingml/2006/main">
            <a:r>
              <a:t>API tabel pivot Pandas: https://pandas.pydata.org/docs/reference/api/pandas.DataFrame.pivot.html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API agregasi menggunakan Pandas DataFrame.groupby dan sum.</a:t>
            </a:r>
          </a:p>
          <a:p xmlns:a="http://schemas.openxmlformats.org/drawingml/2006/main">
            <a:r>
              <a:t>https://pandas.pydata.org/docs/reference/api/pandas.DataFrame.groupby.html</a:t>
            </a:r>
          </a:p>
          <a:p xmlns:a="http://schemas.openxmlformats.org/drawingml/2006/main">
            <a:r>
              <a:t>Matplotlib bar chart: https://matplotlib.org/stable/api/_as_gen/matplotlib.pyplot.bar.html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 plot menghitung observasi mentah per kategori.</a:t>
            </a:r>
          </a:p>
          <a:p xmlns:a="http://schemas.openxmlformats.org/drawingml/2006/main">
            <a:r>
              <a:t>Pandas Series.value_counts: https://pandas.pydata.org/docs/reference/api/pandas.Series.value_counts.html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Pandas DataFrame.pivot menyusun ulang data tanpa agregasi karena setiap pasangan cabang dan kategori unik.</a:t>
            </a:r>
          </a:p>
          <a:p xmlns:a="http://schemas.openxmlformats.org/drawingml/2006/main">
            <a:r>
              <a:t>https://pandas.pydata.org/docs/reference/api/pandas.DataFrame.pivot.html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Treemap merepresentasikan data bertingkat sebagai persegi panjang bersarang.</a:t>
            </a:r>
          </a:p>
          <a:p xmlns:a="http://schemas.openxmlformats.org/drawingml/2006/main">
            <a:r>
              <a:t>Dokumentasi Plotly Express: https://plotly.com/python/treemaps/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d491dca2740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f879f37f14f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c9ca8e65348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1ff075a0545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f4348dd1549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d8ab70f12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418F9-63E6-4E6E-9DCA-51A431B8D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A0D8A6-EE3B-482C-932D-68A35571C7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A3BD6C-5F0D-4B73-B148-D40B7E277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72223E-5CC9-4312-9C5E-BAC04C8CA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D16EF1-1B71-4B3C-80B1-0F7C3F118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1BCD64-3ED1-4D7A-9862-5697DCC61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AC51B-6831-4B47-AE9C-6C9D05CEC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841630-144B-4EFB-9A09-9F7AA5F896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7B050-740C-4081-89F8-0965972F0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8577B5-0AAB-4CAA-A457-C76D60A32A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adc3197c94348" /><Relationship Type="http://schemas.openxmlformats.org/officeDocument/2006/relationships/slideLayout" Target="/ppt/slideLayouts/slideLayout1.xml" Id="R1159b44dd6b54acd" /><Relationship Type="http://schemas.openxmlformats.org/officeDocument/2006/relationships/slideLayout" Target="/ppt/slideLayouts/slideLayout2.xml" Id="R551114920e3d40d4" /><Relationship Type="http://schemas.openxmlformats.org/officeDocument/2006/relationships/slideLayout" Target="/ppt/slideLayouts/slideLayout3.xml" Id="R4607cadb906f4ff5" /><Relationship Type="http://schemas.openxmlformats.org/officeDocument/2006/relationships/slideLayout" Target="/ppt/slideLayouts/slideLayout4.xml" Id="Ra244546b96984e85" /><Relationship Type="http://schemas.openxmlformats.org/officeDocument/2006/relationships/slideLayout" Target="/ppt/slideLayouts/slideLayout5.xml" Id="R7304bcef251d4077" /><Relationship Type="http://schemas.openxmlformats.org/officeDocument/2006/relationships/slideLayout" Target="/ppt/slideLayouts/slideLayout6.xml" Id="R3d0251439c174a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59b44dd6b54acd"/>
    <p:sldLayoutId xmlns:r="http://schemas.openxmlformats.org/officeDocument/2006/relationships" id="2147483650" r:id="R551114920e3d40d4"/>
    <p:sldLayoutId xmlns:r="http://schemas.openxmlformats.org/officeDocument/2006/relationships" id="2147483651" r:id="R4607cadb906f4ff5"/>
    <p:sldLayoutId xmlns:r="http://schemas.openxmlformats.org/officeDocument/2006/relationships" id="2147483652" r:id="Ra244546b96984e85"/>
    <p:sldLayoutId xmlns:r="http://schemas.openxmlformats.org/officeDocument/2006/relationships" id="2147483653" r:id="R7304bcef251d4077"/>
    <p:sldLayoutId xmlns:r="http://schemas.openxmlformats.org/officeDocument/2006/relationships" id="2147483654" r:id="R3d0251439c174a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ed7f1a2d74bd4" /><Relationship Type="http://schemas.openxmlformats.org/officeDocument/2006/relationships/image" Target="/ppt/media/image.png" Id="R91077625d83d4bff" /><Relationship Type="http://schemas.openxmlformats.org/officeDocument/2006/relationships/notesSlide" Target="/ppt/notesSlides/notesSlide1.xml" Id="R4e8137e21109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797ab2b9344b6" /><Relationship Type="http://schemas.openxmlformats.org/officeDocument/2006/relationships/notesSlide" Target="/ppt/notesSlides/notesSlide2.xml" Id="R0fed1834408a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7c466b2a84d08" /><Relationship Type="http://schemas.openxmlformats.org/officeDocument/2006/relationships/notesSlide" Target="/ppt/notesSlides/notesSlide3.xml" Id="R7c3c70966e48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567aa66e641af" /><Relationship Type="http://schemas.openxmlformats.org/officeDocument/2006/relationships/chart" Target="/ppt/slides/charts/chart1.xml" Id="R3c624e8ccd3c4fb0" /><Relationship Type="http://schemas.openxmlformats.org/officeDocument/2006/relationships/notesSlide" Target="/ppt/notesSlides/notesSlide4.xml" Id="R61dfaa05bd85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fae905cfc477e" /><Relationship Type="http://schemas.openxmlformats.org/officeDocument/2006/relationships/chart" Target="/ppt/slides/charts/chart2.xml" Id="R08ef67db4de74382" /><Relationship Type="http://schemas.openxmlformats.org/officeDocument/2006/relationships/notesSlide" Target="/ppt/notesSlides/notesSlide5.xml" Id="R66182fbb9f3b47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39a61a8354910" /><Relationship Type="http://schemas.openxmlformats.org/officeDocument/2006/relationships/chart" Target="/ppt/slides/charts/chart3.xml" Id="Racc0717c7db64ccb" /><Relationship Type="http://schemas.openxmlformats.org/officeDocument/2006/relationships/notesSlide" Target="/ppt/notesSlides/notesSlide6.xml" Id="Rc7c2b2f2d9a746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92f6602474d8a" /><Relationship Type="http://schemas.openxmlformats.org/officeDocument/2006/relationships/notesSlide" Target="/ppt/notesSlides/notesSlide7.xml" Id="Rc5f05c41e1ca41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6e54e369c4e68" /><Relationship Type="http://schemas.openxmlformats.org/officeDocument/2006/relationships/chart" Target="/ppt/slides/charts/chart4.xml" Id="Rf73b6d20cce84b0d" /><Relationship Type="http://schemas.openxmlformats.org/officeDocument/2006/relationships/chart" Target="/ppt/slides/charts/chart5.xml" Id="Ra1a05d7be6e644ab" /><Relationship Type="http://schemas.openxmlformats.org/officeDocument/2006/relationships/notesSlide" Target="/ppt/notesSlides/notesSlide8.xml" Id="Rff0b9f911e9b43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bc1ee71ba463f" /><Relationship Type="http://schemas.openxmlformats.org/officeDocument/2006/relationships/chart" Target="/ppt/slides/charts/chart6.xml" Id="Rc12723244d724bbd" /><Relationship Type="http://schemas.openxmlformats.org/officeDocument/2006/relationships/chart" Target="/ppt/slides/charts/chart7.xml" Id="Rc3ed12be01f04214" /><Relationship Type="http://schemas.openxmlformats.org/officeDocument/2006/relationships/notesSlide" Target="/ppt/notesSlides/notesSlide9.xml" Id="Reca561e2b201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20d5a3e154053" /><Relationship Type="http://schemas.microsoft.com/office/2014/relationships/chartEx" Target="/ppt/slides/extendedCharts/chart.xml" Id="R37def3e122e441bc" /><Relationship Type="http://schemas.openxmlformats.org/officeDocument/2006/relationships/image" Target="/ppt/media/image2.png" Id="R228d11d21ea34dc9" /><Relationship Type="http://schemas.openxmlformats.org/officeDocument/2006/relationships/notesSlide" Target="/ppt/notesSlides/notesSlide10.xml" Id="Re64e5a8ff37e4d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baa5e78ce47c4" /><Relationship Type="http://schemas.openxmlformats.org/officeDocument/2006/relationships/chart" Target="/ppt/slides/charts/chart8.xml" Id="R122caa0ef64d442a" /><Relationship Type="http://schemas.openxmlformats.org/officeDocument/2006/relationships/notesSlide" Target="/ppt/notesSlides/notesSlide11.xml" Id="R6644c5b872894d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d07ed7573471e" /><Relationship Type="http://schemas.openxmlformats.org/officeDocument/2006/relationships/notesSlide" Target="/ppt/notesSlides/notesSlide12.xml" Id="R8fb7c3d46f9342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26ec1e1f54ceb" /><Relationship Type="http://schemas.openxmlformats.org/officeDocument/2006/relationships/notesSlide" Target="/ppt/notesSlides/notesSlide13.xml" Id="Ra1e39fddf79148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eaf5f3c354088" /><Relationship Type="http://schemas.openxmlformats.org/officeDocument/2006/relationships/notesSlide" Target="/ppt/notesSlides/notesSlide14.xml" Id="R2fb7dde4278f47f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Total unit per kategori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Data'!$A$2:$A$6</c:f>
              <c:strCache>
                <c:ptCount val="5"/>
                <c:pt idx="0">
                  <c:v>Makanan</c:v>
                </c:pt>
                <c:pt idx="1">
                  <c:v>Minuman</c:v>
                </c:pt>
                <c:pt idx="2">
                  <c:v>Alat Tulis</c:v>
                </c:pt>
                <c:pt idx="3">
                  <c:v>Buku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119</c:v>
                </c:pt>
                <c:pt idx="1">
                  <c:v>92</c:v>
                </c:pt>
                <c:pt idx="2">
                  <c:v>87</c:v>
                </c:pt>
                <c:pt idx="3">
                  <c:v>80</c:v>
                </c:pt>
                <c:pt idx="4">
                  <c:v>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11A30"/>
                  </a:solidFill>
                  <a:latin typeface="SF Pro Text"/>
                  <a:ea typeface="SF Pro Text"/>
                  <a:cs typeface="SF Pro T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 terjual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pesanan per kategori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Pesanan</c:v>
          </c:tx>
          <c:spPr>
            <a:solidFill xmlns:a="http://schemas.openxmlformats.org/drawingml/2006/main">
              <a:srgbClr val="F5D36A"/>
            </a:solidFill>
          </c:spPr>
          <c:cat>
            <c:strRef>
              <c:f>'Chart Data'!$A$2:$A$6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11A30"/>
                  </a:solidFill>
                  <a:latin typeface="SF Pro Text"/>
                  <a:ea typeface="SF Pro Text"/>
                  <a:cs typeface="SF Pro T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Jumlah pesanan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Unit terjual per kategori dan cabang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Utara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32</c:v>
                </c:pt>
                <c:pt idx="1">
                  <c:v>25</c:v>
                </c:pt>
                <c:pt idx="2">
                  <c:v>40</c:v>
                </c:pt>
                <c:pt idx="3">
                  <c:v>33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v>Tengah</c:v>
          </c:tx>
          <c:spPr>
            <a:solidFill xmlns:a="http://schemas.openxmlformats.org/drawingml/2006/main">
              <a:srgbClr val="F5D36A"/>
            </a:solidFill>
          </c:spPr>
          <c:cat>
            <c:strRef>
              <c:f>'Chart Data'!$C$2:$C$6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26</c:v>
                </c:pt>
                <c:pt idx="1">
                  <c:v>34</c:v>
                </c:pt>
                <c:pt idx="2">
                  <c:v>35</c:v>
                </c:pt>
                <c:pt idx="3">
                  <c:v>28</c:v>
                </c:pt>
                <c:pt idx="4">
                  <c:v>21</c:v>
                </c:pt>
              </c:numCache>
            </c:numRef>
          </c:val>
        </c:ser>
        <c:ser>
          <c:idx val="2"/>
          <c:order val="2"/>
          <c:tx>
            <c:v>Selatan</c:v>
          </c:tx>
          <c:spPr>
            <a:solidFill xmlns:a="http://schemas.openxmlformats.org/drawingml/2006/main">
              <a:srgbClr val="55B77A"/>
            </a:solidFill>
          </c:spPr>
          <c:cat>
            <c:strRef>
              <c:f>'Chart Data'!$E$2:$E$6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22</c:v>
                </c:pt>
                <c:pt idx="1">
                  <c:v>28</c:v>
                </c:pt>
                <c:pt idx="2">
                  <c:v>44</c:v>
                </c:pt>
                <c:pt idx="3">
                  <c:v>31</c:v>
                </c:pt>
                <c:pt idx="4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Kategori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 terjual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Stacked bar: jumlah unit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Buku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32</c:v>
                </c:pt>
                <c:pt idx="1">
                  <c:v>26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v>Alat Tulis</c:v>
          </c:tx>
          <c:spPr>
            <a:solidFill xmlns:a="http://schemas.openxmlformats.org/drawingml/2006/main">
              <a:srgbClr val="F5D36A"/>
            </a:solidFill>
          </c:spPr>
          <c:cat>
            <c:strRef>
              <c:f>'Chart Data'!$C$2:$C$4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25</c:v>
                </c:pt>
                <c:pt idx="1">
                  <c:v>34</c:v>
                </c:pt>
                <c:pt idx="2">
                  <c:v>28</c:v>
                </c:pt>
              </c:numCache>
            </c:numRef>
          </c:val>
        </c:ser>
        <c:ser>
          <c:idx val="2"/>
          <c:order val="2"/>
          <c:tx>
            <c:v>Makanan</c:v>
          </c:tx>
          <c:spPr>
            <a:solidFill xmlns:a="http://schemas.openxmlformats.org/drawingml/2006/main">
              <a:srgbClr val="55B77A"/>
            </a:solidFill>
          </c:spPr>
          <c:cat>
            <c:strRef>
              <c:f>'Chart Data'!$E$2:$E$4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44</c:v>
                </c:pt>
              </c:numCache>
            </c:numRef>
          </c:val>
        </c:ser>
        <c:ser>
          <c:idx val="3"/>
          <c:order val="3"/>
          <c:tx>
            <c:v>Minuman</c:v>
          </c:tx>
          <c:spPr>
            <a:solidFill xmlns:a="http://schemas.openxmlformats.org/drawingml/2006/main">
              <a:srgbClr val="196B9B"/>
            </a:solidFill>
          </c:spPr>
          <c:cat>
            <c:strRef>
              <c:f>'Chart Data'!$G$2:$G$4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33</c:v>
                </c:pt>
                <c:pt idx="1">
                  <c:v>28</c:v>
                </c:pt>
                <c:pt idx="2">
                  <c:v>31</c:v>
                </c:pt>
              </c:numCache>
            </c:numRef>
          </c:val>
        </c:ser>
        <c:ser>
          <c:idx val="4"/>
          <c:order val="4"/>
          <c:tx>
            <c:v>Aksesori</c:v>
          </c:tx>
          <c:spPr>
            <a:solidFill xmlns:a="http://schemas.openxmlformats.org/drawingml/2006/main">
              <a:srgbClr val="D99A37"/>
            </a:solidFill>
          </c:spPr>
          <c:cat>
            <c:strRef>
              <c:f>'Chart Data'!$I$2:$I$4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Data'!$J$2:$J$4</c:f>
              <c:numCache>
                <c:formatCode>General</c:formatCode>
                <c:ptCount val="3"/>
                <c:pt idx="0">
                  <c:v>18</c:v>
                </c:pt>
                <c:pt idx="1">
                  <c:v>21</c:v>
                </c:pt>
                <c:pt idx="2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Cabang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 terjual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100% stacked bar: persentase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Buku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21.6</c:v>
                </c:pt>
                <c:pt idx="1">
                  <c:v>18.1</c:v>
                </c:pt>
                <c:pt idx="2">
                  <c:v>14.7</c:v>
                </c:pt>
              </c:numCache>
            </c:numRef>
          </c:val>
        </c:ser>
        <c:ser>
          <c:idx val="1"/>
          <c:order val="1"/>
          <c:tx>
            <c:v>Alat Tulis</c:v>
          </c:tx>
          <c:spPr>
            <a:solidFill xmlns:a="http://schemas.openxmlformats.org/drawingml/2006/main">
              <a:srgbClr val="F5D36A"/>
            </a:solidFill>
          </c:spPr>
          <c:cat>
            <c:strRef>
              <c:f>'Chart Data'!$C$2:$C$4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16.9</c:v>
                </c:pt>
                <c:pt idx="1">
                  <c:v>23.6</c:v>
                </c:pt>
                <c:pt idx="2">
                  <c:v>18.7</c:v>
                </c:pt>
              </c:numCache>
            </c:numRef>
          </c:val>
        </c:ser>
        <c:ser>
          <c:idx val="2"/>
          <c:order val="2"/>
          <c:tx>
            <c:v>Makanan</c:v>
          </c:tx>
          <c:spPr>
            <a:solidFill xmlns:a="http://schemas.openxmlformats.org/drawingml/2006/main">
              <a:srgbClr val="55B77A"/>
            </a:solidFill>
          </c:spPr>
          <c:cat>
            <c:strRef>
              <c:f>'Chart Data'!$E$2:$E$4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27</c:v>
                </c:pt>
                <c:pt idx="1">
                  <c:v>24.3</c:v>
                </c:pt>
                <c:pt idx="2">
                  <c:v>29.3</c:v>
                </c:pt>
              </c:numCache>
            </c:numRef>
          </c:val>
        </c:ser>
        <c:ser>
          <c:idx val="3"/>
          <c:order val="3"/>
          <c:tx>
            <c:v>Minuman</c:v>
          </c:tx>
          <c:spPr>
            <a:solidFill xmlns:a="http://schemas.openxmlformats.org/drawingml/2006/main">
              <a:srgbClr val="196B9B"/>
            </a:solidFill>
          </c:spPr>
          <c:cat>
            <c:strRef>
              <c:f>'Chart Data'!$G$2:$G$4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22.3</c:v>
                </c:pt>
                <c:pt idx="1">
                  <c:v>19.4</c:v>
                </c:pt>
                <c:pt idx="2">
                  <c:v>20.7</c:v>
                </c:pt>
              </c:numCache>
            </c:numRef>
          </c:val>
        </c:ser>
        <c:ser>
          <c:idx val="4"/>
          <c:order val="4"/>
          <c:tx>
            <c:v>Aksesori</c:v>
          </c:tx>
          <c:spPr>
            <a:solidFill xmlns:a="http://schemas.openxmlformats.org/drawingml/2006/main">
              <a:srgbClr val="D99A37"/>
            </a:solidFill>
          </c:spPr>
          <c:cat>
            <c:strRef>
              <c:f>'Chart Data'!$I$2:$I$4</c:f>
              <c:strCache>
                <c:ptCount val="3"/>
                <c:pt idx="0">
                  <c:v>Utara</c:v>
                </c:pt>
                <c:pt idx="1">
                  <c:v>Tengah</c:v>
                </c:pt>
                <c:pt idx="2">
                  <c:v>Selatan</c:v>
                </c:pt>
              </c:strCache>
            </c:strRef>
          </c:cat>
          <c:val>
            <c:numRef>
              <c:f>'Chart Data'!$J$2:$J$4</c:f>
              <c:numCache>
                <c:formatCode>0</c:formatCode>
                <c:ptCount val="3"/>
                <c:pt idx="0">
                  <c:v>12.2</c:v>
                </c:pt>
                <c:pt idx="1">
                  <c:v>14.6</c:v>
                </c:pt>
                <c:pt idx="2">
                  <c:v>16.7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Cabang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Bagian dari total cabang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Pie chart: cabang Utara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pieChart>
        <c:ser>
          <c:idx val="0"/>
          <c:order val="0"/>
          <c:tx>
            <c:v>Unit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32</c:v>
                </c:pt>
                <c:pt idx="1">
                  <c:v>25</c:v>
                </c:pt>
                <c:pt idx="2">
                  <c:v>40</c:v>
                </c:pt>
                <c:pt idx="3">
                  <c:v>33</c:v>
                </c:pt>
                <c:pt idx="4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A30"/>
                  </a:solidFill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Donut chart: cabang Utara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doughnutChart>
        <c:ser>
          <c:idx val="0"/>
          <c:order val="0"/>
          <c:tx>
            <c:v>Unit</c:v>
          </c:tx>
          <c:spPr>
            <a:solidFill xmlns:a="http://schemas.openxmlformats.org/drawingml/2006/main">
              <a:srgbClr val="4FB6E8"/>
            </a:solidFill>
          </c:spPr>
          <c:cat>
            <c:strRef>
              <c:f>'Chart Data'!$A$2:$A$6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32</c:v>
                </c:pt>
                <c:pt idx="1">
                  <c:v>25</c:v>
                </c:pt>
                <c:pt idx="2">
                  <c:v>40</c:v>
                </c:pt>
                <c:pt idx="3">
                  <c:v>33</c:v>
                </c:pt>
                <c:pt idx="4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A30"/>
                  </a:solidFill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52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Persentase komposisi per cabang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radarChart>
        <c:radarStyle val="marker"/>
        <c:varyColors val="1"/>
        <c:ser>
          <c:idx val="0"/>
          <c:order val="0"/>
          <c:tx>
            <c:v>Utara</c:v>
          </c:tx>
          <c:spPr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96B9B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21.6</c:v>
                </c:pt>
                <c:pt idx="1">
                  <c:v>16.9</c:v>
                </c:pt>
                <c:pt idx="2">
                  <c:v>27</c:v>
                </c:pt>
                <c:pt idx="3">
                  <c:v>22.3</c:v>
                </c:pt>
                <c:pt idx="4">
                  <c:v>12.2</c:v>
                </c:pt>
              </c:numCache>
            </c:numRef>
          </c:val>
        </c:ser>
        <c:ser>
          <c:idx val="1"/>
          <c:order val="1"/>
          <c:tx>
            <c:v>Tengah</c:v>
          </c:tx>
          <c:spPr>
            <a:ln xmlns:a="http://schemas.openxmlformats.org/drawingml/2006/main" w="28575">
              <a:solidFill>
                <a:srgbClr val="D99A3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9A37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Buku</c:v>
                </c:pt>
                <c:pt idx="1">
                  <c:v>Alat Tulis</c:v>
                </c:pt>
                <c:pt idx="2">
                  <c:v>Makanan</c:v>
                </c:pt>
                <c:pt idx="3">
                  <c:v>Minuman</c:v>
                </c:pt>
                <c:pt idx="4">
                  <c:v>Aksesori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18.1</c:v>
                </c:pt>
                <c:pt idx="1">
                  <c:v>23.6</c:v>
                </c:pt>
                <c:pt idx="2">
                  <c:v>24.3</c:v>
                </c:pt>
                <c:pt idx="3">
                  <c:v>19.4</c:v>
                </c:pt>
                <c:pt idx="4">
                  <c:v>14.6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extendedCharts/chart.xml><?xml version="1.0" encoding="utf-8"?>
<cx:chartSpace xmlns:cx="http://schemas.microsoft.com/office/drawing/2014/chartex">
  <cx:chartData>
    <cx:data id="0">
      <cx:strDim type="cat">
        <cx:lvl ptCount="15">
          <cx:pt idx="0">Penjualan</cx:pt>
          <cx:pt idx="1">Penjualan</cx:pt>
          <cx:pt idx="2">Penjualan</cx:pt>
          <cx:pt idx="3">Penjualan</cx:pt>
          <cx:pt idx="4">Penjualan</cx:pt>
          <cx:pt idx="5">Penjualan</cx:pt>
          <cx:pt idx="6">Penjualan</cx:pt>
          <cx:pt idx="7">Penjualan</cx:pt>
          <cx:pt idx="8">Penjualan</cx:pt>
          <cx:pt idx="9">Penjualan</cx:pt>
          <cx:pt idx="10">Penjualan</cx:pt>
          <cx:pt idx="11">Penjualan</cx:pt>
          <cx:pt idx="12">Penjualan</cx:pt>
          <cx:pt idx="13">Penjualan</cx:pt>
          <cx:pt idx="14">Penjualan</cx:pt>
        </cx:lvl>
        <cx:lvl ptCount="15">
          <cx:pt idx="0">Utara</cx:pt>
          <cx:pt idx="1">Utara</cx:pt>
          <cx:pt idx="2">Utara</cx:pt>
          <cx:pt idx="3">Utara</cx:pt>
          <cx:pt idx="4">Utara</cx:pt>
          <cx:pt idx="5">Tengah</cx:pt>
          <cx:pt idx="6">Tengah</cx:pt>
          <cx:pt idx="7">Tengah</cx:pt>
          <cx:pt idx="8">Tengah</cx:pt>
          <cx:pt idx="9">Tengah</cx:pt>
          <cx:pt idx="10">Selatan</cx:pt>
          <cx:pt idx="11">Selatan</cx:pt>
          <cx:pt idx="12">Selatan</cx:pt>
          <cx:pt idx="13">Selatan</cx:pt>
          <cx:pt idx="14">Selatan</cx:pt>
        </cx:lvl>
        <cx:lvl ptCount="15">
          <cx:pt idx="0">Buku</cx:pt>
          <cx:pt idx="1">Alat Tulis</cx:pt>
          <cx:pt idx="2">Makanan</cx:pt>
          <cx:pt idx="3">Minuman</cx:pt>
          <cx:pt idx="4">Aksesori</cx:pt>
          <cx:pt idx="5">Buku</cx:pt>
          <cx:pt idx="6">Alat Tulis</cx:pt>
          <cx:pt idx="7">Makanan</cx:pt>
          <cx:pt idx="8">Minuman</cx:pt>
          <cx:pt idx="9">Aksesori</cx:pt>
          <cx:pt idx="10">Buku</cx:pt>
          <cx:pt idx="11">Alat Tulis</cx:pt>
          <cx:pt idx="12">Makanan</cx:pt>
          <cx:pt idx="13">Minuman</cx:pt>
          <cx:pt idx="14">Aksesori</cx:pt>
        </cx:lvl>
      </cx:strDim>
      <cx:numDim type="size">
        <cx:lvl ptCount="15">
          <cx:pt idx="0">32</cx:pt>
          <cx:pt idx="1">25</cx:pt>
          <cx:pt idx="2">40</cx:pt>
          <cx:pt idx="3">33</cx:pt>
          <cx:pt idx="4">18</cx:pt>
          <cx:pt idx="5">26</cx:pt>
          <cx:pt idx="6">34</cx:pt>
          <cx:pt idx="7">35</cx:pt>
          <cx:pt idx="8">28</cx:pt>
          <cx:pt idx="9">21</cx:pt>
          <cx:pt idx="10">22</cx:pt>
          <cx:pt idx="11">28</cx:pt>
          <cx:pt idx="12">44</cx:pt>
          <cx:pt idx="13">31</cx:pt>
          <cx:pt idx="14">25</cx:pt>
        </cx:lvl>
      </cx:numDim>
    </cx:data>
  </cx:chartData>
  <cx:chart>
    <cx:title overlay="0">
      <cx:tx>
        <cx:txData>
          <cx:v>Unit terjual menurut cabang dan kategori</cx:v>
        </cx:txData>
      </cx:tx>
      <cx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  <a:r>
            <a:rPr sz="1350" b="1">
              <a:solidFill>
                <a:srgbClr val="111A30"/>
              </a:solidFill>
              <a:latin typeface="SF Pro Text"/>
              <a:ea typeface="SF Pro Text"/>
              <a:cs typeface="SF Pro Text"/>
            </a:rPr>
            <a:t>Unit terjual menurut cabang dan kategori</a:t>
          </a:r>
        </a:p>
      </cx:txPr>
    </cx:title>
    <cx:plotArea>
      <cx:plotAreaRegion>
        <cx:series layoutId="treemap">
          <cx:tx>
            <cx:txData>
              <cx:v>Unit</cx:v>
            </cx:txData>
          </cx:tx>
          <cx:spPr>
            <a:solidFill xmlns:a="http://schemas.openxmlformats.org/drawingml/2006/main">
              <a:srgbClr val="4FB6E8"/>
            </a:solidFill>
          </cx:spPr>
          <cx:dataLabels pos="ctr">
            <cx:txPr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11A30"/>
                    </a:solidFill>
                    <a:latin typeface="SF Pro Text"/>
                    <a:ea typeface="SF Pro Text"/>
                    <a:cs typeface="SF Pro Text"/>
                  </a:defRPr>
                </a:pPr>
              </a:p>
            </cx:txPr>
            <cx:visibility seriesName="0" categoryName="1" value="1"/>
          </cx:dataLabels>
          <cx:dataId val="0"/>
          <cx:layoutPr>
            <cx:parentLabelLayout val="banner"/>
          </cx:layoutPr>
        </cx:series>
      </cx:plotAreaRegion>
      <cx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x:spPr>
    </cx:plotArea>
  </cx:chart>
</cx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1D0AA-4D1C-43C6-96BE-E4A278939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7625d83d4bf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0EDE2-B1DF-4E69-801B-CE3BABDA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Visualisasi Data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Perbandingan dan Komposisi</a:t>
            </a:r>
          </a:p>
        </p:txBody>
      </p:sp>
    </p:spTree>
    <p:extLst>
      <p:ext uri="{BB962C8B-B14F-4D97-AF65-F5344CB8AC3E}">
        <p14:creationId xmlns:p14="http://schemas.microsoft.com/office/powerpoint/2010/main" val="2101614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F4178-12B7-4F7F-BC50-E4C165C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penjualan festival sekolah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9CD65-EF01-46E1-B241-63480F6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baris merangkum unit terjual pada satu cabang dan satu kategori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0956-FB18-45EE-B835-BF03BD4F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786D-EE68-4683-8A96-8E75A46198AD}"/>
              </a:ext>
            </a:extLst>
          </p:cNvPr>
          <p:cNvGraphicFramePr/>
          <p:nvPr/>
        </p:nvGraphicFramePr>
        <p:xfrm>
          <a:off xmlns:a="http://schemas.openxmlformats.org/drawingml/2006/main" x="781050" y="2133600"/>
          <a:ext xmlns:a="http://schemas.openxmlformats.org/drawingml/2006/main" cx="106299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81150"/>
                <a:gridCol w="1619250"/>
                <a:gridCol w="1924050"/>
                <a:gridCol w="1809750"/>
                <a:gridCol w="1809750"/>
                <a:gridCol w="1885950"/>
              </a:tblGrid>
              <a:tr h="6000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Cabang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Buku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Alat Tulis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Makanan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Minuman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Aksesori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000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Utara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000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Tengah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Selatan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3DD7-5FD8-40E0-88BB-2C0AFB0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Dataset contoh ini memakai jumlah barang terjual dalam satuan unit.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D0D97-0AA4-47CA-9923-80B09C3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Cabang dan kategori adalah label. Unit adalah nilai yang dibandingkan.</a:t>
            </a:r>
          </a:p>
        </p:txBody>
      </p:sp>
    </p:spTree>
    <p:extLst>
      <p:ext uri="{BB962C8B-B14F-4D97-AF65-F5344CB8AC3E}">
        <p14:creationId xmlns:p14="http://schemas.microsoft.com/office/powerpoint/2010/main" val="1973791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C0872-5378-411A-98F1-F59A5A5E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data memberi petunjuk awal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DAB67-65A1-4A61-9EEF-B8EAE780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apa yang akan dibandingkan sebelum memilih jenis grafik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5AF62-9FDA-4818-BAC4-4BF1921E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BE4C-6953-409C-95BC-A2368173CCD5}"/>
              </a:ext>
            </a:extLst>
          </p:cNvPr>
          <p:cNvGraphicFramePr/>
          <p:nvPr/>
        </p:nvGraphicFramePr>
        <p:xfrm>
          <a:off xmlns:a="http://schemas.openxmlformats.org/drawingml/2006/main" x="762000" y="1847850"/>
          <a:ext xmlns:a="http://schemas.openxmlformats.org/drawingml/2006/main" cx="10668000" cy="4229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3714750"/>
                <a:gridCol w="2476500"/>
              </a:tblGrid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Pertanyaan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Susunan data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 yang cocok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mana yang lebih besar?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 dan jumlah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Bar chart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Berapa banyak tiap pilihan?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Satu baris per jawaban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Count plot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kategori berbeda antar cabang?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Kategori, cabang, dan jumlah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Grouped bar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bagian membentuk total?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 sebagai bagian dari satu 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Pie atau donut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komposisi beberapa total?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 dan kelompok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Stacked bar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nilai terbagi secara bertingkat?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Kelompok dan subkelompok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Treemap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profil kelompok pada indikator sama?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Beberapa kelompok dan indikator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Radar chart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232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F14EC-58BD-45D4-A37A-D25CC00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Bar chart membandingkan kategori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1A8A5-A04B-4993-84C0-F7C4930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Panjang atau tinggi batang menunjukkan nilai setiap kategori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C1A68-18E0-4E19-AB5C-B53F6A2F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A6944DD-68CF-4FA3-966D-B2CECDF980F0}"/>
              </a:ext>
            </a:extLst>
          </p:cNvPr>
          <p:cNvGraphicFramePr/>
          <p:nvPr/>
        </p:nvGraphicFramePr>
        <p:xfrm>
          <a:off xmlns:a="http://schemas.openxmlformats.org/drawingml/2006/main" x="876300" y="18859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24e8ccd3c4fb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7313C-9331-4692-AC1E-7F7F7E69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70"/>
          </a:bodyPr>
          <a:lstStyle xmlns:a="http://schemas.openxmlformats.org/drawingml/2006/main">
            <a:defPPr algn="l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Perlu satu nilai untuk setiap kategori? Ringkas data dahulu, lalu tampilkan hasilnya.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2A513-78DB-472F-9B5D-C70F219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095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  <p:txBody>
          <a:bodyPr xmlns:a="http://schemas.openxmlformats.org/drawingml/2006/main" wrap="square" lIns="152400" tIns="133350" rIns="152400" bIns="13335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ringkasan = 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data.groupby("Kategori", as_index=False)["Unit"]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.sum()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1FD1B-B260-4AEA-A52F-EDDBB120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bar chart horizontal ketika nama kategori panjang.</a:t>
            </a:r>
          </a:p>
        </p:txBody>
      </p:sp>
    </p:spTree>
    <p:extLst>
      <p:ext uri="{BB962C8B-B14F-4D97-AF65-F5344CB8AC3E}">
        <p14:creationId xmlns:p14="http://schemas.microsoft.com/office/powerpoint/2010/main" val="1033149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06B1F-377F-4DF7-AD34-9A4BF87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Count plot menghitung banyaknya pengamatan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1574B-7B28-4C3F-84AC-323A085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baris mentah di sini mewakili satu pesanan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9F544-4920-4F63-BC48-5381573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1FD8884-88C3-4D52-AAAF-22D2F44AE5D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ef67db4de74382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274AF-8151-4596-A1F6-834579F6F33E}"/>
              </a:ext>
            </a:extLst>
          </p:cNvPr>
          <p:cNvGraphicFramePr/>
          <p:nvPr/>
        </p:nvGraphicFramePr>
        <p:xfrm>
          <a:off xmlns:a="http://schemas.openxmlformats.org/drawingml/2006/main" x="7696200" y="2143125"/>
          <a:ext xmlns:a="http://schemas.openxmlformats.org/drawingml/2006/main" cx="36195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76400"/>
                <a:gridCol w="971550"/>
                <a:gridCol w="971550"/>
              </a:tblGrid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Unit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Pesanan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Buku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Alat Tulis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Makanan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Minuman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Aksesori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D5909-36AA-4DA4-A9D9-5C44552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721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Pesanan adalah frekuensi. Unit adalah jumlah barang.</a:t>
            </a:r>
          </a:p>
        </p:txBody>
      </p:sp>
    </p:spTree>
    <p:extLst>
      <p:ext uri="{BB962C8B-B14F-4D97-AF65-F5344CB8AC3E}">
        <p14:creationId xmlns:p14="http://schemas.microsoft.com/office/powerpoint/2010/main" val="365021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AB7E0-7449-48B6-994B-6CD31032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Grouped bar membandingkan beberapa kelompok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A6648-B808-45B2-94B7-5DD0757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Batang berdampingan memudahkan perbandingan cabang pada kategori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1B8AA-25FB-42E7-AB4D-93E4BDCA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FDF6139-FEB7-4570-B3CC-66E854DEA16D}"/>
              </a:ext>
            </a:extLst>
          </p:cNvPr>
          <p:cNvGraphicFramePr/>
          <p:nvPr/>
        </p:nvGraphicFramePr>
        <p:xfrm>
          <a:off xmlns:a="http://schemas.openxmlformats.org/drawingml/2006/main" x="904875" y="1952625"/>
          <a:ext xmlns:a="http://schemas.openxmlformats.org/drawingml/2006/main" cx="10334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c0717c7db64cc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782E-48D4-4367-B797-75D4B01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Pivot menyusun kategori sebagai baris dan cabang sebagai seri grafik.</a:t>
            </a:r>
          </a:p>
        </p:txBody>
      </p:sp>
    </p:spTree>
    <p:extLst>
      <p:ext uri="{BB962C8B-B14F-4D97-AF65-F5344CB8AC3E}">
        <p14:creationId xmlns:p14="http://schemas.microsoft.com/office/powerpoint/2010/main" val="2071265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8181-3B7F-4841-9E90-77B5D44F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Tengah: pilihan ekstrakurikuler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A77AF-9602-42A5-99D6-07EAC8B1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respons siswa adalah satu baris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FBA4-4A8A-4654-8412-961A511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7F000-22BF-4188-9A66-78656E49BE3B}"/>
              </a:ext>
            </a:extLst>
          </p:cNvPr>
          <p:cNvGraphicFramePr/>
          <p:nvPr/>
        </p:nvGraphicFramePr>
        <p:xfrm>
          <a:off xmlns:a="http://schemas.openxmlformats.org/drawingml/2006/main" x="819150" y="2171700"/>
          <a:ext xmlns:a="http://schemas.openxmlformats.org/drawingml/2006/main" cx="4762500" cy="2457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33500"/>
                <a:gridCol w="1143000"/>
                <a:gridCol w="1143000"/>
                <a:gridCol w="1143000"/>
              </a:tblGrid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Kelas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Sains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Seni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Olahraga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XII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79B4B-B287-4C2B-A3B2-75D46BA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764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Ringkasan jumlah respons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9844C-98AB-45F1-885D-F2C1FCA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8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count plot untuk menghitung jumlah pilihan tiap ekstrakurikuler.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8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grouped bar untuk membandingkan pilihan antar kelas.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8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Sebutkan pilihan terbanyak dan jumlah siswanya.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DBC1A-E852-4634-9FCC-BCFCB61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Pada notebook, gunakan data satu respons per baris.</a:t>
            </a:r>
          </a:p>
        </p:txBody>
      </p:sp>
    </p:spTree>
    <p:extLst>
      <p:ext uri="{BB962C8B-B14F-4D97-AF65-F5344CB8AC3E}">
        <p14:creationId xmlns:p14="http://schemas.microsoft.com/office/powerpoint/2010/main" val="1517371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A9540-3AA1-4A02-9E34-A6B3C19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Stacked bar menunjukkan komposisi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74EE2-0952-425F-B1FF-4EAA5F2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Jumlah total dan persentase menjawab dua pertanyaan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2E1C-0983-4B43-B617-77BDE51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DB2EA85-DF01-4DAE-A5C5-591261B45668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52578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b6d20cce84b0d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69A519D-5BB5-4605-A087-1B208A4143C5}"/>
              </a:ext>
            </a:extLst>
          </p:cNvPr>
          <p:cNvGraphicFramePr/>
          <p:nvPr/>
        </p:nvGraphicFramePr>
        <p:xfrm>
          <a:off xmlns:a="http://schemas.openxmlformats.org/drawingml/2006/main" x="6191250" y="1924050"/>
          <a:ext xmlns:a="http://schemas.openxmlformats.org/drawingml/2006/main" cx="53149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a05d7be6e644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2DDB-3D16-4208-9030-A52D0CC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Stacked bar menampilkan jumlah. Versi 100% membandingkan proporsi.</a:t>
            </a:r>
          </a:p>
        </p:txBody>
      </p:sp>
    </p:spTree>
    <p:extLst>
      <p:ext uri="{BB962C8B-B14F-4D97-AF65-F5344CB8AC3E}">
        <p14:creationId xmlns:p14="http://schemas.microsoft.com/office/powerpoint/2010/main" val="615553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D907-504C-405A-9C4C-1BE0FDF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Pie chart dan donut chart menunjukkan bagian dari satu total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C2EE9-6DEA-4E0A-B973-55B56F5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untuk membaca komposisi pada satu kelompok dengan sedikit kategori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487DB-5165-46AB-8E78-DEB588B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B199710-7364-4371-8ADC-BE4CC8544C95}"/>
              </a:ext>
            </a:extLst>
          </p:cNvPr>
          <p:cNvGraphicFramePr/>
          <p:nvPr/>
        </p:nvGraphicFramePr>
        <p:xfrm>
          <a:off xmlns:a="http://schemas.openxmlformats.org/drawingml/2006/main" x="781050" y="1866900"/>
          <a:ext xmlns:a="http://schemas.openxmlformats.org/drawingml/2006/main" cx="5095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2723244d724bbd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B3CC674-D7D6-4EC7-8DA8-365602A6D220}"/>
              </a:ext>
            </a:extLst>
          </p:cNvPr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2197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ed12be01f0421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A7B1B-3BEB-4A52-A849-EF82BABC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293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Irisan berasal dari total 148 unit pada cabang Utara.</a:t>
            </a:r>
          </a:p>
        </p:txBody>
      </p:sp>
    </p:spTree>
    <p:extLst>
      <p:ext uri="{BB962C8B-B14F-4D97-AF65-F5344CB8AC3E}">
        <p14:creationId xmlns:p14="http://schemas.microsoft.com/office/powerpoint/2010/main" val="831995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0197-88C6-4B1D-8DD5-0D7E370A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Treemap menampilkan kategori bertingkat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39D91-A245-45DD-9045-1B67222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kotak mengikuti jumlah unit pada cabang dan kategori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D260-2314-43EA-B329-E29E8174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685DAFF-0D85-431A-A545-55AB0CEEC392}"/>
              </a:ext>
            </a:extLst>
          </p:cNvPr>
          <p:cNvGraphicFramePr/>
          <p:nvPr/>
        </p:nvGraphicFramePr>
        <p:xfrm>
          <a:off xmlns:a="http://schemas.openxmlformats.org/drawingml/2006/main" x="819150" y="1857375"/>
          <a:ext xmlns:a="http://schemas.openxmlformats.org/drawingml/2006/main" cx="10477500" cy="4238625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37def3e122e441b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930C1-7CF8-4728-A330-407F3CE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67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Warna membedakan kategori. Kotak di dalamnya menunjukkan cabang.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E980E-D884-4880-A89A-A8456E110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d11d21ea34dc9"/>
          <a:stretch xmlns:a="http://schemas.openxmlformats.org/drawingml/2006/main"/>
        </p:blipFill>
        <p:spPr>
          <a:xfrm xmlns:a="http://schemas.openxmlformats.org/drawingml/2006/main">
            <a:off x="819150" y="1857375"/>
            <a:ext cx="10477500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34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F9587-360C-4938-BB82-B843389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Radar chart membandingkan profil beberapa kelompok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27E5A-A746-4881-8E88-6C701E9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sumbu adalah kategori yang sama dan semua nilai memakai skala persentase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EB31B-B7C5-4C42-8848-79DB41C5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F47DD98-C258-4DC0-9F4C-BC1440A800B4}"/>
              </a:ext>
            </a:extLst>
          </p:cNvPr>
          <p:cNvGraphicFramePr/>
          <p:nvPr/>
        </p:nvGraphicFramePr>
        <p:xfrm>
          <a:off xmlns:a="http://schemas.openxmlformats.org/drawingml/2006/main" x="2190750" y="1847850"/>
          <a:ext xmlns:a="http://schemas.openxmlformats.org/drawingml/2006/main" cx="78105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2caa0ef64d442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5E526-B4FA-4A06-B62C-9E3441E8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Radar membantu membaca bentuk profil. Bar chart lebih mudah untuk membandingkan angka secara presisi.</a:t>
            </a:r>
          </a:p>
        </p:txBody>
      </p:sp>
    </p:spTree>
    <p:extLst>
      <p:ext uri="{BB962C8B-B14F-4D97-AF65-F5344CB8AC3E}">
        <p14:creationId xmlns:p14="http://schemas.microsoft.com/office/powerpoint/2010/main" val="2051464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A6D19-CABD-43DE-A04C-F7B0E7A8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Akhir: komposisi penjualan bazar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42373-7A42-407F-941D-4E33DB6D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data baru untuk membandingkan stan dan kelompok produk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293A6-4835-43DD-9B0F-22B32B2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DEA00-BE42-41A5-8E8E-75B2AD5E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Ringkasan unit terjual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9ACDF-F5BA-4743-B8F2-56CB761DA358}"/>
              </a:ext>
            </a:extLst>
          </p:cNvPr>
          <p:cNvGraphicFramePr/>
          <p:nvPr/>
        </p:nvGraphicFramePr>
        <p:xfrm>
          <a:off xmlns:a="http://schemas.openxmlformats.org/drawingml/2006/main" x="762000" y="2209800"/>
          <a:ext xmlns:a="http://schemas.openxmlformats.org/drawingml/2006/main" cx="5010150" cy="2457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43000"/>
                <a:gridCol w="666750"/>
                <a:gridCol w="1066800"/>
                <a:gridCol w="1066800"/>
                <a:gridCol w="1066800"/>
              </a:tblGrid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Stan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Buku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Alat Tulis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Makanan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Minuman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Aula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Taman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Lapangan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E93F3-70BE-449F-B2C0-AC01D2C5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48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0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grouped bar untuk membandingkan kelompok produk antarstan.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0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stacked bar dan versi 100% stacked bar.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0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Tampilkan bagian satu stan dengan pie dan donut.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0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treemap untuk melihat kelompok serta produk.</a:t>
            </a:r>
          </a:p>
          <a:p xmlns:a="http://schemas.openxmlformats.org/drawingml/2006/main">
            <a:pPr marL="254000" indent="-127000">
              <a:lnSpc>
                <a:spcPct val="110000"/>
              </a:lnSpc>
              <a:spcAft>
                <a:spcPts val="10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profil persentase dua stan dengan radar chart.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BD0D0-F256-4F26-BEA9-A12BAE9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 notebook tersedia rincian produk untuk setiap stan.</a:t>
            </a:r>
          </a:p>
        </p:txBody>
      </p:sp>
    </p:spTree>
    <p:extLst>
      <p:ext uri="{BB962C8B-B14F-4D97-AF65-F5344CB8AC3E}">
        <p14:creationId xmlns:p14="http://schemas.microsoft.com/office/powerpoint/2010/main" val="1055198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E9AAC-BD4B-4F9F-A3E5-59472C85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Ringkasan pemilihan grafik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4B65E-2B9E-4BDB-A4B7-7330948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Baca pertanyaan dan bentuk data sebelum menulis kode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6462A-A56B-4B38-9556-B16B29FA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CC5CE-17D3-4DC6-AB2D-D28291335D53}"/>
              </a:ext>
            </a:extLst>
          </p:cNvPr>
          <p:cNvGraphicFramePr/>
          <p:nvPr/>
        </p:nvGraphicFramePr>
        <p:xfrm>
          <a:off xmlns:a="http://schemas.openxmlformats.org/drawingml/2006/main" x="781050" y="1905000"/>
          <a:ext xmlns:a="http://schemas.openxmlformats.org/drawingml/2006/main" cx="10629900" cy="4152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905375"/>
                <a:gridCol w="3724275"/>
              </a:tblGrid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Gunakan saat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Yang dibandingkan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Bar chart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Membandingkan kategori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Panjang batang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Count plot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Menghitung baris per kategori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Frekuensi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Grouped bar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Membandingkan kelompok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Batang berdampingan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Stacked 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Melihat jumlah dan komponen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Segmen dan 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Pie atau donut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Melihat bagian dari satu total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Proporsi kategori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Treemap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Menampilkan kategori bertingkat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Luas kotak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Radar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Membandingkan profil sekelompok indikator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Bentuk profil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821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C78AA-4B58-4C1B-9983-AB3519F6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Cek pemahaman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AA240-8812-4F71-9FB9-115E42E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grafik yang paling sesuai untuk setiap pertanyaan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F77D-0202-45D6-8121-506D929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E7191-983D-4AF8-BD4E-2771554214A9}"/>
              </a:ext>
            </a:extLst>
          </p:cNvPr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104394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810500"/>
                <a:gridCol w="2628900"/>
              </a:tblGrid>
              <a:tr h="6286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Pertanyaan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Pilihan 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286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Kategori minuman mana yang paling banyak dibeli?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286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pilihan kegiatan berbeda antar kelas?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bagian produk membentuk total pada satu stan?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286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Produk mana saja yang membentuk kelompok bertingkat?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D27C7-970A-4A3D-AEB7-73F9290B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Jelaskan alasan dengan mengacu pada kategori, kelompok, atau nilai pada data.</a:t>
            </a:r>
          </a:p>
        </p:txBody>
      </p:sp>
    </p:spTree>
    <p:extLst>
      <p:ext uri="{BB962C8B-B14F-4D97-AF65-F5344CB8AC3E}">
        <p14:creationId xmlns:p14="http://schemas.microsoft.com/office/powerpoint/2010/main" val="1389176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2026-10-09T09:28:14.9550000Z</dcterms:created>
  <dcterms:modified xsi:type="dcterms:W3CDTF">2026-10-09T09:28:14.9550000Z</dcterms:modified>
</coreProperties>
</file>