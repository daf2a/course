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cbd539ab5e4b2a" /><Relationship Type="http://schemas.openxmlformats.org/officeDocument/2006/relationships/extended-properties" Target="/docProps/app.xml" Id="Rfa260296d48b4832" /><Relationship Type="http://schemas.openxmlformats.org/officeDocument/2006/relationships/officeDocument" Target="/ppt/presentation.xml" Id="Rb097a3eaa21a40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aa296a0114a5b"/>
  </p:sldMasterIdLst>
  <p:notesMasterIdLst>
    <p:notesMasterId xmlns:r="http://schemas.openxmlformats.org/officeDocument/2006/relationships" r:id="Rff348f5e308248c5"/>
  </p:notesMasterIdLst>
  <p:sldIdLst>
    <p:sldId xmlns:r="http://schemas.openxmlformats.org/officeDocument/2006/relationships" id="256" r:id="Rfa688e47f0f44b8e"/>
    <p:sldId xmlns:r="http://schemas.openxmlformats.org/officeDocument/2006/relationships" id="257" r:id="R13409aeb869242d5"/>
    <p:sldId xmlns:r="http://schemas.openxmlformats.org/officeDocument/2006/relationships" id="258" r:id="R3f25b047b41c4da1"/>
    <p:sldId xmlns:r="http://schemas.openxmlformats.org/officeDocument/2006/relationships" id="259" r:id="R1cdf0fa7188a4a94"/>
    <p:sldId xmlns:r="http://schemas.openxmlformats.org/officeDocument/2006/relationships" id="260" r:id="Rd1ed6b368b694529"/>
    <p:sldId xmlns:r="http://schemas.openxmlformats.org/officeDocument/2006/relationships" id="261" r:id="Rd7060564e60c4c05"/>
    <p:sldId xmlns:r="http://schemas.openxmlformats.org/officeDocument/2006/relationships" id="262" r:id="R11cc771ca3ab439f"/>
    <p:sldId xmlns:r="http://schemas.openxmlformats.org/officeDocument/2006/relationships" id="263" r:id="Rc38946384c174909"/>
    <p:sldId xmlns:r="http://schemas.openxmlformats.org/officeDocument/2006/relationships" id="264" r:id="Ree89377892e743b7"/>
    <p:sldId xmlns:r="http://schemas.openxmlformats.org/officeDocument/2006/relationships" id="265" r:id="R3672c2856ff24d99"/>
    <p:sldId xmlns:r="http://schemas.openxmlformats.org/officeDocument/2006/relationships" id="266" r:id="Rf71b1df13556440d"/>
    <p:sldId xmlns:r="http://schemas.openxmlformats.org/officeDocument/2006/relationships" id="267" r:id="R8dc7f908e56e43e7"/>
    <p:sldId xmlns:r="http://schemas.openxmlformats.org/officeDocument/2006/relationships" id="268" r:id="Rb50c3d074b114da2"/>
    <p:sldId xmlns:r="http://schemas.openxmlformats.org/officeDocument/2006/relationships" id="269" r:id="R97560944be1a4573"/>
    <p:sldId xmlns:r="http://schemas.openxmlformats.org/officeDocument/2006/relationships" id="270" r:id="R9ac141f1d2d540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a6b61955c5477d" /><Relationship Type="http://schemas.openxmlformats.org/officeDocument/2006/relationships/slideMaster" Target="/ppt/slideMasters/slideMaster1.xml" Id="Rf99aa296a0114a5b" /><Relationship Type="http://schemas.openxmlformats.org/officeDocument/2006/relationships/notesMaster" Target="/ppt/notesMasters/notesMaster1.xml" Id="Rff348f5e308248c5" /><Relationship Type="http://schemas.openxmlformats.org/officeDocument/2006/relationships/presProps" Target="/ppt/presProps.xml" Id="R48f0d73ff68647f2" /><Relationship Type="http://schemas.openxmlformats.org/officeDocument/2006/relationships/tableStyles" Target="/ppt/tableStyles.xml" Id="R9c96744169a646fe" /><Relationship Type="http://schemas.openxmlformats.org/officeDocument/2006/relationships/slide" Target="/ppt/slides/slide1.xml" Id="Rfa688e47f0f44b8e" /><Relationship Type="http://schemas.openxmlformats.org/officeDocument/2006/relationships/slide" Target="/ppt/slides/slide2.xml" Id="R13409aeb869242d5" /><Relationship Type="http://schemas.openxmlformats.org/officeDocument/2006/relationships/slide" Target="/ppt/slides/slide3.xml" Id="R3f25b047b41c4da1" /><Relationship Type="http://schemas.openxmlformats.org/officeDocument/2006/relationships/slide" Target="/ppt/slides/slide4.xml" Id="R1cdf0fa7188a4a94" /><Relationship Type="http://schemas.openxmlformats.org/officeDocument/2006/relationships/slide" Target="/ppt/slides/slide5.xml" Id="Rd1ed6b368b694529" /><Relationship Type="http://schemas.openxmlformats.org/officeDocument/2006/relationships/slide" Target="/ppt/slides/slide6.xml" Id="Rd7060564e60c4c05" /><Relationship Type="http://schemas.openxmlformats.org/officeDocument/2006/relationships/slide" Target="/ppt/slides/slide7.xml" Id="R11cc771ca3ab439f" /><Relationship Type="http://schemas.openxmlformats.org/officeDocument/2006/relationships/slide" Target="/ppt/slides/slide8.xml" Id="Rc38946384c174909" /><Relationship Type="http://schemas.openxmlformats.org/officeDocument/2006/relationships/slide" Target="/ppt/slides/slide9.xml" Id="Ree89377892e743b7" /><Relationship Type="http://schemas.openxmlformats.org/officeDocument/2006/relationships/slide" Target="/ppt/slides/slide10.xml" Id="R3672c2856ff24d99" /><Relationship Type="http://schemas.openxmlformats.org/officeDocument/2006/relationships/slide" Target="/ppt/slides/slide11.xml" Id="Rf71b1df13556440d" /><Relationship Type="http://schemas.openxmlformats.org/officeDocument/2006/relationships/slide" Target="/ppt/slides/slide12.xml" Id="R8dc7f908e56e43e7" /><Relationship Type="http://schemas.openxmlformats.org/officeDocument/2006/relationships/slide" Target="/ppt/slides/slide13.xml" Id="Rb50c3d074b114da2" /><Relationship Type="http://schemas.openxmlformats.org/officeDocument/2006/relationships/slide" Target="/ppt/slides/slide14.xml" Id="R97560944be1a4573" /><Relationship Type="http://schemas.openxmlformats.org/officeDocument/2006/relationships/slide" Target="/ppt/slides/slide15.xml" Id="R9ac141f1d2d5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d86f6426c646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c25c4ee76c4802" /><Relationship Type="http://schemas.openxmlformats.org/officeDocument/2006/relationships/notesMaster" Target="/ppt/notesMasters/notesMaster1.xml" Id="Rad0a13f8dcc84e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3589344eb3413a" /><Relationship Type="http://schemas.openxmlformats.org/officeDocument/2006/relationships/notesMaster" Target="/ppt/notesMasters/notesMaster1.xml" Id="Ra80e2cb9532845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d75ddd3172438e" /><Relationship Type="http://schemas.openxmlformats.org/officeDocument/2006/relationships/notesMaster" Target="/ppt/notesMasters/notesMaster1.xml" Id="R08bc6feb4b5847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c51adb1fd4696" /><Relationship Type="http://schemas.openxmlformats.org/officeDocument/2006/relationships/notesMaster" Target="/ppt/notesMasters/notesMaster1.xml" Id="R9688d813fcc246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896995214440a5" /><Relationship Type="http://schemas.openxmlformats.org/officeDocument/2006/relationships/notesMaster" Target="/ppt/notesMasters/notesMaster1.xml" Id="Rd2ed56db1f5247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bf481cb67041f0" /><Relationship Type="http://schemas.openxmlformats.org/officeDocument/2006/relationships/notesMaster" Target="/ppt/notesMasters/notesMaster1.xml" Id="R460143ec6ed7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fec81f4b384fde" /><Relationship Type="http://schemas.openxmlformats.org/officeDocument/2006/relationships/notesMaster" Target="/ppt/notesMasters/notesMaster1.xml" Id="R6c616f1bb11043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17b3e2926646aa" /><Relationship Type="http://schemas.openxmlformats.org/officeDocument/2006/relationships/notesMaster" Target="/ppt/notesMasters/notesMaster1.xml" Id="Rdaf09bdeadce4f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45d3a591c140a2" /><Relationship Type="http://schemas.openxmlformats.org/officeDocument/2006/relationships/notesMaster" Target="/ppt/notesMasters/notesMaster1.xml" Id="R810923119e0943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dc6c8d139249c4" /><Relationship Type="http://schemas.openxmlformats.org/officeDocument/2006/relationships/notesMaster" Target="/ppt/notesMasters/notesMaster1.xml" Id="Reabc4af180c04f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00bb31b3564c57" /><Relationship Type="http://schemas.openxmlformats.org/officeDocument/2006/relationships/notesMaster" Target="/ppt/notesMasters/notesMaster1.xml" Id="Rc77feb3fdd9e43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77d252b87645c2" /><Relationship Type="http://schemas.openxmlformats.org/officeDocument/2006/relationships/notesMaster" Target="/ppt/notesMasters/notesMaster1.xml" Id="Rd9dc645fe1314a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636b6d80bd4754" /><Relationship Type="http://schemas.openxmlformats.org/officeDocument/2006/relationships/notesMaster" Target="/ppt/notesMasters/notesMaster1.xml" Id="R59bf9659cbe844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a2211a65424839" /><Relationship Type="http://schemas.openxmlformats.org/officeDocument/2006/relationships/notesMaster" Target="/ppt/notesMasters/notesMaster1.xml" Id="Rb3746f98aeed46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1f25cac1484f9d" /><Relationship Type="http://schemas.openxmlformats.org/officeDocument/2006/relationships/notesMaster" Target="/ppt/notesMasters/notesMaster1.xml" Id="R94a0588ea0be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Contoh jam dan nilai adalah data sintetis.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Bubble chart statis disematkan sebagai gambar data karena adapter workbook PowerPoint tidak mendukung ukuran literal bubble. Notebook menyediakan kode yang dapat dijalankan dan diedit.</a:t>
            </a:r>
          </a:p>
          <a:p xmlns:a="http://schemas.openxmlformats.org/drawingml/2006/main">
            <a:r>
              <a:t>Bubble size menggunakan jumlah persentase pada data buatan. Ukuran sebaiknya dibaca sebagai area.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Tabel heatmap merupakan komponen native yang dapat diedit.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plot statis disematkan sebagai gambar data karena rangkaian panel bukan satu tipe chart native PowerPoint. Notebook menyediakan kode Plotly yang dapat dijalankan dan diubah.</a:t>
            </a:r>
          </a:p>
          <a:p xmlns:a="http://schemas.openxmlformats.org/drawingml/2006/main">
            <a:r>
              <a:t>Plotly scatter matrix: https://plotly.com/python/splom/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Peta memakai koordinat kota yang nyata tetapi jumlah kunjungan adalah contoh buatan.</a:t>
            </a:r>
          </a:p>
          <a:p xmlns:a="http://schemas.openxmlformats.org/drawingml/2006/main">
            <a:r>
              <a:t>Peta titik Plotly: https://plotly.com/python/scatter-plots-on-maps/</a:t>
            </a:r>
          </a:p>
          <a:p xmlns:a="http://schemas.openxmlformats.org/drawingml/2006/main">
            <a:r>
              <a:t>Konfigurasi peta: https://plotly.com/python/map-configuration/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Batas wilayah berasal dari data geografis Plotly. Nilai warna adalah angka contoh buatan.</a:t>
            </a:r>
          </a:p>
          <a:p xmlns:a="http://schemas.openxmlformats.org/drawingml/2006/main">
            <a:r>
              <a:t>Choropleth Plotly: https://plotly.com/python/choropleth-maps/</a:t>
            </a:r>
          </a:p>
          <a:p xmlns:a="http://schemas.openxmlformats.org/drawingml/2006/main">
            <a:r>
              <a:t>Kode lokasi: https://plotly.com/python/outline-map-locations/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6d511fc3c4e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3bca0b9ae48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b27cededc40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1e8ea308e4a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c843871fd44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a1ffe878e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BB3AE5-4DA2-40F8-A20E-E731BB101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6219A6-AAB7-4A90-829F-FD8A32F9EF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15ED53-1109-40C7-83A0-3E1831AAD7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374731-1CEA-406A-9034-50325A153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7E0B49-A86E-4572-8D05-CB5CE526D3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A6EA72-4B26-4F23-9F53-9DE8F8137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9E2E89-9BA6-4EC3-8B42-F9E10D1B51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1012E2-3BA3-4AA4-9367-DC453E88E2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4C49FE-A999-4784-890B-3534F0623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B58EE8-7B12-4E57-9C3D-9BD4BBA27D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059b843b334822" /><Relationship Type="http://schemas.openxmlformats.org/officeDocument/2006/relationships/slideLayout" Target="/ppt/slideLayouts/slideLayout1.xml" Id="R66e18eeba4b94e92" /><Relationship Type="http://schemas.openxmlformats.org/officeDocument/2006/relationships/slideLayout" Target="/ppt/slideLayouts/slideLayout2.xml" Id="Red1867263a12403b" /><Relationship Type="http://schemas.openxmlformats.org/officeDocument/2006/relationships/slideLayout" Target="/ppt/slideLayouts/slideLayout3.xml" Id="Rf051c6ecd05c4cea" /><Relationship Type="http://schemas.openxmlformats.org/officeDocument/2006/relationships/slideLayout" Target="/ppt/slideLayouts/slideLayout4.xml" Id="R9a84fa17fa864b3e" /><Relationship Type="http://schemas.openxmlformats.org/officeDocument/2006/relationships/slideLayout" Target="/ppt/slideLayouts/slideLayout5.xml" Id="R53df538c41264006" /><Relationship Type="http://schemas.openxmlformats.org/officeDocument/2006/relationships/slideLayout" Target="/ppt/slideLayouts/slideLayout6.xml" Id="Rb3bcd0a26b6947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e18eeba4b94e92"/>
    <p:sldLayoutId xmlns:r="http://schemas.openxmlformats.org/officeDocument/2006/relationships" id="2147483650" r:id="Red1867263a12403b"/>
    <p:sldLayoutId xmlns:r="http://schemas.openxmlformats.org/officeDocument/2006/relationships" id="2147483651" r:id="Rf051c6ecd05c4cea"/>
    <p:sldLayoutId xmlns:r="http://schemas.openxmlformats.org/officeDocument/2006/relationships" id="2147483652" r:id="R9a84fa17fa864b3e"/>
    <p:sldLayoutId xmlns:r="http://schemas.openxmlformats.org/officeDocument/2006/relationships" id="2147483653" r:id="R53df538c41264006"/>
    <p:sldLayoutId xmlns:r="http://schemas.openxmlformats.org/officeDocument/2006/relationships" id="2147483654" r:id="Rb3bcd0a26b6947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e6f5bd72e4085" /><Relationship Type="http://schemas.openxmlformats.org/officeDocument/2006/relationships/image" Target="/ppt/media/image.png" Id="R72dfadb2361c4fcf" /><Relationship Type="http://schemas.openxmlformats.org/officeDocument/2006/relationships/notesSlide" Target="/ppt/notesSlides/notesSlide1.xml" Id="R2893f4a4aa3e4f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994d0205b4236" /><Relationship Type="http://schemas.openxmlformats.org/officeDocument/2006/relationships/chart" Target="/ppt/slides/charts/chart1.xml" Id="R8898d692e04542e9" /><Relationship Type="http://schemas.openxmlformats.org/officeDocument/2006/relationships/notesSlide" Target="/ppt/notesSlides/notesSlide2.xml" Id="R71c92422cc9c43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24a9ff3c0481e" /><Relationship Type="http://schemas.openxmlformats.org/officeDocument/2006/relationships/image" Target="/ppt/media/image2.png" Id="Rf4501b63254e44b2" /><Relationship Type="http://schemas.openxmlformats.org/officeDocument/2006/relationships/notesSlide" Target="/ppt/notesSlides/notesSlide3.xml" Id="Rd0260e8a84e4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cae28898944f2" /><Relationship Type="http://schemas.openxmlformats.org/officeDocument/2006/relationships/notesSlide" Target="/ppt/notesSlides/notesSlide4.xml" Id="R9b46a07e1f40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c9c38038e4282" /><Relationship Type="http://schemas.openxmlformats.org/officeDocument/2006/relationships/notesSlide" Target="/ppt/notesSlides/notesSlide5.xml" Id="R4fb9d6210f2141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f73d642964ef8" /><Relationship Type="http://schemas.openxmlformats.org/officeDocument/2006/relationships/notesSlide" Target="/ppt/notesSlides/notesSlide6.xml" Id="Rc61ee80478fb4e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b2df663934584" /><Relationship Type="http://schemas.openxmlformats.org/officeDocument/2006/relationships/image" Target="/ppt/media/image3.png" Id="R618b2bf0ff2347df" /><Relationship Type="http://schemas.openxmlformats.org/officeDocument/2006/relationships/notesSlide" Target="/ppt/notesSlides/notesSlide7.xml" Id="R21e766ab626d4b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2ade4711c477c" /><Relationship Type="http://schemas.openxmlformats.org/officeDocument/2006/relationships/image" Target="/ppt/media/image4.png" Id="Re4f3a19019444144" /><Relationship Type="http://schemas.openxmlformats.org/officeDocument/2006/relationships/notesSlide" Target="/ppt/notesSlides/notesSlide8.xml" Id="Ra859cf21c7b740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4510206dc4a59" /><Relationship Type="http://schemas.openxmlformats.org/officeDocument/2006/relationships/image" Target="/ppt/media/image5.png" Id="R54b8e599ea6f4805" /><Relationship Type="http://schemas.openxmlformats.org/officeDocument/2006/relationships/notesSlide" Target="/ppt/notesSlides/notesSlide9.xml" Id="R57ae58916ca04f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001276245419c" /><Relationship Type="http://schemas.openxmlformats.org/officeDocument/2006/relationships/notesSlide" Target="/ppt/notesSlides/notesSlide10.xml" Id="Re7c373d7d8de43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ed4e081644a3c" /><Relationship Type="http://schemas.openxmlformats.org/officeDocument/2006/relationships/notesSlide" Target="/ppt/notesSlides/notesSlide11.xml" Id="Re819cfe2d13744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bdcdf02054bbf" /><Relationship Type="http://schemas.openxmlformats.org/officeDocument/2006/relationships/notesSlide" Target="/ppt/notesSlides/notesSlide12.xml" Id="Rb0cc3ef2003644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3512e01ea48bf" /><Relationship Type="http://schemas.openxmlformats.org/officeDocument/2006/relationships/notesSlide" Target="/ppt/notesSlides/notesSlide13.xml" Id="Rccd727fab3784e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047311c794ad0" /><Relationship Type="http://schemas.openxmlformats.org/officeDocument/2006/relationships/notesSlide" Target="/ppt/notesSlides/notesSlide14.xml" Id="Rfa4d46f15bfd41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ea73322e34f4f" /><Relationship Type="http://schemas.openxmlformats.org/officeDocument/2006/relationships/notesSlide" Target="/ppt/notesSlides/notesSlide15.xml" Id="R7fd49518e5894a1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Jam Belajar dan Nilai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Peserta</c:v>
          </c:tx>
          <c:spPr>
            <a:solidFill xmlns:a="http://schemas.openxmlformats.org/drawingml/2006/main">
              <a:srgbClr val="196B9B"/>
            </a:solidFill>
          </c:spPr>
          <c:marker>
            <c:symbol val="circle"/>
            <c:size val="8"/>
            <c:spPr>
              <a:solidFill xmlns:a="http://schemas.openxmlformats.org/drawingml/2006/main">
                <a:srgbClr val="196B9B"/>
              </a:solidFill>
            </c:spPr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</c:numCache>
            </c:numRef>
          </c:xVal>
          <c:yVal>
            <c:numRef>
              <c:f>'Chart Data'!$B$2:$B$11</c:f>
              <c:numCache>
                <c:formatCode>General</c:formatCode>
                <c:ptCount val="10"/>
                <c:pt idx="0">
                  <c:v>55</c:v>
                </c:pt>
                <c:pt idx="1">
                  <c:v>60</c:v>
                </c:pt>
                <c:pt idx="2">
                  <c:v>64</c:v>
                </c:pt>
                <c:pt idx="3">
                  <c:v>67</c:v>
                </c:pt>
                <c:pt idx="4">
                  <c:v>70</c:v>
                </c:pt>
                <c:pt idx="5">
                  <c:v>72</c:v>
                </c:pt>
                <c:pt idx="6">
                  <c:v>78</c:v>
                </c:pt>
                <c:pt idx="7">
                  <c:v>79</c:v>
                </c:pt>
                <c:pt idx="8">
                  <c:v>88</c:v>
                </c:pt>
                <c:pt idx="9">
                  <c:v>91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Nilai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Jam belajar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75877-BC82-4D37-B8FD-B693FE7C29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fadb2361c4fc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F7347-3C9E-433B-AB24-035B48E1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Visualisasi Data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Hubungan, Pola,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dan Lokasi</a:t>
            </a:r>
          </a:p>
        </p:txBody>
      </p:sp>
    </p:spTree>
    <p:extLst>
      <p:ext uri="{BB962C8B-B14F-4D97-AF65-F5344CB8AC3E}">
        <p14:creationId xmlns:p14="http://schemas.microsoft.com/office/powerpoint/2010/main" val="1723801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BB549-BE8C-465D-8F51-952B8A0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Scatter plot melihat hubungan dua variabel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F2C4E-1868-4B15-A4FD-96019D79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titik mewakili satu pengamatan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36550-FDD1-468A-80A7-E22FF53C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3E0E6C1-3C91-4459-9C59-F45DA4729A3C}"/>
              </a:ext>
            </a:extLst>
          </p:cNvPr>
          <p:cNvGraphicFramePr/>
          <p:nvPr/>
        </p:nvGraphicFramePr>
        <p:xfrm>
          <a:off xmlns:a="http://schemas.openxmlformats.org/drawingml/2006/main" x="876300" y="18097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98d692e04542e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514E5-B325-421E-8825-6F5E298A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43150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Arah pola: positif, negatif, atau tidak tampak.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Bentuk pola: linear, melengkung, atau berkelompok.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Periksa titik yang jauh dari pola umum.</a:t>
            </a:r>
          </a:p>
        </p:txBody>
      </p:sp>
    </p:spTree>
    <p:extLst>
      <p:ext uri="{BB962C8B-B14F-4D97-AF65-F5344CB8AC3E}">
        <p14:creationId xmlns:p14="http://schemas.microsoft.com/office/powerpoint/2010/main" val="59491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F5333-385A-45E7-A656-53E908B7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Bubble chart menambahkan variabel ketiga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2D3BB-08C0-4903-8131-BFA063D9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Posisi menunjukkan dua angka, ukuran gelembung menunjukkan angka tambahan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5D56B-7060-4C53-8CFF-9231B2CA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735A0-415F-4AAB-AE0E-1FEC6AF4F4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01b63254e44b2"/>
          <a:stretch xmlns:a="http://schemas.openxmlformats.org/drawingml/2006/main"/>
        </p:blipFill>
        <p:spPr>
          <a:xfrm xmlns:a="http://schemas.openxmlformats.org/drawingml/2006/main">
            <a:off x="876300" y="2152877"/>
            <a:ext cx="7239000" cy="34571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250EC-BC46-4A96-98FE-9D1AAA5B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431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Ukuran mewakili kehadiran (%).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Skala ukuran harus dijelaskan.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Hindari titik besar yang menutupi data lain.</a:t>
            </a:r>
          </a:p>
        </p:txBody>
      </p:sp>
    </p:spTree>
    <p:extLst>
      <p:ext uri="{BB962C8B-B14F-4D97-AF65-F5344CB8AC3E}">
        <p14:creationId xmlns:p14="http://schemas.microsoft.com/office/powerpoint/2010/main" val="2038031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F419E-EAE0-457F-8C90-B6629BB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Hubungan tidak sama dengan sebab-akibat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E95B3-2331-40C1-92DA-DBA60E5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Scatter plot menunjukkan pola pada data yang diamati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C2B68-8271-43E4-8B8B-6202FEBB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AFB20-B12A-4579-AC7F-45DD8495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4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Titik dapat bergerak bersama tanpa hubungan sebab-akibat.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4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Variabel ketiga bisa menjelaskan sebagian pola.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4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Periksa rentang sumbu dan jumlah titik.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4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Jangan paksa garis lurus jika pola melengkung.</a:t>
            </a:r>
          </a:p>
        </p:txBody>
      </p:sp>
    </p:spTree>
    <p:extLst>
      <p:ext uri="{BB962C8B-B14F-4D97-AF65-F5344CB8AC3E}">
        <p14:creationId xmlns:p14="http://schemas.microsoft.com/office/powerpoint/2010/main" val="47366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4AA3B-0499-413E-ACC9-F77BFD50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Practice Tengah: durasi latihan dan skor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E7F83-1F29-418F-BE41-274C85AF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Tambahkan jumlah latihan sebagai ukuran bubble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C40E5-9E17-4EB8-8F21-F1D5EAA8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1949-986E-4AF1-B3BE-BF33F75B4BE1}"/>
              </a:ext>
            </a:extLst>
          </p:cNvPr>
          <p:cNvGraphicFramePr/>
          <p:nvPr/>
        </p:nvGraphicFramePr>
        <p:xfrm>
          <a:off xmlns:a="http://schemas.openxmlformats.org/drawingml/2006/main" x="781050" y="1885950"/>
          <a:ext xmlns:a="http://schemas.openxmlformats.org/drawingml/2006/main" cx="504825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00150"/>
                <a:gridCol w="1581150"/>
                <a:gridCol w="1000125"/>
                <a:gridCol w="1266825"/>
              </a:tblGrid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Peserta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Durasi (menit)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Latihan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Skor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59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2471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3225B-EB02-4946-8A52-F9D7C30D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scatter untuk durasi dan skor.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bubble dengan jumlah latihan sebagai ukuran.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Jelaskan pola tanpa menyimpulkan sebab-akibat.</a:t>
            </a:r>
          </a:p>
        </p:txBody>
      </p:sp>
    </p:spTree>
    <p:extLst>
      <p:ext uri="{BB962C8B-B14F-4D97-AF65-F5344CB8AC3E}">
        <p14:creationId xmlns:p14="http://schemas.microsoft.com/office/powerpoint/2010/main" val="1213127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E7039-2B41-46C1-8876-CCDC2F6A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Heatmap memperlihatkan pola dalam matriks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2C2C6-AAD9-4E6D-A1E6-A6ECE1F7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Warna merangkum nilai pada perpotongan dua kategori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F6416-0527-49B7-81AC-07BFFD24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0D13A-13A0-4A00-BD1A-8EA31C027188}"/>
              </a:ext>
            </a:extLst>
          </p:cNvPr>
          <p:cNvGraphicFramePr/>
          <p:nvPr/>
        </p:nvGraphicFramePr>
        <p:xfrm>
          <a:off xmlns:a="http://schemas.openxmlformats.org/drawingml/2006/main" x="2286000" y="219075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1381125"/>
                <a:gridCol w="1381125"/>
                <a:gridCol w="1381125"/>
                <a:gridCol w="1381125"/>
              </a:tblGrid>
              <a:tr h="71437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Hari / Jam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08.00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10.00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12.00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14.00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71437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Senin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C8E8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94D2F1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A5DAF3"/>
                    </a:solidFill>
                  </a:tcPr>
                </a:tc>
              </a:tr>
              <a:tr h="71437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Selasa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D9EF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83CBE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4FB6E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94D2F1"/>
                    </a:solidFill>
                  </a:tcPr>
                </a:tc>
              </a:tr>
              <a:tr h="71437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Rabu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B6E1F5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60BDE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71C4E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C8E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3BE4C-4CFF-4EF9-85D8-92BE1C28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Contoh jumlah kunjungan. Sel paling gelap menunjukkan nilai tertinggi pada matriks ini.</a:t>
            </a:r>
          </a:p>
        </p:txBody>
      </p:sp>
    </p:spTree>
    <p:extLst>
      <p:ext uri="{BB962C8B-B14F-4D97-AF65-F5344CB8AC3E}">
        <p14:creationId xmlns:p14="http://schemas.microsoft.com/office/powerpoint/2010/main" val="663875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D0B2A-91BF-489C-9D20-F5C2CF4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Pair plot membandingkan beberapa pasangan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C4735-9052-4560-B46F-64E8F6DE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Diagonal menunjukkan distribusi, panel lain menunjukkan pasangan variabel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E157D-2FEE-4152-9BAD-13C5F53C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7582E-FCC7-46C1-BAB0-AAF5DEA3F7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b2bf0ff2347df"/>
          <a:stretch xmlns:a="http://schemas.openxmlformats.org/drawingml/2006/main"/>
        </p:blipFill>
        <p:spPr>
          <a:xfrm xmlns:a="http://schemas.openxmlformats.org/drawingml/2006/main">
            <a:off x="1697432" y="1714500"/>
            <a:ext cx="5634836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29110-F8AD-49F9-B27F-11BFF9EA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2743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Cari pola berulang pada pasangan variabel.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Diagonal membantu membaca sebaran masing-masing variabel.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Mulai dengan sedikit variabel numerik.</a:t>
            </a:r>
          </a:p>
        </p:txBody>
      </p:sp>
    </p:spTree>
    <p:extLst>
      <p:ext uri="{BB962C8B-B14F-4D97-AF65-F5344CB8AC3E}">
        <p14:creationId xmlns:p14="http://schemas.microsoft.com/office/powerpoint/2010/main" val="220232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34A41-182D-43D6-9619-2B1D9DB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Point map menempatkan data pada koordinat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DCAD1-45ED-4D9D-BCAD-3410F2E6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lintang dan bujur untuk membaca sebaran lokasi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0B5FF-62AA-4028-B841-789A8B8E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58469-B3F1-46BF-81E2-6CDABAFBE4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3a19019444144"/>
          <a:stretch xmlns:a="http://schemas.openxmlformats.org/drawingml/2006/main"/>
        </p:blipFill>
        <p:spPr>
          <a:xfrm xmlns:a="http://schemas.openxmlformats.org/drawingml/2006/main">
            <a:off x="876300" y="1764506"/>
            <a:ext cx="7620000" cy="41671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82FA2-0B90-475A-BED3-621EAEA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247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Titik menunjukkan kota.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Ukuran atau warna menunjukkan jumlah kunjungan contoh.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Arahkan perhatian pada sebaran geografis, bukan batas wilayah.</a:t>
            </a:r>
          </a:p>
        </p:txBody>
      </p:sp>
    </p:spTree>
    <p:extLst>
      <p:ext uri="{BB962C8B-B14F-4D97-AF65-F5344CB8AC3E}">
        <p14:creationId xmlns:p14="http://schemas.microsoft.com/office/powerpoint/2010/main" val="2138986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286DA-98AC-49D8-AF11-E59FA154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Choropleth mewarnai wilayah berdasarkan nilai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F51D1-F6F2-4100-B261-5D6DF6F5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indeks contoh antarnegara menggunakan batas wilayah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79B82-1CFC-47B2-996B-A5DC970D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B5B7F-A117-4AF9-899E-36331392E4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8e599ea6f4805"/>
          <a:stretch xmlns:a="http://schemas.openxmlformats.org/drawingml/2006/main"/>
        </p:blipFill>
        <p:spPr>
          <a:xfrm xmlns:a="http://schemas.openxmlformats.org/drawingml/2006/main">
            <a:off x="904875" y="1764506"/>
            <a:ext cx="7620000" cy="41671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269C0-4880-4087-94DF-BFCC2931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247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poligon menunjukkan satu wilayah.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Warna mewakili nilai yang diagregasi per wilayah.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Indeks pada contoh ini bukan statistik negara.</a:t>
            </a:r>
          </a:p>
        </p:txBody>
      </p:sp>
    </p:spTree>
    <p:extLst>
      <p:ext uri="{BB962C8B-B14F-4D97-AF65-F5344CB8AC3E}">
        <p14:creationId xmlns:p14="http://schemas.microsoft.com/office/powerpoint/2010/main" val="15098038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85B12-23AC-48AB-A56F-C048F8F1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Heatmap membutuhkan label yang mudah dibaca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40013-CC84-473E-9740-9C7C3A6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Warna membantu pola, angka dan skala membantu interpretasi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B2697-AFF4-4001-81BF-6020F1C3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CAD8D-8E58-471B-ACFA-8089C39B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9906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4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Urutkan baris dan kolom berdasarkan kebutuhan analisis.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4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skala warna yang konsisten.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4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Tambahkan nilai jika matriks kecil.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4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Jelaskan apakah angka mentah atau sudah dinormalisasi.</a:t>
            </a:r>
          </a:p>
        </p:txBody>
      </p:sp>
    </p:spTree>
    <p:extLst>
      <p:ext uri="{BB962C8B-B14F-4D97-AF65-F5344CB8AC3E}">
        <p14:creationId xmlns:p14="http://schemas.microsoft.com/office/powerpoint/2010/main" val="427928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EC8AD-F428-4D4E-A0C3-A90C2850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Point map dan choropleth menjawab pertanyaan berbeda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2E1CF-982C-4966-8477-DA4C3DC9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titik atau wilayah berdasarkan bentuk data lokasi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FF813-3719-4077-A350-5D362C76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7EE1F-B279-4548-84BE-8DE0422D11EB}"/>
              </a:ext>
            </a:extLst>
          </p:cNvPr>
          <p:cNvGraphicFramePr/>
          <p:nvPr/>
        </p:nvGraphicFramePr>
        <p:xfrm>
          <a:off xmlns:a="http://schemas.openxmlformats.org/drawingml/2006/main" x="800100" y="2000250"/>
          <a:ext xmlns:a="http://schemas.openxmlformats.org/drawingml/2006/main" cx="1057275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95750"/>
                <a:gridCol w="2190750"/>
                <a:gridCol w="4286250"/>
              </a:tblGrid>
              <a:tr h="86915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Data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Pertanyaan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86915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Lokasi pengamatan, lintang dan bujur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Point map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Di mana titik terkumpul?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86915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Nilai per wilayah administrasi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Choropleth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Wilayah mana bernilai lebih tinggi?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Jumlah titik per area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Agregasi lalu choropleth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Area mana memiliki kepadatan lebih tinggi?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068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528DE-29BA-4AA4-8CB2-BF977F3B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Pilih visualisasi dari struktur datanya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A1715-C6DB-4C4D-A6EC-6EC99B0B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Tentukan variabel, satuan, dan lokasi sebelum memilih kode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7C7D5-C5B7-424D-8A69-E09C189C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AA21D-47CA-41CB-9180-FCE0E970631F}"/>
              </a:ext>
            </a:extLst>
          </p:cNvPr>
          <p:cNvGraphicFramePr/>
          <p:nvPr/>
        </p:nvGraphicFramePr>
        <p:xfrm>
          <a:off xmlns:a="http://schemas.openxmlformats.org/drawingml/2006/main" x="857250" y="1866900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143750"/>
                <a:gridCol w="3333750"/>
              </a:tblGrid>
              <a:tr h="5578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Pertanyaan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5578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Hubungan dua angka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578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Hubungan dua angka dan satu nilai tambahan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Bubble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Nilai di dua dimensi kategori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Heatmap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578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Banyak pasangan variabel numerik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Pair plot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Titik kejadian dengan koordinat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Point map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5578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Nilai yang diringkas per wilayah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Choropleth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1294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B6764-6648-4106-9228-C79B0A78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Periksa skala dan agregasi sebelum membaca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26169-8769-4172-92FB-E57BF61A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Peta dan matriks ikut mewarisi pilihan pengolahan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B53AA-7DC7-44D3-9925-0A3F5F7C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B0E8F-9915-44A9-9F17-3C65EB6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1000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3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Bubble memakai ukuran area, bukan diameter, untuk mewakili besaran.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3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Choropleth lebih bermakna bila nilai dinormalisasi sesuai pertanyaan.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3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Heatmap perlu skala warna yang dapat dibandingkan.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3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Pair plot dapat ramai jika terlalu banyak variabel.</a:t>
            </a:r>
          </a:p>
        </p:txBody>
      </p:sp>
    </p:spTree>
    <p:extLst>
      <p:ext uri="{BB962C8B-B14F-4D97-AF65-F5344CB8AC3E}">
        <p14:creationId xmlns:p14="http://schemas.microsoft.com/office/powerpoint/2010/main" val="16311845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4283C-928E-49AD-A6F3-63E45668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Practice Akhir: ringkasan indikator kota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671CE-E1E1-4AEE-998C-9594E7D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heatmap, pair plot, point map, dan choropleth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FD2F3-DA50-47BA-B322-3A02F4E1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5D47F-0E09-49EB-92F9-EB9FF8468D56}"/>
              </a:ext>
            </a:extLst>
          </p:cNvPr>
          <p:cNvGraphicFramePr/>
          <p:nvPr/>
        </p:nvGraphicFramePr>
        <p:xfrm>
          <a:off xmlns:a="http://schemas.openxmlformats.org/drawingml/2006/main" x="704850" y="1847850"/>
          <a:ext xmlns:a="http://schemas.openxmlformats.org/drawingml/2006/main" cx="628650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00200"/>
                <a:gridCol w="1000125"/>
                <a:gridCol w="1428750"/>
                <a:gridCol w="1000125"/>
                <a:gridCol w="1257300"/>
              </a:tblGrid>
              <a:tr h="4816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Kota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Akses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Partisipasi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Layanan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Kunjungan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4816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Jakarta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816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Bandung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16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Semarang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816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Yogyakarta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16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Surabaya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79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118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81693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Denpasar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C4D04-7664-40A3-A9AC-248F6A9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3714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Heatmap: tiga indeks dengan skala 0-100.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Pair plot: tiga indeks numerik.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Point map: lintang, bujur, dan jumlah kunjungan.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Choropleth: indeks contoh per negara.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498A8-9496-4039-970D-E399E337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Gunakan judul, satuan, dan catatan bahwa angka adalah data contoh.</a:t>
            </a:r>
          </a:p>
        </p:txBody>
      </p:sp>
    </p:spTree>
    <p:extLst>
      <p:ext uri="{BB962C8B-B14F-4D97-AF65-F5344CB8AC3E}">
        <p14:creationId xmlns:p14="http://schemas.microsoft.com/office/powerpoint/2010/main" val="8047207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C4DB1-DF45-41EF-A3AD-108E8F36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Cek pemahaman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15C0C-9D42-4178-A7FE-41A1DEDC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grafik yang paling sesuai dan sebutkan variabel yang dipakai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B470A-628D-4886-9902-F3E19F12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3CA88-F1BE-49D2-8C90-A3AF99A8F74C}"/>
              </a:ext>
            </a:extLst>
          </p:cNvPr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0"/>
                <a:gridCol w="3238500"/>
              </a:tblGrid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Kebutuhan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Hubungan jam belajar dan nilai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Menambahkan kehadiran sebagai variabel ketiga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Membaca nilai pada perpotongan hari dan jam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Melihat sebaran lokasi dengan koordinat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Membandingkan skor yang diringkas per wilayah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25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2026-10-09T09:28:33.0170000Z</dcterms:created>
  <dcterms:modified xsi:type="dcterms:W3CDTF">2026-10-09T09:28:33.0170000Z</dcterms:modified>
</coreProperties>
</file>