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7cd7c258b40b6" /><Relationship Type="http://schemas.openxmlformats.org/officeDocument/2006/relationships/extended-properties" Target="/docProps/app.xml" Id="R337ffdb802e94541" /><Relationship Type="http://schemas.openxmlformats.org/officeDocument/2006/relationships/officeDocument" Target="/ppt/presentation.xml" Id="Rf2420ca643ea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3aecb933c4556"/>
  </p:sldMasterIdLst>
  <p:notesMasterIdLst>
    <p:notesMasterId xmlns:r="http://schemas.openxmlformats.org/officeDocument/2006/relationships" r:id="Rb2b62f31d15b4d91"/>
  </p:notesMasterIdLst>
  <p:sldIdLst>
    <p:sldId xmlns:r="http://schemas.openxmlformats.org/officeDocument/2006/relationships" id="256" r:id="Rbfb8beb6336644f0"/>
    <p:sldId xmlns:r="http://schemas.openxmlformats.org/officeDocument/2006/relationships" id="257" r:id="R617cec478bc04eed"/>
    <p:sldId xmlns:r="http://schemas.openxmlformats.org/officeDocument/2006/relationships" id="258" r:id="Ra587b4ffdd7b4d07"/>
    <p:sldId xmlns:r="http://schemas.openxmlformats.org/officeDocument/2006/relationships" id="259" r:id="R528b479c765f41c6"/>
    <p:sldId xmlns:r="http://schemas.openxmlformats.org/officeDocument/2006/relationships" id="260" r:id="Re56252f6eacb4c90"/>
    <p:sldId xmlns:r="http://schemas.openxmlformats.org/officeDocument/2006/relationships" id="261" r:id="Rd2cecbbc727a4a7c"/>
    <p:sldId xmlns:r="http://schemas.openxmlformats.org/officeDocument/2006/relationships" id="262" r:id="Rb68c207e03064605"/>
    <p:sldId xmlns:r="http://schemas.openxmlformats.org/officeDocument/2006/relationships" id="263" r:id="Ra303343e2cc54637"/>
    <p:sldId xmlns:r="http://schemas.openxmlformats.org/officeDocument/2006/relationships" id="264" r:id="R56641c4ba5c848fd"/>
    <p:sldId xmlns:r="http://schemas.openxmlformats.org/officeDocument/2006/relationships" id="265" r:id="R952cdd7dc5934a39"/>
    <p:sldId xmlns:r="http://schemas.openxmlformats.org/officeDocument/2006/relationships" id="266" r:id="R3d4325f1595d42ee"/>
    <p:sldId xmlns:r="http://schemas.openxmlformats.org/officeDocument/2006/relationships" id="267" r:id="Rcc14a2c1ee464b5a"/>
    <p:sldId xmlns:r="http://schemas.openxmlformats.org/officeDocument/2006/relationships" id="268" r:id="R8e11c76ee4e24d8a"/>
    <p:sldId xmlns:r="http://schemas.openxmlformats.org/officeDocument/2006/relationships" id="269" r:id="R40b707817a2049cd"/>
    <p:sldId xmlns:r="http://schemas.openxmlformats.org/officeDocument/2006/relationships" id="270" r:id="R94d33e597e5f4e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50ae25271247f0" /><Relationship Type="http://schemas.openxmlformats.org/officeDocument/2006/relationships/slideMaster" Target="/ppt/slideMasters/slideMaster1.xml" Id="R2383aecb933c4556" /><Relationship Type="http://schemas.openxmlformats.org/officeDocument/2006/relationships/notesMaster" Target="/ppt/notesMasters/notesMaster1.xml" Id="Rb2b62f31d15b4d91" /><Relationship Type="http://schemas.openxmlformats.org/officeDocument/2006/relationships/presProps" Target="/ppt/presProps.xml" Id="R33010a7de53e4163" /><Relationship Type="http://schemas.openxmlformats.org/officeDocument/2006/relationships/tableStyles" Target="/ppt/tableStyles.xml" Id="R8af12451e82545df" /><Relationship Type="http://schemas.openxmlformats.org/officeDocument/2006/relationships/slide" Target="/ppt/slides/slide1.xml" Id="Rbfb8beb6336644f0" /><Relationship Type="http://schemas.openxmlformats.org/officeDocument/2006/relationships/slide" Target="/ppt/slides/slide2.xml" Id="R617cec478bc04eed" /><Relationship Type="http://schemas.openxmlformats.org/officeDocument/2006/relationships/slide" Target="/ppt/slides/slide3.xml" Id="Ra587b4ffdd7b4d07" /><Relationship Type="http://schemas.openxmlformats.org/officeDocument/2006/relationships/slide" Target="/ppt/slides/slide4.xml" Id="R528b479c765f41c6" /><Relationship Type="http://schemas.openxmlformats.org/officeDocument/2006/relationships/slide" Target="/ppt/slides/slide5.xml" Id="Re56252f6eacb4c90" /><Relationship Type="http://schemas.openxmlformats.org/officeDocument/2006/relationships/slide" Target="/ppt/slides/slide6.xml" Id="Rd2cecbbc727a4a7c" /><Relationship Type="http://schemas.openxmlformats.org/officeDocument/2006/relationships/slide" Target="/ppt/slides/slide7.xml" Id="Rb68c207e03064605" /><Relationship Type="http://schemas.openxmlformats.org/officeDocument/2006/relationships/slide" Target="/ppt/slides/slide8.xml" Id="Ra303343e2cc54637" /><Relationship Type="http://schemas.openxmlformats.org/officeDocument/2006/relationships/slide" Target="/ppt/slides/slide9.xml" Id="R56641c4ba5c848fd" /><Relationship Type="http://schemas.openxmlformats.org/officeDocument/2006/relationships/slide" Target="/ppt/slides/slide10.xml" Id="R952cdd7dc5934a39" /><Relationship Type="http://schemas.openxmlformats.org/officeDocument/2006/relationships/slide" Target="/ppt/slides/slide11.xml" Id="R3d4325f1595d42ee" /><Relationship Type="http://schemas.openxmlformats.org/officeDocument/2006/relationships/slide" Target="/ppt/slides/slide12.xml" Id="Rcc14a2c1ee464b5a" /><Relationship Type="http://schemas.openxmlformats.org/officeDocument/2006/relationships/slide" Target="/ppt/slides/slide13.xml" Id="R8e11c76ee4e24d8a" /><Relationship Type="http://schemas.openxmlformats.org/officeDocument/2006/relationships/slide" Target="/ppt/slides/slide14.xml" Id="R40b707817a2049cd" /><Relationship Type="http://schemas.openxmlformats.org/officeDocument/2006/relationships/slide" Target="/ppt/slides/slide15.xml" Id="R94d33e597e5f4e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605df9ba4f48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050d7ccd34e31" /><Relationship Type="http://schemas.openxmlformats.org/officeDocument/2006/relationships/notesMaster" Target="/ppt/notesMasters/notesMaster1.xml" Id="R548000fd8a6745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6bdbdaac1b4bc4" /><Relationship Type="http://schemas.openxmlformats.org/officeDocument/2006/relationships/notesMaster" Target="/ppt/notesMasters/notesMaster1.xml" Id="R341e5d9e49314f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5b09e2db6469e" /><Relationship Type="http://schemas.openxmlformats.org/officeDocument/2006/relationships/notesMaster" Target="/ppt/notesMasters/notesMaster1.xml" Id="R9577e126cfe543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33d621c0e4994" /><Relationship Type="http://schemas.openxmlformats.org/officeDocument/2006/relationships/notesMaster" Target="/ppt/notesMasters/notesMaster1.xml" Id="R2284fc5d6a3e4a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963546cfeb4a82" /><Relationship Type="http://schemas.openxmlformats.org/officeDocument/2006/relationships/notesMaster" Target="/ppt/notesMasters/notesMaster1.xml" Id="R270c1d52e90a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c81ca072e4acd" /><Relationship Type="http://schemas.openxmlformats.org/officeDocument/2006/relationships/notesMaster" Target="/ppt/notesMasters/notesMaster1.xml" Id="R603cb3f63ffa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02471602084e79" /><Relationship Type="http://schemas.openxmlformats.org/officeDocument/2006/relationships/notesMaster" Target="/ppt/notesMasters/notesMaster1.xml" Id="R30f82f3f96c8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6c27ee567447e1" /><Relationship Type="http://schemas.openxmlformats.org/officeDocument/2006/relationships/notesMaster" Target="/ppt/notesMasters/notesMaster1.xml" Id="R060b1b341ffc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9cdc8d38b44c74" /><Relationship Type="http://schemas.openxmlformats.org/officeDocument/2006/relationships/notesMaster" Target="/ppt/notesMasters/notesMaster1.xml" Id="Rba40514e7d56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03e25f12ab4e3f" /><Relationship Type="http://schemas.openxmlformats.org/officeDocument/2006/relationships/notesMaster" Target="/ppt/notesMasters/notesMaster1.xml" Id="Raaf1d89d680341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a5a496e4ec4587" /><Relationship Type="http://schemas.openxmlformats.org/officeDocument/2006/relationships/notesMaster" Target="/ppt/notesMasters/notesMaster1.xml" Id="Re9468ea02f5a4f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9fc3d82645489d" /><Relationship Type="http://schemas.openxmlformats.org/officeDocument/2006/relationships/notesMaster" Target="/ppt/notesMasters/notesMaster1.xml" Id="Rc8d58bb4dae44c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13cf69930147d6" /><Relationship Type="http://schemas.openxmlformats.org/officeDocument/2006/relationships/notesMaster" Target="/ppt/notesMasters/notesMaster1.xml" Id="R5c6de8a711744c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b87b2b1fe1439a" /><Relationship Type="http://schemas.openxmlformats.org/officeDocument/2006/relationships/notesMaster" Target="/ppt/notesMasters/notesMaster1.xml" Id="R71e434ce7dc64e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6fc9b1dc424197" /><Relationship Type="http://schemas.openxmlformats.org/officeDocument/2006/relationships/notesMaster" Target="/ppt/notesMasters/notesMaster1.xml" Id="R37e03b82213f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penjualan merupakan data sintetis.</a:t>
            </a:r>
          </a:p>
          <a:p xmlns:a="http://schemas.openxmlformats.org/drawingml/2006/main">
            <a:r>
              <a:t>Dokumentasi Matplotlib: https://matplotlib.org/stable/api/_as_gen/matplotlib.axes.Axes.plot.html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penjualan merupakan data sintetis.</a:t>
            </a:r>
          </a:p>
          <a:p xmlns:a="http://schemas.openxmlformats.org/drawingml/2006/main">
            <a:r>
              <a:t>Pandas line plot: https://pandas.pydata.org/docs/reference/api/pandas.DataFrame.plot.line.html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unit yang sebanding saat membaca tren.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latihan merupakan contoh buatan.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Contoh penjualan merupakan data sintetis.</a:t>
            </a:r>
          </a:p>
          <a:p xmlns:a="http://schemas.openxmlformats.org/drawingml/2006/main">
            <a:r>
              <a:t>Matplotlib fill_between: https://matplotlib.org/stable/api/_as_gen/matplotlib.axes.Axes.fill_between.html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Total merupakan penjumlahan seri penjualan buatan.</a:t>
            </a:r>
          </a:p>
          <a:p xmlns:a="http://schemas.openxmlformats.org/drawingml/2006/main">
            <a:r>
              <a:t>Pandas area plot: https://pandas.pydata.org/docs/reference/api/pandas.DataFrame.plot.area.html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Persentase dihitung dari seri contoh pada tiap bulan.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Saldo awal 120, pembelian -35, biaya -20, pengembalian +18, saldo akhir 83 ribu.</a:t>
            </a:r>
          </a:p>
          <a:p xmlns:a="http://schemas.openxmlformats.org/drawingml/2006/main">
            <a:r>
              <a:t>Waterfall dibuat sebagai stacked column dengan batang dasar tersembunyi supaya grafik tetap berupa chart PowerPoint native dan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angka pada latihan merupakan contoh buatan.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88f36f2744e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7b836ec4e42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3839febce43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e863e735641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87e14d8dd41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c58ca53fb4c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E65AE8-C7E3-4715-9D8F-7D51B23CA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5D2E49-D6AC-4D88-9729-0511FCA11F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7C352E-38BA-4AA9-A484-0453070DE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919AA0-E6FC-4AA9-98FE-C0C2FC0A1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6D7D15-6F7E-46CB-8EFC-D9BF061866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F49104-08FF-4933-B5F5-C6D4D47D7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87F7AB-C388-4939-962F-B67584BEA9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69FD3F-7D81-4F41-94B0-8EA9BF4DFB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375B0F-5417-4644-97AD-1F0C064AC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298512-DF80-4BC9-96AA-F5C03622D2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8f80f0c36d4447" /><Relationship Type="http://schemas.openxmlformats.org/officeDocument/2006/relationships/slideLayout" Target="/ppt/slideLayouts/slideLayout1.xml" Id="Rd5af196b468942f9" /><Relationship Type="http://schemas.openxmlformats.org/officeDocument/2006/relationships/slideLayout" Target="/ppt/slideLayouts/slideLayout2.xml" Id="R657eab52c6504e97" /><Relationship Type="http://schemas.openxmlformats.org/officeDocument/2006/relationships/slideLayout" Target="/ppt/slideLayouts/slideLayout3.xml" Id="R7d598aa029aa4ff6" /><Relationship Type="http://schemas.openxmlformats.org/officeDocument/2006/relationships/slideLayout" Target="/ppt/slideLayouts/slideLayout4.xml" Id="R5f67b113a2f3497f" /><Relationship Type="http://schemas.openxmlformats.org/officeDocument/2006/relationships/slideLayout" Target="/ppt/slideLayouts/slideLayout5.xml" Id="R36fa8e0217944f1e" /><Relationship Type="http://schemas.openxmlformats.org/officeDocument/2006/relationships/slideLayout" Target="/ppt/slideLayouts/slideLayout6.xml" Id="Re5b81f2c4685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f196b468942f9"/>
    <p:sldLayoutId xmlns:r="http://schemas.openxmlformats.org/officeDocument/2006/relationships" id="2147483650" r:id="R657eab52c6504e97"/>
    <p:sldLayoutId xmlns:r="http://schemas.openxmlformats.org/officeDocument/2006/relationships" id="2147483651" r:id="R7d598aa029aa4ff6"/>
    <p:sldLayoutId xmlns:r="http://schemas.openxmlformats.org/officeDocument/2006/relationships" id="2147483652" r:id="R5f67b113a2f3497f"/>
    <p:sldLayoutId xmlns:r="http://schemas.openxmlformats.org/officeDocument/2006/relationships" id="2147483653" r:id="R36fa8e0217944f1e"/>
    <p:sldLayoutId xmlns:r="http://schemas.openxmlformats.org/officeDocument/2006/relationships" id="2147483654" r:id="Re5b81f2c4685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56479798d4b61" /><Relationship Type="http://schemas.openxmlformats.org/officeDocument/2006/relationships/image" Target="/ppt/media/image.png" Id="Rb8148fc11ac54d87" /><Relationship Type="http://schemas.openxmlformats.org/officeDocument/2006/relationships/notesSlide" Target="/ppt/notesSlides/notesSlide1.xml" Id="R2cdc03985dc7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80127a9c8f47a1" /><Relationship Type="http://schemas.openxmlformats.org/officeDocument/2006/relationships/chart" Target="/ppt/slides/charts/chart1.xml" Id="R6c0646afbbcf4583" /><Relationship Type="http://schemas.openxmlformats.org/officeDocument/2006/relationships/notesSlide" Target="/ppt/notesSlides/notesSlide2.xml" Id="Ra67ab16c4090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67cd86ceb4387" /><Relationship Type="http://schemas.openxmlformats.org/officeDocument/2006/relationships/chart" Target="/ppt/slides/charts/chart2.xml" Id="R6323b1bb90224b0c" /><Relationship Type="http://schemas.openxmlformats.org/officeDocument/2006/relationships/notesSlide" Target="/ppt/notesSlides/notesSlide3.xml" Id="Ra617e980eb76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9408de99b44a8" /><Relationship Type="http://schemas.openxmlformats.org/officeDocument/2006/relationships/notesSlide" Target="/ppt/notesSlides/notesSlide4.xml" Id="R97dc438a0281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414b7080645fa" /><Relationship Type="http://schemas.openxmlformats.org/officeDocument/2006/relationships/notesSlide" Target="/ppt/notesSlides/notesSlide5.xml" Id="R276c8fb4e50140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1c9e9c9a14d9f" /><Relationship Type="http://schemas.openxmlformats.org/officeDocument/2006/relationships/chart" Target="/ppt/slides/charts/chart3.xml" Id="R0334f5bc58f84573" /><Relationship Type="http://schemas.openxmlformats.org/officeDocument/2006/relationships/notesSlide" Target="/ppt/notesSlides/notesSlide6.xml" Id="R8746e6f494ec40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bd0271ea54e73" /><Relationship Type="http://schemas.openxmlformats.org/officeDocument/2006/relationships/chart" Target="/ppt/slides/charts/chart4.xml" Id="R36114ab90d884969" /><Relationship Type="http://schemas.openxmlformats.org/officeDocument/2006/relationships/notesSlide" Target="/ppt/notesSlides/notesSlide7.xml" Id="R886cb182380843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fe0de72ac448e" /><Relationship Type="http://schemas.openxmlformats.org/officeDocument/2006/relationships/chart" Target="/ppt/slides/charts/chart5.xml" Id="Rcf2ba844fe514a22" /><Relationship Type="http://schemas.openxmlformats.org/officeDocument/2006/relationships/notesSlide" Target="/ppt/notesSlides/notesSlide8.xml" Id="R6d2da6fcaa0848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bc48491914341" /><Relationship Type="http://schemas.openxmlformats.org/officeDocument/2006/relationships/chart" Target="/ppt/slides/charts/chart6.xml" Id="R40d48c4d891342f8" /><Relationship Type="http://schemas.openxmlformats.org/officeDocument/2006/relationships/notesSlide" Target="/ppt/notesSlides/notesSlide9.xml" Id="R3d81e3a0bb2c46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fa06ac49446b2" /><Relationship Type="http://schemas.openxmlformats.org/officeDocument/2006/relationships/notesSlide" Target="/ppt/notesSlides/notesSlide10.xml" Id="R71125da15fcb44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ca5b264a54b7f" /><Relationship Type="http://schemas.openxmlformats.org/officeDocument/2006/relationships/notesSlide" Target="/ppt/notesSlides/notesSlide11.xml" Id="R23784f12c9204d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c1994212a4321" /><Relationship Type="http://schemas.openxmlformats.org/officeDocument/2006/relationships/notesSlide" Target="/ppt/notesSlides/notesSlide12.xml" Id="R20fa93e9c6094d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f1eebd51845db" /><Relationship Type="http://schemas.openxmlformats.org/officeDocument/2006/relationships/notesSlide" Target="/ppt/notesSlides/notesSlide13.xml" Id="Re522f0d222d349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a8ecd7e1d40f5" /><Relationship Type="http://schemas.openxmlformats.org/officeDocument/2006/relationships/notesSlide" Target="/ppt/notesSlides/notesSlide14.xml" Id="Ra610991ee04344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04a67110042c7" /><Relationship Type="http://schemas.openxmlformats.org/officeDocument/2006/relationships/notesSlide" Target="/ppt/notesSlides/notesSlide15.xml" Id="R3cca68f781844bf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Penjualan Cabang Utara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Utara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96B9B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56</c:v>
                </c:pt>
                <c:pt idx="4">
                  <c:v>62</c:v>
                </c:pt>
                <c:pt idx="5">
                  <c:v>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Bulan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Unit Terjual per Cabang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Utara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96B9B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56</c:v>
                </c:pt>
                <c:pt idx="4">
                  <c:v>62</c:v>
                </c:pt>
                <c:pt idx="5">
                  <c:v>60</c:v>
                </c:pt>
              </c:numCache>
            </c:numRef>
          </c:val>
        </c:ser>
        <c:ser>
          <c:idx val="1"/>
          <c:order val="1"/>
          <c:tx>
            <c:v>Tengah</c:v>
          </c:tx>
          <c:spPr>
            <a:solidFill xmlns:a="http://schemas.openxmlformats.org/drawingml/2006/main">
              <a:srgbClr val="D99A37"/>
            </a:solidFill>
            <a:ln xmlns:a="http://schemas.openxmlformats.org/drawingml/2006/main" w="28575">
              <a:solidFill>
                <a:srgbClr val="D99A3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99A37"/>
              </a:solidFill>
            </c:spPr>
          </c:marker>
          <c:cat>
            <c:strRef>
              <c:f>'Chart Data'!$C$2:$C$7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35</c:v>
                </c:pt>
                <c:pt idx="1">
                  <c:v>39</c:v>
                </c:pt>
                <c:pt idx="2">
                  <c:v>44</c:v>
                </c:pt>
                <c:pt idx="3">
                  <c:v>43</c:v>
                </c:pt>
                <c:pt idx="4">
                  <c:v>51</c:v>
                </c:pt>
                <c:pt idx="5">
                  <c:v>57</c:v>
                </c:pt>
              </c:numCache>
            </c:numRef>
          </c:val>
        </c:ser>
        <c:ser>
          <c:idx val="2"/>
          <c:order val="2"/>
          <c:tx>
            <c:v>Selatan</c:v>
          </c:tx>
          <c:spPr>
            <a:solidFill xmlns:a="http://schemas.openxmlformats.org/drawingml/2006/main">
              <a:srgbClr val="55B77A"/>
            </a:solidFill>
            <a:ln xmlns:a="http://schemas.openxmlformats.org/drawingml/2006/main" w="28575">
              <a:solidFill>
                <a:srgbClr val="55B77A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5B77A"/>
              </a:solidFill>
            </c:spPr>
          </c:marker>
          <c:cat>
            <c:strRef>
              <c:f>'Chart Data'!$E$2:$E$7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28</c:v>
                </c:pt>
                <c:pt idx="1">
                  <c:v>33</c:v>
                </c:pt>
                <c:pt idx="2">
                  <c:v>31</c:v>
                </c:pt>
                <c:pt idx="3">
                  <c:v>40</c:v>
                </c:pt>
                <c:pt idx="4">
                  <c:v>44</c:v>
                </c:pt>
                <c:pt idx="5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Bulan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Unit Terjual Cabang Utara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areaChart>
        <c:ser>
          <c:idx val="0"/>
          <c:order val="0"/>
          <c:tx>
            <c:v>Utara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56</c:v>
                </c:pt>
                <c:pt idx="4">
                  <c:v>62</c:v>
                </c:pt>
                <c:pt idx="5">
                  <c:v>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Bulan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Kontribusi Unit Terjual per Cabang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areaChart>
        <c:grouping val="stacked"/>
        <c:varyColors val="0"/>
        <c:ser>
          <c:idx val="0"/>
          <c:order val="0"/>
          <c:tx>
            <c:v>Utara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56</c:v>
                </c:pt>
                <c:pt idx="4">
                  <c:v>62</c:v>
                </c:pt>
                <c:pt idx="5">
                  <c:v>60</c:v>
                </c:pt>
              </c:numCache>
            </c:numRef>
          </c:val>
        </c:ser>
        <c:ser>
          <c:idx val="1"/>
          <c:order val="1"/>
          <c:tx>
            <c:v>Tengah</c:v>
          </c:tx>
          <c:spPr>
            <a:solidFill xmlns:a="http://schemas.openxmlformats.org/drawingml/2006/main">
              <a:srgbClr val="D99A37"/>
            </a:solidFill>
            <a:ln xmlns:a="http://schemas.openxmlformats.org/drawingml/2006/main" w="28575">
              <a:solidFill>
                <a:srgbClr val="D99A37"/>
              </a:solidFill>
              <a:prstDash val="solid"/>
            </a:ln>
          </c:spPr>
          <c:cat>
            <c:strRef>
              <c:f>'Chart Data'!$C$2:$C$7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35</c:v>
                </c:pt>
                <c:pt idx="1">
                  <c:v>39</c:v>
                </c:pt>
                <c:pt idx="2">
                  <c:v>44</c:v>
                </c:pt>
                <c:pt idx="3">
                  <c:v>43</c:v>
                </c:pt>
                <c:pt idx="4">
                  <c:v>51</c:v>
                </c:pt>
                <c:pt idx="5">
                  <c:v>57</c:v>
                </c:pt>
              </c:numCache>
            </c:numRef>
          </c:val>
        </c:ser>
        <c:ser>
          <c:idx val="2"/>
          <c:order val="2"/>
          <c:tx>
            <c:v>Selatan</c:v>
          </c:tx>
          <c:spPr>
            <a:solidFill xmlns:a="http://schemas.openxmlformats.org/drawingml/2006/main">
              <a:srgbClr val="55B77A"/>
            </a:solidFill>
            <a:ln xmlns:a="http://schemas.openxmlformats.org/drawingml/2006/main" w="28575">
              <a:solidFill>
                <a:srgbClr val="55B77A"/>
              </a:solidFill>
              <a:prstDash val="solid"/>
            </a:ln>
          </c:spPr>
          <c:cat>
            <c:strRef>
              <c:f>'Chart Data'!$E$2:$E$7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28</c:v>
                </c:pt>
                <c:pt idx="1">
                  <c:v>33</c:v>
                </c:pt>
                <c:pt idx="2">
                  <c:v>31</c:v>
                </c:pt>
                <c:pt idx="3">
                  <c:v>40</c:v>
                </c:pt>
                <c:pt idx="4">
                  <c:v>44</c:v>
                </c:pt>
                <c:pt idx="5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Bulan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Total unit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Proporsi Unit Terjual per Cabang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areaChart>
        <c:grouping val="percentStacked"/>
        <c:varyColors val="0"/>
        <c:ser>
          <c:idx val="0"/>
          <c:order val="0"/>
          <c:tx>
            <c:v>Utara</c:v>
          </c:tx>
          <c:spPr>
            <a:solidFill xmlns:a="http://schemas.openxmlformats.org/drawingml/2006/main">
              <a:srgbClr val="196B9B"/>
            </a:solidFill>
            <a:ln xmlns:a="http://schemas.openxmlformats.org/drawingml/2006/main" w="28575">
              <a:solidFill>
                <a:srgbClr val="196B9B"/>
              </a:solidFill>
              <a:prstDash val="solid"/>
            </a:ln>
          </c:spPr>
          <c:cat>
            <c:strRef>
              <c:f>'Chart Data'!$A$2:$A$7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56</c:v>
                </c:pt>
                <c:pt idx="4">
                  <c:v>62</c:v>
                </c:pt>
                <c:pt idx="5">
                  <c:v>60</c:v>
                </c:pt>
              </c:numCache>
            </c:numRef>
          </c:val>
        </c:ser>
        <c:ser>
          <c:idx val="1"/>
          <c:order val="1"/>
          <c:tx>
            <c:v>Tengah</c:v>
          </c:tx>
          <c:spPr>
            <a:solidFill xmlns:a="http://schemas.openxmlformats.org/drawingml/2006/main">
              <a:srgbClr val="D99A37"/>
            </a:solidFill>
            <a:ln xmlns:a="http://schemas.openxmlformats.org/drawingml/2006/main" w="28575">
              <a:solidFill>
                <a:srgbClr val="D99A37"/>
              </a:solidFill>
              <a:prstDash val="solid"/>
            </a:ln>
          </c:spPr>
          <c:cat>
            <c:strRef>
              <c:f>'Chart Data'!$C$2:$C$7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35</c:v>
                </c:pt>
                <c:pt idx="1">
                  <c:v>39</c:v>
                </c:pt>
                <c:pt idx="2">
                  <c:v>44</c:v>
                </c:pt>
                <c:pt idx="3">
                  <c:v>43</c:v>
                </c:pt>
                <c:pt idx="4">
                  <c:v>51</c:v>
                </c:pt>
                <c:pt idx="5">
                  <c:v>57</c:v>
                </c:pt>
              </c:numCache>
            </c:numRef>
          </c:val>
        </c:ser>
        <c:ser>
          <c:idx val="2"/>
          <c:order val="2"/>
          <c:tx>
            <c:v>Selatan</c:v>
          </c:tx>
          <c:spPr>
            <a:solidFill xmlns:a="http://schemas.openxmlformats.org/drawingml/2006/main">
              <a:srgbClr val="55B77A"/>
            </a:solidFill>
            <a:ln xmlns:a="http://schemas.openxmlformats.org/drawingml/2006/main" w="28575">
              <a:solidFill>
                <a:srgbClr val="55B77A"/>
              </a:solidFill>
              <a:prstDash val="solid"/>
            </a:ln>
          </c:spPr>
          <c:cat>
            <c:strRef>
              <c:f>'Chart Data'!$E$2:$E$7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'Chart Data'!$F$2:$F$7</c:f>
              <c:numCache>
                <c:formatCode>0%</c:formatCode>
                <c:ptCount val="6"/>
                <c:pt idx="0">
                  <c:v>28</c:v>
                </c:pt>
                <c:pt idx="1">
                  <c:v>33</c:v>
                </c:pt>
                <c:pt idx="2">
                  <c:v>31</c:v>
                </c:pt>
                <c:pt idx="3">
                  <c:v>40</c:v>
                </c:pt>
                <c:pt idx="4">
                  <c:v>44</c:v>
                </c:pt>
                <c:pt idx="5">
                  <c:v>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Bulan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Proporsi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5868"/>
              </a:solidFill>
              <a:latin typeface="SF Pro Text"/>
              <a:ea typeface="SF Pro Text"/>
              <a:cs typeface="SF Pro Tex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Perubahan Saldo Kas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11A30"/>
              </a:solidFill>
              <a:latin typeface="SF Pro Text"/>
              <a:ea typeface="SF Pro Text"/>
              <a:cs typeface="SF Pro Text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Posisi awal batang</c:v>
          </c:tx>
          <c:spPr>
            <a:solidFill xmlns:a="http://schemas.openxmlformats.org/drawingml/2006/main">
              <a:srgbClr val="FFFFFF"/>
            </a:solidFill>
          </c:spPr>
          <c:cat>
            <c:strRef>
              <c:f>'Chart Data'!$A$2:$A$6</c:f>
              <c:strCache>
                <c:ptCount val="5"/>
                <c:pt idx="0">
                  <c:v>Saldo awal</c:v>
                </c:pt>
                <c:pt idx="1">
                  <c:v>Pembelian</c:v>
                </c:pt>
                <c:pt idx="2">
                  <c:v>Biaya</c:v>
                </c:pt>
                <c:pt idx="3">
                  <c:v>Pengembalian</c:v>
                </c:pt>
                <c:pt idx="4">
                  <c:v>Saldo akhir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85</c:v>
                </c:pt>
                <c:pt idx="2">
                  <c:v>65</c:v>
                </c:pt>
                <c:pt idx="3">
                  <c:v>65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Saldo / perubahan</c:v>
          </c:tx>
          <c:spPr>
            <a:solidFill xmlns:a="http://schemas.openxmlformats.org/drawingml/2006/main">
              <a:srgbClr val="196B9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96B9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9A3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9A3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5B77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96B9B"/>
              </a:solidFill>
            </c:spPr>
          </c:dPt>
          <c:cat>
            <c:strRef>
              <c:f>'Chart Data'!$C$2:$C$6</c:f>
              <c:strCache>
                <c:ptCount val="5"/>
                <c:pt idx="0">
                  <c:v>Saldo awal</c:v>
                </c:pt>
                <c:pt idx="1">
                  <c:v>Pembelian</c:v>
                </c:pt>
                <c:pt idx="2">
                  <c:v>Biaya</c:v>
                </c:pt>
                <c:pt idx="3">
                  <c:v>Pengembalian</c:v>
                </c:pt>
                <c:pt idx="4">
                  <c:v>Saldo akhir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120</c:v>
                </c:pt>
                <c:pt idx="1">
                  <c:v>35</c:v>
                </c:pt>
                <c:pt idx="2">
                  <c:v>20</c:v>
                </c:pt>
                <c:pt idx="3">
                  <c:v>18</c:v>
                </c:pt>
                <c:pt idx="4">
                  <c:v>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A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SF Pro Text"/>
                    <a:ea typeface="SF Pro Text"/>
                    <a:cs typeface="SF Pro Text"/>
                  </a:rPr>
                  <a:t>Rupiah (ribu)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F Pro Text"/>
                  <a:ea typeface="SF Pro Text"/>
                  <a:cs typeface="SF Pro T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65E59-525A-4FD6-BE2D-284FFC29B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48fc11ac54d8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EB0E5-C0BC-48A3-A3E5-CD9D7C6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Visualisasi Data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9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Tren dan Perubahan</a:t>
            </a:r>
          </a:p>
        </p:txBody>
      </p:sp>
    </p:spTree>
    <p:extLst>
      <p:ext uri="{BB962C8B-B14F-4D97-AF65-F5344CB8AC3E}">
        <p14:creationId xmlns:p14="http://schemas.microsoft.com/office/powerpoint/2010/main" val="2049344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3E26D-8BE3-4655-8068-FB62E1F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Line chart membaca satu tren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F2DD6-167D-460B-BCA6-D2D1046A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titik adalah nilai pada satu periode yang berurutan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883D5-C3A6-4C51-8C2D-F255EA76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F7C49CB-E76A-43D5-A682-9CC84CC8489A}"/>
              </a:ext>
            </a:extLst>
          </p:cNvPr>
          <p:cNvGraphicFramePr/>
          <p:nvPr/>
        </p:nvGraphicFramePr>
        <p:xfrm>
          <a:off xmlns:a="http://schemas.openxmlformats.org/drawingml/2006/main" x="876300" y="179070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0646afbbcf45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FFF5D-AA08-409F-92FF-AB76419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47900"/>
            <a:ext cx="2952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Cocok untuk satu seri waktu.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Lonjakan dan penurunan terlihat dari kemiringan garis.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titik awal sumbu yang sesuai konteks.</a:t>
            </a:r>
          </a:p>
        </p:txBody>
      </p:sp>
    </p:spTree>
    <p:extLst>
      <p:ext uri="{BB962C8B-B14F-4D97-AF65-F5344CB8AC3E}">
        <p14:creationId xmlns:p14="http://schemas.microsoft.com/office/powerpoint/2010/main" val="1191785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90AEF-60B9-49E9-B645-5BAAB796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Multi-line membandingkan tren kelompok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7C03-26FD-4C3C-A283-0E383EF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Warna dan legenda membantu membedakan cabang pada periode yang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E2D37-CF69-42E7-A984-020983E7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5C97F42-BDFE-4661-821B-C646915AF98C}"/>
              </a:ext>
            </a:extLst>
          </p:cNvPr>
          <p:cNvGraphicFramePr/>
          <p:nvPr/>
        </p:nvGraphicFramePr>
        <p:xfrm>
          <a:off xmlns:a="http://schemas.openxmlformats.org/drawingml/2006/main" x="876300" y="1790700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23b1bb90224b0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41AD5-AEF3-4A35-8B25-A8AFC8D8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57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nilai pada bulan yang sama.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Perhatikan perubahan arah dan jarak antargaris.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Batasi jumlah garis agar pola tetap terbaca.</a:t>
            </a:r>
          </a:p>
        </p:txBody>
      </p:sp>
    </p:spTree>
    <p:extLst>
      <p:ext uri="{BB962C8B-B14F-4D97-AF65-F5344CB8AC3E}">
        <p14:creationId xmlns:p14="http://schemas.microsoft.com/office/powerpoint/2010/main" val="919226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8865D-6F83-428D-92E1-51DEF0F5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Sebelum membandingkan garis, periksa datanya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52AFA-BA9C-468F-8959-4453021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Pastikan sumbu waktu dan unit seragam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6A659-3377-4753-8103-5F1A9BA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39D58-13CC-4F7F-902E-BFA5BF2C0B4C}"/>
              </a:ext>
            </a:extLst>
          </p:cNvPr>
          <p:cNvGraphicFramePr/>
          <p:nvPr/>
        </p:nvGraphicFramePr>
        <p:xfrm>
          <a:off xmlns:a="http://schemas.openxmlformats.org/drawingml/2006/main" x="952500" y="1971675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620000"/>
              </a:tblGrid>
              <a:tr h="7239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Periksa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Alasan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7239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Urutan periode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Garis mengikuti urutan waktu, bukan urutan label alfabetis.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7239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Unit dan skala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Seri dengan unit atau skala berbeda dapat menyesatkan.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Jumlah garis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Terlalu banyak warna membuat legenda dan pola sulit dibaca.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7239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kosong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Jeda dapat berarti data tidak tersedia, bukan nilai nol.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020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A6EE6-C4A8-455C-A806-F5BBD498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Tengah: kunjungan perpustakaan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0F5C7-B0AF-4092-8AB8-A1B7154D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perubahan mingguan pada tiga cabang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8C04-6FED-49A6-8445-DBBA6A8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969E-E7E6-4413-929A-D3898985061F}"/>
              </a:ext>
            </a:extLst>
          </p:cNvPr>
          <p:cNvGraphicFramePr/>
          <p:nvPr/>
        </p:nvGraphicFramePr>
        <p:xfrm>
          <a:off xmlns:a="http://schemas.openxmlformats.org/drawingml/2006/main" x="781050" y="1943100"/>
          <a:ext xmlns:a="http://schemas.openxmlformats.org/drawingml/2006/main" cx="4686300" cy="3733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57300"/>
                <a:gridCol w="1143000"/>
                <a:gridCol w="1143000"/>
                <a:gridCol w="1143000"/>
              </a:tblGrid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Minggu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Barat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Timur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Pusat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98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111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164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122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171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132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176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1486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43EA3-37C6-4DFF-BB93-02D1D456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line chart untuk Cabang Barat.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multi-line untuk membandingkan tiga cabang.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Tuliskan satu pengamatan yang didukung grafik.</a:t>
            </a:r>
          </a:p>
        </p:txBody>
      </p:sp>
    </p:spTree>
    <p:extLst>
      <p:ext uri="{BB962C8B-B14F-4D97-AF65-F5344CB8AC3E}">
        <p14:creationId xmlns:p14="http://schemas.microsoft.com/office/powerpoint/2010/main" val="1677559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6925A-7A2D-4FB4-BD1C-E3787B7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Area chart menekankan besar nilai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D97E3-7627-4DFE-86DD-EF7F16D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Area di bawah garis membantu melihat besaran dari waktu ke waktu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AC21-DAFB-4874-B12F-8A1A011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D0EBD96-55DD-4199-91FC-3A21F2D7955C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7048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34f5bc58f845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A584E-C452-4588-BFB5-5028937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2857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Cocok untuk satu deret waktu.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Area memberi penekanan visual pada besaran.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Pertahankan baseline nol saat membandingkan luas.</a:t>
            </a:r>
          </a:p>
        </p:txBody>
      </p:sp>
    </p:spTree>
    <p:extLst>
      <p:ext uri="{BB962C8B-B14F-4D97-AF65-F5344CB8AC3E}">
        <p14:creationId xmlns:p14="http://schemas.microsoft.com/office/powerpoint/2010/main" val="913077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48C65-C78A-4DB7-974A-D449246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Stacked area memperlihatkan total dan kontribusi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FE9E7-06D8-465B-B019-129C0EB4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Lapisan menunjukkan bagian masing-masing cabang dalam total bulanan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10569-BDA3-4B30-9E4A-96246F6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7040197-4422-48A4-AD6D-F3DE5BB34BE4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7667625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114ab90d88496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B533F-FBAF-4394-A708-35D8271D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247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saat komponen dapat dijumlahkan.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Lapisan atas memakai baseline yang bergerak.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3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Bandingkan kontribusi dengan hati-hati.</a:t>
            </a:r>
          </a:p>
        </p:txBody>
      </p:sp>
    </p:spTree>
    <p:extLst>
      <p:ext uri="{BB962C8B-B14F-4D97-AF65-F5344CB8AC3E}">
        <p14:creationId xmlns:p14="http://schemas.microsoft.com/office/powerpoint/2010/main" val="474513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DDB9-DE21-44F9-9841-E6C2D57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Stacked area 100% membandingkan proporsi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887E-1C81-435E-AC98-E6F3FFB6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ketika pertanyaan utamanya adalah perubahan komposisi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56045-D04C-461B-80F8-0C937D83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68FB3E5-64F3-451E-AF83-F0BA12DE13AC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2ba844fe514a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1D7E3-AFDD-4ABD-996A-6057374D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periode dinormalisasi menjadi 100%.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Perubahan total tidak lagi terlihat.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Baca proporsi, bukan jumlah unit.</a:t>
            </a:r>
          </a:p>
        </p:txBody>
      </p:sp>
    </p:spTree>
    <p:extLst>
      <p:ext uri="{BB962C8B-B14F-4D97-AF65-F5344CB8AC3E}">
        <p14:creationId xmlns:p14="http://schemas.microsoft.com/office/powerpoint/2010/main" val="1574827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04BBA-2D29-4BCE-9D3A-B56A7E8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Waterfall merangkai perubahan menuju saldo akhir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4C6B2-E240-4654-8967-492757CA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Batang antara menunjukkan tambahan atau pengurang dari saldo berjalan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E960A-1B6F-4451-B559-69D46B62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2BEEE27-A8C1-4924-ABF8-1D4972D9A586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905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d48c4d891342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4F87-0F20-4448-AA7B-2719528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238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Batang awal dan akhir menunjukkan total.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Batang hijau menambah saldo.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Batang kuning mengurangi saldo.</a:t>
            </a:r>
          </a:p>
        </p:txBody>
      </p:sp>
    </p:spTree>
    <p:extLst>
      <p:ext uri="{BB962C8B-B14F-4D97-AF65-F5344CB8AC3E}">
        <p14:creationId xmlns:p14="http://schemas.microsoft.com/office/powerpoint/2010/main" val="1879613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A2004-DDBD-4F98-9B0C-CE94D2F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Susun komponen waterfall sebagai perubahan bersih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A1DB8-E866-437D-8DDA-D23187F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Tentukan saldo awal, nilai tiap perubahan, lalu saldo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F461C-B1E7-4DA7-8614-A7766808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15B3-F49D-4589-B35E-F63B7EDEC34D}"/>
              </a:ext>
            </a:extLst>
          </p:cNvPr>
          <p:cNvGraphicFramePr/>
          <p:nvPr/>
        </p:nvGraphicFramePr>
        <p:xfrm>
          <a:off xmlns:a="http://schemas.openxmlformats.org/drawingml/2006/main" x="1066800" y="2000250"/>
          <a:ext xmlns:a="http://schemas.openxmlformats.org/drawingml/2006/main" cx="523875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2000250"/>
              </a:tblGrid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Tahap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Perubahan (ribu)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Saldo awal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Sewa tempat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Konsumsi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Sponsor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Perlengkapan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-45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498021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Saldo akhir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10B8-60BC-4686-AAC2-36F7B8F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Tambahkan perubahan berurutan.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Gunakan tanda positif dan negatif dengan konsisten.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Cek bahwa saldo akhir sama dengan hasil hitung.</a:t>
            </a:r>
          </a:p>
        </p:txBody>
      </p:sp>
    </p:spTree>
    <p:extLst>
      <p:ext uri="{BB962C8B-B14F-4D97-AF65-F5344CB8AC3E}">
        <p14:creationId xmlns:p14="http://schemas.microsoft.com/office/powerpoint/2010/main" val="1971709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3319-BA93-4296-B47F-BFF12835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Pilih grafik dari bentuk pertanyaannya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304B1-D720-40F5-99CA-1FCBD41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Urutan waktu, komposisi, dan perubahan bertahap membutuhkan penekanan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2102E-14C0-4357-A324-1A2CE1C1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75BB-1B79-47B5-B939-9C25E313C4BE}"/>
              </a:ext>
            </a:extLst>
          </p:cNvPr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477000"/>
                <a:gridCol w="4000500"/>
              </a:tblGrid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Pertanyaan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 yang sesuai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satu nilai berubah tiap bulan?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Line atau area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tren cabang dibandingkan?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Multi-line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komponen membentuk total dari waktu ke waktu?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Stacked area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Bagaimana saldo berubah dari awal ke akhir?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Waterfall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Apakah proporsi komponen berubah?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Stacked area 100%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6919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9334B-B985-4CED-A3DE-7925A387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Hindari kesalahan saat membaca tren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59B80-74E4-4381-AA8A-0F58AC6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Grafik yang rapi tetap perlu data yang tersusun dan skala yang tepat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0C3DA-2B1B-44B6-A3D4-4EA20290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D9A90-A06B-4354-B300-9BCB7B52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6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urutkan label bulan secara alfabetis.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6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menyamakan area bertumpuk dengan tren satu seri.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6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memakai stacked area jika nilai dapat negatif.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6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membaca waterfall tanpa memeriksa tanda perubahan.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600"/>
              </a:spcAft>
              <a:buNone/>
              <a:def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Jangan memakai terlalu banyak garis pada satu panel.</a:t>
            </a:r>
          </a:p>
        </p:txBody>
      </p:sp>
    </p:spTree>
    <p:extLst>
      <p:ext uri="{BB962C8B-B14F-4D97-AF65-F5344CB8AC3E}">
        <p14:creationId xmlns:p14="http://schemas.microsoft.com/office/powerpoint/2010/main" val="9027309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3A82-F5D1-455E-8633-AB37D104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Tentukan grafik sebelum menulis kode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99EEA-BAA8-45C3-8584-A9FE71DB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Perhatikan urutan, jumlah seri, dan arti nilai yang dijumlahkan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26503-FCAF-4A28-A721-AD944ADE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02830-B0E2-4BB8-9A06-8D895E3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647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30"/>
          </a:solidFill>
          <a:ln xmlns:a="http://schemas.openxmlformats.org/drawingml/2006/main" w="0">
            <a:solidFill>
              <a:srgbClr val="111A30"/>
            </a:solidFill>
            <a:prstDash val="solid"/>
          </a:ln>
        </p:spPr>
        <p:txBody>
          <a:bodyPr xmlns:a="http://schemas.openxmlformats.org/drawingml/2006/main" wrap="square" lIns="142875" tIns="123825" rIns="142875" bIns="123825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defPPr>
          </a:lstStyle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df.plot.line(x='Bulan', y='Unit')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ax.fill_between(bulan, nilai, alpha=0.3)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ax.stackplot(bulan, seri_a, seri_b)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2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ax.bar(posisi, perubahan, bottom=awal)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B30FC-F716-4E80-B1B0-D39EE8B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3238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Baris mengikuti periode.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Setiap seri memakai unit yang konsisten.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Latihan ada di notebook siswa dan versi solusi.</a:t>
            </a:r>
          </a:p>
        </p:txBody>
      </p:sp>
    </p:spTree>
    <p:extLst>
      <p:ext uri="{BB962C8B-B14F-4D97-AF65-F5344CB8AC3E}">
        <p14:creationId xmlns:p14="http://schemas.microsoft.com/office/powerpoint/2010/main" val="1731573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38C9E-D955-46CC-B857-7D45A5DF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Practice Akhir: pendaftaran dan saldo acara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3A289-57EC-4329-9BAB-B4FEF68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Gabungkan grafik waktu, kontribusi, dan perubahan bersih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7A9B-30EA-4384-A925-EF425BA6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03136-085D-4A2A-9ABB-7AFED20BB46D}"/>
              </a:ext>
            </a:extLst>
          </p:cNvPr>
          <p:cNvGraphicFramePr/>
          <p:nvPr/>
        </p:nvGraphicFramePr>
        <p:xfrm>
          <a:off xmlns:a="http://schemas.openxmlformats.org/drawingml/2006/main" x="781050" y="1885950"/>
          <a:ext xmlns:a="http://schemas.openxmlformats.org/drawingml/2006/main" cx="4953000" cy="2762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43000"/>
                <a:gridCol w="1190625"/>
                <a:gridCol w="1333500"/>
                <a:gridCol w="1285875"/>
              </a:tblGrid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Bulan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Web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Sekolah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Komunitas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Feb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Mar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42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Apr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394607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B5C0B-8371-4FB8-8FAA-102916E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area total peserta dan stacked area per kanal.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Buat waterfall dari saldo awal 500 ribu dan perubahan pada tabel berikutnya.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Tambahkan judul, satuan, legenda, serta interpretasi singkat.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7A1EA-CE8B-4119-9262-F9CB4A6D7A50}"/>
              </a:ext>
            </a:extLst>
          </p:cNvPr>
          <p:cNvGraphicFramePr/>
          <p:nvPr/>
        </p:nvGraphicFramePr>
        <p:xfrm>
          <a:off xmlns:a="http://schemas.openxmlformats.org/drawingml/2006/main" x="781050" y="4857750"/>
          <a:ext xmlns:a="http://schemas.openxmlformats.org/drawingml/2006/main" cx="4953000" cy="1352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1809750"/>
              </a:tblGrid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Tahap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Ribu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Saldo awal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Sewa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Konsumsi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-80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Sponsor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54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Perlengkapan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-45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181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88C5-F86F-411B-B11E-326F52F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28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Cek pemahaman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4EB1E-2FA2-4EB5-899D-FE4BE6C8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defRPr>
            </a:pPr>
            <a:r>
              <a:rPr sz="1425" b="0">
                <a:solidFill>
                  <a:srgbClr val="4B5868"/>
                </a:solidFill>
                <a:latin typeface="SF Pro Text"/>
                <a:ea typeface="SF Pro Text"/>
                <a:cs typeface="SF Pro Text"/>
              </a:rPr>
              <a:t>Sebutkan pilihan grafik dan alasan berdasarkan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65A38-181C-49E0-9A0A-388AB628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E7EAEE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1FA89-0433-445F-AFBB-C65DDF158F4E}"/>
              </a:ext>
            </a:extLst>
          </p:cNvPr>
          <p:cNvGraphicFramePr/>
          <p:nvPr/>
        </p:nvGraphicFramePr>
        <p:xfrm>
          <a:off xmlns:a="http://schemas.openxmlformats.org/drawingml/2006/main" x="914400" y="2095500"/>
          <a:ext xmlns:a="http://schemas.openxmlformats.org/drawingml/2006/main" cx="102870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858000"/>
                <a:gridCol w="3429000"/>
              </a:tblGrid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Kondisi data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Grafik</a:t>
                      </a:r>
                    </a:p>
                  </a:txBody>
                  <a:tcPr marL="91440" marR="91440" marT="45720" marB="45720" anchor="ctr">
                    <a:solidFill>
                      <a:srgbClr val="111A30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Nilai bulanan satu cabang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Tiga cabang dengan skala yang sama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Total dan bagian tiap kanal</a:t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AF6FC"/>
                    </a:solidFill>
                  </a:tcPr>
                </a:tc>
              </a:tr>
              <a:tr h="68580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Saldo awal dengan pemasukan dan biaya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r>
                        <a:rPr sz="1500" b="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256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2026-10-09T09:28:26.7360000Z</dcterms:created>
  <dcterms:modified xsi:type="dcterms:W3CDTF">2026-10-09T09:28:26.7360000Z</dcterms:modified>
</coreProperties>
</file>