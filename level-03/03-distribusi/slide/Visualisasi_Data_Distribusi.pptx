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d0c2bd8b774daf" /><Relationship Type="http://schemas.openxmlformats.org/officeDocument/2006/relationships/extended-properties" Target="/docProps/app.xml" Id="R04b331fa2b2144e7" /><Relationship Type="http://schemas.openxmlformats.org/officeDocument/2006/relationships/officeDocument" Target="/ppt/presentation.xml" Id="R2fb2ffad6ea146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cd28f35b3d409d"/>
  </p:sldMasterIdLst>
  <p:notesMasterIdLst>
    <p:notesMasterId xmlns:r="http://schemas.openxmlformats.org/officeDocument/2006/relationships" r:id="R76f4c467e6e1497e"/>
  </p:notesMasterIdLst>
  <p:sldIdLst>
    <p:sldId xmlns:r="http://schemas.openxmlformats.org/officeDocument/2006/relationships" id="256" r:id="Rf83918c99d024968"/>
    <p:sldId xmlns:r="http://schemas.openxmlformats.org/officeDocument/2006/relationships" id="257" r:id="R2d7e45c0283f40ca"/>
    <p:sldId xmlns:r="http://schemas.openxmlformats.org/officeDocument/2006/relationships" id="258" r:id="Rd16c17ed85cc4c50"/>
    <p:sldId xmlns:r="http://schemas.openxmlformats.org/officeDocument/2006/relationships" id="259" r:id="Rec80ffe407984c11"/>
    <p:sldId xmlns:r="http://schemas.openxmlformats.org/officeDocument/2006/relationships" id="260" r:id="R0408f29600374847"/>
    <p:sldId xmlns:r="http://schemas.openxmlformats.org/officeDocument/2006/relationships" id="261" r:id="R0f47865e2329444b"/>
    <p:sldId xmlns:r="http://schemas.openxmlformats.org/officeDocument/2006/relationships" id="262" r:id="Rfe3b0b81851d40e6"/>
    <p:sldId xmlns:r="http://schemas.openxmlformats.org/officeDocument/2006/relationships" id="263" r:id="Rbe73c7a73d704714"/>
    <p:sldId xmlns:r="http://schemas.openxmlformats.org/officeDocument/2006/relationships" id="264" r:id="Ra1def5e7d58e49a2"/>
    <p:sldId xmlns:r="http://schemas.openxmlformats.org/officeDocument/2006/relationships" id="265" r:id="Re9ebcc1c69fa417a"/>
    <p:sldId xmlns:r="http://schemas.openxmlformats.org/officeDocument/2006/relationships" id="266" r:id="R6c7b4efe47894a2e"/>
    <p:sldId xmlns:r="http://schemas.openxmlformats.org/officeDocument/2006/relationships" id="267" r:id="R87a9ef2691e74f66"/>
    <p:sldId xmlns:r="http://schemas.openxmlformats.org/officeDocument/2006/relationships" id="268" r:id="R2f4390b7b4d5468d"/>
    <p:sldId xmlns:r="http://schemas.openxmlformats.org/officeDocument/2006/relationships" id="269" r:id="R7278caba0dd94b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5ca7583a214cd0" /><Relationship Type="http://schemas.openxmlformats.org/officeDocument/2006/relationships/slideMaster" Target="/ppt/slideMasters/slideMaster1.xml" Id="R44cd28f35b3d409d" /><Relationship Type="http://schemas.openxmlformats.org/officeDocument/2006/relationships/notesMaster" Target="/ppt/notesMasters/notesMaster1.xml" Id="R76f4c467e6e1497e" /><Relationship Type="http://schemas.openxmlformats.org/officeDocument/2006/relationships/presProps" Target="/ppt/presProps.xml" Id="R4f59d4b581dd4105" /><Relationship Type="http://schemas.openxmlformats.org/officeDocument/2006/relationships/tableStyles" Target="/ppt/tableStyles.xml" Id="Ra628ced642324b32" /><Relationship Type="http://schemas.openxmlformats.org/officeDocument/2006/relationships/slide" Target="/ppt/slides/slide1.xml" Id="Rf83918c99d024968" /><Relationship Type="http://schemas.openxmlformats.org/officeDocument/2006/relationships/slide" Target="/ppt/slides/slide2.xml" Id="R2d7e45c0283f40ca" /><Relationship Type="http://schemas.openxmlformats.org/officeDocument/2006/relationships/slide" Target="/ppt/slides/slide3.xml" Id="Rd16c17ed85cc4c50" /><Relationship Type="http://schemas.openxmlformats.org/officeDocument/2006/relationships/slide" Target="/ppt/slides/slide4.xml" Id="Rec80ffe407984c11" /><Relationship Type="http://schemas.openxmlformats.org/officeDocument/2006/relationships/slide" Target="/ppt/slides/slide5.xml" Id="R0408f29600374847" /><Relationship Type="http://schemas.openxmlformats.org/officeDocument/2006/relationships/slide" Target="/ppt/slides/slide6.xml" Id="R0f47865e2329444b" /><Relationship Type="http://schemas.openxmlformats.org/officeDocument/2006/relationships/slide" Target="/ppt/slides/slide7.xml" Id="Rfe3b0b81851d40e6" /><Relationship Type="http://schemas.openxmlformats.org/officeDocument/2006/relationships/slide" Target="/ppt/slides/slide8.xml" Id="Rbe73c7a73d704714" /><Relationship Type="http://schemas.openxmlformats.org/officeDocument/2006/relationships/slide" Target="/ppt/slides/slide9.xml" Id="Ra1def5e7d58e49a2" /><Relationship Type="http://schemas.openxmlformats.org/officeDocument/2006/relationships/slide" Target="/ppt/slides/slide10.xml" Id="Re9ebcc1c69fa417a" /><Relationship Type="http://schemas.openxmlformats.org/officeDocument/2006/relationships/slide" Target="/ppt/slides/slide11.xml" Id="R6c7b4efe47894a2e" /><Relationship Type="http://schemas.openxmlformats.org/officeDocument/2006/relationships/slide" Target="/ppt/slides/slide12.xml" Id="R87a9ef2691e74f66" /><Relationship Type="http://schemas.openxmlformats.org/officeDocument/2006/relationships/slide" Target="/ppt/slides/slide13.xml" Id="R2f4390b7b4d5468d" /><Relationship Type="http://schemas.openxmlformats.org/officeDocument/2006/relationships/slide" Target="/ppt/slides/slide14.xml" Id="R7278caba0dd94b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ef8eaf916448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a141960984467f" /><Relationship Type="http://schemas.openxmlformats.org/officeDocument/2006/relationships/notesMaster" Target="/ppt/notesMasters/notesMaster1.xml" Id="Rb08b1577b3f146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0d03bd2313498d" /><Relationship Type="http://schemas.openxmlformats.org/officeDocument/2006/relationships/notesMaster" Target="/ppt/notesMasters/notesMaster1.xml" Id="Rd0d05cc07a4048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fa4933cb4544f1" /><Relationship Type="http://schemas.openxmlformats.org/officeDocument/2006/relationships/notesMaster" Target="/ppt/notesMasters/notesMaster1.xml" Id="R2f4459f683034d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591e91a87b4de3" /><Relationship Type="http://schemas.openxmlformats.org/officeDocument/2006/relationships/notesMaster" Target="/ppt/notesMasters/notesMaster1.xml" Id="Rf912071e691b40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21ddf4c7474355" /><Relationship Type="http://schemas.openxmlformats.org/officeDocument/2006/relationships/notesMaster" Target="/ppt/notesMasters/notesMaster1.xml" Id="R0ddc197493df4b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fa1174e36149fd" /><Relationship Type="http://schemas.openxmlformats.org/officeDocument/2006/relationships/notesMaster" Target="/ppt/notesMasters/notesMaster1.xml" Id="Rf4cce0a1a2304a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24e84963f9461b" /><Relationship Type="http://schemas.openxmlformats.org/officeDocument/2006/relationships/notesMaster" Target="/ppt/notesMasters/notesMaster1.xml" Id="Refc1c5f7b43e43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2547777fca43d4" /><Relationship Type="http://schemas.openxmlformats.org/officeDocument/2006/relationships/notesMaster" Target="/ppt/notesMasters/notesMaster1.xml" Id="Rd5b9ce3548f04f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16357952894aa4" /><Relationship Type="http://schemas.openxmlformats.org/officeDocument/2006/relationships/notesMaster" Target="/ppt/notesMasters/notesMaster1.xml" Id="Rb1ffb1415ec041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d14ea8cbb440a6" /><Relationship Type="http://schemas.openxmlformats.org/officeDocument/2006/relationships/notesMaster" Target="/ppt/notesMasters/notesMaster1.xml" Id="R257f3592c48a45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ffe0ec2b344d01" /><Relationship Type="http://schemas.openxmlformats.org/officeDocument/2006/relationships/notesMaster" Target="/ppt/notesMasters/notesMaster1.xml" Id="R7a884c1430604d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5c350b17aa4a34" /><Relationship Type="http://schemas.openxmlformats.org/officeDocument/2006/relationships/notesMaster" Target="/ppt/notesMasters/notesMaster1.xml" Id="R2ed83606817445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f9c22c7d0d4785" /><Relationship Type="http://schemas.openxmlformats.org/officeDocument/2006/relationships/notesMaster" Target="/ppt/notesMasters/notesMaster1.xml" Id="Rf4bc24fa973c4d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1df2d877d6647f8" /><Relationship Type="http://schemas.openxmlformats.org/officeDocument/2006/relationships/notesMaster" Target="/ppt/notesMasters/notesMaster1.xml" Id="R9abd82812d8a4e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nilai merupakan contoh buatan.</a:t>
            </a:r>
          </a:p>
          <a:p xmlns:a="http://schemas.openxmlformats.org/drawingml/2006/main">
            <a:r>
              <a:t>Matplotlib histogram API: https://matplotlib.org/stable/api/_as_gen/matplotlib.axes.Axes.hist.html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Kedua grafik memakai data yang sama. Perubahan bins mengubah tingkat detail yang tampak.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KDE memakai kernel Gaussian dan bandwidth Scott seperti scipy.stats.gaussian_kde pada notebook.</a:t>
            </a:r>
          </a:p>
          <a:p xmlns:a="http://schemas.openxmlformats.org/drawingml/2006/main">
            <a:r>
              <a:t>Rujukan: https://docs.scipy.org/doc/scipy/reference/generated/scipy.stats.gaussian_kde.html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waktu merupakan contoh buatan.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Grafik box plot statis disematkan sebagai gambar data. Notebook berisi kode yang dapat dijalankan dan diedit.</a:t>
            </a:r>
          </a:p>
          <a:p xmlns:a="http://schemas.openxmlformats.org/drawingml/2006/main">
            <a:r>
              <a:t>Dokumentasi Matplotlib: https://matplotlib.org/stable/api/_as_gen/matplotlib.axes.Axes.boxplot.html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Grafik violin statis disematkan sebagai gambar data. Notebook berisi kode yang dapat dijalankan dan diedit.</a:t>
            </a:r>
          </a:p>
          <a:p xmlns:a="http://schemas.openxmlformats.org/drawingml/2006/main">
            <a:r>
              <a:t>Dokumentasi Matplotlib: https://matplotlib.org/stable/api/_as_gen/matplotlib.axes.Axes.violinplot.html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Kedua kelompok contoh memiliki median 76, tetapi rentang dan bentuk histogram berbeda.</a:t>
            </a:r>
          </a:p>
          <a:p xmlns:a="http://schemas.openxmlformats.org/drawingml/2006/main">
            <a:r>
              <a:t>Visual dibuat dari data yang sama dengan contoh notebook.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e6cf460eab44b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84f56882334b4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bba4e579747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d0b0cc7dc426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279ab0ad446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1e86dbc23e41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CCC428-71CE-478A-A446-DAE319A858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469417-17CC-462C-BF9B-07B79FA277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86C6DE-F2CA-4BEC-AB45-60CD80F398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3EC19A-B6CA-4079-8BCD-048BD4CE7A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0FB0A1-FA4B-4F5B-9E54-4F443C18EF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5A39D74-98F6-4D74-BF20-8F030BC796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9F7CA6-4A06-4E00-B048-45B6909901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90864F2-3FCA-466A-8550-E2DCC5432DF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EEEED7-9026-41D7-87F7-D21C53527C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DA53CD-6DFE-4342-9EAC-E7D6C4A511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d6ca39c1724d37" /><Relationship Type="http://schemas.openxmlformats.org/officeDocument/2006/relationships/slideLayout" Target="/ppt/slideLayouts/slideLayout1.xml" Id="R2f14c7c86caa4d77" /><Relationship Type="http://schemas.openxmlformats.org/officeDocument/2006/relationships/slideLayout" Target="/ppt/slideLayouts/slideLayout2.xml" Id="R64ab41bb68104c86" /><Relationship Type="http://schemas.openxmlformats.org/officeDocument/2006/relationships/slideLayout" Target="/ppt/slideLayouts/slideLayout3.xml" Id="R6a7a96c18f274ef0" /><Relationship Type="http://schemas.openxmlformats.org/officeDocument/2006/relationships/slideLayout" Target="/ppt/slideLayouts/slideLayout4.xml" Id="Re7c178a9d40345ff" /><Relationship Type="http://schemas.openxmlformats.org/officeDocument/2006/relationships/slideLayout" Target="/ppt/slideLayouts/slideLayout5.xml" Id="R8352f659096c4826" /><Relationship Type="http://schemas.openxmlformats.org/officeDocument/2006/relationships/slideLayout" Target="/ppt/slideLayouts/slideLayout6.xml" Id="R2866d5712ce14c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14c7c86caa4d77"/>
    <p:sldLayoutId xmlns:r="http://schemas.openxmlformats.org/officeDocument/2006/relationships" id="2147483650" r:id="R64ab41bb68104c86"/>
    <p:sldLayoutId xmlns:r="http://schemas.openxmlformats.org/officeDocument/2006/relationships" id="2147483651" r:id="R6a7a96c18f274ef0"/>
    <p:sldLayoutId xmlns:r="http://schemas.openxmlformats.org/officeDocument/2006/relationships" id="2147483652" r:id="Re7c178a9d40345ff"/>
    <p:sldLayoutId xmlns:r="http://schemas.openxmlformats.org/officeDocument/2006/relationships" id="2147483653" r:id="R8352f659096c4826"/>
    <p:sldLayoutId xmlns:r="http://schemas.openxmlformats.org/officeDocument/2006/relationships" id="2147483654" r:id="R2866d5712ce14c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9d7ba1e3f6411c" /><Relationship Type="http://schemas.openxmlformats.org/officeDocument/2006/relationships/image" Target="/ppt/media/image.png" Id="R0c989b2ca9984360" /><Relationship Type="http://schemas.openxmlformats.org/officeDocument/2006/relationships/notesSlide" Target="/ppt/notesSlides/notesSlide1.xml" Id="R897001fc6e654c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69af8636ab4e62" /><Relationship Type="http://schemas.openxmlformats.org/officeDocument/2006/relationships/image" Target="/ppt/media/image2.png" Id="R6cb3213461374394" /><Relationship Type="http://schemas.openxmlformats.org/officeDocument/2006/relationships/notesSlide" Target="/ppt/notesSlides/notesSlide2.xml" Id="R3935aa3a89cd41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61ec0cd74f4ecd" /><Relationship Type="http://schemas.openxmlformats.org/officeDocument/2006/relationships/image" Target="/ppt/media/image3.png" Id="R0af4d87b38f047f7" /><Relationship Type="http://schemas.openxmlformats.org/officeDocument/2006/relationships/notesSlide" Target="/ppt/notesSlides/notesSlide3.xml" Id="R1a88ed1a6ac24b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d877fd62094b5a" /><Relationship Type="http://schemas.openxmlformats.org/officeDocument/2006/relationships/chart" Target="/ppt/slides/charts/chart1.xml" Id="R3dcf904e65d740c0" /><Relationship Type="http://schemas.openxmlformats.org/officeDocument/2006/relationships/notesSlide" Target="/ppt/notesSlides/notesSlide4.xml" Id="R945a8701bf4345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007d4c4a554ebd" /><Relationship Type="http://schemas.openxmlformats.org/officeDocument/2006/relationships/notesSlide" Target="/ppt/notesSlides/notesSlide5.xml" Id="Rc709f1e4d61747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44bb95987e4a53" /><Relationship Type="http://schemas.openxmlformats.org/officeDocument/2006/relationships/image" Target="/ppt/media/image4.png" Id="R909d6a8c50af4a91" /><Relationship Type="http://schemas.openxmlformats.org/officeDocument/2006/relationships/notesSlide" Target="/ppt/notesSlides/notesSlide6.xml" Id="R59529cbc118041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1dd967b6c74324" /><Relationship Type="http://schemas.openxmlformats.org/officeDocument/2006/relationships/image" Target="/ppt/media/image5.png" Id="Raaaf7aa6feee4289" /><Relationship Type="http://schemas.openxmlformats.org/officeDocument/2006/relationships/notesSlide" Target="/ppt/notesSlides/notesSlide7.xml" Id="R21a7a6265a4344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d6e8929fa64db1" /><Relationship Type="http://schemas.openxmlformats.org/officeDocument/2006/relationships/image" Target="/ppt/media/image6.png" Id="R2fc10db2b78943d5" /><Relationship Type="http://schemas.openxmlformats.org/officeDocument/2006/relationships/notesSlide" Target="/ppt/notesSlides/notesSlide8.xml" Id="R5e6a0b2d145d44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96418c4b5e43e7" /><Relationship Type="http://schemas.openxmlformats.org/officeDocument/2006/relationships/image" Target="/ppt/media/image7.png" Id="R7c74da66ef05494a" /><Relationship Type="http://schemas.openxmlformats.org/officeDocument/2006/relationships/notesSlide" Target="/ppt/notesSlides/notesSlide9.xml" Id="R0f5866e7b63441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48b746200543ab" /><Relationship Type="http://schemas.openxmlformats.org/officeDocument/2006/relationships/notesSlide" Target="/ppt/notesSlides/notesSlide10.xml" Id="Rd7c5a8792a5e48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67273ed71f4290" /><Relationship Type="http://schemas.openxmlformats.org/officeDocument/2006/relationships/notesSlide" Target="/ppt/notesSlides/notesSlide11.xml" Id="Rb562ab129b8c47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868229ff3d4b79" /><Relationship Type="http://schemas.openxmlformats.org/officeDocument/2006/relationships/notesSlide" Target="/ppt/notesSlides/notesSlide12.xml" Id="R0f97140f59104c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f6eea477bc4614" /><Relationship Type="http://schemas.openxmlformats.org/officeDocument/2006/relationships/notesSlide" Target="/ppt/notesSlides/notesSlide13.xml" Id="R90ddd6795c764a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4a62b889924ec2" /><Relationship Type="http://schemas.openxmlformats.org/officeDocument/2006/relationships/notesSlide" Target="/ppt/notesSlides/notesSlide14.xml" Id="Rbc32a7c9f90349d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Kepadatan Nilai Ujian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111A30"/>
              </a:solidFill>
              <a:latin typeface="SF Pro Text"/>
              <a:ea typeface="SF Pro Text"/>
              <a:cs typeface="SF Pro Text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Kepadatan</c:v>
          </c:tx>
          <c:spPr>
            <a:solidFill xmlns:a="http://schemas.openxmlformats.org/drawingml/2006/main">
              <a:srgbClr val="196B9B"/>
            </a:solidFill>
            <a:ln xmlns:a="http://schemas.openxmlformats.org/drawingml/2006/main" w="28575">
              <a:solidFill>
                <a:srgbClr val="196B9B"/>
              </a:solidFill>
              <a:prstDash val="solid"/>
            </a:ln>
          </c:spPr>
          <c:marker>
            <c:symbol val="none"/>
            <c:size val="2"/>
          </c:marker>
          <c:cat>
            <c:numRef>
              <c:f>'Chart Data'!$A$2:$A$16</c:f>
              <c:numCache>
                <c:formatCode>General</c:formatCode>
                <c:ptCount val="15"/>
                <c:pt idx="0">
                  <c:v>45</c:v>
                </c:pt>
                <c:pt idx="1">
                  <c:v>49</c:v>
                </c:pt>
                <c:pt idx="2">
                  <c:v>53</c:v>
                </c:pt>
                <c:pt idx="3">
                  <c:v>57</c:v>
                </c:pt>
                <c:pt idx="4">
                  <c:v>61</c:v>
                </c:pt>
                <c:pt idx="5">
                  <c:v>65</c:v>
                </c:pt>
                <c:pt idx="6">
                  <c:v>69</c:v>
                </c:pt>
                <c:pt idx="7">
                  <c:v>73</c:v>
                </c:pt>
                <c:pt idx="8">
                  <c:v>77</c:v>
                </c:pt>
                <c:pt idx="9">
                  <c:v>81</c:v>
                </c:pt>
                <c:pt idx="10">
                  <c:v>85</c:v>
                </c:pt>
                <c:pt idx="11">
                  <c:v>89</c:v>
                </c:pt>
                <c:pt idx="12">
                  <c:v>93</c:v>
                </c:pt>
                <c:pt idx="13">
                  <c:v>97</c:v>
                </c:pt>
                <c:pt idx="14">
                  <c:v>101</c:v>
                </c:pt>
              </c:numCache>
            </c:numRef>
          </c:cat>
          <c:val>
            <c:numRef>
              <c:f>'Chart Data'!$B$2:$B$16</c:f>
              <c:numCache>
                <c:formatCode>0.00</c:formatCode>
                <c:ptCount val="15"/>
                <c:pt idx="0">
                  <c:v>0.001434</c:v>
                </c:pt>
                <c:pt idx="1">
                  <c:v>0.004317</c:v>
                </c:pt>
                <c:pt idx="2">
                  <c:v>0.008059</c:v>
                </c:pt>
                <c:pt idx="3">
                  <c:v>0.012856</c:v>
                </c:pt>
                <c:pt idx="4">
                  <c:v>0.020694</c:v>
                </c:pt>
                <c:pt idx="5">
                  <c:v>0.031534</c:v>
                </c:pt>
                <c:pt idx="6">
                  <c:v>0.041376</c:v>
                </c:pt>
                <c:pt idx="7">
                  <c:v>0.044252</c:v>
                </c:pt>
                <c:pt idx="8">
                  <c:v>0.037692</c:v>
                </c:pt>
                <c:pt idx="9">
                  <c:v>0.025487</c:v>
                </c:pt>
                <c:pt idx="10">
                  <c:v>0.014025</c:v>
                </c:pt>
                <c:pt idx="11">
                  <c:v>0.006024</c:v>
                </c:pt>
                <c:pt idx="12">
                  <c:v>0.0017</c:v>
                </c:pt>
                <c:pt idx="13">
                  <c:v>0.000265</c:v>
                </c:pt>
                <c:pt idx="14">
                  <c:v>2.1E-05</c:v>
                </c:pt>
              </c:numCache>
            </c:numRef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F Pro Text"/>
                    <a:ea typeface="SF Pro Text"/>
                    <a:cs typeface="SF Pro Text"/>
                  </a:rPr>
                  <a:t>Nilai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72768"/>
      </c:catAx>
      <c:valAx>
        <c:axId val="48672768"/>
        <c:scaling>
          <c:orientation val="minMax"/>
          <c:max val="0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F Pro Text"/>
                    <a:ea typeface="SF Pro Text"/>
                    <a:cs typeface="SF Pro Text"/>
                  </a:rPr>
                  <a:t>Kepadatan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50112"/>
        <c:crossBetween val="between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3BE3C-5639-4F2F-841E-C58D995922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89b2ca998436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4DD0F-55FA-4C09-9B8C-B46E6B2F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9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Visualisasi Data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9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Distribusi</a:t>
            </a:r>
          </a:p>
        </p:txBody>
      </p:sp>
    </p:spTree>
    <p:extLst>
      <p:ext uri="{BB962C8B-B14F-4D97-AF65-F5344CB8AC3E}">
        <p14:creationId xmlns:p14="http://schemas.microsoft.com/office/powerpoint/2010/main" val="12355991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79CEF-7A23-4EE9-B5D8-C1676F91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Skor tersebar pada beberapa rentang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AAFA1-2EA8-4414-BFDF-BEA86B78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Histogram merangkum jumlah peserta dalam tiap rentang nilai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CB73E-5529-488F-8AA1-9071A10F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5145C-0E63-4FB2-AE99-11F6A567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40"/>
          </a:bodyPr>
          <a:lstStyle xmlns:a="http://schemas.openxmlformats.org/drawingml/2006/main">
            <a:defPPr algn="l">
              <a:defRPr sz="18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Batang tertinggi menandai rentang dengan peserta terbanyak.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9C6A5-CC65-4C32-94EF-F6AB5990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3476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Bandingkan tinggi batang antar-rentang.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Periksa rentang nilai dan label sumbu sebelum membaca pola.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53BAC-4B06-4E56-A5BB-CA0763A330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3213461374394"/>
          <a:stretch xmlns:a="http://schemas.openxmlformats.org/drawingml/2006/main"/>
        </p:blipFill>
        <p:spPr>
          <a:xfrm xmlns:a="http://schemas.openxmlformats.org/drawingml/2006/main">
            <a:off x="4762500" y="2357524"/>
            <a:ext cx="6477000" cy="30954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5795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35DA8-8543-4588-827E-D2DF35A7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Jumlah bins mengubah detail histogram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4F2E9-1532-46DA-8945-3AC0CDA2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Bins terlalu sedikit menyembunyikan pola, bins terlalu banyak membuat grafik bergerigi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E3B8D-72D5-438C-8115-ECC0E90D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087B9-35AA-49E7-80C0-DCBA7EC347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4d87b38f047f7"/>
          <a:stretch xmlns:a="http://schemas.openxmlformats.org/drawingml/2006/main"/>
        </p:blipFill>
        <p:spPr>
          <a:xfrm xmlns:a="http://schemas.openxmlformats.org/drawingml/2006/main">
            <a:off x="781050" y="1978299"/>
            <a:ext cx="10572750" cy="372055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506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F8ECC-8077-4F36-8818-E740A96C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KDE menonjolkan bentuk kepadatan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D9365-7890-48F0-B708-26C2CF76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Kurva halus membantu melihat area nilai yang lebih padat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6E303-24D6-41EA-8FDD-23E18EA0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36AAAB3-3128-40C8-B137-15CED072D6CD}"/>
              </a:ext>
            </a:extLst>
          </p:cNvPr>
          <p:cNvGraphicFramePr/>
          <p:nvPr/>
        </p:nvGraphicFramePr>
        <p:xfrm>
          <a:off xmlns:a="http://schemas.openxmlformats.org/drawingml/2006/main" x="895350" y="1838325"/>
          <a:ext xmlns:a="http://schemas.openxmlformats.org/drawingml/2006/main" cx="69532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cf904e65d740c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E4218-632B-485D-9F15-A3845935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05050"/>
            <a:ext cx="304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Y-axis adalah kepadatan, bukan hitungan siswa.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Lebar bandwidth memengaruhi kehalusan kurva.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Kurva merangkum pola dan bukan nilai individual.</a:t>
            </a:r>
          </a:p>
        </p:txBody>
      </p:sp>
    </p:spTree>
    <p:extLst>
      <p:ext uri="{BB962C8B-B14F-4D97-AF65-F5344CB8AC3E}">
        <p14:creationId xmlns:p14="http://schemas.microsoft.com/office/powerpoint/2010/main" val="1410802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D10F5-65ED-4048-A557-B3B114B2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Practice Tengah: waktu menyelesaikan kuis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90108-EAFF-4228-AFF9-D6137524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Bandingkan histogram dengan bins berbeda dan satu KDE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59E20-E8A8-4300-A635-CDDC28A6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50C7A-9970-44F7-9602-6369AEC78B04}"/>
              </a:ext>
            </a:extLst>
          </p:cNvPr>
          <p:cNvGraphicFramePr/>
          <p:nvPr/>
        </p:nvGraphicFramePr>
        <p:xfrm>
          <a:off xmlns:a="http://schemas.openxmlformats.org/drawingml/2006/main" x="762000" y="1962150"/>
          <a:ext xmlns:a="http://schemas.openxmlformats.org/drawingml/2006/main" cx="45720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33500"/>
                <a:gridCol w="952500"/>
                <a:gridCol w="1333500"/>
                <a:gridCol w="952500"/>
              </a:tblGrid>
              <a:tr h="36766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Peserta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Menit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Peserta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Menit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36766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36766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766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36766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766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36766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766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36766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766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1DC95-4130-412F-B899-AB5B72FE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5286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dua histogram dengan jumlah bins berbeda.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Tambahkan satu kurva KDE.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Jelaskan apa yang berubah dan apa yang tetap terlihat.</a:t>
            </a:r>
          </a:p>
        </p:txBody>
      </p:sp>
    </p:spTree>
    <p:extLst>
      <p:ext uri="{BB962C8B-B14F-4D97-AF65-F5344CB8AC3E}">
        <p14:creationId xmlns:p14="http://schemas.microsoft.com/office/powerpoint/2010/main" val="18316113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58FF0-5130-42D4-A272-2143AC95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Box plot merangkum pusat dan sebaran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162E5-0D39-4993-B151-413DEF21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Median, kuartil, whisker, dan titik jauh memberi ringkasan kelompok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B08BE-E901-4BD5-AD7E-8983DFDD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9F792-B329-4F73-9C79-5659D7B1FC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d6a8c50af4a91"/>
          <a:stretch xmlns:a="http://schemas.openxmlformats.org/drawingml/2006/main"/>
        </p:blipFill>
        <p:spPr>
          <a:xfrm xmlns:a="http://schemas.openxmlformats.org/drawingml/2006/main">
            <a:off x="838200" y="2287206"/>
            <a:ext cx="6477000" cy="309321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81C71-8C3E-4020-AE35-BD4A2BDE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3476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Garis dalam box adalah median.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Batas box adalah kuartil pertama dan ketiga.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Titik jauh ditandai sebagai calon pencilan, bukan otomatis kesalahan data.</a:t>
            </a:r>
          </a:p>
        </p:txBody>
      </p:sp>
    </p:spTree>
    <p:extLst>
      <p:ext uri="{BB962C8B-B14F-4D97-AF65-F5344CB8AC3E}">
        <p14:creationId xmlns:p14="http://schemas.microsoft.com/office/powerpoint/2010/main" val="21194364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A653F-D18E-4416-BC28-93E98577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Bandingkan box plot dengan unit yang sama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154F0-97BB-436A-BAC5-EED38C56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Median berdekatan, tetapi lebar rentang antarkelompok berbeda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25434-1333-4978-B787-3B91F0C6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FA350-0699-444E-9F72-785B472E77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f7aa6feee4289"/>
          <a:stretch xmlns:a="http://schemas.openxmlformats.org/drawingml/2006/main"/>
        </p:blipFill>
        <p:spPr>
          <a:xfrm xmlns:a="http://schemas.openxmlformats.org/drawingml/2006/main">
            <a:off x="914400" y="2119540"/>
            <a:ext cx="7239000" cy="345712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D741B-0F3A-4CA4-B872-86D3B333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2762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Biru memiliki rentang tengah yang lebih rapat.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Hijau memiliki rentang nilai terlebar.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Periksa jumlah observasi serta nilai asal sebelum memberi kesimpulan.</a:t>
            </a:r>
          </a:p>
        </p:txBody>
      </p:sp>
    </p:spTree>
    <p:extLst>
      <p:ext uri="{BB962C8B-B14F-4D97-AF65-F5344CB8AC3E}">
        <p14:creationId xmlns:p14="http://schemas.microsoft.com/office/powerpoint/2010/main" val="12368849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C5EB5-8A6B-4A0A-85C5-96784338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Violin plot memperlihatkan bentuk kepadatan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12931-23A4-4D40-8DD7-CC644A58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Lebar violin menunjukkan area nilai yang relatif lebih padat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DE82F-AB5C-46A0-9626-B2F112FD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B910D-0E83-482E-AEB6-146C65CD13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10db2b78943d5"/>
          <a:stretch xmlns:a="http://schemas.openxmlformats.org/drawingml/2006/main"/>
        </p:blipFill>
        <p:spPr>
          <a:xfrm xmlns:a="http://schemas.openxmlformats.org/drawingml/2006/main">
            <a:off x="876300" y="2163181"/>
            <a:ext cx="7096125" cy="338888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ACB96-5DB1-4019-98A2-AC6481D6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00300"/>
            <a:ext cx="2857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Bentuk lebar memberi petunjuk kepadatan.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Median membantu membaca pusat nilai.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Lebar bukan jumlah peserta.</a:t>
            </a:r>
          </a:p>
        </p:txBody>
      </p:sp>
    </p:spTree>
    <p:extLst>
      <p:ext uri="{BB962C8B-B14F-4D97-AF65-F5344CB8AC3E}">
        <p14:creationId xmlns:p14="http://schemas.microsoft.com/office/powerpoint/2010/main" val="14870115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18460-EA57-4678-9C23-76FA1C90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Median serupa dapat menyembunyikan sebaran berbeda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E47EF-42A9-42B1-B8F4-ED4ED7AD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Histogram membantu membandingkan bentuk dan lebar sebaran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BF68E-4AF3-4EFC-83AB-78F428DC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A9CD0-B4F1-4840-A4EC-E5F6FBE84F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4da66ef05494a"/>
          <a:stretch xmlns:a="http://schemas.openxmlformats.org/drawingml/2006/main"/>
        </p:blipFill>
        <p:spPr>
          <a:xfrm xmlns:a="http://schemas.openxmlformats.org/drawingml/2006/main">
            <a:off x="819150" y="1862579"/>
            <a:ext cx="10477500" cy="39900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460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56966-23DE-41D9-BE54-53FCF498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Jangan simpulkan pencilan dari grafik saja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A39A0-C525-4E51-BAFB-C56342D5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Titik jauh adalah petunjuk untuk diperiksa dalam konteks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BC124-EF6C-4FA8-8616-D66B0334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BFDB9-0919-41AB-98C7-1B6F222A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71700"/>
            <a:ext cx="10001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500"/>
              </a:spcAft>
              <a:buNone/>
              <a:def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Periksa salah input, satuan, dan proses pengumpulan.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500"/>
              </a:spcAft>
              <a:buNone/>
              <a:def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Tanyakan apakah kelompok memang memiliki variasi lebih besar.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500"/>
              </a:spcAft>
              <a:buNone/>
              <a:def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Laporkan aturan pencilan yang dipakai.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500"/>
              </a:spcAft>
              <a:buNone/>
              <a:def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Jangan menghapus nilai hanya agar grafik terlihat rapi.</a:t>
            </a:r>
          </a:p>
        </p:txBody>
      </p:sp>
    </p:spTree>
    <p:extLst>
      <p:ext uri="{BB962C8B-B14F-4D97-AF65-F5344CB8AC3E}">
        <p14:creationId xmlns:p14="http://schemas.microsoft.com/office/powerpoint/2010/main" val="9116760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6D90F-4654-4018-95C9-3B54B4E5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Bentuk distribusi memberi konteks pada ringkasan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D7A79-3E20-4D3B-A27A-67F2D21A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Median yang sama belum tentu berarti pola data yang sama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1364F-9A8D-44E7-B38D-AB3AF07E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F90C4-BC9B-46BF-8AF1-35AEA8E2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725" b="1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Baca bersama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2FC70-A15E-4652-BC02-2570BB32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5143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Pusat: median atau rata-rata.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Sebaran: kuartil, rentang, atau simpangan baku.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Bentuk: satu puncak, beberapa puncak, kemencengan.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Nilai jauh: perlu pengecekan konteks.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9197C-A8B2-4E38-A2C4-9EA1E9F9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33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  <p:txBody>
          <a:bodyPr xmlns:a="http://schemas.openxmlformats.org/drawingml/2006/main" wrap="square" lIns="142875" tIns="123825" rIns="142875" bIns="123825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defPPr>
          </a:lstStyle>
          <a:p xmlns:a="http://schemas.openxmlformats.org/drawingml/2006/main">
            <a:pPr>
              <a:lnSpc>
                <a:spcPct val="103000"/>
              </a:lnSpc>
              <a:buNone/>
              <a:defRPr sz="12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ax.hist(nilai, bins=6)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ax.plot(x_grid, density)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ax.boxplot(daftar_nilai)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ax.violinplot(daftar_nilai)</a:t>
            </a:r>
          </a:p>
        </p:txBody>
      </p:sp>
    </p:spTree>
    <p:extLst>
      <p:ext uri="{BB962C8B-B14F-4D97-AF65-F5344CB8AC3E}">
        <p14:creationId xmlns:p14="http://schemas.microsoft.com/office/powerpoint/2010/main" val="3824586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D4CAB-3F72-4A80-B79D-7BF991B5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Kapan memakai histogram, KDE, box, atau violin?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C3308-925C-4BA3-AB68-A7907B2E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Pertanyaan menentukan banyaknya detail yang dibutuhkan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9FB76-DF49-45AE-BA2D-1C3C50AE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974A2-E4F6-4D97-B884-4FB785113FF2}"/>
              </a:ext>
            </a:extLst>
          </p:cNvPr>
          <p:cNvGraphicFramePr/>
          <p:nvPr/>
        </p:nvGraphicFramePr>
        <p:xfrm>
          <a:off xmlns:a="http://schemas.openxmlformats.org/drawingml/2006/main" x="876300" y="1952625"/>
          <a:ext xmlns:a="http://schemas.openxmlformats.org/drawingml/2006/main" cx="10458450" cy="3667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52625"/>
                <a:gridCol w="4286250"/>
                <a:gridCol w="4219575"/>
              </a:tblGrid>
              <a:tr h="7334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Grafik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Menonjolkan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Catatan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7334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Histogram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Frekuensi per rentang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Peka pada jumlah bins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7334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KDE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Bentuk kepadatan halus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Peka pada bandwidth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Box plot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Median dan rentang kuartil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Tidak memperlihatkan semua bentuk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7334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Violin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Kepadatan dan pusat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Lebar bukan hitungan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22234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95331-44ED-4390-8E94-E7E61AE5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Practice Akhir: nilai tiga kelas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44637-F8F1-48DA-9E04-79255F56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grafik ringkasan untuk membandingkan distribusi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DC63E-6C08-448E-AA5E-66C74BDB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1A31A-1384-45CA-9484-4B53F68235B0}"/>
              </a:ext>
            </a:extLst>
          </p:cNvPr>
          <p:cNvGraphicFramePr/>
          <p:nvPr/>
        </p:nvGraphicFramePr>
        <p:xfrm>
          <a:off xmlns:a="http://schemas.openxmlformats.org/drawingml/2006/main" x="781050" y="2143125"/>
          <a:ext xmlns:a="http://schemas.openxmlformats.org/drawingml/2006/main" cx="5429250" cy="2619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33500"/>
                <a:gridCol w="4095750"/>
              </a:tblGrid>
              <a:tr h="654844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Kelas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Nilai siswa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654844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Merah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54, 60, 63, 65, 67, 68, 70, 73, 78, 90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654844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Biru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61, 64, 66, 68, 69, 70, 71, 72, 75, 77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Hijau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48, 55, 59, 62, 64, 67, 69, 72, 80, 94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C31FD-A103-456F-BFE3-2661C3E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4476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histogram gabungan dan satu KDE.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Bandingkan box plot dan violin per kelas.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Tuliskan perbedaan median dan sebaran.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Periksa nilai ekstrem sebelum menyebut pencilan.</a:t>
            </a:r>
          </a:p>
        </p:txBody>
      </p:sp>
    </p:spTree>
    <p:extLst>
      <p:ext uri="{BB962C8B-B14F-4D97-AF65-F5344CB8AC3E}">
        <p14:creationId xmlns:p14="http://schemas.microsoft.com/office/powerpoint/2010/main" val="13362805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4CAF9-EEC6-4894-9276-EA26AD40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Cek pemahaman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7178D-0F1C-4CCC-B344-F923976C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Pilih grafik untuk kebutuhan berikut dan jelaskan alasannya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0890E-1E2A-47DE-8C39-0A61C4E6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32ECF-1060-457D-8503-290BE956B28E}"/>
              </a:ext>
            </a:extLst>
          </p:cNvPr>
          <p:cNvGraphicFramePr/>
          <p:nvPr/>
        </p:nvGraphicFramePr>
        <p:xfrm>
          <a:off xmlns:a="http://schemas.openxmlformats.org/drawingml/2006/main" x="876300" y="2095500"/>
          <a:ext xmlns:a="http://schemas.openxmlformats.org/drawingml/2006/main" cx="10382250" cy="3429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048500"/>
                <a:gridCol w="3333750"/>
              </a:tblGrid>
              <a:tr h="685800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Kebutuhan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Grafik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685800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Hitung frekuensi per rentang nilai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r>
                        <a:rPr sz="15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685800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Lihat kurva kepadatan yang halus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r>
                        <a:rPr sz="15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Bandingkan median beberapa kelas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r>
                        <a:rPr sz="15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685800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Bandingkan bentuk distribusi kelompok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r>
                        <a:rPr sz="15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9851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2026-10-09T09:28:30.0510000Z</dcterms:created>
  <dcterms:modified xsi:type="dcterms:W3CDTF">2026-10-09T09:28:30.0510000Z</dcterms:modified>
</coreProperties>
</file>